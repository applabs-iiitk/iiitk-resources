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media/image6.jpg" ContentType="image/jpg"/>
  <Override PartName="/ppt/media/image7.jpg" ContentType="image/jpg"/>
  <Override PartName="/ppt/media/image9.jpg" ContentType="image/jpg"/>
  <Override PartName="/ppt/media/image10.jpg" ContentType="image/jpg"/>
  <Override PartName="/ppt/media/image12.jpg" ContentType="image/jpg"/>
  <Override PartName="/ppt/media/image13.jpg" ContentType="image/jpg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handoutMasterIdLst>
    <p:handoutMasterId r:id="rId77"/>
  </p:handoutMasterIdLst>
  <p:sldIdLst>
    <p:sldId id="256" r:id="rId2"/>
    <p:sldId id="257" r:id="rId3"/>
    <p:sldId id="318" r:id="rId4"/>
    <p:sldId id="319" r:id="rId5"/>
    <p:sldId id="258" r:id="rId6"/>
    <p:sldId id="320" r:id="rId7"/>
    <p:sldId id="321" r:id="rId8"/>
    <p:sldId id="322" r:id="rId9"/>
    <p:sldId id="262" r:id="rId10"/>
    <p:sldId id="323" r:id="rId11"/>
    <p:sldId id="324" r:id="rId12"/>
    <p:sldId id="263" r:id="rId13"/>
    <p:sldId id="264" r:id="rId14"/>
    <p:sldId id="325" r:id="rId15"/>
    <p:sldId id="326" r:id="rId16"/>
    <p:sldId id="265" r:id="rId17"/>
    <p:sldId id="266" r:id="rId18"/>
    <p:sldId id="267" r:id="rId19"/>
    <p:sldId id="268" r:id="rId20"/>
    <p:sldId id="269" r:id="rId21"/>
    <p:sldId id="277" r:id="rId22"/>
    <p:sldId id="278" r:id="rId23"/>
    <p:sldId id="272" r:id="rId24"/>
    <p:sldId id="273" r:id="rId25"/>
    <p:sldId id="279" r:id="rId26"/>
    <p:sldId id="275" r:id="rId27"/>
    <p:sldId id="276" r:id="rId28"/>
    <p:sldId id="280" r:id="rId29"/>
    <p:sldId id="282" r:id="rId30"/>
    <p:sldId id="327" r:id="rId31"/>
    <p:sldId id="283" r:id="rId32"/>
    <p:sldId id="328" r:id="rId33"/>
    <p:sldId id="284" r:id="rId34"/>
    <p:sldId id="285" r:id="rId35"/>
    <p:sldId id="329" r:id="rId36"/>
    <p:sldId id="330" r:id="rId37"/>
    <p:sldId id="286" r:id="rId38"/>
    <p:sldId id="287" r:id="rId39"/>
    <p:sldId id="331" r:id="rId40"/>
    <p:sldId id="332" r:id="rId41"/>
    <p:sldId id="288" r:id="rId42"/>
    <p:sldId id="289" r:id="rId43"/>
    <p:sldId id="290" r:id="rId44"/>
    <p:sldId id="291" r:id="rId45"/>
    <p:sldId id="292" r:id="rId46"/>
    <p:sldId id="293" r:id="rId47"/>
    <p:sldId id="294" r:id="rId48"/>
    <p:sldId id="270" r:id="rId49"/>
    <p:sldId id="271" r:id="rId50"/>
    <p:sldId id="295" r:id="rId51"/>
    <p:sldId id="296" r:id="rId52"/>
    <p:sldId id="333" r:id="rId53"/>
    <p:sldId id="334" r:id="rId54"/>
    <p:sldId id="274" r:id="rId55"/>
    <p:sldId id="297" r:id="rId56"/>
    <p:sldId id="298" r:id="rId57"/>
    <p:sldId id="299" r:id="rId58"/>
    <p:sldId id="300" r:id="rId59"/>
    <p:sldId id="301" r:id="rId60"/>
    <p:sldId id="302" r:id="rId61"/>
    <p:sldId id="303" r:id="rId62"/>
    <p:sldId id="304" r:id="rId63"/>
    <p:sldId id="305" r:id="rId64"/>
    <p:sldId id="306" r:id="rId65"/>
    <p:sldId id="307" r:id="rId66"/>
    <p:sldId id="308" r:id="rId67"/>
    <p:sldId id="309" r:id="rId68"/>
    <p:sldId id="310" r:id="rId69"/>
    <p:sldId id="311" r:id="rId70"/>
    <p:sldId id="312" r:id="rId71"/>
    <p:sldId id="313" r:id="rId72"/>
    <p:sldId id="314" r:id="rId73"/>
    <p:sldId id="315" r:id="rId74"/>
    <p:sldId id="316" r:id="rId75"/>
    <p:sldId id="317" r:id="rId76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109" d="100"/>
          <a:sy n="109" d="100"/>
        </p:scale>
        <p:origin x="2592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presProps" Target="presProps.xml"/><Relationship Id="rId8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xmlns="" id="{F300E43A-7E7E-46FA-92AB-25CFA62AE7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5C5CEC8E-7320-4573-8071-38533A46D86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5FEB83-4894-4E2F-AF2B-5DCA375037CF}" type="datetimeFigureOut">
              <a:rPr lang="en-IN" smtClean="0"/>
              <a:t>22-08-2025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7677CF99-C292-4F8B-A235-EA7F3E5FA5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65CBD52D-DDF1-4FC5-930E-BF63B8AB24D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05401F-1085-444F-BBEC-D2C19363D1F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80450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66079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951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40181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6"/>
            <a:ext cx="370332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2818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3715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86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452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60237" y="731520"/>
            <a:ext cx="5009393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1209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9520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59" y="5907024"/>
            <a:ext cx="758952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9359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905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4779"/>
            <a:ext cx="1971675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4779"/>
            <a:ext cx="5800725" cy="5757420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82075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11804" y="2746550"/>
            <a:ext cx="7825961" cy="2825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60" b="1" i="0">
                <a:solidFill>
                  <a:srgbClr val="40404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76246" y="4205096"/>
            <a:ext cx="3985641" cy="3988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80" b="0" i="0">
                <a:solidFill>
                  <a:schemeClr val="tx1"/>
                </a:solidFill>
                <a:latin typeface="Microsoft Sans Serif"/>
                <a:cs typeface="Microsoft Sans Serif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5655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6400800"/>
            <a:ext cx="9144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5"/>
            <a:ext cx="9144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59" y="1845734"/>
            <a:ext cx="754380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8/22/2025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141373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g"/><Relationship Id="rId5" Type="http://schemas.openxmlformats.org/officeDocument/2006/relationships/hyperlink" Target="http://www.dal.ca/news/2020/05/29/animals-that-can-do-math-understand-" TargetMode="External"/><Relationship Id="rId4" Type="http://schemas.openxmlformats.org/officeDocument/2006/relationships/hyperlink" Target="http://www.youtube.com/watch?v=dKvVaRlz" TargetMode="Externa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oogle.com/search?sca_esv=704d9b9f92b567db&amp;q=premises&amp;sa=X&amp;ved=2ahUKEwiu0dDRlJ2PAxVIT2wGHQXfEkEQxccNegQIJBAB&amp;mstk=AUtExfD0MoIWZRHZmtEeIxHNyGsx8eudtMrrdH3L-R0u9qOKjQedqrPXotrFh5LlQz7-c6ZLY6vP0W6o8lBG9kOLsl9g75S8_aPpZ7XQESzyHsW4F0Z1x59XM_QqEWpBfZM59i0&amp;csui=3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152400" y="3200400"/>
            <a:ext cx="9235440" cy="112017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95"/>
              </a:spcBef>
            </a:pPr>
            <a:r>
              <a:rPr lang="en-IN" sz="7200" dirty="0">
                <a:latin typeface="Georgia" panose="02040502050405020303" pitchFamily="18" charset="0"/>
              </a:rPr>
              <a:t>Cognitive</a:t>
            </a:r>
            <a:r>
              <a:rPr lang="en-IN" sz="7200" spc="-110" dirty="0">
                <a:latin typeface="Georgia" panose="02040502050405020303" pitchFamily="18" charset="0"/>
              </a:rPr>
              <a:t> </a:t>
            </a:r>
            <a:r>
              <a:rPr lang="en-IN" sz="7200" spc="-10" dirty="0">
                <a:latin typeface="Georgia" panose="02040502050405020303" pitchFamily="18" charset="0"/>
              </a:rPr>
              <a:t>Modelling</a:t>
            </a:r>
            <a:endParaRPr sz="7200" i="0" spc="-50" dirty="0"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312A70A6-9905-4476-9E06-7F22081CE4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57200" y="874753"/>
            <a:ext cx="7315200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IN" dirty="0">
                <a:solidFill>
                  <a:schemeClr val="tx1"/>
                </a:solidFill>
                <a:latin typeface="Georgia" panose="02040502050405020303" pitchFamily="18" charset="0"/>
              </a:rPr>
              <a:t>Cognitive</a:t>
            </a:r>
            <a:r>
              <a:rPr lang="en-IN" spc="-11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n-IN" spc="-10" dirty="0">
                <a:solidFill>
                  <a:schemeClr val="tx1"/>
                </a:solidFill>
                <a:latin typeface="Georgia" panose="02040502050405020303" pitchFamily="18" charset="0"/>
              </a:rPr>
              <a:t>Modelling</a:t>
            </a:r>
            <a:endParaRPr spc="-1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85800" y="1828800"/>
            <a:ext cx="8001000" cy="4188967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285750" lvl="0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Georgia" panose="02040502050405020303" pitchFamily="18" charset="0"/>
              </a:rPr>
              <a:t>Model</a:t>
            </a:r>
            <a:endParaRPr lang="en-US" altLang="en-US" dirty="0">
              <a:latin typeface="Georgia" panose="02040502050405020303" pitchFamily="18" charset="0"/>
            </a:endParaRPr>
          </a:p>
          <a:p>
            <a:pPr marL="742950" lvl="1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Georgia" panose="02040502050405020303" pitchFamily="18" charset="0"/>
              </a:rPr>
              <a:t>A model is a </a:t>
            </a:r>
            <a:r>
              <a:rPr lang="en-US" altLang="en-US" b="1" dirty="0">
                <a:latin typeface="Georgia" panose="02040502050405020303" pitchFamily="18" charset="0"/>
              </a:rPr>
              <a:t>simplified (often formal) representation of reality</a:t>
            </a:r>
            <a:r>
              <a:rPr lang="en-US" altLang="en-US" dirty="0">
                <a:latin typeface="Georgia" panose="02040502050405020303" pitchFamily="18" charset="0"/>
              </a:rPr>
              <a:t>.</a:t>
            </a:r>
          </a:p>
          <a:p>
            <a:pPr marL="742950" lvl="1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Georgia" panose="02040502050405020303" pitchFamily="18" charset="0"/>
              </a:rPr>
              <a:t>Purpose: to </a:t>
            </a:r>
            <a:r>
              <a:rPr lang="en-US" altLang="en-US" b="1" dirty="0">
                <a:latin typeface="Georgia" panose="02040502050405020303" pitchFamily="18" charset="0"/>
              </a:rPr>
              <a:t>explain</a:t>
            </a:r>
            <a:r>
              <a:rPr lang="en-US" altLang="en-US" dirty="0">
                <a:latin typeface="Georgia" panose="02040502050405020303" pitchFamily="18" charset="0"/>
              </a:rPr>
              <a:t> or </a:t>
            </a:r>
            <a:r>
              <a:rPr lang="en-US" altLang="en-US" b="1" dirty="0">
                <a:latin typeface="Georgia" panose="02040502050405020303" pitchFamily="18" charset="0"/>
              </a:rPr>
              <a:t>predict</a:t>
            </a:r>
            <a:r>
              <a:rPr lang="en-US" altLang="en-US" dirty="0">
                <a:latin typeface="Georgia" panose="02040502050405020303" pitchFamily="18" charset="0"/>
              </a:rPr>
              <a:t> aspects of the real world.</a:t>
            </a:r>
          </a:p>
          <a:p>
            <a:pPr marL="285750" lvl="0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Georgia" panose="02040502050405020303" pitchFamily="18" charset="0"/>
              </a:rPr>
              <a:t>Cognitive Modelling</a:t>
            </a:r>
            <a:endParaRPr lang="en-US" altLang="en-US" dirty="0">
              <a:latin typeface="Georgia" panose="02040502050405020303" pitchFamily="18" charset="0"/>
            </a:endParaRPr>
          </a:p>
          <a:p>
            <a:pPr marL="742950" lvl="1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Georgia" panose="02040502050405020303" pitchFamily="18" charset="0"/>
              </a:rPr>
              <a:t>Special kind of modelling that focuses on </a:t>
            </a:r>
            <a:r>
              <a:rPr lang="en-US" altLang="en-US" b="1" dirty="0">
                <a:latin typeface="Georgia" panose="02040502050405020303" pitchFamily="18" charset="0"/>
              </a:rPr>
              <a:t>cognitive processes</a:t>
            </a:r>
            <a:r>
              <a:rPr lang="en-US" altLang="en-US" dirty="0">
                <a:latin typeface="Georgia" panose="02040502050405020303" pitchFamily="18" charset="0"/>
              </a:rPr>
              <a:t> (thinking, memory, categorization, decision-making, etc.).</a:t>
            </a:r>
          </a:p>
          <a:p>
            <a:pPr marL="742950" lvl="1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Georgia" panose="02040502050405020303" pitchFamily="18" charset="0"/>
              </a:rPr>
              <a:t>Uses </a:t>
            </a:r>
            <a:r>
              <a:rPr lang="en-US" altLang="en-US" b="1" dirty="0">
                <a:latin typeface="Georgia" panose="02040502050405020303" pitchFamily="18" charset="0"/>
              </a:rPr>
              <a:t>formal representations</a:t>
            </a:r>
            <a:r>
              <a:rPr lang="en-US" altLang="en-US" dirty="0">
                <a:latin typeface="Georgia" panose="02040502050405020303" pitchFamily="18" charset="0"/>
              </a:rPr>
              <a:t> like:</a:t>
            </a:r>
          </a:p>
          <a:p>
            <a:pPr marL="1200150" lvl="2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Georgia" panose="02040502050405020303" pitchFamily="18" charset="0"/>
              </a:rPr>
              <a:t>Mathematical models</a:t>
            </a:r>
            <a:r>
              <a:rPr lang="en-US" altLang="en-US" dirty="0">
                <a:latin typeface="Georgia" panose="02040502050405020303" pitchFamily="18" charset="0"/>
              </a:rPr>
              <a:t> (equations, probabilities)</a:t>
            </a:r>
          </a:p>
          <a:p>
            <a:pPr marL="1200150" lvl="2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Georgia" panose="02040502050405020303" pitchFamily="18" charset="0"/>
              </a:rPr>
              <a:t>Algorithmic models</a:t>
            </a:r>
            <a:r>
              <a:rPr lang="en-US" altLang="en-US" dirty="0">
                <a:latin typeface="Georgia" panose="02040502050405020303" pitchFamily="18" charset="0"/>
              </a:rPr>
              <a:t> (step-by-step procedures)</a:t>
            </a:r>
          </a:p>
          <a:p>
            <a:pPr marL="1200150" lvl="2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b="1" dirty="0">
                <a:latin typeface="Georgia" panose="02040502050405020303" pitchFamily="18" charset="0"/>
              </a:rPr>
              <a:t>Symbolic models</a:t>
            </a:r>
            <a:r>
              <a:rPr lang="en-US" altLang="en-US" dirty="0">
                <a:latin typeface="Georgia" panose="02040502050405020303" pitchFamily="18" charset="0"/>
              </a:rPr>
              <a:t> (rules, logic)</a:t>
            </a:r>
          </a:p>
          <a:p>
            <a:pPr marL="285750" lvl="0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dirty="0">
                <a:latin typeface="Georgia" panose="02040502050405020303" pitchFamily="18" charset="0"/>
              </a:rPr>
              <a:t>Aim: to </a:t>
            </a:r>
            <a:r>
              <a:rPr lang="en-US" altLang="en-US" b="1" dirty="0">
                <a:latin typeface="Georgia" panose="02040502050405020303" pitchFamily="18" charset="0"/>
              </a:rPr>
              <a:t>predict or explain human behavior</a:t>
            </a:r>
            <a:r>
              <a:rPr lang="en-US" altLang="en-US" dirty="0">
                <a:latin typeface="Georgia" panose="02040502050405020303" pitchFamily="18" charset="0"/>
              </a:rPr>
              <a:t> based on those processes.</a:t>
            </a:r>
          </a:p>
          <a:p>
            <a:pPr marL="285750" lvl="0" indent="-285750" algn="just" defTabSz="914400" eaLnBrk="0" fontAlgn="base" hangingPunct="0">
              <a:spcBef>
                <a:spcPts val="60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endParaRPr lang="en-US" altLang="en-US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FD04940-7367-4BC0-95EF-C4172041F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286604"/>
            <a:ext cx="8534400" cy="1450757"/>
          </a:xfrm>
        </p:spPr>
        <p:txBody>
          <a:bodyPr>
            <a:normAutofit/>
          </a:bodyPr>
          <a:lstStyle/>
          <a:p>
            <a:r>
              <a:rPr lang="en-US" altLang="en-US" b="1" dirty="0">
                <a:solidFill>
                  <a:schemeClr val="tx1"/>
                </a:solidFill>
                <a:latin typeface="Georgia" panose="02040502050405020303" pitchFamily="18" charset="0"/>
              </a:rPr>
              <a:t>Computational Modelling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78CF546-22A4-4B91-A5F4-EB942D6C7B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940041" cy="4023360"/>
          </a:xfrm>
        </p:spPr>
        <p:txBody>
          <a:bodyPr>
            <a:normAutofit lnSpcReduction="10000"/>
          </a:bodyPr>
          <a:lstStyle/>
          <a:p>
            <a:pPr algn="just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Georgia" panose="02040502050405020303" pitchFamily="18" charset="0"/>
              </a:rPr>
              <a:t>Computational Modelling</a:t>
            </a:r>
            <a:endParaRPr lang="en-US" altLang="en-US" sz="2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lvl="1" algn="just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Cognitive models (or other models) are </a:t>
            </a:r>
            <a:r>
              <a:rPr lang="en-US" altLang="en-US" sz="2400" b="1" dirty="0">
                <a:solidFill>
                  <a:schemeClr val="tx1"/>
                </a:solidFill>
                <a:latin typeface="Georgia" panose="02040502050405020303" pitchFamily="18" charset="0"/>
              </a:rPr>
              <a:t>implemented as computer programs</a:t>
            </a:r>
            <a:r>
              <a:rPr lang="en-US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.</a:t>
            </a:r>
          </a:p>
          <a:p>
            <a:pPr lvl="1" algn="just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Simulation produces an </a:t>
            </a:r>
            <a:r>
              <a:rPr lang="en-US" altLang="en-US" sz="2400" b="1" dirty="0">
                <a:solidFill>
                  <a:schemeClr val="tx1"/>
                </a:solidFill>
                <a:latin typeface="Georgia" panose="02040502050405020303" pitchFamily="18" charset="0"/>
              </a:rPr>
              <a:t>output that corresponds to predicted behavior</a:t>
            </a:r>
            <a:r>
              <a:rPr lang="en-US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.</a:t>
            </a:r>
          </a:p>
          <a:p>
            <a:pPr algn="just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Example: If the cognitive process is </a:t>
            </a:r>
            <a:r>
              <a:rPr lang="en-US" altLang="en-US" sz="2400" b="1" dirty="0">
                <a:solidFill>
                  <a:schemeClr val="tx1"/>
                </a:solidFill>
                <a:latin typeface="Georgia" panose="02040502050405020303" pitchFamily="18" charset="0"/>
              </a:rPr>
              <a:t>categorization</a:t>
            </a:r>
            <a:r>
              <a:rPr lang="en-US" altLang="en-US" sz="2400" dirty="0">
                <a:solidFill>
                  <a:schemeClr val="tx1"/>
                </a:solidFill>
                <a:latin typeface="Georgia" panose="02040502050405020303" pitchFamily="18" charset="0"/>
              </a:rPr>
              <a:t>, the computational model might use:</a:t>
            </a:r>
          </a:p>
          <a:p>
            <a:pPr lvl="1" algn="just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Georgia" panose="02040502050405020303" pitchFamily="18" charset="0"/>
              </a:rPr>
              <a:t>Decision trees</a:t>
            </a:r>
            <a:endParaRPr lang="en-US" altLang="en-US" sz="2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lvl="1" algn="just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Georgia" panose="02040502050405020303" pitchFamily="18" charset="0"/>
              </a:rPr>
              <a:t>Neural networks</a:t>
            </a:r>
            <a:endParaRPr lang="en-US" altLang="en-US" sz="2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lvl="1" algn="just" eaLnBrk="0" fontAlgn="base" hangingPunct="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tx1"/>
                </a:solidFill>
                <a:latin typeface="Georgia" panose="02040502050405020303" pitchFamily="18" charset="0"/>
              </a:rPr>
              <a:t>Rule-based systems</a:t>
            </a:r>
            <a:endParaRPr lang="en-US" altLang="en-US" sz="24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endParaRPr lang="en-IN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2067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578285"/>
            <a:ext cx="7543800" cy="1135619"/>
          </a:xfrm>
          <a:prstGeom prst="rect">
            <a:avLst/>
          </a:prstGeom>
        </p:spPr>
        <p:txBody>
          <a:bodyPr vert="horz" wrap="square" lIns="0" tIns="393116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  <a:latin typeface="Georgia" panose="02040502050405020303" pitchFamily="18" charset="0"/>
              </a:rPr>
              <a:t>What</a:t>
            </a:r>
            <a:r>
              <a:rPr spc="-10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dirty="0">
                <a:solidFill>
                  <a:schemeClr val="tx1"/>
                </a:solidFill>
                <a:latin typeface="Georgia" panose="02040502050405020303" pitchFamily="18" charset="0"/>
              </a:rPr>
              <a:t>are</a:t>
            </a:r>
            <a:r>
              <a:rPr spc="-7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dirty="0">
                <a:solidFill>
                  <a:schemeClr val="tx1"/>
                </a:solidFill>
                <a:latin typeface="Georgia" panose="02040502050405020303" pitchFamily="18" charset="0"/>
              </a:rPr>
              <a:t>Formal</a:t>
            </a:r>
            <a:r>
              <a:rPr spc="-9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Georgia" panose="02040502050405020303" pitchFamily="18" charset="0"/>
              </a:rPr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283" y="1731010"/>
            <a:ext cx="7795895" cy="3373358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Formal Models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Can be </a:t>
            </a:r>
            <a:r>
              <a:rPr lang="en-US" b="1" dirty="0"/>
              <a:t>Quantitative (mathematical equations)</a:t>
            </a:r>
            <a:r>
              <a:rPr lang="en-US" dirty="0"/>
              <a:t> or </a:t>
            </a:r>
            <a:r>
              <a:rPr lang="en-US" b="1" dirty="0"/>
              <a:t>Procedural (computer programs)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These are </a:t>
            </a:r>
            <a:r>
              <a:rPr lang="en-US" b="1" dirty="0"/>
              <a:t>implementations of a theory</a:t>
            </a:r>
            <a:r>
              <a:rPr lang="en-US" dirty="0"/>
              <a:t> — they turn abstract ideas about cognition into something concrete/testable.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Purpose of the Model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To </a:t>
            </a:r>
            <a:r>
              <a:rPr lang="en-US" b="1" dirty="0"/>
              <a:t>mimic (“fit”) human data</a:t>
            </a:r>
            <a:r>
              <a:rPr lang="en-US" dirty="0"/>
              <a:t> from tasks (e.g., reaction times, error rates, choices).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Example: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Memory models → simulate forgetting curves.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Perception models → simulate visual recognition.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Decision-making models → predict choices under uncertainty.</a:t>
            </a:r>
          </a:p>
        </p:txBody>
      </p:sp>
    </p:spTree>
    <p:extLst>
      <p:ext uri="{BB962C8B-B14F-4D97-AF65-F5344CB8AC3E}">
        <p14:creationId xmlns:p14="http://schemas.microsoft.com/office/powerpoint/2010/main" val="36437353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578285"/>
            <a:ext cx="7543800" cy="1135619"/>
          </a:xfrm>
          <a:prstGeom prst="rect">
            <a:avLst/>
          </a:prstGeom>
        </p:spPr>
        <p:txBody>
          <a:bodyPr vert="horz" wrap="square" lIns="0" tIns="393116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95"/>
              </a:spcBef>
            </a:pPr>
            <a:r>
              <a:rPr dirty="0">
                <a:solidFill>
                  <a:schemeClr val="tx1"/>
                </a:solidFill>
                <a:latin typeface="Georgia" panose="02040502050405020303" pitchFamily="18" charset="0"/>
              </a:rPr>
              <a:t>What</a:t>
            </a:r>
            <a:r>
              <a:rPr spc="-10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dirty="0">
                <a:solidFill>
                  <a:schemeClr val="tx1"/>
                </a:solidFill>
                <a:latin typeface="Georgia" panose="02040502050405020303" pitchFamily="18" charset="0"/>
              </a:rPr>
              <a:t>are</a:t>
            </a:r>
            <a:r>
              <a:rPr spc="-7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dirty="0">
                <a:solidFill>
                  <a:schemeClr val="tx1"/>
                </a:solidFill>
                <a:latin typeface="Georgia" panose="02040502050405020303" pitchFamily="18" charset="0"/>
              </a:rPr>
              <a:t>Formal</a:t>
            </a:r>
            <a:r>
              <a:rPr spc="-9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pc="-10" dirty="0">
                <a:solidFill>
                  <a:schemeClr val="tx1"/>
                </a:solidFill>
                <a:latin typeface="Georgia" panose="02040502050405020303" pitchFamily="18" charset="0"/>
              </a:rPr>
              <a:t>Models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283" y="1731010"/>
            <a:ext cx="8224317" cy="3650357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Domains in Cognitive Psychology where models exist: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Memory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Perception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Language comprehension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Decision-making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(and others like attention, learning, problem-solving).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The “Why” of Modeling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Not just description but </a:t>
            </a:r>
            <a:r>
              <a:rPr lang="en-US" b="1" dirty="0"/>
              <a:t>explanation + prediction</a:t>
            </a:r>
            <a:r>
              <a:rPr lang="en-US" dirty="0"/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Models allow researchers to: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Test theories formally (not just in words).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See if assumptions about cognition hold up.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Compare competing theories quantitatively.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/>
              <a:t>Predict new behavior that hasn’t yet been observed.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26D20C8-5882-4325-8EAB-FD3E77CD5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Georgia" panose="02040502050405020303" pitchFamily="18" charset="0"/>
              </a:rPr>
              <a:t>Advantages</a:t>
            </a:r>
            <a:r>
              <a:rPr lang="en-IN" spc="-6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Georgia" panose="02040502050405020303" pitchFamily="18" charset="0"/>
              </a:rPr>
              <a:t>of</a:t>
            </a:r>
            <a:r>
              <a:rPr lang="en-IN" spc="-9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n-IN" spc="-10" dirty="0">
                <a:solidFill>
                  <a:schemeClr val="tx1"/>
                </a:solidFill>
                <a:latin typeface="Georgia" panose="02040502050405020303" pitchFamily="18" charset="0"/>
              </a:rPr>
              <a:t>Computational </a:t>
            </a:r>
            <a:r>
              <a:rPr lang="en-IN" spc="-10" dirty="0" err="1">
                <a:solidFill>
                  <a:schemeClr val="tx1"/>
                </a:solidFill>
                <a:latin typeface="Georgia" panose="02040502050405020303" pitchFamily="18" charset="0"/>
              </a:rPr>
              <a:t>Modeling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DDEF5EFC-DB79-43E2-9FD1-B68C3387BE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59" y="1926116"/>
            <a:ext cx="7940041" cy="38625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Precision &amp; Predictability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Pushes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predictive aspects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a theory.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Provides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formal, precise, and abstract specifications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of ideas.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Clarity &amp; Rigor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Avoids ambiguity and vagueness that often exist in verbal theories.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Forces researchers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fully specify all assumptions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in the theory.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Scientific Strength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Generates both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quantitative (numerical)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qualitative (pattern-based)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predictions.</a:t>
            </a:r>
          </a:p>
          <a:p>
            <a:pPr lvl="1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Makes cognitive psychology more like the “real” sciences (e.g., physics, biology) where models yield measurable predictions.</a:t>
            </a:r>
          </a:p>
          <a:p>
            <a:pPr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86232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86C9A6D-98B9-4AA3-84C2-063F56FAD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286604"/>
            <a:ext cx="8915400" cy="1450757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  <a:latin typeface="Georgia" panose="02040502050405020303" pitchFamily="18" charset="0"/>
              </a:rPr>
              <a:t>Is</a:t>
            </a:r>
            <a:r>
              <a:rPr lang="en-IN" spc="-3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n-IN" dirty="0">
                <a:solidFill>
                  <a:schemeClr val="tx1"/>
                </a:solidFill>
                <a:latin typeface="Georgia" panose="02040502050405020303" pitchFamily="18" charset="0"/>
              </a:rPr>
              <a:t>cognition</a:t>
            </a:r>
            <a:r>
              <a:rPr lang="en-IN" spc="-2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lang="en-IN" spc="-10" dirty="0">
                <a:solidFill>
                  <a:schemeClr val="tx1"/>
                </a:solidFill>
                <a:latin typeface="Georgia" panose="02040502050405020303" pitchFamily="18" charset="0"/>
              </a:rPr>
              <a:t>information processing?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2600498F-672D-4CF6-B2FF-483FF30C0E3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60" y="1787617"/>
            <a:ext cx="8244840" cy="4139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Church–Turing Thesis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States that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any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computable function can be performed by a Turing Machine.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Suggests that cognition, if algorithmic, could also be modeled computationally.</a:t>
            </a:r>
          </a:p>
          <a:p>
            <a:pPr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Universal Turing Machine (UTM)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 theoretical machine that can simulate </a:t>
            </a:r>
            <a:r>
              <a:rPr kumimoji="0" lang="en-US" altLang="en-US" sz="16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any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other Turing Machine.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Provides the foundation for modern computers — and the metaphor that the brain could be understood as an “information processor.”</a:t>
            </a:r>
          </a:p>
          <a:p>
            <a:pPr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The Information-Processing Metaphor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Mind as a computer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: cognition involves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representations (data)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and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operations (algorithms)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Input (stimuli) → Processing (mental operations) → Output (behavior).</a:t>
            </a:r>
          </a:p>
          <a:p>
            <a:pPr lvl="1" algn="just" eaLnBrk="0" fontAlgn="base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Frames thought as a sequence of transformations of information, much like computer programs manipulate data.</a:t>
            </a:r>
          </a:p>
        </p:txBody>
      </p:sp>
    </p:spTree>
    <p:extLst>
      <p:ext uri="{BB962C8B-B14F-4D97-AF65-F5344CB8AC3E}">
        <p14:creationId xmlns:p14="http://schemas.microsoft.com/office/powerpoint/2010/main" val="6495673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0214BA6-4BFC-4180-B7AA-7C24D086F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286604"/>
            <a:ext cx="9067800" cy="1450757"/>
          </a:xfrm>
        </p:spPr>
        <p:txBody>
          <a:bodyPr>
            <a:normAutofit/>
          </a:bodyPr>
          <a:lstStyle/>
          <a:p>
            <a:pPr algn="just"/>
            <a:r>
              <a:rPr lang="en-US" sz="4400" dirty="0">
                <a:latin typeface="Georgia" panose="02040502050405020303" pitchFamily="18" charset="0"/>
              </a:rPr>
              <a:t>We</a:t>
            </a:r>
            <a:r>
              <a:rPr lang="en-US" sz="4400" spc="-70" dirty="0">
                <a:latin typeface="Georgia" panose="02040502050405020303" pitchFamily="18" charset="0"/>
              </a:rPr>
              <a:t> </a:t>
            </a:r>
            <a:r>
              <a:rPr lang="en-US" sz="4400" dirty="0">
                <a:latin typeface="Georgia" panose="02040502050405020303" pitchFamily="18" charset="0"/>
              </a:rPr>
              <a:t>keep</a:t>
            </a:r>
            <a:r>
              <a:rPr lang="en-US" sz="4400" spc="-85" dirty="0">
                <a:latin typeface="Georgia" panose="02040502050405020303" pitchFamily="18" charset="0"/>
              </a:rPr>
              <a:t> </a:t>
            </a:r>
            <a:r>
              <a:rPr lang="en-US" sz="4400" dirty="0">
                <a:latin typeface="Georgia" panose="02040502050405020303" pitchFamily="18" charset="0"/>
              </a:rPr>
              <a:t>talking</a:t>
            </a:r>
            <a:r>
              <a:rPr lang="en-US" sz="4400" spc="-85" dirty="0">
                <a:latin typeface="Georgia" panose="02040502050405020303" pitchFamily="18" charset="0"/>
              </a:rPr>
              <a:t> </a:t>
            </a:r>
            <a:r>
              <a:rPr lang="en-US" sz="4400" dirty="0">
                <a:latin typeface="Georgia" panose="02040502050405020303" pitchFamily="18" charset="0"/>
              </a:rPr>
              <a:t>about</a:t>
            </a:r>
            <a:r>
              <a:rPr lang="en-US" sz="4400" spc="-85" dirty="0">
                <a:latin typeface="Georgia" panose="02040502050405020303" pitchFamily="18" charset="0"/>
              </a:rPr>
              <a:t> </a:t>
            </a:r>
            <a:r>
              <a:rPr lang="en-US" sz="4400" spc="-20" dirty="0">
                <a:latin typeface="Georgia" panose="02040502050405020303" pitchFamily="18" charset="0"/>
              </a:rPr>
              <a:t>what </a:t>
            </a:r>
            <a:r>
              <a:rPr lang="en-US" sz="4400" dirty="0">
                <a:latin typeface="Georgia" panose="02040502050405020303" pitchFamily="18" charset="0"/>
              </a:rPr>
              <a:t>“machines”</a:t>
            </a:r>
            <a:r>
              <a:rPr lang="en-US" sz="4400" spc="-130" dirty="0">
                <a:latin typeface="Georgia" panose="02040502050405020303" pitchFamily="18" charset="0"/>
              </a:rPr>
              <a:t> </a:t>
            </a:r>
            <a:r>
              <a:rPr lang="en-US" sz="4400" dirty="0">
                <a:latin typeface="Georgia" panose="02040502050405020303" pitchFamily="18" charset="0"/>
              </a:rPr>
              <a:t>can</a:t>
            </a:r>
            <a:r>
              <a:rPr lang="en-US" sz="4400" spc="-145" dirty="0">
                <a:latin typeface="Georgia" panose="02040502050405020303" pitchFamily="18" charset="0"/>
              </a:rPr>
              <a:t> </a:t>
            </a:r>
            <a:r>
              <a:rPr lang="en-US" sz="4400" spc="-25" dirty="0">
                <a:latin typeface="Georgia" panose="02040502050405020303" pitchFamily="18" charset="0"/>
              </a:rPr>
              <a:t>do</a:t>
            </a:r>
            <a:endParaRPr lang="en-IN" sz="4400" dirty="0"/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xmlns="" id="{A2A36494-296B-456E-98F7-F269BE12599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04800" y="1828800"/>
            <a:ext cx="8763000" cy="4181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When we say “machine” or “computer” in the abstract, we don’t just mean physical hardware.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Instead, we mean: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 mechanism that performs certain procedures in certain ways.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Those procedures are often formalized as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algorithms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or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effective procedures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.</a:t>
            </a:r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  <a:latin typeface="Georgia" panose="02040502050405020303" pitchFamily="18" charset="0"/>
              </a:rPr>
              <a:t>So what is an algorithm?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Georgia" panose="02040502050405020303" pitchFamily="18" charset="0"/>
              </a:rPr>
              <a:t>An algorithm = a step-by-step procedure</a:t>
            </a:r>
            <a:r>
              <a:rPr lang="en-US" sz="1400" dirty="0">
                <a:solidFill>
                  <a:schemeClr val="tx1"/>
                </a:solidFill>
                <a:latin typeface="Georgia" panose="02040502050405020303" pitchFamily="18" charset="0"/>
              </a:rPr>
              <a:t> for solving a problem or transforming input into output.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Georgia" panose="02040502050405020303" pitchFamily="18" charset="0"/>
              </a:rPr>
              <a:t>Key properties of algorithms:</a:t>
            </a:r>
          </a:p>
          <a:p>
            <a:pPr lvl="1">
              <a:spcAft>
                <a:spcPts val="0"/>
              </a:spcAft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Georgia" panose="02040502050405020303" pitchFamily="18" charset="0"/>
              </a:rPr>
              <a:t>Well-defined</a:t>
            </a:r>
            <a:r>
              <a:rPr lang="en-US" sz="1400" dirty="0">
                <a:solidFill>
                  <a:schemeClr val="tx1"/>
                </a:solidFill>
                <a:latin typeface="Georgia" panose="02040502050405020303" pitchFamily="18" charset="0"/>
              </a:rPr>
              <a:t> (no ambiguity).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Georgia" panose="02040502050405020303" pitchFamily="18" charset="0"/>
              </a:rPr>
              <a:t>Finite</a:t>
            </a:r>
            <a:r>
              <a:rPr lang="en-US" sz="1400" dirty="0">
                <a:solidFill>
                  <a:schemeClr val="tx1"/>
                </a:solidFill>
                <a:latin typeface="Georgia" panose="02040502050405020303" pitchFamily="18" charset="0"/>
              </a:rPr>
              <a:t> (terminates eventually).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Georgia" panose="02040502050405020303" pitchFamily="18" charset="0"/>
              </a:rPr>
              <a:t>Effective</a:t>
            </a:r>
            <a:r>
              <a:rPr lang="en-US" sz="1400" dirty="0">
                <a:solidFill>
                  <a:schemeClr val="tx1"/>
                </a:solidFill>
                <a:latin typeface="Georgia" panose="02040502050405020303" pitchFamily="18" charset="0"/>
              </a:rPr>
              <a:t> (each step can be carried out mechanically).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400" dirty="0">
                <a:solidFill>
                  <a:schemeClr val="tx1"/>
                </a:solidFill>
                <a:latin typeface="Georgia" panose="02040502050405020303" pitchFamily="18" charset="0"/>
              </a:rPr>
              <a:t>This is why algorithms serve as the bridge between: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Georgia" panose="02040502050405020303" pitchFamily="18" charset="0"/>
              </a:rPr>
              <a:t>Computers (machines)</a:t>
            </a:r>
            <a:r>
              <a:rPr lang="en-US" sz="1400" dirty="0">
                <a:solidFill>
                  <a:schemeClr val="tx1"/>
                </a:solidFill>
                <a:latin typeface="Georgia" panose="02040502050405020303" pitchFamily="18" charset="0"/>
              </a:rPr>
              <a:t> → executing procedures, and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400" b="1" dirty="0">
                <a:solidFill>
                  <a:schemeClr val="tx1"/>
                </a:solidFill>
                <a:latin typeface="Georgia" panose="02040502050405020303" pitchFamily="18" charset="0"/>
              </a:rPr>
              <a:t>Cognition (minds)</a:t>
            </a:r>
            <a:r>
              <a:rPr lang="en-US" sz="1400" dirty="0">
                <a:solidFill>
                  <a:schemeClr val="tx1"/>
                </a:solidFill>
                <a:latin typeface="Georgia" panose="02040502050405020303" pitchFamily="18" charset="0"/>
              </a:rPr>
              <a:t> → potentially being understood as algorithmic information processing.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b="1" dirty="0">
                <a:solidFill>
                  <a:srgbClr val="C00000"/>
                </a:solidFill>
                <a:latin typeface="Georgia" panose="02040502050405020303" pitchFamily="18" charset="0"/>
              </a:rPr>
              <a:t>Machines = algorithms executed mechanically</a:t>
            </a:r>
            <a:endParaRPr lang="en-US" altLang="en-US" sz="1400" dirty="0">
              <a:solidFill>
                <a:srgbClr val="C00000"/>
              </a:solidFill>
              <a:latin typeface="Georgia" panose="02040502050405020303" pitchFamily="18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sz="1400" b="1" dirty="0">
                <a:solidFill>
                  <a:srgbClr val="C00000"/>
                </a:solidFill>
                <a:latin typeface="Georgia" panose="02040502050405020303" pitchFamily="18" charset="0"/>
              </a:rPr>
              <a:t>Minds = cognition as algorithms operating on information (representations)</a:t>
            </a:r>
            <a:endParaRPr lang="en-US" altLang="en-US" sz="1400" dirty="0">
              <a:solidFill>
                <a:srgbClr val="C00000"/>
              </a:solidFill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381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200" y="564059"/>
            <a:ext cx="9067800" cy="981679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 marR="5080">
              <a:lnSpc>
                <a:spcPts val="3560"/>
              </a:lnSpc>
              <a:spcBef>
                <a:spcPts val="455"/>
              </a:spcBef>
            </a:pPr>
            <a:r>
              <a:rPr lang="en-US" sz="3600" dirty="0">
                <a:solidFill>
                  <a:schemeClr val="tx1"/>
                </a:solidFill>
              </a:rPr>
              <a:t>What</a:t>
            </a:r>
            <a:r>
              <a:rPr lang="en-US" sz="3600" spc="-30" dirty="0">
                <a:solidFill>
                  <a:schemeClr val="tx1"/>
                </a:solidFill>
              </a:rPr>
              <a:t> </a:t>
            </a:r>
            <a:r>
              <a:rPr lang="en-US" sz="3600" dirty="0">
                <a:solidFill>
                  <a:schemeClr val="tx1"/>
                </a:solidFill>
              </a:rPr>
              <a:t>is</a:t>
            </a:r>
            <a:r>
              <a:rPr lang="en-US" sz="3600" spc="-10" dirty="0">
                <a:solidFill>
                  <a:schemeClr val="tx1"/>
                </a:solidFill>
              </a:rPr>
              <a:t> </a:t>
            </a:r>
            <a:r>
              <a:rPr lang="en-US" sz="3600" dirty="0">
                <a:solidFill>
                  <a:schemeClr val="tx1"/>
                </a:solidFill>
              </a:rPr>
              <a:t>an</a:t>
            </a:r>
            <a:r>
              <a:rPr lang="en-US" sz="3600" spc="-25" dirty="0">
                <a:solidFill>
                  <a:schemeClr val="tx1"/>
                </a:solidFill>
              </a:rPr>
              <a:t> </a:t>
            </a:r>
            <a:r>
              <a:rPr lang="en-US" sz="3600" dirty="0">
                <a:solidFill>
                  <a:schemeClr val="tx1"/>
                </a:solidFill>
              </a:rPr>
              <a:t>“Algorithm”</a:t>
            </a:r>
            <a:r>
              <a:rPr lang="en-US" sz="3600" spc="-35" dirty="0">
                <a:solidFill>
                  <a:schemeClr val="tx1"/>
                </a:solidFill>
              </a:rPr>
              <a:t> </a:t>
            </a:r>
            <a:r>
              <a:rPr lang="en-US" sz="3600" spc="-25" dirty="0">
                <a:solidFill>
                  <a:schemeClr val="tx1"/>
                </a:solidFill>
              </a:rPr>
              <a:t>or </a:t>
            </a:r>
            <a:r>
              <a:rPr lang="en-US" sz="3600" dirty="0">
                <a:solidFill>
                  <a:schemeClr val="tx1"/>
                </a:solidFill>
              </a:rPr>
              <a:t>“Effective</a:t>
            </a:r>
            <a:r>
              <a:rPr lang="en-US" sz="3600" spc="-135" dirty="0">
                <a:solidFill>
                  <a:schemeClr val="tx1"/>
                </a:solidFill>
              </a:rPr>
              <a:t> </a:t>
            </a:r>
            <a:r>
              <a:rPr lang="en-US" sz="3600" spc="-10" dirty="0">
                <a:solidFill>
                  <a:schemeClr val="tx1"/>
                </a:solidFill>
              </a:rPr>
              <a:t>Method”?</a:t>
            </a:r>
            <a:endParaRPr sz="3600" dirty="0">
              <a:solidFill>
                <a:schemeClr val="tx1"/>
              </a:solidFill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idx="1"/>
          </p:nvPr>
        </p:nvSpPr>
        <p:spPr>
          <a:xfrm>
            <a:off x="822959" y="1845734"/>
            <a:ext cx="8092441" cy="420884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0" lvl="0" indent="0">
              <a:buNone/>
            </a:pPr>
            <a:r>
              <a:rPr lang="en-IN" sz="1600" b="1" dirty="0">
                <a:solidFill>
                  <a:schemeClr val="tx1"/>
                </a:solidFill>
                <a:latin typeface="Georgia" panose="02040502050405020303" pitchFamily="18" charset="0"/>
              </a:rPr>
              <a:t>Informal definition:</a:t>
            </a:r>
          </a:p>
          <a:p>
            <a:pPr lvl="0"/>
            <a:r>
              <a:rPr lang="en-IN" sz="1600" dirty="0">
                <a:solidFill>
                  <a:schemeClr val="tx1"/>
                </a:solidFill>
                <a:latin typeface="Georgia" panose="02040502050405020303" pitchFamily="18" charset="0"/>
              </a:rPr>
              <a:t>A finite sequence of well-defined instructions for accomplishing some task.</a:t>
            </a:r>
          </a:p>
          <a:p>
            <a:pPr marL="12065" marR="41275" indent="0">
              <a:lnSpc>
                <a:spcPts val="2590"/>
              </a:lnSpc>
              <a:spcBef>
                <a:spcPts val="20"/>
              </a:spcBef>
              <a:buSzPct val="43750"/>
              <a:buNone/>
              <a:tabLst>
                <a:tab pos="335280" algn="l"/>
              </a:tabLst>
            </a:pPr>
            <a:r>
              <a:rPr sz="1600" b="1" dirty="0">
                <a:solidFill>
                  <a:schemeClr val="tx1"/>
                </a:solidFill>
                <a:latin typeface="Georgia" panose="02040502050405020303" pitchFamily="18" charset="0"/>
              </a:rPr>
              <a:t>Slightly</a:t>
            </a:r>
            <a:r>
              <a:rPr sz="1600" b="1" spc="-5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1600" b="1" dirty="0">
                <a:solidFill>
                  <a:schemeClr val="tx1"/>
                </a:solidFill>
                <a:latin typeface="Georgia" panose="02040502050405020303" pitchFamily="18" charset="0"/>
              </a:rPr>
              <a:t>more </a:t>
            </a:r>
            <a:r>
              <a:rPr sz="1600" b="1" spc="-10" dirty="0">
                <a:solidFill>
                  <a:schemeClr val="tx1"/>
                </a:solidFill>
                <a:latin typeface="Georgia" panose="02040502050405020303" pitchFamily="18" charset="0"/>
              </a:rPr>
              <a:t>formally,</a:t>
            </a:r>
            <a:r>
              <a:rPr sz="1600" b="1" spc="-3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1600" b="1" dirty="0">
                <a:solidFill>
                  <a:schemeClr val="tx1"/>
                </a:solidFill>
                <a:latin typeface="Georgia" panose="02040502050405020303" pitchFamily="18" charset="0"/>
              </a:rPr>
              <a:t>a</a:t>
            </a:r>
            <a:r>
              <a:rPr sz="1600" b="1" spc="-1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1600" b="1" dirty="0">
                <a:solidFill>
                  <a:schemeClr val="tx1"/>
                </a:solidFill>
                <a:latin typeface="Georgia" panose="02040502050405020303" pitchFamily="18" charset="0"/>
              </a:rPr>
              <a:t>method</a:t>
            </a:r>
            <a:r>
              <a:rPr sz="1600" b="1" spc="-1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1600" b="1" dirty="0">
                <a:solidFill>
                  <a:schemeClr val="tx1"/>
                </a:solidFill>
                <a:latin typeface="Georgia" panose="02040502050405020303" pitchFamily="18" charset="0"/>
              </a:rPr>
              <a:t>M</a:t>
            </a:r>
            <a:r>
              <a:rPr sz="1600" b="1" spc="-2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1600" b="1" dirty="0">
                <a:solidFill>
                  <a:schemeClr val="tx1"/>
                </a:solidFill>
                <a:latin typeface="Georgia" panose="02040502050405020303" pitchFamily="18" charset="0"/>
              </a:rPr>
              <a:t>is</a:t>
            </a:r>
            <a:r>
              <a:rPr sz="1600" b="1" spc="-2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1600" b="1" dirty="0">
                <a:solidFill>
                  <a:schemeClr val="tx1"/>
                </a:solidFill>
                <a:latin typeface="Georgia" panose="02040502050405020303" pitchFamily="18" charset="0"/>
              </a:rPr>
              <a:t>called</a:t>
            </a:r>
            <a:r>
              <a:rPr sz="1600" b="1" spc="-4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1600" b="1" dirty="0">
                <a:solidFill>
                  <a:schemeClr val="tx1"/>
                </a:solidFill>
                <a:latin typeface="Georgia" panose="02040502050405020303" pitchFamily="18" charset="0"/>
              </a:rPr>
              <a:t>an</a:t>
            </a:r>
            <a:r>
              <a:rPr sz="1600" b="1" spc="-20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1600" b="1" dirty="0">
                <a:solidFill>
                  <a:schemeClr val="tx1"/>
                </a:solidFill>
                <a:latin typeface="Georgia" panose="02040502050405020303" pitchFamily="18" charset="0"/>
              </a:rPr>
              <a:t>“effective</a:t>
            </a:r>
            <a:r>
              <a:rPr sz="1600" b="1" spc="-35" dirty="0">
                <a:solidFill>
                  <a:schemeClr val="tx1"/>
                </a:solidFill>
                <a:latin typeface="Georgia" panose="02040502050405020303" pitchFamily="18" charset="0"/>
              </a:rPr>
              <a:t> </a:t>
            </a:r>
            <a:r>
              <a:rPr sz="1600" b="1" spc="-10" dirty="0">
                <a:solidFill>
                  <a:schemeClr val="tx1"/>
                </a:solidFill>
                <a:latin typeface="Georgia" panose="02040502050405020303" pitchFamily="18" charset="0"/>
              </a:rPr>
              <a:t>method” </a:t>
            </a:r>
            <a:r>
              <a:rPr sz="1600" b="1" spc="-25" dirty="0">
                <a:solidFill>
                  <a:schemeClr val="tx1"/>
                </a:solidFill>
                <a:latin typeface="Georgia" panose="02040502050405020303" pitchFamily="18" charset="0"/>
              </a:rPr>
              <a:t>if: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b="1" dirty="0">
                <a:solidFill>
                  <a:schemeClr val="tx1"/>
                </a:solidFill>
                <a:latin typeface="Georgia" panose="02040502050405020303" pitchFamily="18" charset="0"/>
              </a:rPr>
              <a:t>Finite Sequence of Instructions</a:t>
            </a:r>
            <a:endParaRPr lang="en-US" alt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761238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An algorithm is not endless; it must have a </a:t>
            </a:r>
            <a:r>
              <a:rPr lang="en-US" altLang="en-US" sz="1600" i="1" dirty="0">
                <a:solidFill>
                  <a:schemeClr val="tx1"/>
                </a:solidFill>
                <a:latin typeface="Georgia" panose="02040502050405020303" pitchFamily="18" charset="0"/>
              </a:rPr>
              <a:t>clear stopping point</a:t>
            </a:r>
            <a:r>
              <a:rPr lang="en-US" alt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.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b="1" dirty="0">
                <a:solidFill>
                  <a:schemeClr val="tx1"/>
                </a:solidFill>
                <a:latin typeface="Georgia" panose="02040502050405020303" pitchFamily="18" charset="0"/>
              </a:rPr>
              <a:t>Well-defined</a:t>
            </a:r>
            <a:endParaRPr lang="en-US" alt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761238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Each step must be precise and unambiguous — no guesswork.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b="1" dirty="0">
                <a:solidFill>
                  <a:schemeClr val="tx1"/>
                </a:solidFill>
                <a:latin typeface="Georgia" panose="02040502050405020303" pitchFamily="18" charset="0"/>
              </a:rPr>
              <a:t>Finite Steps → Definite Output</a:t>
            </a:r>
            <a:endParaRPr lang="en-US" alt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761238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Following the method guarantees a result within a limited number of steps.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b="1" dirty="0">
                <a:solidFill>
                  <a:schemeClr val="tx1"/>
                </a:solidFill>
                <a:latin typeface="Georgia" panose="02040502050405020303" pitchFamily="18" charset="0"/>
              </a:rPr>
              <a:t>Human-executable</a:t>
            </a:r>
            <a:endParaRPr lang="en-US" alt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761238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In principle, a person could carry it out with just </a:t>
            </a:r>
            <a:r>
              <a:rPr lang="en-US" altLang="en-US" sz="1600" b="1" dirty="0">
                <a:solidFill>
                  <a:schemeClr val="tx1"/>
                </a:solidFill>
                <a:latin typeface="Georgia" panose="02040502050405020303" pitchFamily="18" charset="0"/>
              </a:rPr>
              <a:t>paper and pencil</a:t>
            </a:r>
            <a:r>
              <a:rPr lang="en-US" alt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 (no machines needed).</a:t>
            </a:r>
          </a:p>
          <a:p>
            <a:pPr marL="578358" lvl="1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b="1" dirty="0">
                <a:solidFill>
                  <a:schemeClr val="tx1"/>
                </a:solidFill>
                <a:latin typeface="Georgia" panose="02040502050405020303" pitchFamily="18" charset="0"/>
              </a:rPr>
              <a:t>No Creativity Required</a:t>
            </a:r>
            <a:endParaRPr lang="en-US" alt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  <a:p>
            <a:pPr marL="761238" lvl="2" indent="-28575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§"/>
            </a:pPr>
            <a:r>
              <a:rPr lang="en-US" altLang="en-US" sz="1600" dirty="0">
                <a:solidFill>
                  <a:schemeClr val="tx1"/>
                </a:solidFill>
                <a:latin typeface="Georgia" panose="02040502050405020303" pitchFamily="18" charset="0"/>
              </a:rPr>
              <a:t>It’s mechanical: no new insight or problem-solving is needed once the algorithm is defined.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sz="1600" dirty="0">
              <a:solidFill>
                <a:schemeClr val="tx1"/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3917CDD-C7E5-4658-AEA0-F208728AF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86604"/>
            <a:ext cx="8610600" cy="1450757"/>
          </a:xfrm>
        </p:spPr>
        <p:txBody>
          <a:bodyPr>
            <a:noAutofit/>
          </a:bodyPr>
          <a:lstStyle/>
          <a:p>
            <a:r>
              <a:rPr lang="en-US" sz="3600" dirty="0"/>
              <a:t>Algorithm → Church–Turing Thesis → Universal Turing Machine → Cognition as Computation ?</a:t>
            </a:r>
            <a:endParaRPr lang="en-IN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AC3084C-6F55-468C-BDF8-9A2BF2CE2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8092441" cy="4023360"/>
          </a:xfrm>
        </p:spPr>
        <p:txBody>
          <a:bodyPr>
            <a:noAutofit/>
          </a:bodyPr>
          <a:lstStyle/>
          <a:p>
            <a:r>
              <a:rPr lang="en-US" sz="1800" b="1" dirty="0">
                <a:solidFill>
                  <a:schemeClr val="tx1"/>
                </a:solidFill>
              </a:rPr>
              <a:t>1. Algorithm (Effective Method)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Definition:</a:t>
            </a:r>
            <a:r>
              <a:rPr lang="en-US" sz="1800" dirty="0">
                <a:solidFill>
                  <a:schemeClr val="tx1"/>
                </a:solidFill>
              </a:rPr>
              <a:t> A finite sequence of well-defined, unambiguous steps that guarantee a result.</a:t>
            </a:r>
          </a:p>
          <a:p>
            <a:r>
              <a:rPr lang="en-US" sz="1800" dirty="0">
                <a:solidFill>
                  <a:schemeClr val="tx1"/>
                </a:solidFill>
              </a:rPr>
              <a:t>Example: A recipe for long division, sorting a list, or following a cooking recipe.</a:t>
            </a:r>
          </a:p>
          <a:p>
            <a:r>
              <a:rPr lang="en-US" sz="1800" dirty="0">
                <a:solidFill>
                  <a:schemeClr val="tx1"/>
                </a:solidFill>
              </a:rPr>
              <a:t>Key: </a:t>
            </a:r>
            <a:r>
              <a:rPr lang="en-US" sz="1800" i="1" dirty="0">
                <a:solidFill>
                  <a:schemeClr val="tx1"/>
                </a:solidFill>
              </a:rPr>
              <a:t>Mechanical, no creativity required.</a:t>
            </a:r>
            <a:endParaRPr lang="en-US" sz="1800" dirty="0">
              <a:solidFill>
                <a:schemeClr val="tx1"/>
              </a:solidFill>
            </a:endParaRPr>
          </a:p>
          <a:p>
            <a:r>
              <a:rPr lang="en-US" sz="1800" b="1" dirty="0">
                <a:solidFill>
                  <a:schemeClr val="tx1"/>
                </a:solidFill>
              </a:rPr>
              <a:t>2. Church–Turing Thesis</a:t>
            </a:r>
          </a:p>
          <a:p>
            <a:r>
              <a:rPr lang="en-US" sz="1800" b="1" dirty="0">
                <a:solidFill>
                  <a:schemeClr val="tx1"/>
                </a:solidFill>
              </a:rPr>
              <a:t>Claim (1930s):</a:t>
            </a:r>
            <a:r>
              <a:rPr lang="en-US" sz="1800" dirty="0">
                <a:solidFill>
                  <a:schemeClr val="tx1"/>
                </a:solidFill>
              </a:rPr>
              <a:t/>
            </a:r>
            <a:br>
              <a:rPr lang="en-US" sz="1800" dirty="0">
                <a:solidFill>
                  <a:schemeClr val="tx1"/>
                </a:solidFill>
              </a:rPr>
            </a:br>
            <a:r>
              <a:rPr lang="en-US" sz="1800" dirty="0">
                <a:solidFill>
                  <a:schemeClr val="tx1"/>
                </a:solidFill>
              </a:rPr>
              <a:t>Anything that can be computed by an </a:t>
            </a:r>
            <a:r>
              <a:rPr lang="en-US" sz="1800" i="1" dirty="0">
                <a:solidFill>
                  <a:schemeClr val="tx1"/>
                </a:solidFill>
              </a:rPr>
              <a:t>effective method</a:t>
            </a:r>
            <a:r>
              <a:rPr lang="en-US" sz="1800" dirty="0">
                <a:solidFill>
                  <a:schemeClr val="tx1"/>
                </a:solidFill>
              </a:rPr>
              <a:t> can be computed by a </a:t>
            </a:r>
            <a:r>
              <a:rPr lang="en-US" sz="1800" b="1" dirty="0">
                <a:solidFill>
                  <a:schemeClr val="tx1"/>
                </a:solidFill>
              </a:rPr>
              <a:t>Turing Machine</a:t>
            </a:r>
            <a:r>
              <a:rPr lang="en-US" sz="1800" dirty="0">
                <a:solidFill>
                  <a:schemeClr val="tx1"/>
                </a:solidFill>
              </a:rPr>
              <a:t> (or equivalently, a lambda calculus function).</a:t>
            </a:r>
          </a:p>
          <a:p>
            <a:r>
              <a:rPr lang="en-US" sz="1800" dirty="0">
                <a:solidFill>
                  <a:schemeClr val="tx1"/>
                </a:solidFill>
              </a:rPr>
              <a:t>This thesis is not a theorem (not formally proven) — it’s a </a:t>
            </a:r>
            <a:r>
              <a:rPr lang="en-US" sz="1800" b="1" dirty="0">
                <a:solidFill>
                  <a:schemeClr val="tx1"/>
                </a:solidFill>
              </a:rPr>
              <a:t>foundational assumption</a:t>
            </a:r>
            <a:r>
              <a:rPr lang="en-US" sz="1800" dirty="0">
                <a:solidFill>
                  <a:schemeClr val="tx1"/>
                </a:solidFill>
              </a:rPr>
              <a:t> about the limits of computation.</a:t>
            </a:r>
          </a:p>
          <a:p>
            <a:r>
              <a:rPr lang="en-US" sz="1800" dirty="0">
                <a:solidFill>
                  <a:schemeClr val="tx1"/>
                </a:solidFill>
              </a:rPr>
              <a:t>In short: </a:t>
            </a:r>
            <a:r>
              <a:rPr lang="en-US" sz="1800" b="1" dirty="0">
                <a:solidFill>
                  <a:schemeClr val="tx1"/>
                </a:solidFill>
              </a:rPr>
              <a:t>Algorithm = Turing-computable process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7573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F210A88-DD96-4D80-B9E1-DACC2DA3F2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4502" y="1828800"/>
            <a:ext cx="8579498" cy="5410200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solidFill>
                  <a:schemeClr val="tx1"/>
                </a:solidFill>
              </a:rPr>
              <a:t>3. Universal Turing Machine (UTM)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Alan Turing’s breakthrough idea.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A </a:t>
            </a:r>
            <a:r>
              <a:rPr lang="en-US" sz="1800" b="1" dirty="0">
                <a:solidFill>
                  <a:schemeClr val="tx1"/>
                </a:solidFill>
              </a:rPr>
              <a:t>UTM is a single machine</a:t>
            </a:r>
            <a:r>
              <a:rPr lang="en-US" sz="1800" dirty="0">
                <a:solidFill>
                  <a:schemeClr val="tx1"/>
                </a:solidFill>
              </a:rPr>
              <a:t> that can simulate </a:t>
            </a:r>
            <a:r>
              <a:rPr lang="en-US" sz="1800" i="1" dirty="0">
                <a:solidFill>
                  <a:schemeClr val="tx1"/>
                </a:solidFill>
              </a:rPr>
              <a:t>any other Turing machine</a:t>
            </a:r>
            <a:r>
              <a:rPr lang="en-US" sz="1800" dirty="0">
                <a:solidFill>
                  <a:schemeClr val="tx1"/>
                </a:solidFill>
              </a:rPr>
              <a:t>, provided it is given the right program + data.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This is the </a:t>
            </a:r>
            <a:r>
              <a:rPr lang="en-US" sz="1800" b="1" dirty="0">
                <a:solidFill>
                  <a:schemeClr val="tx1"/>
                </a:solidFill>
              </a:rPr>
              <a:t>theoretical foundation of modern computers</a:t>
            </a:r>
            <a:r>
              <a:rPr lang="en-US" sz="1800" dirty="0">
                <a:solidFill>
                  <a:schemeClr val="tx1"/>
                </a:solidFill>
              </a:rPr>
              <a:t> (one general-purpose device, instead of different machines for each task).</a:t>
            </a:r>
          </a:p>
          <a:p>
            <a:pPr algn="just"/>
            <a:r>
              <a:rPr lang="en-US" sz="1800" b="1" dirty="0">
                <a:solidFill>
                  <a:schemeClr val="tx1"/>
                </a:solidFill>
              </a:rPr>
              <a:t>4. Cognition as Computation (Information-Processing Metaphor)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If cognition = information processing,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and information processing = algorithmic computation,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and all algorithms can be executed by a Universal Turing Machine,</a:t>
            </a:r>
          </a:p>
          <a:p>
            <a:pPr algn="just"/>
            <a:r>
              <a:rPr lang="en-US" sz="1800" dirty="0">
                <a:solidFill>
                  <a:schemeClr val="tx1"/>
                </a:solidFill>
              </a:rPr>
              <a:t>→ Then in principle, a </a:t>
            </a:r>
            <a:r>
              <a:rPr lang="en-US" sz="1800" b="1" dirty="0">
                <a:solidFill>
                  <a:schemeClr val="tx1"/>
                </a:solidFill>
              </a:rPr>
              <a:t>computer can model cognition</a:t>
            </a:r>
            <a:r>
              <a:rPr lang="en-US" sz="1800" dirty="0">
                <a:solidFill>
                  <a:schemeClr val="tx1"/>
                </a:solidFill>
              </a:rPr>
              <a:t>.</a:t>
            </a:r>
          </a:p>
          <a:p>
            <a:pPr algn="just"/>
            <a:endParaRPr lang="en-IN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11059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2227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95"/>
              </a:spcBef>
            </a:pPr>
            <a:r>
              <a:rPr dirty="0"/>
              <a:t>Turing</a:t>
            </a:r>
            <a:r>
              <a:rPr spc="-95" dirty="0"/>
              <a:t> </a:t>
            </a:r>
            <a:r>
              <a:rPr spc="-10" dirty="0"/>
              <a:t>machines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4400" y="2286000"/>
            <a:ext cx="7634605" cy="24510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5280" indent="-322580" algn="just">
              <a:lnSpc>
                <a:spcPts val="2735"/>
              </a:lnSpc>
              <a:spcBef>
                <a:spcPts val="100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000" dirty="0">
                <a:latin typeface="Georgia" panose="02040502050405020303" pitchFamily="18" charset="0"/>
                <a:cs typeface="Times New Roman"/>
              </a:rPr>
              <a:t>The</a:t>
            </a:r>
            <a:r>
              <a:rPr sz="2000" spc="-2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informal concept</a:t>
            </a:r>
            <a:r>
              <a:rPr sz="2000" spc="-2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of</a:t>
            </a:r>
            <a:r>
              <a:rPr sz="2000" spc="-1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algorithm</a:t>
            </a:r>
            <a:r>
              <a:rPr sz="2000" spc="-4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is</a:t>
            </a:r>
            <a:r>
              <a:rPr sz="2000" spc="-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captured</a:t>
            </a:r>
            <a:r>
              <a:rPr sz="2000" spc="-3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by</a:t>
            </a:r>
            <a:r>
              <a:rPr sz="2000" spc="-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any of</a:t>
            </a:r>
            <a:r>
              <a:rPr sz="2000" spc="-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spc="-25" dirty="0">
                <a:latin typeface="Georgia" panose="02040502050405020303" pitchFamily="18" charset="0"/>
                <a:cs typeface="Times New Roman"/>
              </a:rPr>
              <a:t>the</a:t>
            </a:r>
            <a:endParaRPr sz="2000" dirty="0">
              <a:latin typeface="Georgia" panose="02040502050405020303" pitchFamily="18" charset="0"/>
              <a:cs typeface="Times New Roman"/>
            </a:endParaRPr>
          </a:p>
          <a:p>
            <a:pPr marL="335280" algn="just">
              <a:lnSpc>
                <a:spcPts val="2595"/>
              </a:lnSpc>
            </a:pPr>
            <a:r>
              <a:rPr sz="2000" dirty="0">
                <a:latin typeface="Georgia" panose="02040502050405020303" pitchFamily="18" charset="0"/>
                <a:cs typeface="Times New Roman"/>
              </a:rPr>
              <a:t>equivalent</a:t>
            </a:r>
            <a:r>
              <a:rPr sz="2000" spc="-3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spc="-10" dirty="0">
                <a:latin typeface="Georgia" panose="02040502050405020303" pitchFamily="18" charset="0"/>
                <a:cs typeface="Times New Roman"/>
              </a:rPr>
              <a:t>formalizations.</a:t>
            </a:r>
            <a:endParaRPr sz="2000" dirty="0">
              <a:latin typeface="Georgia" panose="02040502050405020303" pitchFamily="18" charset="0"/>
              <a:cs typeface="Times New Roman"/>
            </a:endParaRPr>
          </a:p>
          <a:p>
            <a:pPr marL="335280" marR="732790" indent="-323215" algn="just">
              <a:lnSpc>
                <a:spcPts val="2590"/>
              </a:lnSpc>
              <a:spcBef>
                <a:spcPts val="185"/>
              </a:spcBef>
              <a:buSzPct val="43750"/>
              <a:buFont typeface="Microsoft Sans Serif"/>
              <a:buChar char="●"/>
              <a:tabLst>
                <a:tab pos="335280" algn="l"/>
                <a:tab pos="6073775" algn="l"/>
              </a:tabLst>
            </a:pPr>
            <a:r>
              <a:rPr sz="2000" dirty="0">
                <a:latin typeface="Georgia" panose="02040502050405020303" pitchFamily="18" charset="0"/>
                <a:cs typeface="Times New Roman"/>
              </a:rPr>
              <a:t>The</a:t>
            </a:r>
            <a:r>
              <a:rPr sz="2000" spc="-3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formalization</a:t>
            </a:r>
            <a:r>
              <a:rPr sz="2000" spc="-5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most</a:t>
            </a:r>
            <a:r>
              <a:rPr sz="2000" spc="-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commonly</a:t>
            </a:r>
            <a:r>
              <a:rPr sz="2000" spc="-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spc="-10" dirty="0">
                <a:latin typeface="Georgia" panose="02040502050405020303" pitchFamily="18" charset="0"/>
                <a:cs typeface="Times New Roman"/>
              </a:rPr>
              <a:t>employed: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	</a:t>
            </a:r>
            <a:r>
              <a:rPr sz="2000" spc="-25" dirty="0">
                <a:latin typeface="Georgia" panose="02040502050405020303" pitchFamily="18" charset="0"/>
                <a:cs typeface="Times New Roman"/>
              </a:rPr>
              <a:t>Turing </a:t>
            </a:r>
            <a:r>
              <a:rPr sz="2000" spc="-10" dirty="0">
                <a:latin typeface="Georgia" panose="02040502050405020303" pitchFamily="18" charset="0"/>
                <a:cs typeface="Times New Roman"/>
              </a:rPr>
              <a:t>Machines</a:t>
            </a:r>
            <a:endParaRPr sz="2000" dirty="0">
              <a:latin typeface="Georgia" panose="02040502050405020303" pitchFamily="18" charset="0"/>
              <a:cs typeface="Times New Roman"/>
            </a:endParaRPr>
          </a:p>
          <a:p>
            <a:pPr marL="335280" indent="-322580" algn="just">
              <a:lnSpc>
                <a:spcPts val="2380"/>
              </a:lnSpc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000" spc="-10" dirty="0">
                <a:latin typeface="Georgia" panose="02040502050405020303" pitchFamily="18" charset="0"/>
                <a:cs typeface="Times New Roman"/>
              </a:rPr>
              <a:t>Hence:</a:t>
            </a:r>
            <a:endParaRPr sz="2000" dirty="0">
              <a:latin typeface="Georgia" panose="02040502050405020303" pitchFamily="18" charset="0"/>
              <a:cs typeface="Times New Roman"/>
            </a:endParaRPr>
          </a:p>
          <a:p>
            <a:pPr marL="768350" marR="494665" lvl="1" indent="-288290" algn="just">
              <a:lnSpc>
                <a:spcPts val="3020"/>
              </a:lnSpc>
              <a:spcBef>
                <a:spcPts val="210"/>
              </a:spcBef>
              <a:buClr>
                <a:srgbClr val="E6E6E6"/>
              </a:buClr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000" spc="-10" dirty="0">
                <a:latin typeface="Georgia" panose="02040502050405020303" pitchFamily="18" charset="0"/>
                <a:cs typeface="Times New Roman"/>
              </a:rPr>
              <a:t>Turing</a:t>
            </a:r>
            <a:r>
              <a:rPr sz="2000" spc="-5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machines</a:t>
            </a:r>
            <a:r>
              <a:rPr sz="2000" spc="-5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can</a:t>
            </a:r>
            <a:r>
              <a:rPr sz="2000" spc="-5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do</a:t>
            </a:r>
            <a:r>
              <a:rPr sz="2000" spc="-5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anything</a:t>
            </a:r>
            <a:r>
              <a:rPr sz="2000" spc="-7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that</a:t>
            </a:r>
            <a:r>
              <a:rPr sz="2000" spc="-6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can</a:t>
            </a:r>
            <a:r>
              <a:rPr sz="2000" spc="-5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spc="-25" dirty="0">
                <a:latin typeface="Georgia" panose="02040502050405020303" pitchFamily="18" charset="0"/>
                <a:cs typeface="Times New Roman"/>
              </a:rPr>
              <a:t>be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described</a:t>
            </a:r>
            <a:r>
              <a:rPr sz="2000" spc="-5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as</a:t>
            </a:r>
            <a:r>
              <a:rPr sz="2000" spc="-50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an</a:t>
            </a:r>
            <a:r>
              <a:rPr sz="2000" spc="-4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dirty="0">
                <a:latin typeface="Georgia" panose="02040502050405020303" pitchFamily="18" charset="0"/>
                <a:cs typeface="Times New Roman"/>
              </a:rPr>
              <a:t>effective</a:t>
            </a:r>
            <a:r>
              <a:rPr sz="2000" spc="-45" dirty="0">
                <a:latin typeface="Georgia" panose="02040502050405020303" pitchFamily="18" charset="0"/>
                <a:cs typeface="Times New Roman"/>
              </a:rPr>
              <a:t> </a:t>
            </a:r>
            <a:r>
              <a:rPr sz="2000" spc="-10" dirty="0">
                <a:latin typeface="Georgia" panose="02040502050405020303" pitchFamily="18" charset="0"/>
                <a:cs typeface="Times New Roman"/>
              </a:rPr>
              <a:t>procedure</a:t>
            </a:r>
            <a:endParaRPr sz="2000" dirty="0">
              <a:latin typeface="Georgia" panose="02040502050405020303" pitchFamily="18" charset="0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602640"/>
            <a:ext cx="7940040" cy="1134721"/>
          </a:xfrm>
          <a:prstGeom prst="rect">
            <a:avLst/>
          </a:prstGeom>
        </p:spPr>
        <p:txBody>
          <a:bodyPr vert="horz" wrap="square" lIns="0" tIns="392227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95"/>
              </a:spcBef>
            </a:pPr>
            <a:r>
              <a:rPr dirty="0"/>
              <a:t>What</a:t>
            </a:r>
            <a:r>
              <a:rPr spc="-65" dirty="0"/>
              <a:t> </a:t>
            </a:r>
            <a:r>
              <a:rPr dirty="0"/>
              <a:t>is</a:t>
            </a:r>
            <a:r>
              <a:rPr spc="-60" dirty="0"/>
              <a:t> </a:t>
            </a:r>
            <a:r>
              <a:rPr dirty="0"/>
              <a:t>a</a:t>
            </a:r>
            <a:r>
              <a:rPr spc="-60" dirty="0"/>
              <a:t> </a:t>
            </a:r>
            <a:r>
              <a:rPr dirty="0"/>
              <a:t>Turing</a:t>
            </a:r>
            <a:r>
              <a:rPr spc="-60" dirty="0"/>
              <a:t> </a:t>
            </a:r>
            <a:r>
              <a:rPr spc="-10" dirty="0"/>
              <a:t>Machine?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417" y="2133600"/>
            <a:ext cx="7370445" cy="38751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5280" indent="-322580" algn="just">
              <a:lnSpc>
                <a:spcPts val="3760"/>
              </a:lnSpc>
              <a:spcBef>
                <a:spcPts val="105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lang="en-US" sz="3200" dirty="0"/>
              <a:t>A </a:t>
            </a:r>
            <a:r>
              <a:rPr lang="en-US" sz="3200" b="1" dirty="0"/>
              <a:t>Turing Machine</a:t>
            </a:r>
            <a:r>
              <a:rPr lang="en-US" sz="3200" dirty="0"/>
              <a:t> is an </a:t>
            </a:r>
            <a:r>
              <a:rPr lang="en-US" sz="3200" b="1" dirty="0"/>
              <a:t>abstract mathematical model of computation</a:t>
            </a:r>
            <a:r>
              <a:rPr lang="en-US" sz="3200" dirty="0"/>
              <a:t> proposed by Alan Turing (1936).</a:t>
            </a:r>
            <a:br>
              <a:rPr lang="en-US" sz="3200" dirty="0"/>
            </a:br>
            <a:r>
              <a:rPr lang="en-US" sz="3200" dirty="0"/>
              <a:t>It captures the fundamental idea of what it means to “compute” an algorithm.</a:t>
            </a:r>
          </a:p>
          <a:p>
            <a:pPr marL="335280" indent="-322580" algn="just">
              <a:lnSpc>
                <a:spcPts val="3760"/>
              </a:lnSpc>
              <a:spcBef>
                <a:spcPts val="105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449EB43-7898-446E-9559-52A5B24BD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Components: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B3F90A1-C981-4068-A9A9-29BEA21D71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59" y="1845734"/>
            <a:ext cx="7543801" cy="4097866"/>
          </a:xfrm>
        </p:spPr>
        <p:txBody>
          <a:bodyPr>
            <a:noAutofit/>
          </a:bodyPr>
          <a:lstStyle/>
          <a:p>
            <a:r>
              <a:rPr lang="en-US" sz="1600" b="1" dirty="0">
                <a:solidFill>
                  <a:schemeClr val="tx1"/>
                </a:solidFill>
              </a:rPr>
              <a:t>Infinite Tape</a:t>
            </a:r>
            <a:endParaRPr lang="en-US" sz="1600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Serves as memory.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Divided into discrete cells, each holding a symbol (e.g., 0, 1, blank).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Tape Head</a:t>
            </a:r>
            <a:endParaRPr lang="en-US" sz="1600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Can </a:t>
            </a:r>
            <a:r>
              <a:rPr lang="en-US" sz="1600" b="1" dirty="0">
                <a:solidFill>
                  <a:schemeClr val="tx1"/>
                </a:solidFill>
              </a:rPr>
              <a:t>read</a:t>
            </a:r>
            <a:r>
              <a:rPr lang="en-US" sz="1600" dirty="0">
                <a:solidFill>
                  <a:schemeClr val="tx1"/>
                </a:solidFill>
              </a:rPr>
              <a:t> the symbol in the current cell.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Can </a:t>
            </a:r>
            <a:r>
              <a:rPr lang="en-US" sz="1600" b="1" dirty="0">
                <a:solidFill>
                  <a:schemeClr val="tx1"/>
                </a:solidFill>
              </a:rPr>
              <a:t>write</a:t>
            </a:r>
            <a:r>
              <a:rPr lang="en-US" sz="1600" dirty="0">
                <a:solidFill>
                  <a:schemeClr val="tx1"/>
                </a:solidFill>
              </a:rPr>
              <a:t> a new symbol into that cell.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Can </a:t>
            </a:r>
            <a:r>
              <a:rPr lang="en-US" sz="1600" b="1" dirty="0">
                <a:solidFill>
                  <a:schemeClr val="tx1"/>
                </a:solidFill>
              </a:rPr>
              <a:t>move left or right</a:t>
            </a:r>
            <a:r>
              <a:rPr lang="en-US" sz="1600" dirty="0">
                <a:solidFill>
                  <a:schemeClr val="tx1"/>
                </a:solidFill>
              </a:rPr>
              <a:t> along the tape.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Finite Control (Program)</a:t>
            </a:r>
            <a:endParaRPr lang="en-US" sz="1600" dirty="0">
              <a:solidFill>
                <a:schemeClr val="tx1"/>
              </a:solidFill>
            </a:endParaRP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A set of rules (like a lookup table).</a:t>
            </a:r>
          </a:p>
          <a:p>
            <a:pPr lvl="1"/>
            <a:r>
              <a:rPr lang="en-US" sz="1600" dirty="0">
                <a:solidFill>
                  <a:schemeClr val="tx1"/>
                </a:solidFill>
              </a:rPr>
              <a:t>Tells the machine, given the </a:t>
            </a:r>
            <a:r>
              <a:rPr lang="en-US" sz="1600" b="1" dirty="0">
                <a:solidFill>
                  <a:schemeClr val="tx1"/>
                </a:solidFill>
              </a:rPr>
              <a:t>current state + symbol read</a:t>
            </a:r>
            <a:r>
              <a:rPr lang="en-US" sz="1600" dirty="0">
                <a:solidFill>
                  <a:schemeClr val="tx1"/>
                </a:solidFill>
              </a:rPr>
              <a:t>, what action to take:</a:t>
            </a:r>
          </a:p>
          <a:p>
            <a:pPr lvl="2"/>
            <a:r>
              <a:rPr lang="en-US" sz="1600" dirty="0">
                <a:solidFill>
                  <a:schemeClr val="tx1"/>
                </a:solidFill>
              </a:rPr>
              <a:t>Write a symbol,</a:t>
            </a:r>
          </a:p>
          <a:p>
            <a:pPr lvl="2"/>
            <a:r>
              <a:rPr lang="en-US" sz="1600" dirty="0">
                <a:solidFill>
                  <a:schemeClr val="tx1"/>
                </a:solidFill>
              </a:rPr>
              <a:t>Move left or right,</a:t>
            </a:r>
          </a:p>
          <a:p>
            <a:pPr lvl="2"/>
            <a:r>
              <a:rPr lang="en-US" sz="1600" dirty="0">
                <a:solidFill>
                  <a:schemeClr val="tx1"/>
                </a:solidFill>
              </a:rPr>
              <a:t>Change to a new state.</a:t>
            </a:r>
          </a:p>
          <a:p>
            <a:endParaRPr lang="en-IN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99964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4B4D4DE-467C-4D63-8443-705FD45A3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How it works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xmlns="" id="{23821EB1-70AA-4700-9A67-4B77090368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22959" y="1997931"/>
            <a:ext cx="7863841" cy="37189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At each step, the machine: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Reads the current symbol.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Looks up the rule in its program.</a:t>
            </a:r>
          </a:p>
          <a:p>
            <a:pPr marL="292608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Writes a symbol, moves, and changes state.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This process continues until it reaches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halting state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" panose="02040502050405020303" pitchFamily="18" charset="0"/>
              </a:rPr>
              <a:t> (or runs forever).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Why It Matters: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Simple but </a:t>
            </a:r>
            <a:r>
              <a:rPr 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powerful</a:t>
            </a:r>
            <a:r>
              <a:rPr 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: can simulate any algorithm.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Basis of the </a:t>
            </a:r>
            <a:r>
              <a:rPr 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Church–Turing Thesis</a:t>
            </a:r>
            <a:r>
              <a:rPr 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 → "Anything computable can be computed by a Turing Machine."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Inspiration for the </a:t>
            </a:r>
            <a:r>
              <a:rPr lang="en-US" sz="1800" b="1" dirty="0">
                <a:solidFill>
                  <a:schemeClr val="tx1"/>
                </a:solidFill>
                <a:latin typeface="Georgia" panose="02040502050405020303" pitchFamily="18" charset="0"/>
              </a:rPr>
              <a:t>modern digital computer</a:t>
            </a:r>
            <a:r>
              <a:rPr lang="en-US" sz="1800" dirty="0">
                <a:solidFill>
                  <a:schemeClr val="tx1"/>
                </a:solidFill>
                <a:latin typeface="Georgia" panose="02040502050405020303" pitchFamily="18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901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434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95"/>
              </a:spcBef>
            </a:pPr>
            <a:r>
              <a:rPr dirty="0"/>
              <a:t>A</a:t>
            </a:r>
            <a:r>
              <a:rPr spc="-200" dirty="0"/>
              <a:t> </a:t>
            </a:r>
            <a:r>
              <a:rPr dirty="0"/>
              <a:t>Turing</a:t>
            </a:r>
            <a:r>
              <a:rPr spc="-60" dirty="0"/>
              <a:t> </a:t>
            </a:r>
            <a:r>
              <a:rPr spc="-10" dirty="0"/>
              <a:t>Machine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2057400"/>
            <a:ext cx="3925823" cy="379171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1017883"/>
            <a:ext cx="8138160" cy="719478"/>
          </a:xfrm>
          <a:prstGeom prst="rect">
            <a:avLst/>
          </a:prstGeom>
        </p:spPr>
        <p:txBody>
          <a:bodyPr vert="horz" wrap="square" lIns="0" tIns="163880" rIns="0" bIns="0" rtlCol="0">
            <a:spAutoFit/>
          </a:bodyPr>
          <a:lstStyle/>
          <a:p>
            <a:pPr marL="251460">
              <a:lnSpc>
                <a:spcPct val="100000"/>
              </a:lnSpc>
              <a:spcBef>
                <a:spcPts val="100"/>
              </a:spcBef>
            </a:pPr>
            <a:r>
              <a:rPr sz="3600" b="1" dirty="0"/>
              <a:t>Turing</a:t>
            </a:r>
            <a:r>
              <a:rPr sz="3600" b="1" spc="-80" dirty="0"/>
              <a:t> </a:t>
            </a:r>
            <a:r>
              <a:rPr sz="3600" b="1" dirty="0"/>
              <a:t>Machines:</a:t>
            </a:r>
            <a:r>
              <a:rPr sz="3600" b="1" spc="-60" dirty="0"/>
              <a:t> </a:t>
            </a:r>
            <a:r>
              <a:rPr sz="3600" b="1" dirty="0"/>
              <a:t>more</a:t>
            </a:r>
            <a:r>
              <a:rPr sz="3600" b="1" spc="-40" dirty="0"/>
              <a:t> </a:t>
            </a:r>
            <a:r>
              <a:rPr sz="3600" b="1" spc="-10" dirty="0"/>
              <a:t>detail</a:t>
            </a:r>
            <a:endParaRPr sz="3600" b="1" dirty="0"/>
          </a:p>
        </p:txBody>
      </p:sp>
      <p:sp>
        <p:nvSpPr>
          <p:cNvPr id="4" name="object 4"/>
          <p:cNvSpPr txBox="1"/>
          <p:nvPr/>
        </p:nvSpPr>
        <p:spPr>
          <a:xfrm>
            <a:off x="563245" y="1981200"/>
            <a:ext cx="8017509" cy="4247958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35280" marR="19685" indent="-323215" algn="just">
              <a:lnSpc>
                <a:spcPts val="2590"/>
              </a:lnSpc>
              <a:spcBef>
                <a:spcPts val="425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read/write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head,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single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cell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 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infinite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tape</a:t>
            </a:r>
            <a:r>
              <a:rPr sz="2400" spc="-20" dirty="0">
                <a:latin typeface="Times New Roman"/>
                <a:cs typeface="Times New Roman"/>
              </a:rPr>
              <a:t> with </a:t>
            </a:r>
            <a:r>
              <a:rPr sz="2400" dirty="0">
                <a:latin typeface="Times New Roman"/>
                <a:cs typeface="Times New Roman"/>
              </a:rPr>
              <a:t>symbols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from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finite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alphabet;</a:t>
            </a:r>
            <a:endParaRPr sz="2400" dirty="0">
              <a:latin typeface="Times New Roman"/>
              <a:cs typeface="Times New Roman"/>
            </a:endParaRPr>
          </a:p>
          <a:p>
            <a:pPr marL="335280" marR="38735" indent="-323215" algn="just">
              <a:lnSpc>
                <a:spcPts val="2590"/>
              </a:lnSpc>
              <a:spcBef>
                <a:spcPts val="5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finite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number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internal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states,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designated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“start” state;</a:t>
            </a:r>
            <a:endParaRPr sz="24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2380"/>
              </a:lnSpc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actions:</a:t>
            </a:r>
            <a:endParaRPr sz="24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301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dirty="0">
                <a:latin typeface="Times New Roman"/>
                <a:cs typeface="Times New Roman"/>
              </a:rPr>
              <a:t>move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right,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302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dirty="0">
                <a:latin typeface="Times New Roman"/>
                <a:cs typeface="Times New Roman"/>
              </a:rPr>
              <a:t>move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left,</a:t>
            </a:r>
            <a:endParaRPr sz="2800" dirty="0">
              <a:latin typeface="Times New Roman"/>
              <a:cs typeface="Times New Roman"/>
            </a:endParaRPr>
          </a:p>
          <a:p>
            <a:pPr marL="768350" lvl="1" indent="-287655" algn="just">
              <a:lnSpc>
                <a:spcPts val="3055"/>
              </a:lnSpc>
              <a:buSzPct val="75000"/>
              <a:buFont typeface="Symbol"/>
              <a:buChar char=""/>
              <a:tabLst>
                <a:tab pos="768350" algn="l"/>
              </a:tabLst>
            </a:pPr>
            <a:r>
              <a:rPr sz="2800" dirty="0">
                <a:latin typeface="Times New Roman"/>
                <a:cs typeface="Times New Roman"/>
              </a:rPr>
              <a:t>change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what’s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on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tape.</a:t>
            </a:r>
            <a:endParaRPr sz="2800" dirty="0">
              <a:latin typeface="Times New Roman"/>
              <a:cs typeface="Times New Roman"/>
            </a:endParaRPr>
          </a:p>
          <a:p>
            <a:pPr marL="335280" marR="5080" indent="-323215" algn="just">
              <a:lnSpc>
                <a:spcPts val="2590"/>
              </a:lnSpc>
              <a:spcBef>
                <a:spcPts val="195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finite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instructions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specifying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do,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depending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 </a:t>
            </a:r>
            <a:r>
              <a:rPr sz="2400" dirty="0">
                <a:latin typeface="Times New Roman"/>
                <a:cs typeface="Times New Roman"/>
              </a:rPr>
              <a:t>the state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being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read.</a:t>
            </a:r>
            <a:endParaRPr lang="en-IN" sz="2400" spc="-10" dirty="0">
              <a:latin typeface="Times New Roman"/>
              <a:cs typeface="Times New Roman"/>
            </a:endParaRPr>
          </a:p>
          <a:p>
            <a:pPr marL="335280" marR="5080" indent="-323215" algn="just">
              <a:lnSpc>
                <a:spcPts val="2590"/>
              </a:lnSpc>
              <a:spcBef>
                <a:spcPts val="195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(Current State, Symbol Read) → (New State, Symbol to Write, Move Left/Right)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0058" y="1133532"/>
            <a:ext cx="7998142" cy="51937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12700" marR="5080">
              <a:lnSpc>
                <a:spcPts val="3570"/>
              </a:lnSpc>
              <a:spcBef>
                <a:spcPts val="450"/>
              </a:spcBef>
            </a:pPr>
            <a:r>
              <a:rPr sz="3200" dirty="0"/>
              <a:t>TMs</a:t>
            </a:r>
            <a:r>
              <a:rPr sz="3200" spc="-40" dirty="0"/>
              <a:t> </a:t>
            </a:r>
            <a:r>
              <a:rPr sz="3200" dirty="0"/>
              <a:t>can</a:t>
            </a:r>
            <a:r>
              <a:rPr sz="3200" spc="-15" dirty="0"/>
              <a:t> </a:t>
            </a:r>
            <a:r>
              <a:rPr sz="3200" dirty="0"/>
              <a:t>be</a:t>
            </a:r>
            <a:r>
              <a:rPr sz="3200" spc="-40" dirty="0"/>
              <a:t> </a:t>
            </a:r>
            <a:r>
              <a:rPr sz="3200" dirty="0"/>
              <a:t>identified</a:t>
            </a:r>
            <a:r>
              <a:rPr sz="3200" spc="-50" dirty="0"/>
              <a:t> </a:t>
            </a:r>
            <a:r>
              <a:rPr sz="3200" dirty="0"/>
              <a:t>with</a:t>
            </a:r>
            <a:r>
              <a:rPr sz="3200" spc="-45" dirty="0"/>
              <a:t> </a:t>
            </a:r>
            <a:r>
              <a:rPr sz="3200" dirty="0"/>
              <a:t>sets</a:t>
            </a:r>
            <a:r>
              <a:rPr sz="3200" spc="-20" dirty="0"/>
              <a:t> </a:t>
            </a:r>
            <a:r>
              <a:rPr sz="3200" spc="-25" dirty="0"/>
              <a:t>of </a:t>
            </a:r>
            <a:r>
              <a:rPr sz="3200" spc="-10" dirty="0"/>
              <a:t>quadruples</a:t>
            </a:r>
            <a:endParaRPr sz="3200" dirty="0"/>
          </a:p>
        </p:txBody>
      </p:sp>
      <p:sp>
        <p:nvSpPr>
          <p:cNvPr id="4" name="object 4"/>
          <p:cNvSpPr txBox="1"/>
          <p:nvPr/>
        </p:nvSpPr>
        <p:spPr>
          <a:xfrm>
            <a:off x="460058" y="1828800"/>
            <a:ext cx="8300084" cy="302577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335280" marR="5080" indent="-323215" algn="just">
              <a:lnSpc>
                <a:spcPts val="2590"/>
              </a:lnSpc>
              <a:spcBef>
                <a:spcPts val="425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quadruple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an instruction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tells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 machine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 to </a:t>
            </a:r>
            <a:r>
              <a:rPr sz="2400" spc="-25" dirty="0">
                <a:latin typeface="Times New Roman"/>
                <a:cs typeface="Times New Roman"/>
              </a:rPr>
              <a:t>do </a:t>
            </a:r>
            <a:r>
              <a:rPr sz="2400" dirty="0">
                <a:latin typeface="Times New Roman"/>
                <a:cs typeface="Times New Roman"/>
              </a:rPr>
              <a:t>depending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state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it’s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it’s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reading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tape.</a:t>
            </a:r>
            <a:endParaRPr sz="2400" dirty="0">
              <a:latin typeface="Times New Roman"/>
              <a:cs typeface="Times New Roman"/>
            </a:endParaRPr>
          </a:p>
          <a:p>
            <a:pPr marL="480695" algn="just">
              <a:lnSpc>
                <a:spcPct val="100000"/>
              </a:lnSpc>
              <a:spcBef>
                <a:spcPts val="1905"/>
              </a:spcBef>
              <a:tabLst>
                <a:tab pos="1621155" algn="l"/>
                <a:tab pos="2922270" algn="l"/>
                <a:tab pos="4137025" algn="l"/>
              </a:tabLst>
            </a:pPr>
            <a:r>
              <a:rPr sz="2000" spc="-10" dirty="0">
                <a:latin typeface="Times New Roman"/>
                <a:cs typeface="Times New Roman"/>
              </a:rPr>
              <a:t>&lt;STATE,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SYMBOL,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ACTION,</a:t>
            </a:r>
            <a:r>
              <a:rPr sz="2000" dirty="0">
                <a:latin typeface="Times New Roman"/>
                <a:cs typeface="Times New Roman"/>
              </a:rPr>
              <a:t>	NEW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STATE&gt;</a:t>
            </a:r>
            <a:endParaRPr sz="2000" dirty="0">
              <a:latin typeface="Times New Roman"/>
              <a:cs typeface="Times New Roman"/>
            </a:endParaRPr>
          </a:p>
          <a:p>
            <a:pPr marL="480695" algn="just">
              <a:lnSpc>
                <a:spcPts val="2280"/>
              </a:lnSpc>
              <a:spcBef>
                <a:spcPts val="1920"/>
              </a:spcBef>
            </a:pPr>
            <a:r>
              <a:rPr sz="2000" dirty="0">
                <a:latin typeface="Times New Roman"/>
                <a:cs typeface="Times New Roman"/>
              </a:rPr>
              <a:t>where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possible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actions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writing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different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symbol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place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endParaRPr sz="2000" dirty="0">
              <a:latin typeface="Times New Roman"/>
              <a:cs typeface="Times New Roman"/>
            </a:endParaRPr>
          </a:p>
          <a:p>
            <a:pPr marL="768350" algn="just">
              <a:lnSpc>
                <a:spcPts val="2280"/>
              </a:lnSpc>
            </a:pPr>
            <a:r>
              <a:rPr sz="2000" dirty="0">
                <a:latin typeface="Times New Roman"/>
                <a:cs typeface="Times New Roman"/>
              </a:rPr>
              <a:t>current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one,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moving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left,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moving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right.</a:t>
            </a:r>
            <a:endParaRPr sz="2000" dirty="0">
              <a:latin typeface="Times New Roman"/>
              <a:cs typeface="Times New Roman"/>
            </a:endParaRPr>
          </a:p>
          <a:p>
            <a:pPr marL="335280" marR="210820" indent="-323215" algn="just">
              <a:lnSpc>
                <a:spcPts val="2590"/>
              </a:lnSpc>
              <a:spcBef>
                <a:spcPts val="2180"/>
              </a:spcBef>
              <a:buSzPct val="43750"/>
              <a:buFont typeface="Microsoft Sans Serif"/>
              <a:buChar char="●"/>
              <a:tabLst>
                <a:tab pos="33528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step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computation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involves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reading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symbol,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carrying </a:t>
            </a:r>
            <a:r>
              <a:rPr sz="2400" dirty="0">
                <a:latin typeface="Times New Roman"/>
                <a:cs typeface="Times New Roman"/>
              </a:rPr>
              <a:t>out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action,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 switching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new </a:t>
            </a:r>
            <a:r>
              <a:rPr sz="2400" spc="-10" dirty="0">
                <a:latin typeface="Times New Roman"/>
                <a:cs typeface="Times New Roman"/>
              </a:rPr>
              <a:t>state.</a:t>
            </a:r>
            <a:endParaRPr sz="24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00990" rIns="0" bIns="0" rtlCol="0">
            <a:spAutoFit/>
          </a:bodyPr>
          <a:lstStyle/>
          <a:p>
            <a:pPr marL="375920">
              <a:lnSpc>
                <a:spcPct val="100000"/>
              </a:lnSpc>
              <a:spcBef>
                <a:spcPts val="95"/>
              </a:spcBef>
            </a:pPr>
            <a:r>
              <a:rPr dirty="0"/>
              <a:t>Example:</a:t>
            </a:r>
            <a:r>
              <a:rPr spc="-85" dirty="0"/>
              <a:t> </a:t>
            </a:r>
            <a:r>
              <a:rPr dirty="0"/>
              <a:t>an</a:t>
            </a:r>
            <a:r>
              <a:rPr spc="-229" dirty="0"/>
              <a:t> </a:t>
            </a:r>
            <a:r>
              <a:rPr spc="-10" dirty="0"/>
              <a:t>Adder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65575" y="2187066"/>
            <a:ext cx="4517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Let</a:t>
            </a:r>
            <a:r>
              <a:rPr sz="2400" spc="-4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n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be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represented</a:t>
            </a:r>
            <a:r>
              <a:rPr sz="2400" spc="-2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by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(n+1)</a:t>
            </a:r>
            <a:r>
              <a:rPr sz="2400" spc="-30" dirty="0">
                <a:solidFill>
                  <a:srgbClr val="FFFFFF"/>
                </a:solidFill>
                <a:latin typeface="Microsoft Sans Serif"/>
                <a:cs typeface="Microsoft Sans Serif"/>
              </a:rPr>
              <a:t> </a:t>
            </a:r>
            <a:r>
              <a:rPr sz="2400" spc="-25" dirty="0">
                <a:solidFill>
                  <a:srgbClr val="FFFFFF"/>
                </a:solidFill>
                <a:latin typeface="Microsoft Sans Serif"/>
                <a:cs typeface="Microsoft Sans Serif"/>
              </a:rPr>
              <a:t>1’s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85837" y="3043237"/>
            <a:ext cx="1228725" cy="1152525"/>
            <a:chOff x="985837" y="3043237"/>
            <a:chExt cx="1228725" cy="1152525"/>
          </a:xfrm>
        </p:grpSpPr>
        <p:sp>
          <p:nvSpPr>
            <p:cNvPr id="5" name="object 5"/>
            <p:cNvSpPr/>
            <p:nvPr/>
          </p:nvSpPr>
          <p:spPr>
            <a:xfrm>
              <a:off x="990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29" y="4644"/>
                  </a:lnTo>
                  <a:lnTo>
                    <a:pt x="139619" y="17966"/>
                  </a:lnTo>
                  <a:lnTo>
                    <a:pt x="100788" y="39045"/>
                  </a:lnTo>
                  <a:lnTo>
                    <a:pt x="66955" y="66960"/>
                  </a:lnTo>
                  <a:lnTo>
                    <a:pt x="39041" y="100793"/>
                  </a:lnTo>
                  <a:lnTo>
                    <a:pt x="17964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4" y="317575"/>
                  </a:lnTo>
                  <a:lnTo>
                    <a:pt x="39041" y="356406"/>
                  </a:lnTo>
                  <a:lnTo>
                    <a:pt x="66955" y="390239"/>
                  </a:lnTo>
                  <a:lnTo>
                    <a:pt x="100788" y="418154"/>
                  </a:lnTo>
                  <a:lnTo>
                    <a:pt x="139619" y="439233"/>
                  </a:lnTo>
                  <a:lnTo>
                    <a:pt x="182529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990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4" y="139624"/>
                  </a:lnTo>
                  <a:lnTo>
                    <a:pt x="39041" y="100793"/>
                  </a:lnTo>
                  <a:lnTo>
                    <a:pt x="66955" y="66960"/>
                  </a:lnTo>
                  <a:lnTo>
                    <a:pt x="100788" y="39045"/>
                  </a:lnTo>
                  <a:lnTo>
                    <a:pt x="139619" y="17966"/>
                  </a:lnTo>
                  <a:lnTo>
                    <a:pt x="182529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29" y="452555"/>
                  </a:lnTo>
                  <a:lnTo>
                    <a:pt x="139619" y="439233"/>
                  </a:lnTo>
                  <a:lnTo>
                    <a:pt x="100788" y="418154"/>
                  </a:lnTo>
                  <a:lnTo>
                    <a:pt x="66955" y="390239"/>
                  </a:lnTo>
                  <a:lnTo>
                    <a:pt x="39041" y="356406"/>
                  </a:lnTo>
                  <a:lnTo>
                    <a:pt x="17964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752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752600" y="30480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1371600" y="3733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371600" y="3733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499742" y="3734765"/>
            <a:ext cx="203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+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1289685" y="3502405"/>
            <a:ext cx="621030" cy="1455420"/>
            <a:chOff x="1289685" y="3502405"/>
            <a:chExt cx="621030" cy="1455420"/>
          </a:xfrm>
        </p:grpSpPr>
        <p:sp>
          <p:nvSpPr>
            <p:cNvPr id="13" name="object 13"/>
            <p:cNvSpPr/>
            <p:nvPr/>
          </p:nvSpPr>
          <p:spPr>
            <a:xfrm>
              <a:off x="1289685" y="3502405"/>
              <a:ext cx="621030" cy="307975"/>
            </a:xfrm>
            <a:custGeom>
              <a:avLst/>
              <a:gdLst/>
              <a:ahLst/>
              <a:cxnLst/>
              <a:rect l="l" t="t" r="r" b="b"/>
              <a:pathLst>
                <a:path w="621030" h="307975">
                  <a:moveTo>
                    <a:pt x="158115" y="222377"/>
                  </a:moveTo>
                  <a:lnTo>
                    <a:pt x="129705" y="236562"/>
                  </a:lnTo>
                  <a:lnTo>
                    <a:pt x="11430" y="0"/>
                  </a:lnTo>
                  <a:lnTo>
                    <a:pt x="0" y="5588"/>
                  </a:lnTo>
                  <a:lnTo>
                    <a:pt x="118364" y="242214"/>
                  </a:lnTo>
                  <a:lnTo>
                    <a:pt x="89916" y="256413"/>
                  </a:lnTo>
                  <a:lnTo>
                    <a:pt x="158115" y="307594"/>
                  </a:lnTo>
                  <a:lnTo>
                    <a:pt x="158115" y="253619"/>
                  </a:lnTo>
                  <a:lnTo>
                    <a:pt x="158115" y="222377"/>
                  </a:lnTo>
                  <a:close/>
                </a:path>
                <a:path w="621030" h="307975">
                  <a:moveTo>
                    <a:pt x="621030" y="5588"/>
                  </a:moveTo>
                  <a:lnTo>
                    <a:pt x="609600" y="0"/>
                  </a:lnTo>
                  <a:lnTo>
                    <a:pt x="491312" y="236562"/>
                  </a:lnTo>
                  <a:lnTo>
                    <a:pt x="462915" y="222377"/>
                  </a:lnTo>
                  <a:lnTo>
                    <a:pt x="462915" y="307594"/>
                  </a:lnTo>
                  <a:lnTo>
                    <a:pt x="531114" y="256413"/>
                  </a:lnTo>
                  <a:lnTo>
                    <a:pt x="525513" y="253619"/>
                  </a:lnTo>
                  <a:lnTo>
                    <a:pt x="502653" y="242214"/>
                  </a:lnTo>
                  <a:lnTo>
                    <a:pt x="621030" y="558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1371600" y="4495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71600" y="4495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1504314" y="4497451"/>
            <a:ext cx="1949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3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62100" y="419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w="76200" h="30480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w="76200" h="30480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122984" y="2263266"/>
            <a:ext cx="989330" cy="11772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1125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solidFill>
                  <a:srgbClr val="FFFFFF"/>
                </a:solidFill>
                <a:latin typeface="Microsoft Sans Serif"/>
                <a:cs typeface="Microsoft Sans Serif"/>
              </a:rPr>
              <a:t>2+1=3</a:t>
            </a:r>
            <a:endParaRPr sz="240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2400">
              <a:latin typeface="Microsoft Sans Serif"/>
              <a:cs typeface="Microsoft Sans Serif"/>
            </a:endParaRPr>
          </a:p>
          <a:p>
            <a:pPr marL="12700">
              <a:lnSpc>
                <a:spcPct val="100000"/>
              </a:lnSpc>
              <a:tabLst>
                <a:tab pos="774700" algn="l"/>
              </a:tabLst>
            </a:pP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2</a:t>
            </a:r>
            <a:r>
              <a:rPr sz="2400" dirty="0">
                <a:solidFill>
                  <a:srgbClr val="FFFFFF"/>
                </a:solidFill>
                <a:latin typeface="Microsoft Sans Serif"/>
                <a:cs typeface="Microsoft Sans Serif"/>
              </a:rPr>
              <a:t>	</a:t>
            </a:r>
            <a:r>
              <a:rPr sz="2400" spc="-50" dirty="0">
                <a:solidFill>
                  <a:srgbClr val="FFFFFF"/>
                </a:solidFill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5786437" y="3729037"/>
            <a:ext cx="466725" cy="466725"/>
            <a:chOff x="5786437" y="3729037"/>
            <a:chExt cx="466725" cy="466725"/>
          </a:xfrm>
        </p:grpSpPr>
        <p:sp>
          <p:nvSpPr>
            <p:cNvPr id="20" name="object 20"/>
            <p:cNvSpPr/>
            <p:nvPr/>
          </p:nvSpPr>
          <p:spPr>
            <a:xfrm>
              <a:off x="5791200" y="3733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5791200" y="3733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5919978" y="3734765"/>
            <a:ext cx="203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+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981700" y="3429000"/>
            <a:ext cx="76200" cy="1066800"/>
            <a:chOff x="5981700" y="3429000"/>
            <a:chExt cx="76200" cy="1066800"/>
          </a:xfrm>
        </p:grpSpPr>
        <p:sp>
          <p:nvSpPr>
            <p:cNvPr id="24" name="object 24"/>
            <p:cNvSpPr/>
            <p:nvPr/>
          </p:nvSpPr>
          <p:spPr>
            <a:xfrm>
              <a:off x="5981700" y="41910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31750" y="228600"/>
                  </a:move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31750" y="241300"/>
                  </a:lnTo>
                  <a:lnTo>
                    <a:pt x="31750" y="228600"/>
                  </a:lnTo>
                  <a:close/>
                </a:path>
                <a:path w="76200" h="304800">
                  <a:moveTo>
                    <a:pt x="44450" y="0"/>
                  </a:moveTo>
                  <a:lnTo>
                    <a:pt x="31750" y="0"/>
                  </a:lnTo>
                  <a:lnTo>
                    <a:pt x="31750" y="241300"/>
                  </a:lnTo>
                  <a:lnTo>
                    <a:pt x="44450" y="241300"/>
                  </a:lnTo>
                  <a:lnTo>
                    <a:pt x="44450" y="0"/>
                  </a:lnTo>
                  <a:close/>
                </a:path>
                <a:path w="76200" h="304800">
                  <a:moveTo>
                    <a:pt x="76200" y="228600"/>
                  </a:moveTo>
                  <a:lnTo>
                    <a:pt x="44450" y="228600"/>
                  </a:lnTo>
                  <a:lnTo>
                    <a:pt x="44450" y="2413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981700" y="3429000"/>
              <a:ext cx="76200" cy="304800"/>
            </a:xfrm>
            <a:custGeom>
              <a:avLst/>
              <a:gdLst/>
              <a:ahLst/>
              <a:cxnLst/>
              <a:rect l="l" t="t" r="r" b="b"/>
              <a:pathLst>
                <a:path w="76200" h="304800">
                  <a:moveTo>
                    <a:pt x="31750" y="228600"/>
                  </a:moveTo>
                  <a:lnTo>
                    <a:pt x="0" y="228600"/>
                  </a:lnTo>
                  <a:lnTo>
                    <a:pt x="38100" y="304800"/>
                  </a:lnTo>
                  <a:lnTo>
                    <a:pt x="69850" y="241300"/>
                  </a:lnTo>
                  <a:lnTo>
                    <a:pt x="31750" y="241300"/>
                  </a:lnTo>
                  <a:lnTo>
                    <a:pt x="31750" y="228600"/>
                  </a:lnTo>
                  <a:close/>
                </a:path>
                <a:path w="76200" h="304800">
                  <a:moveTo>
                    <a:pt x="44450" y="0"/>
                  </a:moveTo>
                  <a:lnTo>
                    <a:pt x="31750" y="0"/>
                  </a:lnTo>
                  <a:lnTo>
                    <a:pt x="31750" y="241300"/>
                  </a:lnTo>
                  <a:lnTo>
                    <a:pt x="44450" y="241300"/>
                  </a:lnTo>
                  <a:lnTo>
                    <a:pt x="44450" y="0"/>
                  </a:lnTo>
                  <a:close/>
                </a:path>
                <a:path w="76200" h="304800">
                  <a:moveTo>
                    <a:pt x="76200" y="228600"/>
                  </a:moveTo>
                  <a:lnTo>
                    <a:pt x="44450" y="228600"/>
                  </a:lnTo>
                  <a:lnTo>
                    <a:pt x="44450" y="241300"/>
                  </a:lnTo>
                  <a:lnTo>
                    <a:pt x="69850" y="241300"/>
                  </a:lnTo>
                  <a:lnTo>
                    <a:pt x="76200" y="22860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4958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95837" y="2967037"/>
            <a:ext cx="314325" cy="390525"/>
            <a:chOff x="4795837" y="2967037"/>
            <a:chExt cx="314325" cy="390525"/>
          </a:xfrm>
        </p:grpSpPr>
        <p:sp>
          <p:nvSpPr>
            <p:cNvPr id="28" name="object 28"/>
            <p:cNvSpPr/>
            <p:nvPr/>
          </p:nvSpPr>
          <p:spPr>
            <a:xfrm>
              <a:off x="4800600" y="2971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304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04800" y="381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00600" y="2971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381000"/>
                  </a:moveTo>
                  <a:lnTo>
                    <a:pt x="304800" y="381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876800" y="2971800"/>
            <a:ext cx="2286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1054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54102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7150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0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0198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3246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 dirty="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6294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342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390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684134" y="2914269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85" dirty="0">
                <a:latin typeface="Microsoft Sans Serif"/>
                <a:cs typeface="Microsoft Sans Serif"/>
              </a:rPr>
              <a:t>…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958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4795837" y="4491037"/>
            <a:ext cx="314325" cy="390525"/>
            <a:chOff x="4795837" y="4491037"/>
            <a:chExt cx="314325" cy="390525"/>
          </a:xfrm>
        </p:grpSpPr>
        <p:sp>
          <p:nvSpPr>
            <p:cNvPr id="42" name="object 42"/>
            <p:cNvSpPr/>
            <p:nvPr/>
          </p:nvSpPr>
          <p:spPr>
            <a:xfrm>
              <a:off x="4800600" y="4495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304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04800" y="381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800600" y="4495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381000"/>
                  </a:moveTo>
                  <a:lnTo>
                    <a:pt x="304800" y="381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4" name="object 44"/>
          <p:cNvSpPr txBox="1"/>
          <p:nvPr/>
        </p:nvSpPr>
        <p:spPr>
          <a:xfrm>
            <a:off x="4876800" y="4495800"/>
            <a:ext cx="2286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1054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54102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7150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60198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246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6294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9342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2390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4419600" y="2895600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0" y="533400"/>
                </a:moveTo>
                <a:lnTo>
                  <a:pt x="457200" y="533400"/>
                </a:lnTo>
                <a:lnTo>
                  <a:pt x="457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419600" y="4419600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0" y="533400"/>
                </a:moveTo>
                <a:lnTo>
                  <a:pt x="457200" y="533400"/>
                </a:lnTo>
                <a:lnTo>
                  <a:pt x="457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26466" rIns="0" bIns="0" rtlCol="0">
            <a:spAutoFit/>
          </a:bodyPr>
          <a:lstStyle/>
          <a:p>
            <a:pPr marL="111760" marR="5080">
              <a:lnSpc>
                <a:spcPts val="3840"/>
              </a:lnSpc>
              <a:spcBef>
                <a:spcPts val="1025"/>
              </a:spcBef>
            </a:pPr>
            <a:r>
              <a:rPr dirty="0"/>
              <a:t>A</a:t>
            </a:r>
            <a:r>
              <a:rPr spc="-225" dirty="0"/>
              <a:t> </a:t>
            </a:r>
            <a:r>
              <a:rPr dirty="0"/>
              <a:t>Turing</a:t>
            </a:r>
            <a:r>
              <a:rPr spc="-90" dirty="0"/>
              <a:t> </a:t>
            </a:r>
            <a:r>
              <a:rPr dirty="0"/>
              <a:t>machine</a:t>
            </a:r>
            <a:r>
              <a:rPr spc="-70" dirty="0"/>
              <a:t> </a:t>
            </a:r>
            <a:r>
              <a:rPr dirty="0"/>
              <a:t>for</a:t>
            </a:r>
            <a:r>
              <a:rPr spc="-80" dirty="0"/>
              <a:t> </a:t>
            </a:r>
            <a:r>
              <a:rPr spc="-10" dirty="0"/>
              <a:t>adding </a:t>
            </a:r>
            <a:r>
              <a:rPr dirty="0"/>
              <a:t>two</a:t>
            </a:r>
            <a:r>
              <a:rPr spc="-55" dirty="0"/>
              <a:t> </a:t>
            </a:r>
            <a:r>
              <a:rPr dirty="0"/>
              <a:t>numbers:</a:t>
            </a:r>
            <a:r>
              <a:rPr spc="-35" dirty="0"/>
              <a:t> </a:t>
            </a:r>
            <a:r>
              <a:rPr dirty="0"/>
              <a:t>2</a:t>
            </a:r>
            <a:r>
              <a:rPr spc="-65" dirty="0"/>
              <a:t> </a:t>
            </a:r>
            <a:r>
              <a:rPr spc="-10" dirty="0"/>
              <a:t>steps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52704" y="2013331"/>
            <a:ext cx="4132579" cy="14625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35915" indent="-323215" algn="just">
              <a:lnSpc>
                <a:spcPts val="3745"/>
              </a:lnSpc>
              <a:spcBef>
                <a:spcPts val="105"/>
              </a:spcBef>
              <a:buSzPct val="45312"/>
              <a:buFont typeface="Microsoft Sans Serif"/>
              <a:buChar char="●"/>
              <a:tabLst>
                <a:tab pos="335915" algn="l"/>
              </a:tabLst>
            </a:pPr>
            <a:r>
              <a:rPr sz="3200" dirty="0">
                <a:latin typeface="Times New Roman"/>
                <a:cs typeface="Times New Roman"/>
              </a:rPr>
              <a:t>Change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0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1</a:t>
            </a:r>
            <a:endParaRPr sz="3200" dirty="0">
              <a:latin typeface="Times New Roman"/>
              <a:cs typeface="Times New Roman"/>
            </a:endParaRPr>
          </a:p>
          <a:p>
            <a:pPr marL="335915" marR="5080" indent="-323850" algn="just">
              <a:lnSpc>
                <a:spcPts val="3650"/>
              </a:lnSpc>
              <a:spcBef>
                <a:spcPts val="180"/>
              </a:spcBef>
              <a:buSzPct val="45312"/>
              <a:buFont typeface="Microsoft Sans Serif"/>
              <a:buChar char="●"/>
              <a:tabLst>
                <a:tab pos="335915" algn="l"/>
              </a:tabLst>
            </a:pPr>
            <a:r>
              <a:rPr sz="3200" dirty="0">
                <a:latin typeface="Times New Roman"/>
                <a:cs typeface="Times New Roman"/>
              </a:rPr>
              <a:t>Erase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two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1’s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at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the end</a:t>
            </a:r>
            <a:endParaRPr sz="3200" dirty="0">
              <a:latin typeface="Times New Roman"/>
              <a:cs typeface="Times New Roman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548437" y="3729037"/>
            <a:ext cx="466725" cy="466725"/>
            <a:chOff x="6548437" y="3729037"/>
            <a:chExt cx="466725" cy="466725"/>
          </a:xfrm>
        </p:grpSpPr>
        <p:sp>
          <p:nvSpPr>
            <p:cNvPr id="5" name="object 5"/>
            <p:cNvSpPr/>
            <p:nvPr/>
          </p:nvSpPr>
          <p:spPr>
            <a:xfrm>
              <a:off x="6553200" y="3733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228600" y="0"/>
                  </a:moveTo>
                  <a:lnTo>
                    <a:pt x="182533" y="4644"/>
                  </a:lnTo>
                  <a:lnTo>
                    <a:pt x="139624" y="17966"/>
                  </a:lnTo>
                  <a:lnTo>
                    <a:pt x="100793" y="39045"/>
                  </a:lnTo>
                  <a:lnTo>
                    <a:pt x="66960" y="66960"/>
                  </a:lnTo>
                  <a:lnTo>
                    <a:pt x="39045" y="100793"/>
                  </a:lnTo>
                  <a:lnTo>
                    <a:pt x="17966" y="139624"/>
                  </a:lnTo>
                  <a:lnTo>
                    <a:pt x="4644" y="182533"/>
                  </a:lnTo>
                  <a:lnTo>
                    <a:pt x="0" y="228600"/>
                  </a:lnTo>
                  <a:lnTo>
                    <a:pt x="4644" y="274666"/>
                  </a:lnTo>
                  <a:lnTo>
                    <a:pt x="17966" y="317575"/>
                  </a:lnTo>
                  <a:lnTo>
                    <a:pt x="39045" y="356406"/>
                  </a:lnTo>
                  <a:lnTo>
                    <a:pt x="66960" y="390239"/>
                  </a:lnTo>
                  <a:lnTo>
                    <a:pt x="100793" y="418154"/>
                  </a:lnTo>
                  <a:lnTo>
                    <a:pt x="139624" y="439233"/>
                  </a:lnTo>
                  <a:lnTo>
                    <a:pt x="182533" y="452555"/>
                  </a:lnTo>
                  <a:lnTo>
                    <a:pt x="228600" y="457200"/>
                  </a:lnTo>
                  <a:lnTo>
                    <a:pt x="274666" y="452555"/>
                  </a:lnTo>
                  <a:lnTo>
                    <a:pt x="317575" y="439233"/>
                  </a:lnTo>
                  <a:lnTo>
                    <a:pt x="356406" y="418154"/>
                  </a:lnTo>
                  <a:lnTo>
                    <a:pt x="390239" y="390239"/>
                  </a:lnTo>
                  <a:lnTo>
                    <a:pt x="418154" y="356406"/>
                  </a:lnTo>
                  <a:lnTo>
                    <a:pt x="439233" y="317575"/>
                  </a:lnTo>
                  <a:lnTo>
                    <a:pt x="452555" y="274666"/>
                  </a:lnTo>
                  <a:lnTo>
                    <a:pt x="457200" y="228600"/>
                  </a:lnTo>
                  <a:lnTo>
                    <a:pt x="452555" y="182533"/>
                  </a:lnTo>
                  <a:lnTo>
                    <a:pt x="439233" y="139624"/>
                  </a:lnTo>
                  <a:lnTo>
                    <a:pt x="418154" y="100793"/>
                  </a:lnTo>
                  <a:lnTo>
                    <a:pt x="390239" y="66960"/>
                  </a:lnTo>
                  <a:lnTo>
                    <a:pt x="356406" y="39045"/>
                  </a:lnTo>
                  <a:lnTo>
                    <a:pt x="317575" y="17966"/>
                  </a:lnTo>
                  <a:lnTo>
                    <a:pt x="274666" y="4644"/>
                  </a:lnTo>
                  <a:lnTo>
                    <a:pt x="2286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6553200" y="3733800"/>
              <a:ext cx="457200" cy="457200"/>
            </a:xfrm>
            <a:custGeom>
              <a:avLst/>
              <a:gdLst/>
              <a:ahLst/>
              <a:cxnLst/>
              <a:rect l="l" t="t" r="r" b="b"/>
              <a:pathLst>
                <a:path w="457200" h="457200">
                  <a:moveTo>
                    <a:pt x="0" y="228600"/>
                  </a:moveTo>
                  <a:lnTo>
                    <a:pt x="4644" y="182533"/>
                  </a:lnTo>
                  <a:lnTo>
                    <a:pt x="17966" y="139624"/>
                  </a:lnTo>
                  <a:lnTo>
                    <a:pt x="39045" y="100793"/>
                  </a:lnTo>
                  <a:lnTo>
                    <a:pt x="66960" y="66960"/>
                  </a:lnTo>
                  <a:lnTo>
                    <a:pt x="100793" y="39045"/>
                  </a:lnTo>
                  <a:lnTo>
                    <a:pt x="139624" y="17966"/>
                  </a:lnTo>
                  <a:lnTo>
                    <a:pt x="182533" y="4644"/>
                  </a:lnTo>
                  <a:lnTo>
                    <a:pt x="228600" y="0"/>
                  </a:lnTo>
                  <a:lnTo>
                    <a:pt x="274666" y="4644"/>
                  </a:lnTo>
                  <a:lnTo>
                    <a:pt x="317575" y="17966"/>
                  </a:lnTo>
                  <a:lnTo>
                    <a:pt x="356406" y="39045"/>
                  </a:lnTo>
                  <a:lnTo>
                    <a:pt x="390239" y="66960"/>
                  </a:lnTo>
                  <a:lnTo>
                    <a:pt x="418154" y="100793"/>
                  </a:lnTo>
                  <a:lnTo>
                    <a:pt x="439233" y="139624"/>
                  </a:lnTo>
                  <a:lnTo>
                    <a:pt x="452555" y="182533"/>
                  </a:lnTo>
                  <a:lnTo>
                    <a:pt x="457200" y="228600"/>
                  </a:lnTo>
                  <a:lnTo>
                    <a:pt x="452555" y="274666"/>
                  </a:lnTo>
                  <a:lnTo>
                    <a:pt x="439233" y="317575"/>
                  </a:lnTo>
                  <a:lnTo>
                    <a:pt x="418154" y="356406"/>
                  </a:lnTo>
                  <a:lnTo>
                    <a:pt x="390239" y="390239"/>
                  </a:lnTo>
                  <a:lnTo>
                    <a:pt x="356406" y="418154"/>
                  </a:lnTo>
                  <a:lnTo>
                    <a:pt x="317575" y="439233"/>
                  </a:lnTo>
                  <a:lnTo>
                    <a:pt x="274666" y="452555"/>
                  </a:lnTo>
                  <a:lnTo>
                    <a:pt x="228600" y="457200"/>
                  </a:lnTo>
                  <a:lnTo>
                    <a:pt x="182533" y="452555"/>
                  </a:lnTo>
                  <a:lnTo>
                    <a:pt x="139624" y="439233"/>
                  </a:lnTo>
                  <a:lnTo>
                    <a:pt x="100793" y="418154"/>
                  </a:lnTo>
                  <a:lnTo>
                    <a:pt x="66960" y="390239"/>
                  </a:lnTo>
                  <a:lnTo>
                    <a:pt x="39045" y="356406"/>
                  </a:lnTo>
                  <a:lnTo>
                    <a:pt x="17966" y="317575"/>
                  </a:lnTo>
                  <a:lnTo>
                    <a:pt x="4644" y="274666"/>
                  </a:lnTo>
                  <a:lnTo>
                    <a:pt x="0" y="2286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6681978" y="3734765"/>
            <a:ext cx="20383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50" dirty="0">
                <a:latin typeface="Microsoft Sans Serif"/>
                <a:cs typeface="Microsoft Sans Serif"/>
              </a:rPr>
              <a:t>+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743700" y="4191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w="76200" h="30480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w="76200" h="30480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52578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557837" y="4491037"/>
            <a:ext cx="314325" cy="390525"/>
            <a:chOff x="5557837" y="4491037"/>
            <a:chExt cx="314325" cy="390525"/>
          </a:xfrm>
        </p:grpSpPr>
        <p:sp>
          <p:nvSpPr>
            <p:cNvPr id="11" name="object 11"/>
            <p:cNvSpPr/>
            <p:nvPr/>
          </p:nvSpPr>
          <p:spPr>
            <a:xfrm>
              <a:off x="5562600" y="4495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304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04800" y="381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562600" y="4495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381000"/>
                  </a:moveTo>
                  <a:lnTo>
                    <a:pt x="304800" y="381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5638800" y="4495800"/>
            <a:ext cx="2286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8674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722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4770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7818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866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3914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6962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001000" y="4495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5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2578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557837" y="2967037"/>
            <a:ext cx="314325" cy="390525"/>
            <a:chOff x="5557837" y="2967037"/>
            <a:chExt cx="314325" cy="390525"/>
          </a:xfrm>
        </p:grpSpPr>
        <p:sp>
          <p:nvSpPr>
            <p:cNvPr id="24" name="object 24"/>
            <p:cNvSpPr/>
            <p:nvPr/>
          </p:nvSpPr>
          <p:spPr>
            <a:xfrm>
              <a:off x="5562600" y="2971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304800" y="0"/>
                  </a:moveTo>
                  <a:lnTo>
                    <a:pt x="0" y="0"/>
                  </a:lnTo>
                  <a:lnTo>
                    <a:pt x="0" y="381000"/>
                  </a:lnTo>
                  <a:lnTo>
                    <a:pt x="304800" y="381000"/>
                  </a:lnTo>
                  <a:lnTo>
                    <a:pt x="3048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5562600" y="2971800"/>
              <a:ext cx="304800" cy="381000"/>
            </a:xfrm>
            <a:custGeom>
              <a:avLst/>
              <a:gdLst/>
              <a:ahLst/>
              <a:cxnLst/>
              <a:rect l="l" t="t" r="r" b="b"/>
              <a:pathLst>
                <a:path w="304800" h="381000">
                  <a:moveTo>
                    <a:pt x="0" y="381000"/>
                  </a:moveTo>
                  <a:lnTo>
                    <a:pt x="304800" y="381000"/>
                  </a:lnTo>
                  <a:lnTo>
                    <a:pt x="304800" y="0"/>
                  </a:lnTo>
                  <a:lnTo>
                    <a:pt x="0" y="0"/>
                  </a:lnTo>
                  <a:lnTo>
                    <a:pt x="0" y="381000"/>
                  </a:lnTo>
                  <a:close/>
                </a:path>
              </a:pathLst>
            </a:custGeom>
            <a:ln w="91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5638800" y="2971800"/>
            <a:ext cx="2286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8674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722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7945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4770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0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67818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70866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1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3914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6962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001000" y="2971800"/>
            <a:ext cx="304800" cy="381000"/>
          </a:xfrm>
          <a:prstGeom prst="rect">
            <a:avLst/>
          </a:prstGeom>
          <a:solidFill>
            <a:srgbClr val="FFFF99"/>
          </a:solidFill>
          <a:ln w="914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8580">
              <a:lnSpc>
                <a:spcPts val="2690"/>
              </a:lnSpc>
            </a:pPr>
            <a:r>
              <a:rPr sz="2400" spc="-50" dirty="0">
                <a:latin typeface="Microsoft Sans Serif"/>
                <a:cs typeface="Microsoft Sans Serif"/>
              </a:rPr>
              <a:t>_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8446389" y="2914269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85" dirty="0">
                <a:latin typeface="Microsoft Sans Serif"/>
                <a:cs typeface="Microsoft Sans Serif"/>
              </a:rPr>
              <a:t>…</a:t>
            </a:r>
            <a:endParaRPr sz="2400">
              <a:latin typeface="Microsoft Sans Serif"/>
              <a:cs typeface="Microsoft Sans Serif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6743700" y="3429000"/>
            <a:ext cx="76200" cy="304800"/>
          </a:xfrm>
          <a:custGeom>
            <a:avLst/>
            <a:gdLst/>
            <a:ahLst/>
            <a:cxnLst/>
            <a:rect l="l" t="t" r="r" b="b"/>
            <a:pathLst>
              <a:path w="76200" h="304800">
                <a:moveTo>
                  <a:pt x="31750" y="228600"/>
                </a:moveTo>
                <a:lnTo>
                  <a:pt x="0" y="228600"/>
                </a:lnTo>
                <a:lnTo>
                  <a:pt x="38100" y="304800"/>
                </a:lnTo>
                <a:lnTo>
                  <a:pt x="69850" y="241300"/>
                </a:lnTo>
                <a:lnTo>
                  <a:pt x="31750" y="241300"/>
                </a:lnTo>
                <a:lnTo>
                  <a:pt x="31750" y="228600"/>
                </a:lnTo>
                <a:close/>
              </a:path>
              <a:path w="76200" h="304800">
                <a:moveTo>
                  <a:pt x="44450" y="0"/>
                </a:moveTo>
                <a:lnTo>
                  <a:pt x="31750" y="0"/>
                </a:lnTo>
                <a:lnTo>
                  <a:pt x="31750" y="241300"/>
                </a:lnTo>
                <a:lnTo>
                  <a:pt x="44450" y="241300"/>
                </a:lnTo>
                <a:lnTo>
                  <a:pt x="44450" y="0"/>
                </a:lnTo>
                <a:close/>
              </a:path>
              <a:path w="76200" h="304800">
                <a:moveTo>
                  <a:pt x="76200" y="228600"/>
                </a:moveTo>
                <a:lnTo>
                  <a:pt x="44450" y="228600"/>
                </a:lnTo>
                <a:lnTo>
                  <a:pt x="44450" y="241300"/>
                </a:lnTo>
                <a:lnTo>
                  <a:pt x="69850" y="241300"/>
                </a:lnTo>
                <a:lnTo>
                  <a:pt x="76200" y="2286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5181600" y="2895600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0" y="533400"/>
                </a:moveTo>
                <a:lnTo>
                  <a:pt x="457200" y="533400"/>
                </a:lnTo>
                <a:lnTo>
                  <a:pt x="457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5181600" y="4419600"/>
            <a:ext cx="457200" cy="533400"/>
          </a:xfrm>
          <a:custGeom>
            <a:avLst/>
            <a:gdLst/>
            <a:ahLst/>
            <a:cxnLst/>
            <a:rect l="l" t="t" r="r" b="b"/>
            <a:pathLst>
              <a:path w="457200" h="533400">
                <a:moveTo>
                  <a:pt x="0" y="533400"/>
                </a:moveTo>
                <a:lnTo>
                  <a:pt x="457200" y="533400"/>
                </a:lnTo>
                <a:lnTo>
                  <a:pt x="457200" y="0"/>
                </a:lnTo>
                <a:lnTo>
                  <a:pt x="0" y="0"/>
                </a:lnTo>
                <a:lnTo>
                  <a:pt x="0" y="533400"/>
                </a:lnTo>
                <a:close/>
              </a:path>
            </a:pathLst>
          </a:custGeom>
          <a:ln w="91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8462264" y="4397502"/>
            <a:ext cx="330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985" dirty="0">
                <a:latin typeface="Microsoft Sans Serif"/>
                <a:cs typeface="Microsoft Sans Serif"/>
              </a:rPr>
              <a:t>…</a:t>
            </a:r>
            <a:endParaRPr sz="240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DD7719D-6E65-4B20-A25F-E98DECA74F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</a:t>
            </a:r>
            <a:r>
              <a:rPr lang="en-US" spc="-95" dirty="0"/>
              <a:t> </a:t>
            </a:r>
            <a:r>
              <a:rPr lang="en-US" dirty="0"/>
              <a:t>Diagram</a:t>
            </a:r>
            <a:r>
              <a:rPr lang="en-US" spc="-75" dirty="0"/>
              <a:t> </a:t>
            </a:r>
            <a:r>
              <a:rPr lang="en-US" dirty="0"/>
              <a:t>for</a:t>
            </a:r>
            <a:r>
              <a:rPr lang="en-US" spc="-80" dirty="0"/>
              <a:t> </a:t>
            </a:r>
            <a:r>
              <a:rPr lang="en-US" dirty="0"/>
              <a:t>the</a:t>
            </a:r>
            <a:r>
              <a:rPr lang="en-US" spc="-95" dirty="0"/>
              <a:t> </a:t>
            </a:r>
            <a:r>
              <a:rPr lang="en-US" spc="-10" dirty="0"/>
              <a:t>Solution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8BEC25C2-EB0F-41CE-A13D-72EBC7C6AF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8766" y="1846263"/>
            <a:ext cx="6510918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5279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39895155-EA9B-48AB-BF98-4AF1BE250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86" y="-23327"/>
            <a:ext cx="8992227" cy="6639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15441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97434" rIns="0" bIns="0" rtlCol="0">
            <a:spAutoFit/>
          </a:bodyPr>
          <a:lstStyle/>
          <a:p>
            <a:pPr marL="179705">
              <a:lnSpc>
                <a:spcPct val="100000"/>
              </a:lnSpc>
              <a:spcBef>
                <a:spcPts val="95"/>
              </a:spcBef>
            </a:pPr>
            <a:r>
              <a:rPr dirty="0"/>
              <a:t>So</a:t>
            </a:r>
            <a:r>
              <a:rPr spc="-5" dirty="0"/>
              <a:t> </a:t>
            </a:r>
            <a:r>
              <a:rPr spc="-10" dirty="0"/>
              <a:t>what?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283" y="1731010"/>
            <a:ext cx="7731759" cy="3819634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35280" marR="5080" indent="-323215" algn="just">
              <a:lnSpc>
                <a:spcPts val="3650"/>
              </a:lnSpc>
              <a:spcBef>
                <a:spcPts val="384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Ok,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now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have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machine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add</a:t>
            </a:r>
            <a:r>
              <a:rPr sz="3200" spc="-25" dirty="0">
                <a:latin typeface="Times New Roman"/>
                <a:cs typeface="Times New Roman"/>
              </a:rPr>
              <a:t> two </a:t>
            </a:r>
            <a:r>
              <a:rPr sz="3200" dirty="0">
                <a:latin typeface="Times New Roman"/>
                <a:cs typeface="Times New Roman"/>
              </a:rPr>
              <a:t>numbers,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now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what?</a:t>
            </a:r>
            <a:endParaRPr sz="32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460"/>
              </a:lnSpc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said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earlier,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build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8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Turing</a:t>
            </a:r>
            <a:endParaRPr sz="3200" dirty="0">
              <a:latin typeface="Times New Roman"/>
              <a:cs typeface="Times New Roman"/>
            </a:endParaRPr>
          </a:p>
          <a:p>
            <a:pPr marL="335280" algn="just">
              <a:lnSpc>
                <a:spcPts val="3650"/>
              </a:lnSpc>
            </a:pPr>
            <a:r>
              <a:rPr sz="3200" dirty="0">
                <a:latin typeface="Times New Roman"/>
                <a:cs typeface="Times New Roman"/>
              </a:rPr>
              <a:t>machine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implement</a:t>
            </a:r>
            <a:r>
              <a:rPr sz="3200" spc="-6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any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single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algorithm</a:t>
            </a:r>
            <a:endParaRPr sz="3200" dirty="0">
              <a:latin typeface="Times New Roman"/>
              <a:cs typeface="Times New Roman"/>
            </a:endParaRPr>
          </a:p>
          <a:p>
            <a:pPr marL="335280" marR="200025" indent="-323215" algn="just">
              <a:lnSpc>
                <a:spcPts val="3650"/>
              </a:lnSpc>
              <a:spcBef>
                <a:spcPts val="180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Furthermore,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put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tape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not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just </a:t>
            </a:r>
            <a:r>
              <a:rPr sz="3200" dirty="0">
                <a:latin typeface="Times New Roman"/>
                <a:cs typeface="Times New Roman"/>
              </a:rPr>
              <a:t>the data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but</a:t>
            </a:r>
            <a:r>
              <a:rPr sz="3200" spc="-6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THE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ALGORITHM</a:t>
            </a:r>
            <a:r>
              <a:rPr sz="3200" spc="-90" dirty="0">
                <a:latin typeface="Times New Roman"/>
                <a:cs typeface="Times New Roman"/>
              </a:rPr>
              <a:t> </a:t>
            </a:r>
            <a:r>
              <a:rPr sz="3200" spc="-20" dirty="0">
                <a:latin typeface="Times New Roman"/>
                <a:cs typeface="Times New Roman"/>
              </a:rPr>
              <a:t>TOO!</a:t>
            </a:r>
            <a:endParaRPr sz="32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460"/>
              </a:lnSpc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This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means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build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turing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machine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to</a:t>
            </a:r>
            <a:endParaRPr sz="3200" dirty="0">
              <a:latin typeface="Times New Roman"/>
              <a:cs typeface="Times New Roman"/>
            </a:endParaRPr>
          </a:p>
          <a:p>
            <a:pPr marL="335280" algn="just">
              <a:lnSpc>
                <a:spcPts val="3745"/>
              </a:lnSpc>
            </a:pPr>
            <a:r>
              <a:rPr sz="3200" dirty="0">
                <a:latin typeface="Times New Roman"/>
                <a:cs typeface="Times New Roman"/>
              </a:rPr>
              <a:t>read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other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turing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machines!!!!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50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95"/>
              </a:spcBef>
            </a:pPr>
            <a:r>
              <a:rPr dirty="0"/>
              <a:t>Artificial</a:t>
            </a:r>
            <a:r>
              <a:rPr spc="-145" dirty="0"/>
              <a:t> </a:t>
            </a:r>
            <a:r>
              <a:rPr spc="-10" dirty="0"/>
              <a:t>Intelligence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990600" y="2151568"/>
            <a:ext cx="7719059" cy="2078355"/>
          </a:xfrm>
          <a:prstGeom prst="rect">
            <a:avLst/>
          </a:prstGeom>
        </p:spPr>
        <p:txBody>
          <a:bodyPr vert="horz" wrap="square" lIns="0" tIns="59690" rIns="0" bIns="0" rtlCol="0">
            <a:spAutoFit/>
          </a:bodyPr>
          <a:lstStyle/>
          <a:p>
            <a:pPr marL="469900" marR="5080" indent="-457200" algn="just">
              <a:lnSpc>
                <a:spcPts val="3030"/>
              </a:lnSpc>
              <a:spcBef>
                <a:spcPts val="47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AI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is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study</a:t>
            </a:r>
            <a:r>
              <a:rPr sz="2800" spc="-3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human</a:t>
            </a:r>
            <a:r>
              <a:rPr sz="2800" spc="5" dirty="0">
                <a:latin typeface="Times New Roman"/>
                <a:cs typeface="Times New Roman"/>
              </a:rPr>
              <a:t> </a:t>
            </a:r>
            <a:r>
              <a:rPr sz="2800" u="sng" dirty="0">
                <a:uFill>
                  <a:solidFill>
                    <a:srgbClr val="E6E6E6"/>
                  </a:solidFill>
                </a:uFill>
                <a:latin typeface="Times New Roman"/>
                <a:cs typeface="Times New Roman"/>
              </a:rPr>
              <a:t>intelligence</a:t>
            </a:r>
            <a:r>
              <a:rPr sz="2800" spc="-5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using</a:t>
            </a:r>
            <a:r>
              <a:rPr sz="2800" spc="-4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computers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tool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vs</a:t>
            </a:r>
            <a:r>
              <a:rPr sz="2800" spc="-1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AI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as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the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study</a:t>
            </a:r>
            <a:r>
              <a:rPr sz="2800" spc="-2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machine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intelligence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Times New Roman"/>
                <a:cs typeface="Times New Roman"/>
              </a:rPr>
              <a:t>as </a:t>
            </a:r>
            <a:r>
              <a:rPr sz="2800" u="sng" dirty="0">
                <a:uFill>
                  <a:solidFill>
                    <a:srgbClr val="E6E6E6"/>
                  </a:solidFill>
                </a:uFill>
                <a:latin typeface="Times New Roman"/>
                <a:cs typeface="Times New Roman"/>
              </a:rPr>
              <a:t>artificial</a:t>
            </a:r>
            <a:r>
              <a:rPr sz="2800" u="sng" spc="-65" dirty="0">
                <a:uFill>
                  <a:solidFill>
                    <a:srgbClr val="E6E6E6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intelligence</a:t>
            </a:r>
            <a:endParaRPr sz="2800" dirty="0">
              <a:latin typeface="Times New Roman"/>
              <a:cs typeface="Times New Roman"/>
            </a:endParaRPr>
          </a:p>
          <a:p>
            <a:pPr marL="469900" marR="1007110" indent="-457200" algn="just">
              <a:lnSpc>
                <a:spcPts val="3020"/>
              </a:lnSpc>
              <a:spcBef>
                <a:spcPts val="700"/>
              </a:spcBef>
              <a:buFont typeface="Arial" panose="020B0604020202020204" pitchFamily="34" charset="0"/>
              <a:buChar char="•"/>
            </a:pPr>
            <a:r>
              <a:rPr sz="2800" dirty="0">
                <a:latin typeface="Times New Roman"/>
                <a:cs typeface="Times New Roman"/>
              </a:rPr>
              <a:t>Artificial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Intelligence</a:t>
            </a:r>
            <a:r>
              <a:rPr sz="2800" spc="-60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and</a:t>
            </a:r>
            <a:r>
              <a:rPr sz="2800" spc="-3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Cognitive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Science:</a:t>
            </a:r>
            <a:r>
              <a:rPr sz="2800" spc="-40" dirty="0">
                <a:latin typeface="Times New Roman"/>
                <a:cs typeface="Times New Roman"/>
              </a:rPr>
              <a:t> </a:t>
            </a:r>
            <a:r>
              <a:rPr sz="2800" spc="-60" dirty="0">
                <a:latin typeface="Times New Roman"/>
                <a:cs typeface="Times New Roman"/>
              </a:rPr>
              <a:t>a </a:t>
            </a:r>
            <a:r>
              <a:rPr sz="2800" dirty="0">
                <a:latin typeface="Times New Roman"/>
                <a:cs typeface="Times New Roman"/>
              </a:rPr>
              <a:t>history</a:t>
            </a:r>
            <a:r>
              <a:rPr sz="2800" spc="-5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of</a:t>
            </a:r>
            <a:r>
              <a:rPr sz="2800" spc="-2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Times New Roman"/>
                <a:cs typeface="Times New Roman"/>
              </a:rPr>
              <a:t>interaction</a:t>
            </a:r>
            <a:endParaRPr sz="2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FD091B84-141A-4A20-8FA3-5495CE212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066800"/>
            <a:ext cx="8191500" cy="38916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59679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31850" rIns="0" bIns="0" rtlCol="0">
            <a:spAutoFit/>
          </a:bodyPr>
          <a:lstStyle/>
          <a:p>
            <a:pPr marL="331470">
              <a:lnSpc>
                <a:spcPct val="100000"/>
              </a:lnSpc>
              <a:spcBef>
                <a:spcPts val="95"/>
              </a:spcBef>
            </a:pPr>
            <a:r>
              <a:rPr dirty="0"/>
              <a:t>AI</a:t>
            </a:r>
            <a:r>
              <a:rPr spc="-70" dirty="0"/>
              <a:t> </a:t>
            </a:r>
            <a:r>
              <a:rPr dirty="0"/>
              <a:t>and</a:t>
            </a:r>
            <a:r>
              <a:rPr spc="-65" dirty="0"/>
              <a:t> </a:t>
            </a:r>
            <a:r>
              <a:rPr dirty="0"/>
              <a:t>Cognitive</a:t>
            </a:r>
            <a:r>
              <a:rPr spc="-40" dirty="0"/>
              <a:t> </a:t>
            </a:r>
            <a:r>
              <a:rPr spc="-10" dirty="0"/>
              <a:t>Science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57200" y="1981200"/>
            <a:ext cx="5022850" cy="4196080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12700" marR="5080" indent="1270" algn="just">
              <a:lnSpc>
                <a:spcPct val="80000"/>
              </a:lnSpc>
              <a:spcBef>
                <a:spcPts val="675"/>
              </a:spcBef>
            </a:pPr>
            <a:r>
              <a:rPr sz="2400" dirty="0">
                <a:latin typeface="Times New Roman"/>
                <a:cs typeface="Times New Roman"/>
              </a:rPr>
              <a:t>"AI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have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purposes.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One is</a:t>
            </a:r>
            <a:r>
              <a:rPr sz="2400" spc="-25" dirty="0">
                <a:latin typeface="Times New Roman"/>
                <a:cs typeface="Times New Roman"/>
              </a:rPr>
              <a:t> to</a:t>
            </a:r>
            <a:r>
              <a:rPr sz="2400" spc="6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power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computers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augment </a:t>
            </a:r>
            <a:r>
              <a:rPr sz="2400" dirty="0">
                <a:latin typeface="Times New Roman"/>
                <a:cs typeface="Times New Roman"/>
              </a:rPr>
              <a:t>human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thinking,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just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 we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motors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augment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horse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power.</a:t>
            </a:r>
            <a:endParaRPr sz="2400" dirty="0">
              <a:latin typeface="Times New Roman"/>
              <a:cs typeface="Times New Roman"/>
            </a:endParaRPr>
          </a:p>
          <a:p>
            <a:pPr marL="12700" marR="83185" algn="just">
              <a:lnSpc>
                <a:spcPct val="80000"/>
              </a:lnSpc>
            </a:pPr>
            <a:r>
              <a:rPr sz="2400" dirty="0">
                <a:latin typeface="Times New Roman"/>
                <a:cs typeface="Times New Roman"/>
              </a:rPr>
              <a:t>Robotics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expert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systems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0" dirty="0">
                <a:latin typeface="Times New Roman"/>
                <a:cs typeface="Times New Roman"/>
              </a:rPr>
              <a:t> major </a:t>
            </a:r>
            <a:r>
              <a:rPr sz="2400" dirty="0">
                <a:latin typeface="Times New Roman"/>
                <a:cs typeface="Times New Roman"/>
              </a:rPr>
              <a:t>branches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that.</a:t>
            </a:r>
            <a:r>
              <a:rPr sz="2400" spc="-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to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computer's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artificial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intelligence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understand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think.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a </a:t>
            </a:r>
            <a:r>
              <a:rPr sz="2400" dirty="0">
                <a:latin typeface="Times New Roman"/>
                <a:cs typeface="Times New Roman"/>
              </a:rPr>
              <a:t>humanoid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way.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test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your </a:t>
            </a:r>
            <a:r>
              <a:rPr sz="2400" dirty="0">
                <a:latin typeface="Times New Roman"/>
                <a:cs typeface="Times New Roman"/>
              </a:rPr>
              <a:t>programs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merely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what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can </a:t>
            </a:r>
            <a:r>
              <a:rPr sz="2400" dirty="0">
                <a:latin typeface="Times New Roman"/>
                <a:cs typeface="Times New Roman"/>
              </a:rPr>
              <a:t>accomplish,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how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accomplish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it, </a:t>
            </a:r>
            <a:r>
              <a:rPr sz="2400" dirty="0">
                <a:latin typeface="Times New Roman"/>
                <a:cs typeface="Times New Roman"/>
              </a:rPr>
              <a:t>they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you're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really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doing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cognitive </a:t>
            </a:r>
            <a:r>
              <a:rPr sz="2400" dirty="0">
                <a:latin typeface="Times New Roman"/>
                <a:cs typeface="Times New Roman"/>
              </a:rPr>
              <a:t>science;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you're </a:t>
            </a:r>
            <a:r>
              <a:rPr sz="2400" spc="-10" dirty="0">
                <a:latin typeface="Times New Roman"/>
                <a:cs typeface="Times New Roman"/>
              </a:rPr>
              <a:t>using</a:t>
            </a:r>
            <a:r>
              <a:rPr sz="2400" spc="-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AI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0" dirty="0">
                <a:latin typeface="Times New Roman"/>
                <a:cs typeface="Times New Roman"/>
              </a:rPr>
              <a:t> understand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human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mind."</a:t>
            </a:r>
            <a:endParaRPr sz="2400" dirty="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12179" y="1915667"/>
            <a:ext cx="2444496" cy="33848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22960" y="601742"/>
            <a:ext cx="7940040" cy="1135619"/>
          </a:xfrm>
          <a:prstGeom prst="rect">
            <a:avLst/>
          </a:prstGeom>
        </p:spPr>
        <p:txBody>
          <a:bodyPr vert="horz" wrap="square" lIns="0" tIns="393116" rIns="0" bIns="0" rtlCol="0">
            <a:spAutoFit/>
          </a:bodyPr>
          <a:lstStyle/>
          <a:p>
            <a:pPr marL="455295">
              <a:lnSpc>
                <a:spcPct val="100000"/>
              </a:lnSpc>
              <a:spcBef>
                <a:spcPts val="95"/>
              </a:spcBef>
            </a:pPr>
            <a:r>
              <a:rPr dirty="0"/>
              <a:t>Types</a:t>
            </a:r>
            <a:r>
              <a:rPr spc="-140" dirty="0"/>
              <a:t> </a:t>
            </a:r>
            <a:r>
              <a:rPr dirty="0"/>
              <a:t>of</a:t>
            </a:r>
            <a:r>
              <a:rPr spc="-254" dirty="0"/>
              <a:t> </a:t>
            </a:r>
            <a:r>
              <a:rPr dirty="0"/>
              <a:t>AI</a:t>
            </a:r>
            <a:r>
              <a:rPr spc="-135" dirty="0"/>
              <a:t> </a:t>
            </a:r>
            <a:r>
              <a:rPr dirty="0"/>
              <a:t>Research:</a:t>
            </a:r>
            <a:r>
              <a:rPr spc="-110" dirty="0"/>
              <a:t> </a:t>
            </a:r>
            <a:r>
              <a:rPr spc="-10" dirty="0"/>
              <a:t>Goals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7283" y="1731010"/>
            <a:ext cx="7588250" cy="4294123"/>
          </a:xfrm>
          <a:prstGeom prst="rect">
            <a:avLst/>
          </a:prstGeom>
        </p:spPr>
        <p:txBody>
          <a:bodyPr vert="horz" wrap="square" lIns="0" tIns="48894" rIns="0" bIns="0" rtlCol="0">
            <a:spAutoFit/>
          </a:bodyPr>
          <a:lstStyle/>
          <a:p>
            <a:pPr marL="335280" marR="5080" indent="-323215" algn="just">
              <a:lnSpc>
                <a:spcPts val="3650"/>
              </a:lnSpc>
              <a:spcBef>
                <a:spcPts val="384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Simulate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human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intelligence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 a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model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of </a:t>
            </a:r>
            <a:r>
              <a:rPr sz="3200" dirty="0">
                <a:latin typeface="Times New Roman"/>
                <a:cs typeface="Times New Roman"/>
              </a:rPr>
              <a:t>human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competence</a:t>
            </a:r>
            <a:endParaRPr sz="32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460"/>
              </a:lnSpc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Simulate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human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mental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processes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as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</a:t>
            </a:r>
            <a:endParaRPr sz="3200" dirty="0">
              <a:latin typeface="Times New Roman"/>
              <a:cs typeface="Times New Roman"/>
            </a:endParaRPr>
          </a:p>
          <a:p>
            <a:pPr marL="335280" algn="just">
              <a:lnSpc>
                <a:spcPts val="3650"/>
              </a:lnSpc>
            </a:pPr>
            <a:r>
              <a:rPr sz="3200" dirty="0">
                <a:latin typeface="Times New Roman"/>
                <a:cs typeface="Times New Roman"/>
              </a:rPr>
              <a:t>model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of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human</a:t>
            </a:r>
            <a:r>
              <a:rPr sz="3200" spc="-3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cognitive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processes</a:t>
            </a:r>
            <a:endParaRPr sz="3200" dirty="0">
              <a:latin typeface="Times New Roman"/>
              <a:cs typeface="Times New Roman"/>
            </a:endParaRPr>
          </a:p>
          <a:p>
            <a:pPr marL="335280" marR="242570" indent="-323215" algn="just">
              <a:lnSpc>
                <a:spcPts val="3650"/>
              </a:lnSpc>
              <a:spcBef>
                <a:spcPts val="180"/>
              </a:spcBef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Produce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intelligent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behavior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meet</a:t>
            </a:r>
            <a:r>
              <a:rPr sz="3200" spc="-25" dirty="0">
                <a:latin typeface="Times New Roman"/>
                <a:cs typeface="Times New Roman"/>
              </a:rPr>
              <a:t> </a:t>
            </a:r>
            <a:r>
              <a:rPr sz="3200" spc="-50" dirty="0">
                <a:latin typeface="Times New Roman"/>
                <a:cs typeface="Times New Roman"/>
              </a:rPr>
              <a:t>a </a:t>
            </a:r>
            <a:r>
              <a:rPr sz="3200" dirty="0">
                <a:latin typeface="Times New Roman"/>
                <a:cs typeface="Times New Roman"/>
              </a:rPr>
              <a:t>practical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need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–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whether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human-like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not </a:t>
            </a:r>
            <a:r>
              <a:rPr sz="3200" dirty="0">
                <a:latin typeface="Times New Roman"/>
                <a:cs typeface="Times New Roman"/>
              </a:rPr>
              <a:t>(expert</a:t>
            </a:r>
            <a:r>
              <a:rPr sz="3200" spc="-7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systems,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etc.)</a:t>
            </a:r>
            <a:endParaRPr sz="3200" dirty="0">
              <a:latin typeface="Times New Roman"/>
              <a:cs typeface="Times New Roman"/>
            </a:endParaRPr>
          </a:p>
          <a:p>
            <a:pPr marL="335280" indent="-322580" algn="just">
              <a:lnSpc>
                <a:spcPts val="3460"/>
              </a:lnSpc>
              <a:buSzPct val="45312"/>
              <a:buFont typeface="Microsoft Sans Serif"/>
              <a:buChar char="●"/>
              <a:tabLst>
                <a:tab pos="335280" algn="l"/>
              </a:tabLst>
            </a:pPr>
            <a:r>
              <a:rPr sz="3200" dirty="0">
                <a:latin typeface="Times New Roman"/>
                <a:cs typeface="Times New Roman"/>
              </a:rPr>
              <a:t>Produce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0" dirty="0">
                <a:latin typeface="Times New Roman"/>
                <a:cs typeface="Times New Roman"/>
              </a:rPr>
              <a:t> general-</a:t>
            </a:r>
            <a:r>
              <a:rPr sz="3200" dirty="0">
                <a:latin typeface="Times New Roman"/>
                <a:cs typeface="Times New Roman"/>
              </a:rPr>
              <a:t>purpose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intelligent</a:t>
            </a:r>
            <a:r>
              <a:rPr sz="3200" spc="-4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agent</a:t>
            </a:r>
            <a:endParaRPr sz="3200" dirty="0">
              <a:latin typeface="Times New Roman"/>
              <a:cs typeface="Times New Roman"/>
            </a:endParaRPr>
          </a:p>
          <a:p>
            <a:pPr marL="335280" algn="just">
              <a:lnSpc>
                <a:spcPts val="3745"/>
              </a:lnSpc>
            </a:pPr>
            <a:r>
              <a:rPr sz="3200" dirty="0">
                <a:latin typeface="Times New Roman"/>
                <a:cs typeface="Times New Roman"/>
              </a:rPr>
              <a:t>(“strong</a:t>
            </a:r>
            <a:r>
              <a:rPr sz="3200" spc="-2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AI”)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-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nontrivial</a:t>
            </a:r>
            <a:endParaRPr sz="3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xmlns="" id="{42DD77F8-C516-4C2D-9B4C-6CEEBBE0444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Reasoning 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xmlns="" id="{021189CB-7E74-4786-960A-1BE1EED7477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638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5384" y="371017"/>
            <a:ext cx="8262176" cy="5895268"/>
          </a:xfrm>
          <a:prstGeom prst="rect">
            <a:avLst/>
          </a:prstGeom>
        </p:spPr>
        <p:txBody>
          <a:bodyPr vert="horz" wrap="square" lIns="0" tIns="7430" rIns="0" bIns="0" rtlCol="0">
            <a:spAutoFit/>
          </a:bodyPr>
          <a:lstStyle/>
          <a:p>
            <a:pPr marL="320040" marR="186881" indent="-308610">
              <a:lnSpc>
                <a:spcPct val="101299"/>
              </a:lnSpc>
              <a:spcBef>
                <a:spcPts val="59"/>
              </a:spcBef>
              <a:buChar char="•"/>
              <a:tabLst>
                <a:tab pos="320040" algn="l"/>
              </a:tabLst>
            </a:pPr>
            <a:r>
              <a:rPr sz="2070" dirty="0">
                <a:latin typeface="+mj-lt"/>
                <a:cs typeface="Microsoft Sans Serif"/>
              </a:rPr>
              <a:t>LOGIC,</a:t>
            </a:r>
            <a:r>
              <a:rPr sz="2070" spc="238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n.</a:t>
            </a:r>
            <a:r>
              <a:rPr sz="2070" spc="24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The</a:t>
            </a:r>
            <a:r>
              <a:rPr sz="2070" spc="248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art</a:t>
            </a:r>
            <a:r>
              <a:rPr sz="2070" spc="24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of</a:t>
            </a:r>
            <a:r>
              <a:rPr sz="2070" spc="248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thinking</a:t>
            </a:r>
            <a:r>
              <a:rPr sz="2070" spc="238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and</a:t>
            </a:r>
            <a:r>
              <a:rPr sz="2070" spc="24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reasoning</a:t>
            </a:r>
            <a:r>
              <a:rPr sz="2070" spc="252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in</a:t>
            </a:r>
            <a:r>
              <a:rPr sz="2070" spc="248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strict</a:t>
            </a:r>
            <a:r>
              <a:rPr sz="2070" spc="243" dirty="0">
                <a:latin typeface="+mj-lt"/>
                <a:cs typeface="Microsoft Sans Serif"/>
              </a:rPr>
              <a:t> </a:t>
            </a:r>
            <a:r>
              <a:rPr sz="2070" spc="-9" dirty="0">
                <a:latin typeface="+mj-lt"/>
                <a:cs typeface="Microsoft Sans Serif"/>
              </a:rPr>
              <a:t>accordance </a:t>
            </a:r>
            <a:r>
              <a:rPr sz="2070" dirty="0">
                <a:latin typeface="+mj-lt"/>
                <a:cs typeface="Microsoft Sans Serif"/>
              </a:rPr>
              <a:t>with</a:t>
            </a:r>
            <a:r>
              <a:rPr sz="2070" spc="-36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the</a:t>
            </a:r>
            <a:r>
              <a:rPr sz="2070" spc="-36" dirty="0">
                <a:latin typeface="+mj-lt"/>
                <a:cs typeface="Microsoft Sans Serif"/>
              </a:rPr>
              <a:t> </a:t>
            </a:r>
            <a:r>
              <a:rPr sz="2070" spc="-9" dirty="0">
                <a:latin typeface="+mj-lt"/>
                <a:cs typeface="Microsoft Sans Serif"/>
              </a:rPr>
              <a:t>limitations</a:t>
            </a:r>
            <a:r>
              <a:rPr sz="2070" spc="-50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and</a:t>
            </a:r>
            <a:r>
              <a:rPr sz="2070" spc="-2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incapacities</a:t>
            </a:r>
            <a:r>
              <a:rPr sz="2070" spc="-36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of</a:t>
            </a:r>
            <a:r>
              <a:rPr sz="2070" spc="-2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human</a:t>
            </a:r>
            <a:r>
              <a:rPr sz="2070" spc="-18" dirty="0">
                <a:latin typeface="+mj-lt"/>
                <a:cs typeface="Microsoft Sans Serif"/>
              </a:rPr>
              <a:t> </a:t>
            </a:r>
            <a:r>
              <a:rPr sz="2070" spc="-9" dirty="0">
                <a:latin typeface="+mj-lt"/>
                <a:cs typeface="Microsoft Sans Serif"/>
              </a:rPr>
              <a:t>misunderstanding.</a:t>
            </a:r>
            <a:endParaRPr sz="2070" dirty="0">
              <a:latin typeface="+mj-lt"/>
              <a:cs typeface="Microsoft Sans Serif"/>
            </a:endParaRPr>
          </a:p>
          <a:p>
            <a:pPr marL="319469" indent="-308039">
              <a:spcBef>
                <a:spcPts val="108"/>
              </a:spcBef>
              <a:buChar char="•"/>
              <a:tabLst>
                <a:tab pos="319469" algn="l"/>
                <a:tab pos="928688" algn="l"/>
              </a:tabLst>
            </a:pPr>
            <a:r>
              <a:rPr sz="2070" spc="-23" dirty="0">
                <a:latin typeface="+mj-lt"/>
                <a:cs typeface="Microsoft Sans Serif"/>
              </a:rPr>
              <a:t>The</a:t>
            </a:r>
            <a:r>
              <a:rPr sz="2070" dirty="0">
                <a:latin typeface="+mj-lt"/>
                <a:cs typeface="Microsoft Sans Serif"/>
              </a:rPr>
              <a:t>	basic</a:t>
            </a:r>
            <a:r>
              <a:rPr sz="2070" spc="2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[unit]</a:t>
            </a:r>
            <a:r>
              <a:rPr sz="2070" spc="32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of</a:t>
            </a:r>
            <a:r>
              <a:rPr sz="2070" spc="2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logic</a:t>
            </a:r>
            <a:r>
              <a:rPr sz="2070" spc="36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is</a:t>
            </a:r>
            <a:r>
              <a:rPr sz="2070" spc="36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the</a:t>
            </a:r>
            <a:r>
              <a:rPr sz="2070" spc="41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syllogism,</a:t>
            </a:r>
            <a:r>
              <a:rPr sz="2070" spc="36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consisting</a:t>
            </a:r>
            <a:r>
              <a:rPr sz="2070" spc="32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of</a:t>
            </a:r>
            <a:r>
              <a:rPr sz="2070" spc="2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a</a:t>
            </a:r>
            <a:r>
              <a:rPr sz="2070" spc="32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major</a:t>
            </a:r>
            <a:r>
              <a:rPr sz="2070" spc="23" dirty="0">
                <a:latin typeface="+mj-lt"/>
                <a:cs typeface="Microsoft Sans Serif"/>
              </a:rPr>
              <a:t> </a:t>
            </a:r>
            <a:r>
              <a:rPr sz="2070" spc="-23" dirty="0">
                <a:latin typeface="+mj-lt"/>
                <a:cs typeface="Microsoft Sans Serif"/>
              </a:rPr>
              <a:t>and</a:t>
            </a:r>
            <a:endParaRPr sz="2070" dirty="0">
              <a:latin typeface="+mj-lt"/>
              <a:cs typeface="Microsoft Sans Serif"/>
            </a:endParaRPr>
          </a:p>
          <a:p>
            <a:pPr marL="320040">
              <a:spcBef>
                <a:spcPts val="23"/>
              </a:spcBef>
            </a:pPr>
            <a:r>
              <a:rPr sz="2070" dirty="0">
                <a:latin typeface="+mj-lt"/>
                <a:cs typeface="Microsoft Sans Serif"/>
              </a:rPr>
              <a:t>a</a:t>
            </a:r>
            <a:r>
              <a:rPr sz="2070" spc="-9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minor</a:t>
            </a:r>
            <a:r>
              <a:rPr sz="2070" spc="14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premise</a:t>
            </a:r>
            <a:r>
              <a:rPr sz="2070" spc="-2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and</a:t>
            </a:r>
            <a:r>
              <a:rPr sz="2070" spc="-14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a</a:t>
            </a:r>
            <a:r>
              <a:rPr sz="2070" spc="18" dirty="0">
                <a:latin typeface="+mj-lt"/>
                <a:cs typeface="Microsoft Sans Serif"/>
              </a:rPr>
              <a:t> </a:t>
            </a:r>
            <a:r>
              <a:rPr sz="2070" spc="-9" dirty="0">
                <a:latin typeface="+mj-lt"/>
                <a:cs typeface="Microsoft Sans Serif"/>
              </a:rPr>
              <a:t>conclusion</a:t>
            </a:r>
            <a:endParaRPr sz="2070" dirty="0">
              <a:latin typeface="+mj-lt"/>
              <a:cs typeface="Microsoft Sans Serif"/>
            </a:endParaRPr>
          </a:p>
          <a:p>
            <a:pPr marL="319469" indent="-308039">
              <a:spcBef>
                <a:spcPts val="122"/>
              </a:spcBef>
              <a:buChar char="•"/>
              <a:tabLst>
                <a:tab pos="319469" algn="l"/>
              </a:tabLst>
            </a:pPr>
            <a:r>
              <a:rPr sz="2070" spc="-9" dirty="0">
                <a:latin typeface="+mj-lt"/>
                <a:cs typeface="Microsoft Sans Serif"/>
              </a:rPr>
              <a:t>Example:</a:t>
            </a:r>
            <a:endParaRPr sz="2070" dirty="0">
              <a:latin typeface="+mj-lt"/>
              <a:cs typeface="Microsoft Sans Serif"/>
            </a:endParaRPr>
          </a:p>
          <a:p>
            <a:pPr marL="743522">
              <a:spcBef>
                <a:spcPts val="117"/>
              </a:spcBef>
            </a:pP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→</a:t>
            </a:r>
            <a:r>
              <a:rPr sz="2070" spc="-194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Major</a:t>
            </a:r>
            <a:r>
              <a:rPr sz="2070" spc="-9" dirty="0">
                <a:solidFill>
                  <a:srgbClr val="00AFEF"/>
                </a:solidFill>
                <a:latin typeface="+mj-lt"/>
                <a:cs typeface="Microsoft Sans Serif"/>
              </a:rPr>
              <a:t> premise:</a:t>
            </a:r>
            <a:r>
              <a:rPr sz="2070" spc="-126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All</a:t>
            </a:r>
            <a:r>
              <a:rPr sz="2070" spc="32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mammals</a:t>
            </a:r>
            <a:r>
              <a:rPr sz="2070" spc="-9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are</a:t>
            </a:r>
            <a:r>
              <a:rPr sz="2070" spc="5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spc="-9" dirty="0">
                <a:solidFill>
                  <a:srgbClr val="00AFEF"/>
                </a:solidFill>
                <a:latin typeface="+mj-lt"/>
                <a:cs typeface="Microsoft Sans Serif"/>
              </a:rPr>
              <a:t>warm-blooded.</a:t>
            </a:r>
            <a:endParaRPr sz="2070" dirty="0">
              <a:latin typeface="+mj-lt"/>
              <a:cs typeface="Microsoft Sans Serif"/>
            </a:endParaRPr>
          </a:p>
          <a:p>
            <a:pPr marL="743522">
              <a:spcBef>
                <a:spcPts val="108"/>
              </a:spcBef>
            </a:pP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→</a:t>
            </a:r>
            <a:r>
              <a:rPr sz="2070" spc="-194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Minor</a:t>
            </a:r>
            <a:r>
              <a:rPr sz="2070" spc="-27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spc="-9" dirty="0">
                <a:solidFill>
                  <a:srgbClr val="00AFEF"/>
                </a:solidFill>
                <a:latin typeface="+mj-lt"/>
                <a:cs typeface="Microsoft Sans Serif"/>
              </a:rPr>
              <a:t>premise:</a:t>
            </a:r>
            <a:r>
              <a:rPr sz="2070" spc="-131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All</a:t>
            </a:r>
            <a:r>
              <a:rPr sz="2070" spc="18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black</a:t>
            </a:r>
            <a:r>
              <a:rPr sz="2070" spc="-5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dogs</a:t>
            </a:r>
            <a:r>
              <a:rPr sz="2070" spc="-5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are</a:t>
            </a:r>
            <a:r>
              <a:rPr sz="2070" spc="-5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spc="-9" dirty="0">
                <a:solidFill>
                  <a:srgbClr val="00AFEF"/>
                </a:solidFill>
                <a:latin typeface="+mj-lt"/>
                <a:cs typeface="Microsoft Sans Serif"/>
              </a:rPr>
              <a:t>mammals.</a:t>
            </a:r>
            <a:endParaRPr sz="2070" dirty="0">
              <a:latin typeface="+mj-lt"/>
              <a:cs typeface="Microsoft Sans Serif"/>
            </a:endParaRPr>
          </a:p>
          <a:p>
            <a:pPr marL="743522">
              <a:spcBef>
                <a:spcPts val="122"/>
              </a:spcBef>
            </a:pP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→</a:t>
            </a:r>
            <a:r>
              <a:rPr sz="2070" spc="-194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Conclusion:</a:t>
            </a:r>
            <a:r>
              <a:rPr sz="2070" spc="-95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Therefore,</a:t>
            </a:r>
            <a:r>
              <a:rPr sz="2070" spc="-41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all</a:t>
            </a:r>
            <a:r>
              <a:rPr sz="2070" spc="-9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black</a:t>
            </a:r>
            <a:r>
              <a:rPr sz="2070" spc="-23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dogs</a:t>
            </a:r>
            <a:r>
              <a:rPr sz="2070" spc="-27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are</a:t>
            </a:r>
            <a:r>
              <a:rPr sz="2070" spc="-23" dirty="0">
                <a:solidFill>
                  <a:srgbClr val="00AFE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AFEF"/>
                </a:solidFill>
                <a:latin typeface="+mj-lt"/>
                <a:cs typeface="Microsoft Sans Serif"/>
              </a:rPr>
              <a:t>warm-</a:t>
            </a:r>
            <a:r>
              <a:rPr sz="2070" spc="-9" dirty="0">
                <a:solidFill>
                  <a:srgbClr val="00AFEF"/>
                </a:solidFill>
                <a:latin typeface="+mj-lt"/>
                <a:cs typeface="Microsoft Sans Serif"/>
              </a:rPr>
              <a:t>blooded.</a:t>
            </a:r>
            <a:endParaRPr sz="2070" dirty="0">
              <a:latin typeface="+mj-lt"/>
              <a:cs typeface="Microsoft Sans Serif"/>
            </a:endParaRPr>
          </a:p>
          <a:p>
            <a:pPr>
              <a:spcBef>
                <a:spcPts val="279"/>
              </a:spcBef>
            </a:pPr>
            <a:endParaRPr sz="2070" dirty="0">
              <a:latin typeface="+mj-lt"/>
              <a:cs typeface="Microsoft Sans Serif"/>
            </a:endParaRPr>
          </a:p>
          <a:p>
            <a:pPr marL="1052703" marR="924115" indent="-309182">
              <a:lnSpc>
                <a:spcPct val="100899"/>
              </a:lnSpc>
              <a:spcBef>
                <a:spcPts val="5"/>
              </a:spcBef>
            </a:pP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→</a:t>
            </a:r>
            <a:r>
              <a:rPr sz="2070" spc="-194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Major</a:t>
            </a:r>
            <a:r>
              <a:rPr sz="2070" spc="-27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Premise:</a:t>
            </a:r>
            <a:r>
              <a:rPr sz="2070" spc="-18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Sixty</a:t>
            </a:r>
            <a:r>
              <a:rPr sz="2070" spc="-14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men</a:t>
            </a:r>
            <a:r>
              <a:rPr sz="2070" spc="-5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can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do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a</a:t>
            </a:r>
            <a:r>
              <a:rPr sz="2070" spc="5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piece</a:t>
            </a:r>
            <a:r>
              <a:rPr sz="2070" spc="-14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of</a:t>
            </a:r>
            <a:r>
              <a:rPr sz="2070" spc="-5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work</a:t>
            </a:r>
            <a:r>
              <a:rPr sz="2070" spc="-23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sixty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times</a:t>
            </a:r>
            <a:r>
              <a:rPr sz="2070" spc="-36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as</a:t>
            </a:r>
            <a:r>
              <a:rPr sz="2070" spc="-5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quickly</a:t>
            </a:r>
            <a:r>
              <a:rPr sz="2070" spc="-23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as</a:t>
            </a:r>
            <a:r>
              <a:rPr sz="2070" spc="-5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one</a:t>
            </a:r>
            <a:r>
              <a:rPr sz="2070" spc="-14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spc="-18" dirty="0">
                <a:solidFill>
                  <a:srgbClr val="001F5F"/>
                </a:solidFill>
                <a:latin typeface="+mj-lt"/>
                <a:cs typeface="Microsoft Sans Serif"/>
              </a:rPr>
              <a:t>man.</a:t>
            </a:r>
            <a:endParaRPr sz="2070" dirty="0">
              <a:latin typeface="+mj-lt"/>
              <a:cs typeface="Microsoft Sans Serif"/>
            </a:endParaRPr>
          </a:p>
          <a:p>
            <a:pPr marL="743522">
              <a:spcBef>
                <a:spcPts val="18"/>
              </a:spcBef>
            </a:pP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→</a:t>
            </a:r>
            <a:r>
              <a:rPr sz="2070" spc="-194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Minor</a:t>
            </a:r>
            <a:r>
              <a:rPr sz="2070" spc="-36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Premise:</a:t>
            </a:r>
            <a:r>
              <a:rPr sz="2070" spc="-86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One</a:t>
            </a:r>
            <a:r>
              <a:rPr sz="2070" spc="-23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man</a:t>
            </a:r>
            <a:r>
              <a:rPr sz="2070" spc="-14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can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dig</a:t>
            </a:r>
            <a:r>
              <a:rPr sz="2070" spc="-5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a</a:t>
            </a:r>
            <a:r>
              <a:rPr sz="2070" spc="5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posthole</a:t>
            </a:r>
            <a:r>
              <a:rPr sz="2070" spc="-45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in 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sixty</a:t>
            </a:r>
            <a:endParaRPr sz="2070" dirty="0">
              <a:latin typeface="+mj-lt"/>
              <a:cs typeface="Microsoft Sans Serif"/>
            </a:endParaRPr>
          </a:p>
          <a:p>
            <a:pPr marL="1052703">
              <a:spcBef>
                <a:spcPts val="36"/>
              </a:spcBef>
            </a:pP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seconds</a:t>
            </a:r>
            <a:endParaRPr sz="2070" dirty="0">
              <a:latin typeface="+mj-lt"/>
              <a:cs typeface="Microsoft Sans Serif"/>
            </a:endParaRPr>
          </a:p>
          <a:p>
            <a:pPr marL="743522">
              <a:spcBef>
                <a:spcPts val="23"/>
              </a:spcBef>
            </a:pP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→</a:t>
            </a:r>
            <a:r>
              <a:rPr sz="2070" spc="-194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Conclusion:</a:t>
            </a:r>
            <a:r>
              <a:rPr sz="2070" spc="-225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Sixty</a:t>
            </a:r>
            <a:r>
              <a:rPr sz="2070" spc="-32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men</a:t>
            </a:r>
            <a:r>
              <a:rPr sz="2070" spc="-18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can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dig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a posthole</a:t>
            </a:r>
            <a:r>
              <a:rPr sz="2070" spc="-36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in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dirty="0">
                <a:solidFill>
                  <a:srgbClr val="001F5F"/>
                </a:solidFill>
                <a:latin typeface="+mj-lt"/>
                <a:cs typeface="Microsoft Sans Serif"/>
              </a:rPr>
              <a:t>one</a:t>
            </a:r>
            <a:r>
              <a:rPr sz="2070" spc="-14" dirty="0">
                <a:solidFill>
                  <a:srgbClr val="001F5F"/>
                </a:solidFill>
                <a:latin typeface="+mj-lt"/>
                <a:cs typeface="Microsoft Sans Serif"/>
              </a:rPr>
              <a:t> </a:t>
            </a:r>
            <a:r>
              <a:rPr sz="2070" spc="-9" dirty="0">
                <a:solidFill>
                  <a:srgbClr val="001F5F"/>
                </a:solidFill>
                <a:latin typeface="+mj-lt"/>
                <a:cs typeface="Microsoft Sans Serif"/>
              </a:rPr>
              <a:t>second.</a:t>
            </a:r>
            <a:endParaRPr sz="2070" dirty="0">
              <a:latin typeface="+mj-lt"/>
              <a:cs typeface="Microsoft Sans Serif"/>
            </a:endParaRPr>
          </a:p>
          <a:p>
            <a:pPr>
              <a:spcBef>
                <a:spcPts val="293"/>
              </a:spcBef>
            </a:pPr>
            <a:endParaRPr sz="2070" dirty="0">
              <a:latin typeface="+mj-lt"/>
              <a:cs typeface="Microsoft Sans Serif"/>
            </a:endParaRPr>
          </a:p>
          <a:p>
            <a:pPr marL="461201" marR="4572" lvl="1" indent="-308610">
              <a:buChar char="•"/>
              <a:tabLst>
                <a:tab pos="461201" algn="l"/>
              </a:tabLst>
            </a:pPr>
            <a:r>
              <a:rPr sz="2070" dirty="0">
                <a:latin typeface="+mj-lt"/>
                <a:cs typeface="Microsoft Sans Serif"/>
              </a:rPr>
              <a:t>This</a:t>
            </a:r>
            <a:r>
              <a:rPr sz="2070" spc="-45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may</a:t>
            </a:r>
            <a:r>
              <a:rPr sz="2070" spc="-27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be</a:t>
            </a:r>
            <a:r>
              <a:rPr sz="2070" spc="-23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called</a:t>
            </a:r>
            <a:r>
              <a:rPr sz="2070" spc="-18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the</a:t>
            </a:r>
            <a:r>
              <a:rPr sz="2070" spc="-36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syllogism</a:t>
            </a:r>
            <a:r>
              <a:rPr sz="2070" spc="-41" dirty="0">
                <a:latin typeface="+mj-lt"/>
                <a:cs typeface="Microsoft Sans Serif"/>
              </a:rPr>
              <a:t> </a:t>
            </a:r>
            <a:r>
              <a:rPr sz="2070" spc="-9" dirty="0">
                <a:latin typeface="+mj-lt"/>
                <a:cs typeface="Microsoft Sans Serif"/>
              </a:rPr>
              <a:t>arithmetical,</a:t>
            </a:r>
            <a:r>
              <a:rPr sz="2070" spc="-59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in</a:t>
            </a:r>
            <a:r>
              <a:rPr sz="2070" spc="-14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which,</a:t>
            </a:r>
            <a:r>
              <a:rPr sz="2070" spc="-27" dirty="0">
                <a:latin typeface="+mj-lt"/>
                <a:cs typeface="Microsoft Sans Serif"/>
              </a:rPr>
              <a:t> </a:t>
            </a:r>
            <a:r>
              <a:rPr sz="2070" spc="-23" dirty="0">
                <a:latin typeface="+mj-lt"/>
                <a:cs typeface="Microsoft Sans Serif"/>
              </a:rPr>
              <a:t>by </a:t>
            </a:r>
            <a:r>
              <a:rPr sz="2070" dirty="0">
                <a:latin typeface="+mj-lt"/>
                <a:cs typeface="Microsoft Sans Serif"/>
              </a:rPr>
              <a:t>combining</a:t>
            </a:r>
            <a:r>
              <a:rPr sz="2070" spc="-59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logic</a:t>
            </a:r>
            <a:r>
              <a:rPr sz="2070" spc="-32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and</a:t>
            </a:r>
            <a:r>
              <a:rPr sz="2070" spc="-27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mathematics,</a:t>
            </a:r>
            <a:r>
              <a:rPr sz="2070" spc="-50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we</a:t>
            </a:r>
            <a:r>
              <a:rPr sz="2070" spc="-18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obtain</a:t>
            </a:r>
            <a:r>
              <a:rPr sz="2070" spc="-54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a</a:t>
            </a:r>
            <a:r>
              <a:rPr sz="2070" spc="-14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double</a:t>
            </a:r>
            <a:r>
              <a:rPr sz="2070" spc="-41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certainty</a:t>
            </a:r>
            <a:r>
              <a:rPr sz="2070" spc="-54" dirty="0">
                <a:latin typeface="+mj-lt"/>
                <a:cs typeface="Microsoft Sans Serif"/>
              </a:rPr>
              <a:t> </a:t>
            </a:r>
            <a:r>
              <a:rPr sz="2070" spc="-23" dirty="0">
                <a:latin typeface="+mj-lt"/>
                <a:cs typeface="Microsoft Sans Serif"/>
              </a:rPr>
              <a:t>and </a:t>
            </a:r>
            <a:r>
              <a:rPr sz="2070" dirty="0">
                <a:latin typeface="+mj-lt"/>
                <a:cs typeface="Microsoft Sans Serif"/>
              </a:rPr>
              <a:t>are</a:t>
            </a:r>
            <a:r>
              <a:rPr sz="2070" spc="-36" dirty="0">
                <a:latin typeface="+mj-lt"/>
                <a:cs typeface="Microsoft Sans Serif"/>
              </a:rPr>
              <a:t> </a:t>
            </a:r>
            <a:r>
              <a:rPr sz="2070" dirty="0">
                <a:latin typeface="+mj-lt"/>
                <a:cs typeface="Microsoft Sans Serif"/>
              </a:rPr>
              <a:t>twice</a:t>
            </a:r>
            <a:r>
              <a:rPr sz="2070" spc="-50" dirty="0">
                <a:latin typeface="+mj-lt"/>
                <a:cs typeface="Microsoft Sans Serif"/>
              </a:rPr>
              <a:t> </a:t>
            </a:r>
            <a:r>
              <a:rPr sz="2070" spc="-9" dirty="0">
                <a:latin typeface="+mj-lt"/>
                <a:cs typeface="Microsoft Sans Serif"/>
              </a:rPr>
              <a:t>blessed.</a:t>
            </a:r>
            <a:endParaRPr sz="2070" dirty="0">
              <a:latin typeface="+mj-lt"/>
              <a:cs typeface="Microsoft Sans Serif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Rational Thinking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2400" dirty="0"/>
              <a:t>Rational thinking is </a:t>
            </a:r>
            <a:r>
              <a:rPr lang="en-US" sz="2400" dirty="0"/>
              <a:t>a mental process that uses logic, reason, and facts to analyze information, solve problems, and make decisions, as opposed to </a:t>
            </a:r>
            <a:r>
              <a:rPr lang="en-US" sz="2400" dirty="0" smtClean="0"/>
              <a:t>relying </a:t>
            </a:r>
            <a:r>
              <a:rPr lang="en-US" sz="2400" dirty="0"/>
              <a:t>on emotions or </a:t>
            </a:r>
            <a:r>
              <a:rPr lang="en-US" sz="2400" dirty="0" smtClean="0"/>
              <a:t>biases.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1048980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8028" y="1828800"/>
            <a:ext cx="8687943" cy="1774075"/>
          </a:xfrm>
          <a:prstGeom prst="rect">
            <a:avLst/>
          </a:prstGeom>
        </p:spPr>
        <p:txBody>
          <a:bodyPr vert="horz" wrap="square" lIns="0" tIns="29718" rIns="0" bIns="0" rtlCol="0">
            <a:spAutoFit/>
          </a:bodyPr>
          <a:lstStyle/>
          <a:p>
            <a:pPr marL="29146" marR="4572" algn="just">
              <a:lnSpc>
                <a:spcPts val="2520"/>
              </a:lnSpc>
              <a:spcBef>
                <a:spcPts val="234"/>
              </a:spcBef>
            </a:pPr>
            <a:r>
              <a:rPr sz="2000" spc="-238" dirty="0">
                <a:solidFill>
                  <a:srgbClr val="404040"/>
                </a:solidFill>
                <a:latin typeface="+mj-lt"/>
                <a:cs typeface="Calibri Light"/>
              </a:rPr>
              <a:t>Reason</a:t>
            </a:r>
            <a:r>
              <a:rPr sz="2000" spc="117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99" dirty="0">
                <a:solidFill>
                  <a:srgbClr val="404040"/>
                </a:solidFill>
                <a:latin typeface="+mj-lt"/>
                <a:cs typeface="Calibri Light"/>
              </a:rPr>
              <a:t>has</a:t>
            </a:r>
            <a:r>
              <a:rPr lang="en-IN" sz="2000" spc="-99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99" dirty="0">
                <a:solidFill>
                  <a:srgbClr val="404040"/>
                </a:solidFill>
                <a:latin typeface="+mj-lt"/>
                <a:cs typeface="Calibri Light"/>
              </a:rPr>
              <a:t>frequently</a:t>
            </a:r>
            <a:r>
              <a:rPr sz="2000" spc="-23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94" dirty="0">
                <a:solidFill>
                  <a:srgbClr val="404040"/>
                </a:solidFill>
                <a:latin typeface="+mj-lt"/>
                <a:cs typeface="Calibri Light"/>
              </a:rPr>
              <a:t>been</a:t>
            </a:r>
            <a:r>
              <a:rPr sz="2000" spc="72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58" dirty="0">
                <a:solidFill>
                  <a:srgbClr val="404040"/>
                </a:solidFill>
                <a:latin typeface="+mj-lt"/>
                <a:cs typeface="Calibri Light"/>
              </a:rPr>
              <a:t>regarded</a:t>
            </a:r>
            <a:r>
              <a:rPr sz="2000" spc="36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68" dirty="0">
                <a:solidFill>
                  <a:srgbClr val="404040"/>
                </a:solidFill>
                <a:latin typeface="+mj-lt"/>
                <a:cs typeface="Calibri Light"/>
              </a:rPr>
              <a:t>as</a:t>
            </a:r>
            <a:r>
              <a:rPr lang="en-IN" sz="2000" spc="-68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68" dirty="0">
                <a:solidFill>
                  <a:srgbClr val="404040"/>
                </a:solidFill>
                <a:latin typeface="+mj-lt"/>
                <a:cs typeface="Calibri Light"/>
              </a:rPr>
              <a:t>distinctly</a:t>
            </a:r>
            <a:r>
              <a:rPr sz="2000" spc="-54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94" dirty="0">
                <a:solidFill>
                  <a:srgbClr val="404040"/>
                </a:solidFill>
                <a:latin typeface="+mj-lt"/>
                <a:cs typeface="Calibri Light"/>
              </a:rPr>
              <a:t>human,</a:t>
            </a:r>
            <a:r>
              <a:rPr sz="2000" spc="72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275" dirty="0">
                <a:solidFill>
                  <a:srgbClr val="404040"/>
                </a:solidFill>
                <a:latin typeface="+mj-lt"/>
                <a:cs typeface="Calibri Light"/>
              </a:rPr>
              <a:t>and</a:t>
            </a:r>
            <a:r>
              <a:rPr sz="2000" spc="153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 Light"/>
              </a:rPr>
              <a:t>not</a:t>
            </a:r>
            <a:r>
              <a:rPr sz="2000" spc="-117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 Light"/>
              </a:rPr>
              <a:t>to</a:t>
            </a:r>
            <a:r>
              <a:rPr sz="2000" spc="311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297" dirty="0">
                <a:solidFill>
                  <a:srgbClr val="404040"/>
                </a:solidFill>
                <a:latin typeface="+mj-lt"/>
                <a:cs typeface="Calibri Light"/>
              </a:rPr>
              <a:t>be</a:t>
            </a:r>
            <a:r>
              <a:rPr sz="2000" spc="176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40" dirty="0">
                <a:solidFill>
                  <a:srgbClr val="404040"/>
                </a:solidFill>
                <a:latin typeface="+mj-lt"/>
                <a:cs typeface="Calibri Light"/>
              </a:rPr>
              <a:t>found</a:t>
            </a:r>
            <a:r>
              <a:rPr sz="2000" spc="41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54" dirty="0">
                <a:solidFill>
                  <a:srgbClr val="404040"/>
                </a:solidFill>
                <a:latin typeface="+mj-lt"/>
                <a:cs typeface="Calibri Light"/>
              </a:rPr>
              <a:t>elsewhere </a:t>
            </a:r>
            <a:r>
              <a:rPr sz="2000" spc="-9" dirty="0">
                <a:solidFill>
                  <a:srgbClr val="404040"/>
                </a:solidFill>
                <a:latin typeface="+mj-lt"/>
                <a:cs typeface="Calibri Light"/>
              </a:rPr>
              <a:t>in</a:t>
            </a:r>
            <a:r>
              <a:rPr sz="2000" spc="-113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23" dirty="0">
                <a:solidFill>
                  <a:srgbClr val="404040"/>
                </a:solidFill>
                <a:latin typeface="+mj-lt"/>
                <a:cs typeface="Calibri Light"/>
              </a:rPr>
              <a:t>the</a:t>
            </a:r>
            <a:r>
              <a:rPr sz="2000" spc="-99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58" dirty="0">
                <a:solidFill>
                  <a:srgbClr val="404040"/>
                </a:solidFill>
                <a:latin typeface="+mj-lt"/>
                <a:cs typeface="Calibri Light"/>
              </a:rPr>
              <a:t>animal</a:t>
            </a:r>
            <a:r>
              <a:rPr sz="2000" spc="36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8" dirty="0">
                <a:solidFill>
                  <a:srgbClr val="404040"/>
                </a:solidFill>
                <a:latin typeface="+mj-lt"/>
                <a:cs typeface="Calibri Light"/>
              </a:rPr>
              <a:t>world.</a:t>
            </a:r>
            <a:r>
              <a:rPr sz="2000" spc="-103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58" dirty="0">
                <a:solidFill>
                  <a:srgbClr val="404040"/>
                </a:solidFill>
                <a:latin typeface="+mj-lt"/>
                <a:cs typeface="Calibri Light"/>
              </a:rPr>
              <a:t>However,</a:t>
            </a:r>
            <a:r>
              <a:rPr sz="2000" spc="36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72" dirty="0">
                <a:solidFill>
                  <a:srgbClr val="404040"/>
                </a:solidFill>
                <a:latin typeface="+mj-lt"/>
                <a:cs typeface="Calibri Light"/>
              </a:rPr>
              <a:t>recent</a:t>
            </a:r>
            <a:r>
              <a:rPr sz="2000" spc="-50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26" dirty="0">
                <a:solidFill>
                  <a:srgbClr val="404040"/>
                </a:solidFill>
                <a:latin typeface="+mj-lt"/>
                <a:cs typeface="Calibri Light"/>
              </a:rPr>
              <a:t>studies</a:t>
            </a:r>
            <a:r>
              <a:rPr sz="2000" spc="5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 Light"/>
              </a:rPr>
              <a:t>in</a:t>
            </a:r>
            <a:r>
              <a:rPr sz="2000" spc="-117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50" dirty="0">
                <a:solidFill>
                  <a:srgbClr val="404040"/>
                </a:solidFill>
                <a:latin typeface="+mj-lt"/>
                <a:cs typeface="Calibri Light"/>
              </a:rPr>
              <a:t>this</a:t>
            </a:r>
            <a:r>
              <a:rPr sz="2000" spc="-72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89" dirty="0">
                <a:solidFill>
                  <a:srgbClr val="404040"/>
                </a:solidFill>
                <a:latin typeface="+mj-lt"/>
                <a:cs typeface="Calibri Light"/>
              </a:rPr>
              <a:t>area</a:t>
            </a:r>
            <a:r>
              <a:rPr sz="2000" spc="68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03" dirty="0">
                <a:solidFill>
                  <a:srgbClr val="404040"/>
                </a:solidFill>
                <a:latin typeface="+mj-lt"/>
                <a:cs typeface="Calibri Light"/>
              </a:rPr>
              <a:t>show</a:t>
            </a:r>
            <a:r>
              <a:rPr sz="2000" spc="-18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9" dirty="0">
                <a:solidFill>
                  <a:srgbClr val="404040"/>
                </a:solidFill>
                <a:latin typeface="+mj-lt"/>
                <a:cs typeface="Calibri Light"/>
              </a:rPr>
              <a:t>that</a:t>
            </a:r>
            <a:r>
              <a:rPr sz="2000" spc="86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76" dirty="0">
                <a:solidFill>
                  <a:srgbClr val="404040"/>
                </a:solidFill>
                <a:latin typeface="+mj-lt"/>
                <a:cs typeface="Calibri Light"/>
              </a:rPr>
              <a:t>animals</a:t>
            </a:r>
            <a:r>
              <a:rPr sz="2000" spc="54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44" dirty="0">
                <a:solidFill>
                  <a:srgbClr val="404040"/>
                </a:solidFill>
                <a:latin typeface="+mj-lt"/>
                <a:cs typeface="Calibri Light"/>
              </a:rPr>
              <a:t>are</a:t>
            </a:r>
            <a:r>
              <a:rPr sz="2000" spc="23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81" dirty="0">
                <a:solidFill>
                  <a:srgbClr val="404040"/>
                </a:solidFill>
                <a:latin typeface="+mj-lt"/>
                <a:cs typeface="Calibri Light"/>
              </a:rPr>
              <a:t>capable </a:t>
            </a:r>
            <a:r>
              <a:rPr sz="2000" dirty="0">
                <a:solidFill>
                  <a:srgbClr val="404040"/>
                </a:solidFill>
                <a:latin typeface="+mj-lt"/>
                <a:cs typeface="Calibri Light"/>
              </a:rPr>
              <a:t>of</a:t>
            </a:r>
            <a:r>
              <a:rPr sz="2000" spc="-45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122" dirty="0">
                <a:solidFill>
                  <a:srgbClr val="404040"/>
                </a:solidFill>
                <a:latin typeface="+mj-lt"/>
                <a:cs typeface="Calibri Light"/>
              </a:rPr>
              <a:t>some</a:t>
            </a:r>
            <a:r>
              <a:rPr sz="2000" spc="-189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68" dirty="0">
                <a:solidFill>
                  <a:srgbClr val="404040"/>
                </a:solidFill>
                <a:latin typeface="+mj-lt"/>
                <a:cs typeface="Calibri Light"/>
              </a:rPr>
              <a:t>rational</a:t>
            </a:r>
            <a:r>
              <a:rPr sz="2000" spc="-99" dirty="0">
                <a:solidFill>
                  <a:srgbClr val="404040"/>
                </a:solidFill>
                <a:latin typeface="+mj-lt"/>
                <a:cs typeface="Calibri Light"/>
              </a:rPr>
              <a:t> </a:t>
            </a:r>
            <a:r>
              <a:rPr sz="2000" spc="-9" dirty="0">
                <a:solidFill>
                  <a:srgbClr val="404040"/>
                </a:solidFill>
                <a:latin typeface="+mj-lt"/>
                <a:cs typeface="Calibri Light"/>
              </a:rPr>
              <a:t>thinking.</a:t>
            </a:r>
            <a:endParaRPr sz="2000" dirty="0">
              <a:latin typeface="+mj-lt"/>
              <a:cs typeface="Calibri Light"/>
            </a:endParaRPr>
          </a:p>
          <a:p>
            <a:pPr marL="11430" marR="153734">
              <a:lnSpc>
                <a:spcPts val="2520"/>
              </a:lnSpc>
              <a:spcBef>
                <a:spcPts val="1121"/>
              </a:spcBef>
              <a:tabLst>
                <a:tab pos="2448878" algn="l"/>
              </a:tabLst>
            </a:pPr>
            <a:r>
              <a:rPr sz="2000" spc="-59" dirty="0">
                <a:latin typeface="+mj-lt"/>
                <a:cs typeface="Microsoft Sans Serif"/>
              </a:rPr>
              <a:t>Question</a:t>
            </a:r>
            <a:r>
              <a:rPr sz="2000" spc="-54" dirty="0">
                <a:latin typeface="+mj-lt"/>
                <a:cs typeface="Microsoft Sans Serif"/>
              </a:rPr>
              <a:t> </a:t>
            </a:r>
            <a:r>
              <a:rPr sz="2000" dirty="0">
                <a:latin typeface="+mj-lt"/>
                <a:cs typeface="Microsoft Sans Serif"/>
              </a:rPr>
              <a:t>to</a:t>
            </a:r>
            <a:r>
              <a:rPr sz="2000" spc="95" dirty="0">
                <a:latin typeface="+mj-lt"/>
                <a:cs typeface="Microsoft Sans Serif"/>
              </a:rPr>
              <a:t> </a:t>
            </a:r>
            <a:r>
              <a:rPr sz="2000" spc="-9" dirty="0">
                <a:latin typeface="+mj-lt"/>
                <a:cs typeface="Microsoft Sans Serif"/>
              </a:rPr>
              <a:t>ponder:</a:t>
            </a:r>
            <a:r>
              <a:rPr sz="2000" dirty="0">
                <a:latin typeface="+mj-lt"/>
                <a:cs typeface="Microsoft Sans Serif"/>
              </a:rPr>
              <a:t>	Why</a:t>
            </a:r>
            <a:r>
              <a:rPr sz="2000" spc="-32" dirty="0">
                <a:latin typeface="+mj-lt"/>
                <a:cs typeface="Microsoft Sans Serif"/>
              </a:rPr>
              <a:t> </a:t>
            </a:r>
            <a:r>
              <a:rPr sz="2000" dirty="0">
                <a:latin typeface="+mj-lt"/>
                <a:cs typeface="Microsoft Sans Serif"/>
              </a:rPr>
              <a:t>do</a:t>
            </a:r>
            <a:r>
              <a:rPr sz="2000" spc="-32" dirty="0">
                <a:latin typeface="+mj-lt"/>
                <a:cs typeface="Microsoft Sans Serif"/>
              </a:rPr>
              <a:t> </a:t>
            </a:r>
            <a:r>
              <a:rPr sz="2000" dirty="0">
                <a:latin typeface="+mj-lt"/>
                <a:cs typeface="Microsoft Sans Serif"/>
              </a:rPr>
              <a:t>birds</a:t>
            </a:r>
            <a:r>
              <a:rPr sz="2000" spc="-18" dirty="0">
                <a:latin typeface="+mj-lt"/>
                <a:cs typeface="Microsoft Sans Serif"/>
              </a:rPr>
              <a:t> </a:t>
            </a:r>
            <a:r>
              <a:rPr sz="2000" dirty="0">
                <a:latin typeface="+mj-lt"/>
                <a:cs typeface="Microsoft Sans Serif"/>
              </a:rPr>
              <a:t>keep</a:t>
            </a:r>
            <a:r>
              <a:rPr sz="2000" spc="-23" dirty="0">
                <a:latin typeface="+mj-lt"/>
                <a:cs typeface="Microsoft Sans Serif"/>
              </a:rPr>
              <a:t> </a:t>
            </a:r>
            <a:r>
              <a:rPr sz="2000" dirty="0">
                <a:latin typeface="+mj-lt"/>
                <a:cs typeface="Microsoft Sans Serif"/>
              </a:rPr>
              <a:t>flying</a:t>
            </a:r>
            <a:r>
              <a:rPr sz="2000" spc="-36" dirty="0">
                <a:latin typeface="+mj-lt"/>
                <a:cs typeface="Microsoft Sans Serif"/>
              </a:rPr>
              <a:t> </a:t>
            </a:r>
            <a:r>
              <a:rPr sz="2000" dirty="0">
                <a:latin typeface="+mj-lt"/>
                <a:cs typeface="Microsoft Sans Serif"/>
              </a:rPr>
              <a:t>while other</a:t>
            </a:r>
            <a:r>
              <a:rPr sz="2000" spc="-32" dirty="0">
                <a:latin typeface="+mj-lt"/>
                <a:cs typeface="Microsoft Sans Serif"/>
              </a:rPr>
              <a:t> </a:t>
            </a:r>
            <a:r>
              <a:rPr sz="2000" dirty="0">
                <a:latin typeface="+mj-lt"/>
                <a:cs typeface="Microsoft Sans Serif"/>
              </a:rPr>
              <a:t>animals</a:t>
            </a:r>
            <a:r>
              <a:rPr sz="2000" spc="-14" dirty="0">
                <a:latin typeface="+mj-lt"/>
                <a:cs typeface="Microsoft Sans Serif"/>
              </a:rPr>
              <a:t> </a:t>
            </a:r>
            <a:r>
              <a:rPr sz="2000" spc="-9" dirty="0">
                <a:latin typeface="+mj-lt"/>
                <a:cs typeface="Microsoft Sans Serif"/>
              </a:rPr>
              <a:t>don't </a:t>
            </a:r>
            <a:r>
              <a:rPr sz="2000" dirty="0">
                <a:latin typeface="+mj-lt"/>
                <a:cs typeface="Microsoft Sans Serif"/>
              </a:rPr>
              <a:t>keep</a:t>
            </a:r>
            <a:r>
              <a:rPr sz="2000" spc="-32" dirty="0">
                <a:latin typeface="+mj-lt"/>
                <a:cs typeface="Microsoft Sans Serif"/>
              </a:rPr>
              <a:t> </a:t>
            </a:r>
            <a:r>
              <a:rPr sz="2000" spc="-9" dirty="0">
                <a:latin typeface="+mj-lt"/>
                <a:cs typeface="Microsoft Sans Serif"/>
              </a:rPr>
              <a:t>roaming?</a:t>
            </a:r>
            <a:endParaRPr sz="2000" dirty="0">
              <a:latin typeface="+mj-lt"/>
              <a:cs typeface="Microsoft Sans Serif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4953000" y="3602875"/>
            <a:ext cx="3348419" cy="1708382"/>
            <a:chOff x="5495544" y="2895600"/>
            <a:chExt cx="3720465" cy="20637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495544" y="2895600"/>
              <a:ext cx="2295144" cy="206349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767827" y="2895600"/>
              <a:ext cx="1447800" cy="2043683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28028" y="756690"/>
            <a:ext cx="8382572" cy="688650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0"/>
              </a:spcBef>
            </a:pPr>
            <a:r>
              <a:rPr sz="4400" spc="-9" dirty="0" smtClean="0">
                <a:solidFill>
                  <a:srgbClr val="FF0000"/>
                </a:solidFill>
                <a:cs typeface="Calibri Light"/>
              </a:rPr>
              <a:t>Are</a:t>
            </a:r>
            <a:r>
              <a:rPr sz="4400" spc="-212" dirty="0" smtClean="0">
                <a:solidFill>
                  <a:srgbClr val="FF0000"/>
                </a:solidFill>
                <a:cs typeface="Calibri Light"/>
              </a:rPr>
              <a:t> </a:t>
            </a:r>
            <a:r>
              <a:rPr sz="4400" spc="-108" dirty="0" smtClean="0">
                <a:solidFill>
                  <a:srgbClr val="FF0000"/>
                </a:solidFill>
                <a:cs typeface="Calibri Light"/>
              </a:rPr>
              <a:t>you</a:t>
            </a:r>
            <a:r>
              <a:rPr sz="4400" spc="-140" dirty="0" smtClean="0">
                <a:solidFill>
                  <a:srgbClr val="FF0000"/>
                </a:solidFill>
                <a:cs typeface="Calibri Light"/>
              </a:rPr>
              <a:t> </a:t>
            </a:r>
            <a:r>
              <a:rPr sz="4400" spc="216" dirty="0" smtClean="0">
                <a:solidFill>
                  <a:srgbClr val="FF0000"/>
                </a:solidFill>
                <a:cs typeface="Calibri Light"/>
              </a:rPr>
              <a:t>a</a:t>
            </a:r>
            <a:r>
              <a:rPr lang="en-IN" sz="4400" spc="216" dirty="0" smtClean="0">
                <a:solidFill>
                  <a:srgbClr val="FF0000"/>
                </a:solidFill>
                <a:cs typeface="Calibri Light"/>
              </a:rPr>
              <a:t> </a:t>
            </a:r>
            <a:r>
              <a:rPr sz="4400" spc="-63" dirty="0" smtClean="0">
                <a:solidFill>
                  <a:srgbClr val="FF0000"/>
                </a:solidFill>
                <a:cs typeface="Calibri Light"/>
              </a:rPr>
              <a:t>c</a:t>
            </a:r>
            <a:r>
              <a:rPr sz="4400" spc="-113" dirty="0" smtClean="0">
                <a:solidFill>
                  <a:srgbClr val="FF0000"/>
                </a:solidFill>
                <a:cs typeface="Calibri Light"/>
              </a:rPr>
              <a:t>r</a:t>
            </a:r>
            <a:r>
              <a:rPr sz="4400" spc="-324" dirty="0" smtClean="0">
                <a:solidFill>
                  <a:srgbClr val="FF0000"/>
                </a:solidFill>
                <a:cs typeface="Calibri Light"/>
              </a:rPr>
              <a:t>e</a:t>
            </a:r>
            <a:r>
              <a:rPr sz="4400" spc="-351" dirty="0" smtClean="0">
                <a:solidFill>
                  <a:srgbClr val="FF0000"/>
                </a:solidFill>
                <a:cs typeface="Calibri Light"/>
              </a:rPr>
              <a:t>a</a:t>
            </a:r>
            <a:r>
              <a:rPr sz="4400" spc="54" dirty="0" smtClean="0">
                <a:solidFill>
                  <a:srgbClr val="FF0000"/>
                </a:solidFill>
                <a:cs typeface="Calibri Light"/>
              </a:rPr>
              <a:t>tu</a:t>
            </a:r>
            <a:r>
              <a:rPr sz="4400" spc="-72" dirty="0" smtClean="0">
                <a:solidFill>
                  <a:srgbClr val="FF0000"/>
                </a:solidFill>
                <a:cs typeface="Calibri Light"/>
              </a:rPr>
              <a:t>r</a:t>
            </a:r>
            <a:r>
              <a:rPr sz="4400" spc="-14" dirty="0" smtClean="0">
                <a:solidFill>
                  <a:srgbClr val="FF0000"/>
                </a:solidFill>
                <a:cs typeface="Calibri Light"/>
              </a:rPr>
              <a:t>e</a:t>
            </a:r>
            <a:r>
              <a:rPr sz="4400" spc="-221" dirty="0" smtClean="0">
                <a:solidFill>
                  <a:srgbClr val="FF0000"/>
                </a:solidFill>
                <a:cs typeface="Calibri Light"/>
              </a:rPr>
              <a:t> </a:t>
            </a:r>
            <a:r>
              <a:rPr sz="4400" dirty="0" smtClean="0">
                <a:solidFill>
                  <a:srgbClr val="FF0000"/>
                </a:solidFill>
                <a:cs typeface="Calibri Light"/>
              </a:rPr>
              <a:t>of</a:t>
            </a:r>
            <a:r>
              <a:rPr sz="4400" spc="-54" dirty="0" smtClean="0">
                <a:solidFill>
                  <a:srgbClr val="FF0000"/>
                </a:solidFill>
                <a:cs typeface="Calibri Light"/>
              </a:rPr>
              <a:t> </a:t>
            </a:r>
            <a:r>
              <a:rPr sz="4400" spc="54" dirty="0" smtClean="0">
                <a:solidFill>
                  <a:srgbClr val="FF0000"/>
                </a:solidFill>
                <a:cs typeface="Calibri Light"/>
              </a:rPr>
              <a:t>r</a:t>
            </a:r>
            <a:r>
              <a:rPr sz="4400" spc="-329" dirty="0" smtClean="0">
                <a:solidFill>
                  <a:srgbClr val="FF0000"/>
                </a:solidFill>
                <a:cs typeface="Calibri Light"/>
              </a:rPr>
              <a:t>e</a:t>
            </a:r>
            <a:r>
              <a:rPr sz="4400" spc="-324" dirty="0" smtClean="0">
                <a:solidFill>
                  <a:srgbClr val="FF0000"/>
                </a:solidFill>
                <a:cs typeface="Calibri Light"/>
              </a:rPr>
              <a:t>a</a:t>
            </a:r>
            <a:r>
              <a:rPr sz="4400" spc="-356" dirty="0" smtClean="0">
                <a:solidFill>
                  <a:srgbClr val="FF0000"/>
                </a:solidFill>
                <a:cs typeface="Calibri Light"/>
              </a:rPr>
              <a:t>s</a:t>
            </a:r>
            <a:r>
              <a:rPr sz="4400" spc="-36" dirty="0" smtClean="0">
                <a:solidFill>
                  <a:srgbClr val="FF0000"/>
                </a:solidFill>
                <a:cs typeface="Calibri Light"/>
              </a:rPr>
              <a:t>o</a:t>
            </a:r>
            <a:r>
              <a:rPr sz="4400" spc="-436" dirty="0" smtClean="0">
                <a:solidFill>
                  <a:srgbClr val="FF0000"/>
                </a:solidFill>
                <a:cs typeface="Calibri Light"/>
              </a:rPr>
              <a:t>n?</a:t>
            </a:r>
            <a:endParaRPr sz="4400" dirty="0">
              <a:cs typeface="Calibri Ligh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7306" y="5410200"/>
            <a:ext cx="8438861" cy="9374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012502">
              <a:spcBef>
                <a:spcPts val="90"/>
              </a:spcBef>
            </a:pPr>
            <a:r>
              <a:rPr sz="1400" spc="-18" dirty="0">
                <a:latin typeface="Calibri"/>
                <a:cs typeface="Calibri"/>
              </a:rPr>
              <a:t>http</a:t>
            </a:r>
            <a:r>
              <a:rPr sz="1400" spc="-18" dirty="0">
                <a:latin typeface="Calibri"/>
                <a:cs typeface="Calibri"/>
                <a:hlinkClick r:id="rId4"/>
              </a:rPr>
              <a:t>s://www.youtube.com/watch?v=dKvVaRlz</a:t>
            </a:r>
            <a:r>
              <a:rPr sz="1400" spc="-18" dirty="0">
                <a:latin typeface="Calibri"/>
                <a:cs typeface="Calibri"/>
              </a:rPr>
              <a:t> </a:t>
            </a:r>
            <a:r>
              <a:rPr sz="1400" spc="-9" dirty="0">
                <a:latin typeface="Calibri"/>
                <a:cs typeface="Calibri"/>
              </a:rPr>
              <a:t>0Y4&amp;t=174s</a:t>
            </a:r>
            <a:endParaRPr sz="1400" dirty="0">
              <a:latin typeface="Calibri"/>
              <a:cs typeface="Calibri"/>
            </a:endParaRPr>
          </a:p>
          <a:p>
            <a:pPr>
              <a:spcBef>
                <a:spcPts val="540"/>
              </a:spcBef>
            </a:pPr>
            <a:endParaRPr sz="1400" dirty="0">
              <a:latin typeface="Calibri"/>
              <a:cs typeface="Calibri"/>
            </a:endParaRPr>
          </a:p>
          <a:p>
            <a:pPr marL="1308164" marR="4572"/>
            <a:r>
              <a:rPr sz="1400" spc="-18" dirty="0">
                <a:solidFill>
                  <a:srgbClr val="FF0000"/>
                </a:solidFill>
                <a:latin typeface="Calibri"/>
                <a:cs typeface="Calibri"/>
              </a:rPr>
              <a:t>http</a:t>
            </a:r>
            <a:r>
              <a:rPr sz="1400" spc="-18" dirty="0">
                <a:solidFill>
                  <a:srgbClr val="FF0000"/>
                </a:solidFill>
                <a:latin typeface="Calibri"/>
                <a:cs typeface="Calibri"/>
                <a:hlinkClick r:id="rId5"/>
              </a:rPr>
              <a:t>s://www.dal.ca/news/2020/05/29/animals-</a:t>
            </a:r>
            <a:r>
              <a:rPr sz="1400" spc="-9" dirty="0">
                <a:solidFill>
                  <a:srgbClr val="FF0000"/>
                </a:solidFill>
                <a:latin typeface="Calibri"/>
                <a:cs typeface="Calibri"/>
                <a:hlinkClick r:id="rId5"/>
              </a:rPr>
              <a:t>that-</a:t>
            </a:r>
            <a:r>
              <a:rPr sz="1400" spc="-18" dirty="0">
                <a:solidFill>
                  <a:srgbClr val="FF0000"/>
                </a:solidFill>
                <a:latin typeface="Calibri"/>
                <a:cs typeface="Calibri"/>
                <a:hlinkClick r:id="rId5"/>
              </a:rPr>
              <a:t>can-</a:t>
            </a:r>
            <a:r>
              <a:rPr sz="1400" spc="-9" dirty="0">
                <a:solidFill>
                  <a:srgbClr val="FF0000"/>
                </a:solidFill>
                <a:latin typeface="Calibri"/>
                <a:cs typeface="Calibri"/>
                <a:hlinkClick r:id="rId5"/>
              </a:rPr>
              <a:t>do-math-understand-</a:t>
            </a:r>
            <a:r>
              <a:rPr sz="1400" spc="-9" dirty="0">
                <a:solidFill>
                  <a:srgbClr val="FF0000"/>
                </a:solidFill>
                <a:latin typeface="Calibri"/>
                <a:cs typeface="Calibri"/>
              </a:rPr>
              <a:t> more-language-than-</a:t>
            </a:r>
            <a:r>
              <a:rPr sz="1400" spc="-18" dirty="0">
                <a:solidFill>
                  <a:srgbClr val="FF0000"/>
                </a:solidFill>
                <a:latin typeface="Calibri"/>
                <a:cs typeface="Calibri"/>
              </a:rPr>
              <a:t>we-</a:t>
            </a:r>
            <a:r>
              <a:rPr sz="1400" spc="-9" dirty="0">
                <a:solidFill>
                  <a:srgbClr val="FF0000"/>
                </a:solidFill>
                <a:latin typeface="Calibri"/>
                <a:cs typeface="Calibri"/>
              </a:rPr>
              <a:t>think.html</a:t>
            </a:r>
            <a:endParaRPr sz="1400" dirty="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17384" y="3643527"/>
            <a:ext cx="3215971" cy="1708171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Syllogism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2959" y="1845734"/>
            <a:ext cx="7787641" cy="4023360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§"/>
            </a:pPr>
            <a:r>
              <a:rPr lang="en-US" dirty="0"/>
              <a:t>A syllogism is a logical argument that derives a conclusion from two preceding statements, </a:t>
            </a:r>
            <a:r>
              <a:rPr lang="en-US" dirty="0"/>
              <a:t>called </a:t>
            </a:r>
            <a:r>
              <a:rPr lang="en-US" dirty="0">
                <a:hlinkClick r:id="rId2"/>
              </a:rPr>
              <a:t>premises</a:t>
            </a:r>
            <a:r>
              <a:rPr lang="en-US" dirty="0"/>
              <a:t>. </a:t>
            </a:r>
            <a:endParaRPr lang="en-US" dirty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This </a:t>
            </a:r>
            <a:r>
              <a:rPr lang="en-US" dirty="0"/>
              <a:t>form of deductive reasoning uses a major premise (general statement), a minor premise (specific statement), and a conclusion (logical inference) to establish a valid argument, even if the statements initially seem illogical. 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The </a:t>
            </a:r>
            <a:r>
              <a:rPr lang="en-US" dirty="0"/>
              <a:t>Greek word "</a:t>
            </a:r>
            <a:r>
              <a:rPr lang="en-US" dirty="0" err="1"/>
              <a:t>syllogismos</a:t>
            </a:r>
            <a:r>
              <a:rPr lang="en-US" dirty="0"/>
              <a:t>" means "conclusion" or "</a:t>
            </a:r>
            <a:r>
              <a:rPr lang="en-US" dirty="0" smtClean="0"/>
              <a:t>inference“.</a:t>
            </a:r>
          </a:p>
          <a:p>
            <a:pPr marL="0" indent="0" algn="just">
              <a:buNone/>
            </a:pPr>
            <a:r>
              <a:rPr lang="en-US" b="1" dirty="0"/>
              <a:t>Reasoning</a:t>
            </a:r>
            <a:r>
              <a:rPr lang="en-US" dirty="0"/>
              <a:t> </a:t>
            </a:r>
            <a:endParaRPr lang="en-US" dirty="0" smtClean="0"/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dirty="0" smtClean="0"/>
              <a:t>It is </a:t>
            </a:r>
            <a:r>
              <a:rPr lang="en-US" dirty="0"/>
              <a:t>a tool for </a:t>
            </a:r>
            <a:r>
              <a:rPr lang="en-US" b="1" dirty="0"/>
              <a:t>processing</a:t>
            </a:r>
            <a:r>
              <a:rPr lang="en-US" dirty="0"/>
              <a:t> information: deducing conclusions, solving structured problems, or exploring implications of known facts</a:t>
            </a:r>
            <a:r>
              <a:rPr lang="en-US" dirty="0" smtClean="0"/>
              <a:t>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b="1" dirty="0"/>
              <a:t>Reasoning</a:t>
            </a:r>
            <a:r>
              <a:rPr lang="en-US" dirty="0"/>
              <a:t> is the mental process of drawing conclusions, making inferences, or solving problems by connecting ideas, facts, or evidence. It’s how we go from what we know → to what we </a:t>
            </a:r>
            <a:r>
              <a:rPr lang="en-US" i="1" dirty="0"/>
              <a:t>can figure out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5123534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0663" y="565146"/>
            <a:ext cx="7718793" cy="998479"/>
          </a:xfrm>
          <a:prstGeom prst="rect">
            <a:avLst/>
          </a:prstGeom>
        </p:spPr>
        <p:txBody>
          <a:bodyPr vert="horz" wrap="square" lIns="0" tIns="148019" rIns="0" bIns="0" rtlCol="0" anchor="b">
            <a:spAutoFit/>
          </a:bodyPr>
          <a:lstStyle/>
          <a:p>
            <a:pPr marL="11430" marR="27432">
              <a:lnSpc>
                <a:spcPct val="75000"/>
              </a:lnSpc>
              <a:spcBef>
                <a:spcPts val="1166"/>
              </a:spcBef>
            </a:pPr>
            <a:r>
              <a:rPr sz="3600" spc="-216" dirty="0">
                <a:cs typeface="Calibri Light"/>
              </a:rPr>
              <a:t>Reasoning</a:t>
            </a:r>
            <a:r>
              <a:rPr sz="3600" spc="-288" dirty="0">
                <a:cs typeface="Calibri Light"/>
              </a:rPr>
              <a:t> </a:t>
            </a:r>
            <a:r>
              <a:rPr sz="3600" spc="-122" dirty="0">
                <a:cs typeface="Calibri Light"/>
              </a:rPr>
              <a:t>does</a:t>
            </a:r>
            <a:r>
              <a:rPr sz="3600" spc="-293" dirty="0">
                <a:cs typeface="Calibri Light"/>
              </a:rPr>
              <a:t> </a:t>
            </a:r>
            <a:r>
              <a:rPr sz="3600" dirty="0">
                <a:cs typeface="Calibri Light"/>
              </a:rPr>
              <a:t>not</a:t>
            </a:r>
            <a:r>
              <a:rPr sz="3600" spc="32" dirty="0">
                <a:cs typeface="Calibri Light"/>
              </a:rPr>
              <a:t> </a:t>
            </a:r>
            <a:r>
              <a:rPr sz="3600" spc="-108" dirty="0">
                <a:cs typeface="Calibri Light"/>
              </a:rPr>
              <a:t>help</a:t>
            </a:r>
            <a:r>
              <a:rPr sz="3600" spc="-198" dirty="0">
                <a:cs typeface="Calibri Light"/>
              </a:rPr>
              <a:t> </a:t>
            </a:r>
            <a:r>
              <a:rPr sz="3600" spc="-149" dirty="0">
                <a:cs typeface="Calibri Light"/>
              </a:rPr>
              <a:t>us</a:t>
            </a:r>
            <a:r>
              <a:rPr sz="3600" spc="-252" dirty="0">
                <a:cs typeface="Calibri Light"/>
              </a:rPr>
              <a:t> </a:t>
            </a:r>
            <a:r>
              <a:rPr sz="3600" dirty="0">
                <a:cs typeface="Calibri Light"/>
              </a:rPr>
              <a:t>in</a:t>
            </a:r>
            <a:r>
              <a:rPr sz="3600" spc="-203" dirty="0">
                <a:cs typeface="Calibri Light"/>
              </a:rPr>
              <a:t> </a:t>
            </a:r>
            <a:r>
              <a:rPr sz="3600" spc="-90" dirty="0">
                <a:cs typeface="Calibri Light"/>
              </a:rPr>
              <a:t>identifying </a:t>
            </a:r>
            <a:r>
              <a:rPr sz="3600" spc="-184" dirty="0">
                <a:cs typeface="Calibri Light"/>
              </a:rPr>
              <a:t>goals</a:t>
            </a:r>
            <a:r>
              <a:rPr sz="3600" spc="-378" dirty="0">
                <a:cs typeface="Calibri Light"/>
              </a:rPr>
              <a:t> </a:t>
            </a:r>
            <a:r>
              <a:rPr sz="3600" dirty="0">
                <a:cs typeface="Calibri Light"/>
              </a:rPr>
              <a:t>or</a:t>
            </a:r>
            <a:r>
              <a:rPr sz="3600" spc="117" dirty="0">
                <a:cs typeface="Calibri Light"/>
              </a:rPr>
              <a:t> </a:t>
            </a:r>
            <a:r>
              <a:rPr sz="3600" spc="-9" dirty="0">
                <a:cs typeface="Calibri Light"/>
              </a:rPr>
              <a:t>in</a:t>
            </a:r>
            <a:r>
              <a:rPr sz="3600" spc="-216" dirty="0">
                <a:cs typeface="Calibri Light"/>
              </a:rPr>
              <a:t> </a:t>
            </a:r>
            <a:r>
              <a:rPr sz="3600" spc="-108" dirty="0">
                <a:cs typeface="Calibri Light"/>
              </a:rPr>
              <a:t>identifying</a:t>
            </a:r>
            <a:r>
              <a:rPr sz="3600" spc="-122" dirty="0">
                <a:cs typeface="Calibri Light"/>
              </a:rPr>
              <a:t> </a:t>
            </a:r>
            <a:r>
              <a:rPr sz="3600" spc="-23" dirty="0">
                <a:cs typeface="Calibri Light"/>
              </a:rPr>
              <a:t>problems.</a:t>
            </a:r>
            <a:endParaRPr sz="3600" dirty="0"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886254"/>
            <a:ext cx="7476363" cy="869790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11430" marR="4572">
              <a:lnSpc>
                <a:spcPts val="3240"/>
              </a:lnSpc>
              <a:spcBef>
                <a:spcPts val="383"/>
              </a:spcBef>
            </a:pPr>
            <a:r>
              <a:rPr sz="2880" spc="-184" dirty="0">
                <a:latin typeface="+mj-lt"/>
                <a:cs typeface="Microsoft Sans Serif"/>
              </a:rPr>
              <a:t>Rather,</a:t>
            </a:r>
            <a:r>
              <a:rPr sz="2880" spc="-446" dirty="0">
                <a:latin typeface="+mj-lt"/>
                <a:cs typeface="Microsoft Sans Serif"/>
              </a:rPr>
              <a:t> </a:t>
            </a:r>
            <a:r>
              <a:rPr sz="2880" dirty="0">
                <a:latin typeface="+mj-lt"/>
                <a:cs typeface="Microsoft Sans Serif"/>
              </a:rPr>
              <a:t>it</a:t>
            </a:r>
            <a:r>
              <a:rPr sz="2880" spc="189" dirty="0">
                <a:latin typeface="+mj-lt"/>
                <a:cs typeface="Microsoft Sans Serif"/>
              </a:rPr>
              <a:t> </a:t>
            </a:r>
            <a:r>
              <a:rPr sz="2880" spc="-140" dirty="0">
                <a:latin typeface="+mj-lt"/>
                <a:cs typeface="Microsoft Sans Serif"/>
              </a:rPr>
              <a:t>helps</a:t>
            </a:r>
            <a:r>
              <a:rPr sz="2880" spc="-198" dirty="0">
                <a:latin typeface="+mj-lt"/>
                <a:cs typeface="Microsoft Sans Serif"/>
              </a:rPr>
              <a:t> </a:t>
            </a:r>
            <a:r>
              <a:rPr sz="2880" spc="-135" dirty="0">
                <a:latin typeface="+mj-lt"/>
                <a:cs typeface="Microsoft Sans Serif"/>
              </a:rPr>
              <a:t>us</a:t>
            </a:r>
            <a:r>
              <a:rPr sz="2880" spc="-216" dirty="0">
                <a:latin typeface="+mj-lt"/>
                <a:cs typeface="Microsoft Sans Serif"/>
              </a:rPr>
              <a:t> </a:t>
            </a:r>
            <a:r>
              <a:rPr sz="2880" spc="-86" dirty="0">
                <a:latin typeface="+mj-lt"/>
                <a:cs typeface="Microsoft Sans Serif"/>
              </a:rPr>
              <a:t>derive</a:t>
            </a:r>
            <a:r>
              <a:rPr sz="2880" spc="-198" dirty="0">
                <a:latin typeface="+mj-lt"/>
                <a:cs typeface="Microsoft Sans Serif"/>
              </a:rPr>
              <a:t> </a:t>
            </a:r>
            <a:r>
              <a:rPr sz="2880" spc="-126" dirty="0">
                <a:latin typeface="+mj-lt"/>
                <a:cs typeface="Microsoft Sans Serif"/>
              </a:rPr>
              <a:t>new</a:t>
            </a:r>
            <a:r>
              <a:rPr sz="2880" spc="23" dirty="0">
                <a:latin typeface="+mj-lt"/>
                <a:cs typeface="Microsoft Sans Serif"/>
              </a:rPr>
              <a:t> </a:t>
            </a:r>
            <a:r>
              <a:rPr sz="2880" spc="-131" dirty="0">
                <a:latin typeface="+mj-lt"/>
                <a:cs typeface="Microsoft Sans Serif"/>
              </a:rPr>
              <a:t>knowledge</a:t>
            </a:r>
            <a:r>
              <a:rPr sz="2880" spc="-198" dirty="0">
                <a:latin typeface="+mj-lt"/>
                <a:cs typeface="Microsoft Sans Serif"/>
              </a:rPr>
              <a:t> </a:t>
            </a:r>
            <a:r>
              <a:rPr sz="2880" dirty="0">
                <a:latin typeface="+mj-lt"/>
                <a:cs typeface="Microsoft Sans Serif"/>
              </a:rPr>
              <a:t>from</a:t>
            </a:r>
            <a:r>
              <a:rPr sz="2880" spc="-162" dirty="0">
                <a:latin typeface="+mj-lt"/>
                <a:cs typeface="Microsoft Sans Serif"/>
              </a:rPr>
              <a:t> </a:t>
            </a:r>
            <a:r>
              <a:rPr sz="2880" spc="-45" dirty="0">
                <a:latin typeface="+mj-lt"/>
                <a:cs typeface="Microsoft Sans Serif"/>
              </a:rPr>
              <a:t>that </a:t>
            </a:r>
            <a:r>
              <a:rPr sz="2880" spc="-90" dirty="0">
                <a:latin typeface="+mj-lt"/>
                <a:cs typeface="Microsoft Sans Serif"/>
              </a:rPr>
              <a:t>which</a:t>
            </a:r>
            <a:r>
              <a:rPr sz="2880" spc="-81" dirty="0">
                <a:latin typeface="+mj-lt"/>
                <a:cs typeface="Microsoft Sans Serif"/>
              </a:rPr>
              <a:t> </a:t>
            </a:r>
            <a:r>
              <a:rPr sz="2880" spc="-77" dirty="0">
                <a:latin typeface="+mj-lt"/>
                <a:cs typeface="Microsoft Sans Serif"/>
              </a:rPr>
              <a:t>we</a:t>
            </a:r>
            <a:r>
              <a:rPr sz="2880" spc="-122" dirty="0">
                <a:latin typeface="+mj-lt"/>
                <a:cs typeface="Microsoft Sans Serif"/>
              </a:rPr>
              <a:t> </a:t>
            </a:r>
            <a:r>
              <a:rPr sz="2880" spc="-162" dirty="0">
                <a:latin typeface="+mj-lt"/>
                <a:cs typeface="Microsoft Sans Serif"/>
              </a:rPr>
              <a:t>already</a:t>
            </a:r>
            <a:r>
              <a:rPr sz="2880" spc="-103" dirty="0">
                <a:latin typeface="+mj-lt"/>
                <a:cs typeface="Microsoft Sans Serif"/>
              </a:rPr>
              <a:t> </a:t>
            </a:r>
            <a:r>
              <a:rPr sz="2880" spc="-18" dirty="0">
                <a:latin typeface="+mj-lt"/>
                <a:cs typeface="Microsoft Sans Serif"/>
              </a:rPr>
              <a:t>know</a:t>
            </a:r>
            <a:endParaRPr sz="2880" dirty="0">
              <a:latin typeface="+mj-lt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31985" y="2926308"/>
            <a:ext cx="1619630" cy="863121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11430" marR="4572">
              <a:lnSpc>
                <a:spcPts val="3420"/>
              </a:lnSpc>
              <a:spcBef>
                <a:spcPts val="225"/>
              </a:spcBef>
            </a:pPr>
            <a:r>
              <a:rPr sz="2400" b="1" spc="72" dirty="0">
                <a:latin typeface="+mj-lt"/>
                <a:cs typeface="Trebuchet MS"/>
              </a:rPr>
              <a:t>Premise: Premise:</a:t>
            </a:r>
            <a:endParaRPr sz="2400" dirty="0">
              <a:latin typeface="+mj-lt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11077" y="2927679"/>
            <a:ext cx="3504323" cy="900888"/>
          </a:xfrm>
          <a:prstGeom prst="rect">
            <a:avLst/>
          </a:prstGeom>
        </p:spPr>
        <p:txBody>
          <a:bodyPr vert="horz" wrap="square" lIns="0" tIns="28575" rIns="0" bIns="0" rtlCol="0">
            <a:spAutoFit/>
          </a:bodyPr>
          <a:lstStyle/>
          <a:p>
            <a:pPr marL="48006" marR="4572" indent="-37148">
              <a:lnSpc>
                <a:spcPts val="3420"/>
              </a:lnSpc>
              <a:spcBef>
                <a:spcPts val="225"/>
              </a:spcBef>
            </a:pPr>
            <a:r>
              <a:rPr sz="2880" dirty="0">
                <a:latin typeface="+mj-lt"/>
                <a:cs typeface="Microsoft Sans Serif"/>
              </a:rPr>
              <a:t>All</a:t>
            </a:r>
            <a:r>
              <a:rPr sz="2880" spc="-32" dirty="0">
                <a:latin typeface="+mj-lt"/>
                <a:cs typeface="Microsoft Sans Serif"/>
              </a:rPr>
              <a:t> </a:t>
            </a:r>
            <a:r>
              <a:rPr sz="2880" spc="-135" dirty="0">
                <a:latin typeface="+mj-lt"/>
                <a:cs typeface="Microsoft Sans Serif"/>
              </a:rPr>
              <a:t>men</a:t>
            </a:r>
            <a:r>
              <a:rPr sz="2880" spc="-158" dirty="0">
                <a:latin typeface="+mj-lt"/>
                <a:cs typeface="Microsoft Sans Serif"/>
              </a:rPr>
              <a:t> </a:t>
            </a:r>
            <a:r>
              <a:rPr sz="2880" spc="-387" dirty="0">
                <a:latin typeface="+mj-lt"/>
                <a:cs typeface="Microsoft Sans Serif"/>
              </a:rPr>
              <a:t>a</a:t>
            </a:r>
            <a:r>
              <a:rPr sz="2880" spc="117" dirty="0">
                <a:latin typeface="+mj-lt"/>
                <a:cs typeface="Microsoft Sans Serif"/>
              </a:rPr>
              <a:t>r</a:t>
            </a:r>
            <a:r>
              <a:rPr sz="2880" dirty="0">
                <a:latin typeface="+mj-lt"/>
                <a:cs typeface="Microsoft Sans Serif"/>
              </a:rPr>
              <a:t>e</a:t>
            </a:r>
            <a:r>
              <a:rPr sz="2880" spc="-198" dirty="0">
                <a:latin typeface="+mj-lt"/>
                <a:cs typeface="Microsoft Sans Serif"/>
              </a:rPr>
              <a:t> </a:t>
            </a:r>
            <a:r>
              <a:rPr sz="2880" spc="-32" dirty="0">
                <a:latin typeface="+mj-lt"/>
                <a:cs typeface="Microsoft Sans Serif"/>
              </a:rPr>
              <a:t>mortal </a:t>
            </a:r>
            <a:r>
              <a:rPr sz="2880" spc="-171" dirty="0">
                <a:latin typeface="+mj-lt"/>
                <a:cs typeface="Microsoft Sans Serif"/>
              </a:rPr>
              <a:t>Socrates</a:t>
            </a:r>
            <a:r>
              <a:rPr sz="2880" spc="-95" dirty="0">
                <a:latin typeface="+mj-lt"/>
                <a:cs typeface="Microsoft Sans Serif"/>
              </a:rPr>
              <a:t> </a:t>
            </a:r>
            <a:r>
              <a:rPr sz="2880" spc="-23" dirty="0">
                <a:latin typeface="+mj-lt"/>
                <a:cs typeface="Microsoft Sans Serif"/>
              </a:rPr>
              <a:t>is</a:t>
            </a:r>
            <a:r>
              <a:rPr sz="2880" spc="-275" dirty="0">
                <a:latin typeface="+mj-lt"/>
                <a:cs typeface="Microsoft Sans Serif"/>
              </a:rPr>
              <a:t> </a:t>
            </a:r>
            <a:r>
              <a:rPr sz="2880" dirty="0">
                <a:latin typeface="+mj-lt"/>
                <a:cs typeface="Microsoft Sans Serif"/>
              </a:rPr>
              <a:t>a</a:t>
            </a:r>
            <a:r>
              <a:rPr sz="2880" spc="-329" dirty="0">
                <a:latin typeface="+mj-lt"/>
                <a:cs typeface="Microsoft Sans Serif"/>
              </a:rPr>
              <a:t> </a:t>
            </a:r>
            <a:r>
              <a:rPr sz="2880" spc="-23" dirty="0">
                <a:latin typeface="+mj-lt"/>
                <a:cs typeface="Microsoft Sans Serif"/>
              </a:rPr>
              <a:t>man</a:t>
            </a:r>
            <a:endParaRPr sz="2880" dirty="0">
              <a:latin typeface="+mj-lt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531984" y="4196066"/>
            <a:ext cx="5383416" cy="45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80" b="1" spc="81" dirty="0">
                <a:cs typeface="Trebuchet MS"/>
              </a:rPr>
              <a:t>Conclusion:</a:t>
            </a:r>
            <a:r>
              <a:rPr sz="2880" b="1" spc="108" dirty="0">
                <a:cs typeface="Trebuchet MS"/>
              </a:rPr>
              <a:t> </a:t>
            </a:r>
            <a:r>
              <a:rPr sz="2880" spc="-162" dirty="0">
                <a:cs typeface="Microsoft Sans Serif"/>
              </a:rPr>
              <a:t>Socrates</a:t>
            </a:r>
            <a:r>
              <a:rPr sz="2880" spc="-171" dirty="0">
                <a:cs typeface="Microsoft Sans Serif"/>
              </a:rPr>
              <a:t> </a:t>
            </a:r>
            <a:r>
              <a:rPr sz="2880" spc="-103" dirty="0">
                <a:cs typeface="Microsoft Sans Serif"/>
              </a:rPr>
              <a:t>is</a:t>
            </a:r>
            <a:r>
              <a:rPr sz="2880" spc="-140" dirty="0">
                <a:cs typeface="Microsoft Sans Serif"/>
              </a:rPr>
              <a:t> </a:t>
            </a:r>
            <a:r>
              <a:rPr sz="2880" spc="-9" dirty="0">
                <a:cs typeface="Microsoft Sans Serif"/>
              </a:rPr>
              <a:t>mortal</a:t>
            </a:r>
            <a:endParaRPr sz="2880" dirty="0"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46184" y="2763888"/>
            <a:ext cx="473774" cy="1645259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10620" spc="-45" dirty="0">
                <a:latin typeface="Microsoft Sans Serif"/>
                <a:cs typeface="Microsoft Sans Serif"/>
              </a:rPr>
              <a:t>{</a:t>
            </a:r>
            <a:endParaRPr sz="10620" dirty="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2574" y="3555599"/>
            <a:ext cx="1391031" cy="4553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80" spc="-99" dirty="0">
                <a:cs typeface="Microsoft Sans Serif"/>
              </a:rPr>
              <a:t>Sy</a:t>
            </a:r>
            <a:r>
              <a:rPr sz="2880" spc="-518" dirty="0">
                <a:cs typeface="Microsoft Sans Serif"/>
              </a:rPr>
              <a:t> </a:t>
            </a:r>
            <a:r>
              <a:rPr sz="2880" b="1" spc="-184" dirty="0">
                <a:cs typeface="Arial"/>
              </a:rPr>
              <a:t>l</a:t>
            </a:r>
            <a:r>
              <a:rPr sz="2880" spc="-184" dirty="0">
                <a:cs typeface="Microsoft Sans Serif"/>
              </a:rPr>
              <a:t>ogism</a:t>
            </a:r>
            <a:endParaRPr sz="2880" dirty="0">
              <a:cs typeface="Microsoft Sans Serif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99620" y="5231168"/>
            <a:ext cx="4592920" cy="967764"/>
          </a:xfrm>
          <a:prstGeom prst="rect">
            <a:avLst/>
          </a:prstGeom>
        </p:spPr>
        <p:txBody>
          <a:bodyPr vert="horz" wrap="square" lIns="0" tIns="44005" rIns="0" bIns="0" rtlCol="0">
            <a:spAutoFit/>
          </a:bodyPr>
          <a:lstStyle/>
          <a:p>
            <a:pPr marL="11430" marR="4572" algn="just"/>
            <a:r>
              <a:rPr sz="2000" b="1" spc="176" dirty="0">
                <a:cs typeface="Trebuchet MS"/>
              </a:rPr>
              <a:t>Important</a:t>
            </a:r>
            <a:r>
              <a:rPr sz="2000" spc="176" dirty="0">
                <a:cs typeface="Microsoft Sans Serif"/>
              </a:rPr>
              <a:t>:</a:t>
            </a:r>
            <a:r>
              <a:rPr sz="2000" spc="-194" dirty="0">
                <a:cs typeface="Microsoft Sans Serif"/>
              </a:rPr>
              <a:t> </a:t>
            </a:r>
            <a:r>
              <a:rPr sz="2000" spc="-252" dirty="0">
                <a:cs typeface="Microsoft Sans Serif"/>
              </a:rPr>
              <a:t>Reason</a:t>
            </a:r>
            <a:r>
              <a:rPr sz="2000" spc="63" dirty="0">
                <a:cs typeface="Microsoft Sans Serif"/>
              </a:rPr>
              <a:t> </a:t>
            </a:r>
            <a:r>
              <a:rPr sz="2000" spc="-158" dirty="0">
                <a:cs typeface="Microsoft Sans Serif"/>
              </a:rPr>
              <a:t>does</a:t>
            </a:r>
            <a:r>
              <a:rPr sz="2000" spc="-36" dirty="0">
                <a:cs typeface="Microsoft Sans Serif"/>
              </a:rPr>
              <a:t> </a:t>
            </a:r>
            <a:r>
              <a:rPr sz="2000" dirty="0">
                <a:cs typeface="Microsoft Sans Serif"/>
              </a:rPr>
              <a:t>not</a:t>
            </a:r>
            <a:r>
              <a:rPr sz="2000" spc="-14" dirty="0">
                <a:cs typeface="Microsoft Sans Serif"/>
              </a:rPr>
              <a:t> </a:t>
            </a:r>
            <a:r>
              <a:rPr sz="2000" spc="-81" dirty="0">
                <a:cs typeface="Microsoft Sans Serif"/>
              </a:rPr>
              <a:t>deliver</a:t>
            </a:r>
            <a:r>
              <a:rPr sz="2000" spc="50" dirty="0">
                <a:cs typeface="Microsoft Sans Serif"/>
              </a:rPr>
              <a:t> </a:t>
            </a:r>
            <a:r>
              <a:rPr sz="2000" dirty="0">
                <a:cs typeface="Microsoft Sans Serif"/>
              </a:rPr>
              <a:t>truth.</a:t>
            </a:r>
            <a:r>
              <a:rPr sz="2000" spc="63" dirty="0">
                <a:cs typeface="Microsoft Sans Serif"/>
              </a:rPr>
              <a:t>  </a:t>
            </a:r>
            <a:r>
              <a:rPr sz="2000" dirty="0">
                <a:cs typeface="Microsoft Sans Serif"/>
              </a:rPr>
              <a:t>If </a:t>
            </a:r>
            <a:r>
              <a:rPr sz="2000" spc="-23" dirty="0">
                <a:cs typeface="Microsoft Sans Serif"/>
              </a:rPr>
              <a:t>the </a:t>
            </a:r>
            <a:r>
              <a:rPr sz="2000" spc="-176" dirty="0">
                <a:cs typeface="Microsoft Sans Serif"/>
              </a:rPr>
              <a:t>premises</a:t>
            </a:r>
            <a:r>
              <a:rPr sz="2000" spc="-18" dirty="0">
                <a:cs typeface="Microsoft Sans Serif"/>
              </a:rPr>
              <a:t> </a:t>
            </a:r>
            <a:r>
              <a:rPr sz="2000" spc="-140" dirty="0">
                <a:cs typeface="Microsoft Sans Serif"/>
              </a:rPr>
              <a:t>are</a:t>
            </a:r>
            <a:r>
              <a:rPr sz="2000" spc="-50" dirty="0">
                <a:cs typeface="Microsoft Sans Serif"/>
              </a:rPr>
              <a:t> </a:t>
            </a:r>
            <a:r>
              <a:rPr sz="2000" spc="-198" dirty="0">
                <a:cs typeface="Microsoft Sans Serif"/>
              </a:rPr>
              <a:t>nonsense,</a:t>
            </a:r>
            <a:r>
              <a:rPr sz="2000" spc="5" dirty="0">
                <a:cs typeface="Microsoft Sans Serif"/>
              </a:rPr>
              <a:t> </a:t>
            </a:r>
            <a:r>
              <a:rPr sz="2000" spc="-238" dirty="0">
                <a:cs typeface="Microsoft Sans Serif"/>
              </a:rPr>
              <a:t>even</a:t>
            </a:r>
            <a:r>
              <a:rPr sz="2000" spc="50" dirty="0">
                <a:cs typeface="Microsoft Sans Serif"/>
              </a:rPr>
              <a:t> </a:t>
            </a:r>
            <a:r>
              <a:rPr sz="2000" spc="-23" dirty="0">
                <a:cs typeface="Microsoft Sans Serif"/>
              </a:rPr>
              <a:t>the</a:t>
            </a:r>
            <a:r>
              <a:rPr sz="2000" spc="-122" dirty="0">
                <a:cs typeface="Microsoft Sans Serif"/>
              </a:rPr>
              <a:t> </a:t>
            </a:r>
            <a:r>
              <a:rPr sz="2000" spc="-126" dirty="0">
                <a:cs typeface="Microsoft Sans Serif"/>
              </a:rPr>
              <a:t>best</a:t>
            </a:r>
            <a:r>
              <a:rPr sz="2000" spc="23" dirty="0">
                <a:cs typeface="Microsoft Sans Serif"/>
              </a:rPr>
              <a:t> </a:t>
            </a:r>
            <a:r>
              <a:rPr sz="2000" spc="-180" dirty="0">
                <a:cs typeface="Microsoft Sans Serif"/>
              </a:rPr>
              <a:t>reasoning</a:t>
            </a:r>
            <a:r>
              <a:rPr sz="2000" spc="-9" dirty="0">
                <a:cs typeface="Microsoft Sans Serif"/>
              </a:rPr>
              <a:t> </a:t>
            </a:r>
            <a:r>
              <a:rPr sz="2000" spc="-18" dirty="0">
                <a:cs typeface="Microsoft Sans Serif"/>
              </a:rPr>
              <a:t>will </a:t>
            </a:r>
            <a:r>
              <a:rPr sz="2000" spc="-149" dirty="0">
                <a:cs typeface="Microsoft Sans Serif"/>
              </a:rPr>
              <a:t>generate</a:t>
            </a:r>
            <a:r>
              <a:rPr sz="2000" spc="-131" dirty="0">
                <a:cs typeface="Microsoft Sans Serif"/>
              </a:rPr>
              <a:t> </a:t>
            </a:r>
            <a:r>
              <a:rPr sz="2000" spc="-72" dirty="0">
                <a:cs typeface="Microsoft Sans Serif"/>
              </a:rPr>
              <a:t>nonsense</a:t>
            </a:r>
            <a:endParaRPr sz="2000" dirty="0"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2871" y="76878"/>
            <a:ext cx="3909060" cy="3358612"/>
          </a:xfrm>
          <a:prstGeom prst="rect">
            <a:avLst/>
          </a:prstGeom>
          <a:ln w="9144">
            <a:solidFill>
              <a:srgbClr val="FF0000"/>
            </a:solidFill>
          </a:ln>
        </p:spPr>
        <p:txBody>
          <a:bodyPr vert="horz" wrap="square" lIns="0" tIns="34290" rIns="0" bIns="0" rtlCol="0">
            <a:spAutoFit/>
          </a:bodyPr>
          <a:lstStyle/>
          <a:p>
            <a:pPr marL="82296">
              <a:spcBef>
                <a:spcPts val="270"/>
              </a:spcBef>
            </a:pPr>
            <a:r>
              <a:rPr b="1" spc="-9" dirty="0">
                <a:solidFill>
                  <a:srgbClr val="2C2C2C"/>
                </a:solidFill>
                <a:latin typeface="Arial"/>
                <a:cs typeface="Arial"/>
              </a:rPr>
              <a:t>Example</a:t>
            </a:r>
            <a:r>
              <a:rPr b="1" spc="-9" dirty="0" smtClean="0">
                <a:solidFill>
                  <a:srgbClr val="2C2C2C"/>
                </a:solidFill>
                <a:latin typeface="Arial"/>
                <a:cs typeface="Arial"/>
              </a:rPr>
              <a:t>:</a:t>
            </a:r>
            <a:endParaRPr dirty="0">
              <a:latin typeface="Arial"/>
              <a:cs typeface="Arial"/>
            </a:endParaRPr>
          </a:p>
          <a:p>
            <a:pPr marL="82296" marR="116585"/>
            <a:r>
              <a:rPr b="1" dirty="0">
                <a:solidFill>
                  <a:srgbClr val="2C2C2C"/>
                </a:solidFill>
                <a:latin typeface="Arial"/>
                <a:cs typeface="Arial"/>
              </a:rPr>
              <a:t>Person</a:t>
            </a:r>
            <a:r>
              <a:rPr b="1" spc="-81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2C2C2C"/>
                </a:solidFill>
                <a:latin typeface="Arial"/>
                <a:cs typeface="Arial"/>
              </a:rPr>
              <a:t>A:</a:t>
            </a:r>
            <a:r>
              <a:rPr b="1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"I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was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excited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to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see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that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onboarding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process</a:t>
            </a:r>
            <a:r>
              <a:rPr i="1" spc="-41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increased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i="1" spc="-36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employee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retention</a:t>
            </a:r>
            <a:r>
              <a:rPr i="1" spc="-36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rates.</a:t>
            </a:r>
            <a:r>
              <a:rPr i="1" spc="-50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When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 I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interviewed</a:t>
            </a:r>
            <a:r>
              <a:rPr i="1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our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employees</a:t>
            </a:r>
            <a:r>
              <a:rPr i="1" spc="-32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last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week,</a:t>
            </a:r>
            <a:r>
              <a:rPr i="1" spc="-36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98%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i="1" spc="-14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them</a:t>
            </a:r>
            <a:r>
              <a:rPr i="1" spc="-36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said</a:t>
            </a:r>
            <a:r>
              <a:rPr i="1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they</a:t>
            </a:r>
            <a:r>
              <a:rPr i="1" spc="-27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are</a:t>
            </a:r>
            <a:r>
              <a:rPr i="1" spc="-32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still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with</a:t>
            </a:r>
            <a:r>
              <a:rPr i="1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i="1" spc="-14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company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because</a:t>
            </a:r>
            <a:r>
              <a:rPr i="1" spc="-36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of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the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support</a:t>
            </a:r>
            <a:r>
              <a:rPr i="1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they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got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when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they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first</a:t>
            </a:r>
            <a:endParaRPr dirty="0">
              <a:latin typeface="Arial"/>
              <a:cs typeface="Arial"/>
            </a:endParaRPr>
          </a:p>
          <a:p>
            <a:pPr marL="82296">
              <a:spcBef>
                <a:spcPts val="5"/>
              </a:spcBef>
            </a:pP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started</a:t>
            </a:r>
            <a:r>
              <a:rPr i="1" spc="-9" dirty="0" smtClean="0">
                <a:solidFill>
                  <a:srgbClr val="2C2C2C"/>
                </a:solidFill>
                <a:latin typeface="Arial"/>
                <a:cs typeface="Arial"/>
              </a:rPr>
              <a:t>.“</a:t>
            </a:r>
            <a:endParaRPr dirty="0">
              <a:latin typeface="Arial"/>
              <a:cs typeface="Arial"/>
            </a:endParaRPr>
          </a:p>
          <a:p>
            <a:pPr marL="82296" marR="396621">
              <a:spcBef>
                <a:spcPts val="5"/>
              </a:spcBef>
            </a:pPr>
            <a:r>
              <a:rPr b="1" dirty="0">
                <a:solidFill>
                  <a:srgbClr val="2C2C2C"/>
                </a:solidFill>
                <a:latin typeface="Arial"/>
                <a:cs typeface="Arial"/>
              </a:rPr>
              <a:t>Person</a:t>
            </a:r>
            <a:r>
              <a:rPr b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b="1" dirty="0">
                <a:solidFill>
                  <a:srgbClr val="2C2C2C"/>
                </a:solidFill>
                <a:latin typeface="Arial"/>
                <a:cs typeface="Arial"/>
              </a:rPr>
              <a:t>B:</a:t>
            </a:r>
            <a:r>
              <a:rPr b="1" spc="-14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"I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think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real</a:t>
            </a:r>
            <a:r>
              <a:rPr i="1" spc="-14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reason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everyone</a:t>
            </a:r>
            <a:r>
              <a:rPr i="1" spc="-54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likes</a:t>
            </a:r>
            <a:r>
              <a:rPr i="1" spc="-14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it</a:t>
            </a:r>
            <a:r>
              <a:rPr i="1" spc="-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here</a:t>
            </a:r>
            <a:r>
              <a:rPr i="1" spc="-36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is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that</a:t>
            </a:r>
            <a:r>
              <a:rPr i="1" spc="-27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we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allow</a:t>
            </a:r>
            <a:r>
              <a:rPr i="1" spc="-18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dogs</a:t>
            </a:r>
            <a:r>
              <a:rPr i="1" spc="-45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in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dirty="0">
                <a:solidFill>
                  <a:srgbClr val="2C2C2C"/>
                </a:solidFill>
                <a:latin typeface="Arial"/>
                <a:cs typeface="Arial"/>
              </a:rPr>
              <a:t>the</a:t>
            </a:r>
            <a:r>
              <a:rPr i="1" spc="-23" dirty="0">
                <a:solidFill>
                  <a:srgbClr val="2C2C2C"/>
                </a:solidFill>
                <a:latin typeface="Arial"/>
                <a:cs typeface="Arial"/>
              </a:rPr>
              <a:t> </a:t>
            </a:r>
            <a:r>
              <a:rPr i="1" spc="-9" dirty="0">
                <a:solidFill>
                  <a:srgbClr val="2C2C2C"/>
                </a:solidFill>
                <a:latin typeface="Arial"/>
                <a:cs typeface="Arial"/>
              </a:rPr>
              <a:t>office.“</a:t>
            </a:r>
            <a:endParaRPr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334256" y="137160"/>
            <a:ext cx="4558284" cy="5069777"/>
          </a:xfrm>
          <a:custGeom>
            <a:avLst/>
            <a:gdLst/>
            <a:ahLst/>
            <a:cxnLst/>
            <a:rect l="l" t="t" r="r" b="b"/>
            <a:pathLst>
              <a:path w="5064759" h="5633085">
                <a:moveTo>
                  <a:pt x="0" y="5632704"/>
                </a:moveTo>
                <a:lnTo>
                  <a:pt x="5064252" y="5632704"/>
                </a:lnTo>
                <a:lnTo>
                  <a:pt x="5064252" y="0"/>
                </a:lnTo>
                <a:lnTo>
                  <a:pt x="0" y="0"/>
                </a:lnTo>
                <a:lnTo>
                  <a:pt x="0" y="5632704"/>
                </a:lnTo>
                <a:close/>
              </a:path>
            </a:pathLst>
          </a:custGeom>
          <a:ln w="9144">
            <a:solidFill>
              <a:srgbClr val="006FC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5" name="object 5"/>
          <p:cNvSpPr txBox="1"/>
          <p:nvPr/>
        </p:nvSpPr>
        <p:spPr>
          <a:xfrm>
            <a:off x="4405351" y="161391"/>
            <a:ext cx="4410266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Premise</a:t>
            </a:r>
            <a:r>
              <a:rPr sz="1620" spc="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1: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If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street is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wet,</a:t>
            </a:r>
            <a:r>
              <a:rPr sz="1620" spc="36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then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it just 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rained.</a:t>
            </a:r>
            <a:endParaRPr sz="1620"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405351" y="655397"/>
            <a:ext cx="2619756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Premise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2:</a:t>
            </a:r>
            <a:r>
              <a:rPr sz="1620" spc="-36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sz="1620" spc="-27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street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is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wet.</a:t>
            </a:r>
            <a:endParaRPr sz="1620"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05351" y="1149173"/>
            <a:ext cx="2329434" cy="2608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Conclusion: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It</a:t>
            </a:r>
            <a:r>
              <a:rPr sz="1620" spc="-27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just</a:t>
            </a:r>
            <a:r>
              <a:rPr sz="1620" spc="-23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rained.</a:t>
            </a:r>
            <a:endParaRPr sz="1620">
              <a:latin typeface="Microsoft Sans Serif"/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405351" y="1642947"/>
            <a:ext cx="4342829" cy="15073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Here,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premise 1 (“If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street</a:t>
            </a:r>
            <a:r>
              <a:rPr sz="1620" spc="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is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wet,</a:t>
            </a:r>
            <a:r>
              <a:rPr sz="1620" spc="32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then it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just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rained”)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is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false,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since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if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street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is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wet,</a:t>
            </a:r>
            <a:r>
              <a:rPr sz="1620" spc="23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that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doesn’t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necessarily</a:t>
            </a:r>
            <a:r>
              <a:rPr sz="1620" spc="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mean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that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it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just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rained. </a:t>
            </a:r>
            <a:r>
              <a:rPr sz="1620" spc="-23" dirty="0">
                <a:solidFill>
                  <a:srgbClr val="2C2C2C"/>
                </a:solidFill>
                <a:latin typeface="Microsoft Sans Serif"/>
                <a:cs typeface="Microsoft Sans Serif"/>
              </a:rPr>
              <a:t>For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example, it’s</a:t>
            </a:r>
            <a:r>
              <a:rPr sz="1620" spc="-27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possible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that</a:t>
            </a:r>
            <a:r>
              <a:rPr sz="1620" spc="-23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it</a:t>
            </a:r>
            <a:r>
              <a:rPr sz="1620" spc="-32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rained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hours</a:t>
            </a:r>
            <a:r>
              <a:rPr sz="1620" spc="-23" dirty="0">
                <a:solidFill>
                  <a:srgbClr val="2C2C2C"/>
                </a:solidFill>
                <a:latin typeface="Microsoft Sans Serif"/>
                <a:cs typeface="Microsoft Sans Serif"/>
              </a:rPr>
              <a:t> ago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street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didn’t</a:t>
            </a:r>
            <a:r>
              <a:rPr sz="1620" spc="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dry,</a:t>
            </a:r>
            <a:r>
              <a:rPr sz="1620" spc="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or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that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a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fire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hydrant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broke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and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sprayed</a:t>
            </a:r>
            <a:r>
              <a:rPr sz="1620" spc="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water</a:t>
            </a:r>
            <a:r>
              <a:rPr sz="1620" spc="23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everywhere.</a:t>
            </a:r>
            <a:endParaRPr sz="1620">
              <a:latin typeface="Microsoft Sans Serif"/>
              <a:cs typeface="Microsoft Sans Serif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05351" y="3371233"/>
            <a:ext cx="4397693" cy="1756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>
              <a:spcBef>
                <a:spcPts val="90"/>
              </a:spcBef>
            </a:pP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Because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this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argument relies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on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a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false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premise,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it</a:t>
            </a:r>
            <a:r>
              <a:rPr sz="1620" spc="-36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can</a:t>
            </a:r>
            <a:r>
              <a:rPr sz="1620" spc="-27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be</a:t>
            </a:r>
            <a:r>
              <a:rPr sz="1620" spc="-36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considered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logically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unsound. However,</a:t>
            </a:r>
            <a:r>
              <a:rPr sz="1620" spc="27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this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doesn’t mean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that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sz="1620" spc="-23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conclusion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of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the</a:t>
            </a:r>
            <a:r>
              <a:rPr sz="1620" spc="-23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argument</a:t>
            </a:r>
            <a:r>
              <a:rPr sz="1620" spc="-5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is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necessarily false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since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even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fallacious arguments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can</a:t>
            </a:r>
            <a:r>
              <a:rPr sz="1620" spc="-27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have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true</a:t>
            </a:r>
            <a:r>
              <a:rPr sz="1620" spc="-23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conclusions,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which</a:t>
            </a:r>
            <a:r>
              <a:rPr sz="1620" spc="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means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that</a:t>
            </a:r>
            <a:r>
              <a:rPr sz="1620" spc="-23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it’s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possible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that</a:t>
            </a:r>
            <a:r>
              <a:rPr sz="1620" spc="-18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it</a:t>
            </a:r>
            <a:r>
              <a:rPr sz="1620" spc="-23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did</a:t>
            </a:r>
            <a:r>
              <a:rPr sz="1620" spc="-32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indeed </a:t>
            </a:r>
            <a:r>
              <a:rPr sz="1620" dirty="0">
                <a:solidFill>
                  <a:srgbClr val="2C2C2C"/>
                </a:solidFill>
                <a:latin typeface="Microsoft Sans Serif"/>
                <a:cs typeface="Microsoft Sans Serif"/>
              </a:rPr>
              <a:t>just</a:t>
            </a:r>
            <a:r>
              <a:rPr sz="1620" spc="-14" dirty="0">
                <a:solidFill>
                  <a:srgbClr val="2C2C2C"/>
                </a:solidFill>
                <a:latin typeface="Microsoft Sans Serif"/>
                <a:cs typeface="Microsoft Sans Serif"/>
              </a:rPr>
              <a:t> </a:t>
            </a:r>
            <a:r>
              <a:rPr sz="1620" spc="-9" dirty="0">
                <a:solidFill>
                  <a:srgbClr val="2C2C2C"/>
                </a:solidFill>
                <a:latin typeface="Microsoft Sans Serif"/>
                <a:cs typeface="Microsoft Sans Serif"/>
              </a:rPr>
              <a:t>rain.</a:t>
            </a:r>
            <a:endParaRPr sz="1620" dirty="0">
              <a:latin typeface="Microsoft Sans Serif"/>
              <a:cs typeface="Microsoft Sans Serif"/>
            </a:endParaRPr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110244" y="3567186"/>
            <a:ext cx="4052849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Reasoning helps us derive knowledge from what we already know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like Person A.</a:t>
            </a:r>
            <a:b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But it doesn’t always reveal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what people value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like Person B is hinting at.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Sometimes,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reason tells us what works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en-US" sz="1600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but </a:t>
            </a:r>
            <a:r>
              <a:rPr kumimoji="0" lang="en-US" sz="1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emotion and intuition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tell us </a:t>
            </a:r>
            <a:r>
              <a:rPr kumimoji="0" lang="en-US" sz="16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why people care</a:t>
            </a:r>
            <a:r>
              <a:rPr kumimoji="0" 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Reasoning: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22958" y="1779922"/>
            <a:ext cx="7863841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1. Inductive Reasoning (Bottom-Up)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Starts with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specific observations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or data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Forms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general rules or conclusions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Uncertain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but useful for discovering patterns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Every swan I’ve seen is white.</a:t>
            </a:r>
            <a:b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→ Therefore, all swans are probably white.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You observe facts and induce a rule.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tx1"/>
                </a:solidFill>
              </a:rPr>
              <a:t>Often used in science, forecasting, and learning</a:t>
            </a:r>
            <a:r>
              <a:rPr lang="en-US" sz="2400" dirty="0" smtClean="0">
                <a:solidFill>
                  <a:schemeClr val="tx1"/>
                </a:solidFill>
              </a:rPr>
              <a:t>.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999759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90500" y="304800"/>
            <a:ext cx="8991600" cy="56323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2. Deductive Reasoning (Top-Down)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Starts with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general rules or principles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Applies them to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specific cases</a:t>
            </a: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Logically certain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if the premises are true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Example:</a:t>
            </a: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All humans are mortal.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Socrates is a human.</a:t>
            </a:r>
            <a:b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→ Therefore, Socrates is mortal.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You </a:t>
            </a:r>
            <a:r>
              <a:rPr kumimoji="0" lang="en-US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deduce</a:t>
            </a: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a conclusion from what is already accepted as true.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Used in mathematics, formal logic, and philosophy.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dirty="0">
              <a:solidFill>
                <a:schemeClr val="tx1"/>
              </a:solidFill>
            </a:endParaRP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US" b="1" dirty="0">
                <a:solidFill>
                  <a:schemeClr val="tx1"/>
                </a:solidFill>
              </a:rPr>
              <a:t>3. </a:t>
            </a:r>
            <a:r>
              <a:rPr lang="en-US" b="1" dirty="0" err="1">
                <a:solidFill>
                  <a:schemeClr val="tx1"/>
                </a:solidFill>
              </a:rPr>
              <a:t>Abductive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smtClean="0">
                <a:solidFill>
                  <a:schemeClr val="tx1"/>
                </a:solidFill>
              </a:rPr>
              <a:t>Reasoning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b="1" dirty="0">
                <a:solidFill>
                  <a:schemeClr val="tx1"/>
                </a:solidFill>
              </a:rPr>
              <a:t>The best possible explanation.”</a:t>
            </a:r>
            <a:endParaRPr lang="en-US" dirty="0">
              <a:solidFill>
                <a:schemeClr val="tx1"/>
              </a:solidFill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</a:pPr>
            <a:r>
              <a:rPr lang="en-US" b="1" dirty="0" err="1">
                <a:solidFill>
                  <a:schemeClr val="tx1"/>
                </a:solidFill>
              </a:rPr>
              <a:t>Abductive</a:t>
            </a:r>
            <a:r>
              <a:rPr lang="en-US" b="1" dirty="0">
                <a:solidFill>
                  <a:schemeClr val="tx1"/>
                </a:solidFill>
              </a:rPr>
              <a:t> reasoning</a:t>
            </a:r>
            <a:r>
              <a:rPr lang="en-US" dirty="0">
                <a:solidFill>
                  <a:schemeClr val="tx1"/>
                </a:solidFill>
              </a:rPr>
              <a:t> is when you start with an </a:t>
            </a:r>
            <a:r>
              <a:rPr lang="en-US" b="1" dirty="0">
                <a:solidFill>
                  <a:schemeClr val="tx1"/>
                </a:solidFill>
              </a:rPr>
              <a:t>incomplete set of observations</a:t>
            </a:r>
            <a:r>
              <a:rPr lang="en-US" dirty="0">
                <a:solidFill>
                  <a:schemeClr val="tx1"/>
                </a:solidFill>
              </a:rPr>
              <a:t> and come up with the </a:t>
            </a:r>
            <a:r>
              <a:rPr lang="en-US" b="1" dirty="0">
                <a:solidFill>
                  <a:schemeClr val="tx1"/>
                </a:solidFill>
              </a:rPr>
              <a:t>most likely explanation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marL="0" lvl="0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5910355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0664" y="672658"/>
            <a:ext cx="6789420" cy="890967"/>
          </a:xfrm>
          <a:prstGeom prst="rect">
            <a:avLst/>
          </a:prstGeom>
        </p:spPr>
        <p:txBody>
          <a:bodyPr vert="horz" wrap="square" lIns="0" tIns="333710" rIns="0" bIns="0" rtlCol="0" anchor="b">
            <a:spAutoFit/>
          </a:bodyPr>
          <a:lstStyle/>
          <a:p>
            <a:pPr marL="68009">
              <a:lnSpc>
                <a:spcPct val="100000"/>
              </a:lnSpc>
              <a:spcBef>
                <a:spcPts val="86"/>
              </a:spcBef>
            </a:pPr>
            <a:r>
              <a:rPr sz="3600" spc="194" dirty="0">
                <a:solidFill>
                  <a:srgbClr val="FF0000"/>
                </a:solidFill>
                <a:latin typeface="Trebuchet MS"/>
                <a:cs typeface="Trebuchet MS"/>
              </a:rPr>
              <a:t>Inductive</a:t>
            </a:r>
            <a:r>
              <a:rPr sz="3600" spc="261" dirty="0">
                <a:solidFill>
                  <a:srgbClr val="FF0000"/>
                </a:solidFill>
                <a:latin typeface="Trebuchet MS"/>
                <a:cs typeface="Trebuchet MS"/>
              </a:rPr>
              <a:t> </a:t>
            </a:r>
            <a:r>
              <a:rPr sz="3600" spc="180" dirty="0">
                <a:solidFill>
                  <a:srgbClr val="FF0000"/>
                </a:solidFill>
                <a:latin typeface="Trebuchet MS"/>
                <a:cs typeface="Trebuchet MS"/>
              </a:rPr>
              <a:t>reasoning</a:t>
            </a:r>
            <a:endParaRPr sz="36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40664" y="1981200"/>
            <a:ext cx="8108046" cy="4153125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82296" marR="668084" algn="just">
              <a:spcBef>
                <a:spcPts val="86"/>
              </a:spcBef>
            </a:pPr>
            <a:r>
              <a:rPr sz="2400" dirty="0">
                <a:latin typeface="Georgia" panose="02040502050405020303" pitchFamily="18" charset="0"/>
                <a:cs typeface="Calibri"/>
              </a:rPr>
              <a:t>Inductive</a:t>
            </a:r>
            <a:r>
              <a:rPr sz="2400" spc="-23" dirty="0">
                <a:latin typeface="Georgia" panose="02040502050405020303" pitchFamily="18" charset="0"/>
                <a:cs typeface="Calibri"/>
              </a:rPr>
              <a:t> </a:t>
            </a:r>
            <a:r>
              <a:rPr sz="2400" spc="-9" dirty="0">
                <a:latin typeface="Georgia" panose="02040502050405020303" pitchFamily="18" charset="0"/>
                <a:cs typeface="Calibri"/>
              </a:rPr>
              <a:t>reasoning</a:t>
            </a:r>
            <a:r>
              <a:rPr sz="2400" spc="-27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is</a:t>
            </a:r>
            <a:r>
              <a:rPr sz="2400" spc="-50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a</a:t>
            </a:r>
            <a:r>
              <a:rPr sz="2400" spc="-36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type</a:t>
            </a:r>
            <a:r>
              <a:rPr sz="2400" spc="-36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of</a:t>
            </a:r>
            <a:r>
              <a:rPr sz="2400" spc="-45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logical</a:t>
            </a:r>
            <a:r>
              <a:rPr sz="2400" spc="-54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thinking</a:t>
            </a:r>
            <a:r>
              <a:rPr sz="2400" spc="-14" dirty="0">
                <a:latin typeface="Georgia" panose="02040502050405020303" pitchFamily="18" charset="0"/>
                <a:cs typeface="Calibri"/>
              </a:rPr>
              <a:t> </a:t>
            </a:r>
            <a:r>
              <a:rPr sz="2400" spc="-9" dirty="0">
                <a:latin typeface="Georgia" panose="02040502050405020303" pitchFamily="18" charset="0"/>
                <a:cs typeface="Calibri"/>
              </a:rPr>
              <a:t>where </a:t>
            </a:r>
            <a:r>
              <a:rPr sz="2400" dirty="0">
                <a:latin typeface="Georgia" panose="02040502050405020303" pitchFamily="18" charset="0"/>
                <a:cs typeface="Calibri"/>
              </a:rPr>
              <a:t>you</a:t>
            </a:r>
            <a:r>
              <a:rPr sz="2400" spc="-81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draw</a:t>
            </a:r>
            <a:r>
              <a:rPr sz="2400" spc="-72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a</a:t>
            </a:r>
            <a:r>
              <a:rPr sz="2400" spc="-81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general</a:t>
            </a:r>
            <a:r>
              <a:rPr sz="2400" spc="-86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conclusion</a:t>
            </a:r>
            <a:r>
              <a:rPr sz="2400" spc="-59" dirty="0">
                <a:latin typeface="Georgia" panose="02040502050405020303" pitchFamily="18" charset="0"/>
                <a:cs typeface="Calibri"/>
              </a:rPr>
              <a:t> </a:t>
            </a:r>
            <a:r>
              <a:rPr sz="2400" dirty="0">
                <a:latin typeface="Georgia" panose="02040502050405020303" pitchFamily="18" charset="0"/>
                <a:cs typeface="Calibri"/>
              </a:rPr>
              <a:t>from</a:t>
            </a:r>
            <a:r>
              <a:rPr sz="2400" spc="-77" dirty="0">
                <a:latin typeface="Georgia" panose="02040502050405020303" pitchFamily="18" charset="0"/>
                <a:cs typeface="Calibri"/>
              </a:rPr>
              <a:t> </a:t>
            </a:r>
            <a:r>
              <a:rPr sz="2400" spc="-9" dirty="0">
                <a:latin typeface="Georgia" panose="02040502050405020303" pitchFamily="18" charset="0"/>
                <a:cs typeface="Calibri"/>
              </a:rPr>
              <a:t>specific observations.</a:t>
            </a:r>
            <a:endParaRPr sz="2400" dirty="0">
              <a:latin typeface="Georgia" panose="02040502050405020303" pitchFamily="18" charset="0"/>
              <a:cs typeface="Calibri"/>
            </a:endParaRPr>
          </a:p>
          <a:p>
            <a:pPr marL="320040" marR="349758" indent="-308610" algn="just">
              <a:lnSpc>
                <a:spcPct val="125000"/>
              </a:lnSpc>
              <a:spcBef>
                <a:spcPts val="3064"/>
              </a:spcBef>
            </a:pPr>
            <a:r>
              <a:rPr sz="2400" dirty="0">
                <a:latin typeface="Georgia" panose="02040502050405020303" pitchFamily="18" charset="0"/>
                <a:cs typeface="Microsoft Sans Serif"/>
              </a:rPr>
              <a:t>The</a:t>
            </a:r>
            <a:r>
              <a:rPr sz="2400" spc="-23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sun</a:t>
            </a:r>
            <a:r>
              <a:rPr sz="2400" spc="-23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has</a:t>
            </a:r>
            <a:r>
              <a:rPr sz="2400" spc="-36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risen</a:t>
            </a:r>
            <a:r>
              <a:rPr sz="2400" spc="-5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in</a:t>
            </a:r>
            <a:r>
              <a:rPr sz="2400" spc="-23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the</a:t>
            </a:r>
            <a:r>
              <a:rPr sz="2400" spc="-27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east</a:t>
            </a:r>
            <a:r>
              <a:rPr sz="2400" spc="-32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every</a:t>
            </a:r>
            <a:r>
              <a:rPr sz="2400" spc="-54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morning</a:t>
            </a:r>
            <a:r>
              <a:rPr sz="2400" spc="18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up</a:t>
            </a:r>
            <a:r>
              <a:rPr sz="2400" spc="-32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spc="-9" dirty="0">
                <a:latin typeface="Georgia" panose="02040502050405020303" pitchFamily="18" charset="0"/>
                <a:cs typeface="Microsoft Sans Serif"/>
              </a:rPr>
              <a:t>until </a:t>
            </a:r>
            <a:r>
              <a:rPr sz="2400" spc="-23" dirty="0">
                <a:latin typeface="Georgia" panose="02040502050405020303" pitchFamily="18" charset="0"/>
                <a:cs typeface="Microsoft Sans Serif"/>
              </a:rPr>
              <a:t>now</a:t>
            </a:r>
            <a:endParaRPr sz="2400" dirty="0">
              <a:latin typeface="Georgia" panose="02040502050405020303" pitchFamily="18" charset="0"/>
              <a:cs typeface="Microsoft Sans Serif"/>
            </a:endParaRPr>
          </a:p>
          <a:p>
            <a:pPr marL="6560249" algn="just">
              <a:spcBef>
                <a:spcPts val="1737"/>
              </a:spcBef>
            </a:pPr>
            <a:r>
              <a:rPr sz="2400" spc="-9" dirty="0">
                <a:latin typeface="Georgia" panose="02040502050405020303" pitchFamily="18" charset="0"/>
                <a:cs typeface="Microsoft Sans Serif"/>
              </a:rPr>
              <a:t>premise</a:t>
            </a:r>
            <a:endParaRPr sz="2400" dirty="0">
              <a:latin typeface="Georgia" panose="02040502050405020303" pitchFamily="18" charset="0"/>
              <a:cs typeface="Microsoft Sans Serif"/>
            </a:endParaRPr>
          </a:p>
          <a:p>
            <a:pPr marL="320040" marR="2462594" indent="-308610" algn="just">
              <a:lnSpc>
                <a:spcPct val="125099"/>
              </a:lnSpc>
              <a:spcBef>
                <a:spcPts val="1080"/>
              </a:spcBef>
            </a:pPr>
            <a:r>
              <a:rPr sz="2400" dirty="0">
                <a:latin typeface="Georgia" panose="02040502050405020303" pitchFamily="18" charset="0"/>
                <a:cs typeface="Microsoft Sans Serif"/>
              </a:rPr>
              <a:t>Therefore</a:t>
            </a:r>
            <a:r>
              <a:rPr sz="2400" spc="-50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the</a:t>
            </a:r>
            <a:r>
              <a:rPr sz="2400" spc="-27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sun</a:t>
            </a:r>
            <a:r>
              <a:rPr sz="2400" spc="-18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will</a:t>
            </a:r>
            <a:r>
              <a:rPr sz="2400" spc="-23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rise</a:t>
            </a:r>
            <a:r>
              <a:rPr sz="2400" spc="-27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in</a:t>
            </a:r>
            <a:r>
              <a:rPr sz="2400" spc="-18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dirty="0">
                <a:latin typeface="Georgia" panose="02040502050405020303" pitchFamily="18" charset="0"/>
                <a:cs typeface="Microsoft Sans Serif"/>
              </a:rPr>
              <a:t>the</a:t>
            </a:r>
            <a:r>
              <a:rPr sz="2400" spc="-32" dirty="0">
                <a:latin typeface="Georgia" panose="02040502050405020303" pitchFamily="18" charset="0"/>
                <a:cs typeface="Microsoft Sans Serif"/>
              </a:rPr>
              <a:t> </a:t>
            </a:r>
            <a:r>
              <a:rPr sz="2400" spc="-18" dirty="0">
                <a:latin typeface="Georgia" panose="02040502050405020303" pitchFamily="18" charset="0"/>
                <a:cs typeface="Microsoft Sans Serif"/>
              </a:rPr>
              <a:t>east </a:t>
            </a:r>
            <a:r>
              <a:rPr sz="2400" spc="-9" dirty="0">
                <a:latin typeface="Georgia" panose="02040502050405020303" pitchFamily="18" charset="0"/>
                <a:cs typeface="Microsoft Sans Serif"/>
              </a:rPr>
              <a:t>tomorrow.</a:t>
            </a:r>
            <a:endParaRPr sz="2400" dirty="0">
              <a:latin typeface="Georgia" panose="02040502050405020303" pitchFamily="18" charset="0"/>
              <a:cs typeface="Microsoft Sans Serif"/>
            </a:endParaRPr>
          </a:p>
          <a:p>
            <a:pPr marL="6080189" algn="just">
              <a:spcBef>
                <a:spcPts val="1188"/>
              </a:spcBef>
            </a:pPr>
            <a:r>
              <a:rPr sz="2400" spc="-9" dirty="0">
                <a:latin typeface="Georgia" panose="02040502050405020303" pitchFamily="18" charset="0"/>
                <a:cs typeface="Microsoft Sans Serif"/>
              </a:rPr>
              <a:t>conclusion</a:t>
            </a:r>
            <a:endParaRPr sz="2400" dirty="0">
              <a:latin typeface="Georgia" panose="02040502050405020303" pitchFamily="18" charset="0"/>
              <a:cs typeface="Microsoft Sans Serif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89056" y="304524"/>
            <a:ext cx="7510081" cy="398764"/>
          </a:xfrm>
          <a:prstGeom prst="rect">
            <a:avLst/>
          </a:prstGeom>
        </p:spPr>
        <p:txBody>
          <a:bodyPr vert="horz" wrap="square" lIns="0" tIns="10859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86"/>
              </a:spcBef>
              <a:tabLst>
                <a:tab pos="2402015" algn="l"/>
                <a:tab pos="5090922" algn="l"/>
                <a:tab pos="6821996" algn="l"/>
              </a:tabLst>
            </a:pPr>
            <a:r>
              <a:rPr sz="2520" dirty="0">
                <a:solidFill>
                  <a:srgbClr val="000000"/>
                </a:solidFill>
                <a:latin typeface="Microsoft Sans Serif"/>
                <a:cs typeface="Microsoft Sans Serif"/>
              </a:rPr>
              <a:t>I</a:t>
            </a:r>
            <a:r>
              <a:rPr sz="2520" spc="-18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520" dirty="0">
                <a:solidFill>
                  <a:srgbClr val="000000"/>
                </a:solidFill>
                <a:latin typeface="Microsoft Sans Serif"/>
                <a:cs typeface="Microsoft Sans Serif"/>
              </a:rPr>
              <a:t>have</a:t>
            </a:r>
            <a:r>
              <a:rPr sz="2520" spc="-5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520" dirty="0">
                <a:solidFill>
                  <a:srgbClr val="000000"/>
                </a:solidFill>
                <a:latin typeface="Microsoft Sans Serif"/>
                <a:cs typeface="Microsoft Sans Serif"/>
              </a:rPr>
              <a:t>been</a:t>
            </a:r>
            <a:r>
              <a:rPr sz="2520" spc="-32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520" spc="-23" dirty="0">
                <a:solidFill>
                  <a:srgbClr val="000000"/>
                </a:solidFill>
                <a:latin typeface="Microsoft Sans Serif"/>
                <a:cs typeface="Microsoft Sans Serif"/>
              </a:rPr>
              <a:t>fed</a:t>
            </a:r>
            <a:r>
              <a:rPr sz="2520" dirty="0">
                <a:solidFill>
                  <a:srgbClr val="000000"/>
                </a:solidFill>
                <a:latin typeface="Microsoft Sans Serif"/>
                <a:cs typeface="Microsoft Sans Serif"/>
              </a:rPr>
              <a:t>	every</a:t>
            </a:r>
            <a:r>
              <a:rPr sz="2520" spc="-9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520" dirty="0">
                <a:solidFill>
                  <a:srgbClr val="000000"/>
                </a:solidFill>
                <a:latin typeface="Microsoft Sans Serif"/>
                <a:cs typeface="Microsoft Sans Serif"/>
              </a:rPr>
              <a:t>day</a:t>
            </a:r>
            <a:r>
              <a:rPr sz="2520" spc="-14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520" dirty="0">
                <a:solidFill>
                  <a:srgbClr val="000000"/>
                </a:solidFill>
                <a:latin typeface="Microsoft Sans Serif"/>
                <a:cs typeface="Microsoft Sans Serif"/>
              </a:rPr>
              <a:t>up </a:t>
            </a:r>
            <a:r>
              <a:rPr sz="2520" spc="-9" dirty="0">
                <a:solidFill>
                  <a:srgbClr val="000000"/>
                </a:solidFill>
                <a:latin typeface="Microsoft Sans Serif"/>
                <a:cs typeface="Microsoft Sans Serif"/>
              </a:rPr>
              <a:t>until</a:t>
            </a:r>
            <a:r>
              <a:rPr sz="2520" dirty="0">
                <a:solidFill>
                  <a:srgbClr val="000000"/>
                </a:solidFill>
                <a:latin typeface="Microsoft Sans Serif"/>
                <a:cs typeface="Microsoft Sans Serif"/>
              </a:rPr>
              <a:t>	today</a:t>
            </a:r>
            <a:r>
              <a:rPr sz="2520" spc="-41" dirty="0">
                <a:solidFill>
                  <a:srgbClr val="000000"/>
                </a:solidFill>
                <a:latin typeface="Microsoft Sans Serif"/>
                <a:cs typeface="Microsoft Sans Serif"/>
              </a:rPr>
              <a:t> </a:t>
            </a:r>
            <a:r>
              <a:rPr sz="2520" spc="-23" dirty="0">
                <a:solidFill>
                  <a:srgbClr val="000000"/>
                </a:solidFill>
                <a:latin typeface="Microsoft Sans Serif"/>
                <a:cs typeface="Microsoft Sans Serif"/>
              </a:rPr>
              <a:t>(21</a:t>
            </a:r>
            <a:r>
              <a:rPr sz="2520" dirty="0">
                <a:solidFill>
                  <a:srgbClr val="000000"/>
                </a:solidFill>
                <a:latin typeface="Microsoft Sans Serif"/>
                <a:cs typeface="Microsoft Sans Serif"/>
              </a:rPr>
              <a:t>	</a:t>
            </a:r>
            <a:r>
              <a:rPr sz="2520" spc="-18" dirty="0">
                <a:solidFill>
                  <a:srgbClr val="000000"/>
                </a:solidFill>
                <a:latin typeface="Microsoft Sans Serif"/>
                <a:cs typeface="Microsoft Sans Serif"/>
              </a:rPr>
              <a:t>Aug)</a:t>
            </a:r>
            <a:endParaRPr sz="2520" dirty="0">
              <a:latin typeface="Microsoft Sans Serif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65456" y="646406"/>
            <a:ext cx="1831085" cy="152567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137732" indent="536067">
              <a:lnSpc>
                <a:spcPct val="132200"/>
              </a:lnSpc>
              <a:spcBef>
                <a:spcPts val="90"/>
              </a:spcBef>
            </a:pPr>
            <a:r>
              <a:rPr sz="2520" spc="-18" dirty="0">
                <a:latin typeface="Microsoft Sans Serif"/>
                <a:cs typeface="Microsoft Sans Serif"/>
              </a:rPr>
              <a:t>premise Aug)</a:t>
            </a:r>
            <a:endParaRPr sz="2520" dirty="0">
              <a:latin typeface="Microsoft Sans Serif"/>
              <a:cs typeface="Microsoft Sans Serif"/>
            </a:endParaRPr>
          </a:p>
          <a:p>
            <a:pPr marL="306324">
              <a:spcBef>
                <a:spcPts val="792"/>
              </a:spcBef>
            </a:pPr>
            <a:r>
              <a:rPr sz="2520" spc="-9" dirty="0">
                <a:latin typeface="Microsoft Sans Serif"/>
                <a:cs typeface="Microsoft Sans Serif"/>
              </a:rPr>
              <a:t>conclusion</a:t>
            </a:r>
            <a:endParaRPr sz="2520" dirty="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80827" y="1278674"/>
            <a:ext cx="5170932" cy="398764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  <a:tabLst>
                <a:tab pos="4694301" algn="l"/>
              </a:tabLst>
            </a:pPr>
            <a:r>
              <a:rPr sz="2520" dirty="0">
                <a:latin typeface="Microsoft Sans Serif"/>
                <a:cs typeface="Microsoft Sans Serif"/>
              </a:rPr>
              <a:t>Therefore</a:t>
            </a:r>
            <a:r>
              <a:rPr sz="2520" spc="-9" dirty="0">
                <a:latin typeface="Microsoft Sans Serif"/>
                <a:cs typeface="Microsoft Sans Serif"/>
              </a:rPr>
              <a:t> </a:t>
            </a:r>
            <a:r>
              <a:rPr sz="2520" dirty="0">
                <a:latin typeface="Microsoft Sans Serif"/>
                <a:cs typeface="Microsoft Sans Serif"/>
              </a:rPr>
              <a:t>I</a:t>
            </a:r>
            <a:r>
              <a:rPr sz="2520" spc="-18" dirty="0">
                <a:latin typeface="Microsoft Sans Serif"/>
                <a:cs typeface="Microsoft Sans Serif"/>
              </a:rPr>
              <a:t> </a:t>
            </a:r>
            <a:r>
              <a:rPr sz="2520" dirty="0">
                <a:latin typeface="Microsoft Sans Serif"/>
                <a:cs typeface="Microsoft Sans Serif"/>
              </a:rPr>
              <a:t>will be</a:t>
            </a:r>
            <a:r>
              <a:rPr sz="2520" spc="-5" dirty="0">
                <a:latin typeface="Microsoft Sans Serif"/>
                <a:cs typeface="Microsoft Sans Serif"/>
              </a:rPr>
              <a:t> </a:t>
            </a:r>
            <a:r>
              <a:rPr sz="2520" dirty="0">
                <a:latin typeface="Microsoft Sans Serif"/>
                <a:cs typeface="Microsoft Sans Serif"/>
              </a:rPr>
              <a:t>fed</a:t>
            </a:r>
            <a:r>
              <a:rPr sz="2520" spc="-23" dirty="0">
                <a:latin typeface="Microsoft Sans Serif"/>
                <a:cs typeface="Microsoft Sans Serif"/>
              </a:rPr>
              <a:t> </a:t>
            </a:r>
            <a:r>
              <a:rPr sz="2520" spc="-9" dirty="0">
                <a:latin typeface="Microsoft Sans Serif"/>
                <a:cs typeface="Microsoft Sans Serif"/>
              </a:rPr>
              <a:t>tomorrow</a:t>
            </a:r>
            <a:r>
              <a:rPr sz="2520" dirty="0">
                <a:latin typeface="Microsoft Sans Serif"/>
                <a:cs typeface="Microsoft Sans Serif"/>
              </a:rPr>
              <a:t>	</a:t>
            </a:r>
            <a:r>
              <a:rPr sz="2520" spc="-23" dirty="0">
                <a:latin typeface="Microsoft Sans Serif"/>
                <a:cs typeface="Microsoft Sans Serif"/>
              </a:rPr>
              <a:t>(22</a:t>
            </a:r>
            <a:endParaRPr sz="2520" dirty="0"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44067" y="2157596"/>
            <a:ext cx="7107746" cy="1725793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</a:pPr>
            <a:r>
              <a:rPr sz="2520" spc="-54" dirty="0">
                <a:solidFill>
                  <a:srgbClr val="FF0000"/>
                </a:solidFill>
                <a:latin typeface="Calibri"/>
                <a:cs typeface="Calibri"/>
              </a:rPr>
              <a:t>Conclusion</a:t>
            </a:r>
            <a:r>
              <a:rPr sz="2520" spc="-77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27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520" spc="-10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54" dirty="0">
                <a:solidFill>
                  <a:srgbClr val="FF0000"/>
                </a:solidFill>
                <a:latin typeface="Calibri"/>
                <a:cs typeface="Calibri"/>
              </a:rPr>
              <a:t>that</a:t>
            </a:r>
            <a:r>
              <a:rPr sz="252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50" dirty="0">
                <a:solidFill>
                  <a:srgbClr val="FF0000"/>
                </a:solidFill>
                <a:latin typeface="Calibri"/>
                <a:cs typeface="Calibri"/>
              </a:rPr>
              <a:t>this</a:t>
            </a:r>
            <a:r>
              <a:rPr sz="2520" spc="-8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27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520" spc="-10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59" dirty="0">
                <a:solidFill>
                  <a:srgbClr val="FF0000"/>
                </a:solidFill>
                <a:latin typeface="Calibri"/>
                <a:cs typeface="Calibri"/>
              </a:rPr>
              <a:t>probably</a:t>
            </a:r>
            <a:r>
              <a:rPr sz="2520" spc="-68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45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520" spc="-9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59" dirty="0">
                <a:solidFill>
                  <a:srgbClr val="FF0000"/>
                </a:solidFill>
                <a:latin typeface="Calibri"/>
                <a:cs typeface="Calibri"/>
              </a:rPr>
              <a:t>case,</a:t>
            </a:r>
            <a:r>
              <a:rPr sz="2520" spc="-8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54" dirty="0">
                <a:solidFill>
                  <a:srgbClr val="FF0000"/>
                </a:solidFill>
                <a:latin typeface="Calibri"/>
                <a:cs typeface="Calibri"/>
              </a:rPr>
              <a:t>based</a:t>
            </a:r>
            <a:r>
              <a:rPr sz="2520" spc="-8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9" dirty="0">
                <a:solidFill>
                  <a:srgbClr val="FF0000"/>
                </a:solidFill>
                <a:latin typeface="Calibri"/>
                <a:cs typeface="Calibri"/>
              </a:rPr>
              <a:t>on</a:t>
            </a:r>
            <a:r>
              <a:rPr sz="2520" spc="-99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18" dirty="0">
                <a:solidFill>
                  <a:srgbClr val="FF0000"/>
                </a:solidFill>
                <a:latin typeface="Calibri"/>
                <a:cs typeface="Calibri"/>
              </a:rPr>
              <a:t>past</a:t>
            </a:r>
            <a:endParaRPr sz="2520" dirty="0">
              <a:latin typeface="Calibri"/>
              <a:cs typeface="Calibri"/>
            </a:endParaRPr>
          </a:p>
          <a:p>
            <a:pPr marL="11430">
              <a:spcBef>
                <a:spcPts val="2111"/>
              </a:spcBef>
            </a:pPr>
            <a:r>
              <a:rPr sz="2520" spc="-9" dirty="0">
                <a:solidFill>
                  <a:srgbClr val="FF0000"/>
                </a:solidFill>
                <a:latin typeface="Calibri"/>
                <a:cs typeface="Calibri"/>
              </a:rPr>
              <a:t>experience</a:t>
            </a:r>
            <a:endParaRPr sz="2520" dirty="0">
              <a:latin typeface="Calibri"/>
              <a:cs typeface="Calibri"/>
            </a:endParaRPr>
          </a:p>
          <a:p>
            <a:pPr marL="78296">
              <a:spcBef>
                <a:spcPts val="2205"/>
              </a:spcBef>
            </a:pPr>
            <a:r>
              <a:rPr sz="252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sz="2520" spc="-11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sz="2520" spc="-10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dirty="0">
                <a:solidFill>
                  <a:srgbClr val="FF0000"/>
                </a:solidFill>
                <a:latin typeface="Calibri"/>
                <a:cs typeface="Calibri"/>
              </a:rPr>
              <a:t>.</a:t>
            </a:r>
            <a:r>
              <a:rPr sz="252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59" dirty="0">
                <a:solidFill>
                  <a:srgbClr val="FF0000"/>
                </a:solidFill>
                <a:latin typeface="Calibri"/>
                <a:cs typeface="Calibri"/>
              </a:rPr>
              <a:t>even</a:t>
            </a:r>
            <a:r>
              <a:rPr sz="2520" spc="-9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27" dirty="0">
                <a:solidFill>
                  <a:srgbClr val="FF0000"/>
                </a:solidFill>
                <a:latin typeface="Calibri"/>
                <a:cs typeface="Calibri"/>
              </a:rPr>
              <a:t>if</a:t>
            </a:r>
            <a:r>
              <a:rPr sz="2520" spc="-10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41" dirty="0">
                <a:solidFill>
                  <a:srgbClr val="FF0000"/>
                </a:solidFill>
                <a:latin typeface="Calibri"/>
                <a:cs typeface="Calibri"/>
              </a:rPr>
              <a:t>the</a:t>
            </a:r>
            <a:r>
              <a:rPr sz="2520" spc="-86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68" dirty="0">
                <a:solidFill>
                  <a:srgbClr val="FF0000"/>
                </a:solidFill>
                <a:latin typeface="Calibri"/>
                <a:cs typeface="Calibri"/>
              </a:rPr>
              <a:t>premise </a:t>
            </a:r>
            <a:r>
              <a:rPr sz="2520" spc="-18" dirty="0">
                <a:solidFill>
                  <a:srgbClr val="FF0000"/>
                </a:solidFill>
                <a:latin typeface="Calibri"/>
                <a:cs typeface="Calibri"/>
              </a:rPr>
              <a:t>is</a:t>
            </a:r>
            <a:r>
              <a:rPr sz="2520" spc="-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50" dirty="0">
                <a:solidFill>
                  <a:srgbClr val="FF0000"/>
                </a:solidFill>
                <a:latin typeface="Calibri"/>
                <a:cs typeface="Calibri"/>
              </a:rPr>
              <a:t>100%</a:t>
            </a:r>
            <a:r>
              <a:rPr sz="2520" spc="-63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520" spc="-9" dirty="0">
                <a:solidFill>
                  <a:srgbClr val="FF0000"/>
                </a:solidFill>
                <a:latin typeface="Calibri"/>
                <a:cs typeface="Calibri"/>
              </a:rPr>
              <a:t>factual.</a:t>
            </a:r>
            <a:endParaRPr sz="252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7162" y="4077767"/>
            <a:ext cx="4288993" cy="219593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322417" y="4543082"/>
            <a:ext cx="3012948" cy="150733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 algn="just">
              <a:spcBef>
                <a:spcPts val="90"/>
              </a:spcBef>
            </a:pP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Inductive</a:t>
            </a:r>
            <a:r>
              <a:rPr sz="1620" spc="59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reasoning</a:t>
            </a:r>
            <a:r>
              <a:rPr sz="1620" spc="59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is</a:t>
            </a:r>
            <a:r>
              <a:rPr sz="1620" spc="59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still</a:t>
            </a:r>
            <a:r>
              <a:rPr sz="1620" spc="5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1620" spc="59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spc="-9" dirty="0">
                <a:solidFill>
                  <a:srgbClr val="006FC0"/>
                </a:solidFill>
                <a:latin typeface="Calibri"/>
                <a:cs typeface="Calibri"/>
              </a:rPr>
              <a:t>helpful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form</a:t>
            </a:r>
            <a:r>
              <a:rPr sz="1620" spc="126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of</a:t>
            </a:r>
            <a:r>
              <a:rPr sz="1620" spc="131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logical</a:t>
            </a:r>
            <a:r>
              <a:rPr sz="1620" spc="131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thinking</a:t>
            </a:r>
            <a:r>
              <a:rPr sz="1620" spc="13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620" spc="-9" dirty="0">
                <a:solidFill>
                  <a:srgbClr val="006FC0"/>
                </a:solidFill>
                <a:latin typeface="Calibri"/>
                <a:cs typeface="Calibri"/>
              </a:rPr>
              <a:t>because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you</a:t>
            </a:r>
            <a:r>
              <a:rPr sz="1620" spc="243" dirty="0">
                <a:solidFill>
                  <a:srgbClr val="006FC0"/>
                </a:solidFill>
                <a:latin typeface="Calibri"/>
                <a:cs typeface="Calibri"/>
              </a:rPr>
              <a:t>  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arrive</a:t>
            </a:r>
            <a:r>
              <a:rPr sz="1620" spc="252" dirty="0">
                <a:solidFill>
                  <a:srgbClr val="006FC0"/>
                </a:solidFill>
                <a:latin typeface="Calibri"/>
                <a:cs typeface="Calibri"/>
              </a:rPr>
              <a:t>  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at</a:t>
            </a:r>
            <a:r>
              <a:rPr sz="1620" spc="252" dirty="0">
                <a:solidFill>
                  <a:srgbClr val="006FC0"/>
                </a:solidFill>
                <a:latin typeface="Calibri"/>
                <a:cs typeface="Calibri"/>
              </a:rPr>
              <a:t>  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potential</a:t>
            </a:r>
            <a:r>
              <a:rPr sz="1620" spc="257" dirty="0">
                <a:solidFill>
                  <a:srgbClr val="006FC0"/>
                </a:solidFill>
                <a:latin typeface="Calibri"/>
                <a:cs typeface="Calibri"/>
              </a:rPr>
              <a:t>   </a:t>
            </a:r>
            <a:r>
              <a:rPr sz="1620" spc="-23" dirty="0">
                <a:solidFill>
                  <a:srgbClr val="006FC0"/>
                </a:solidFill>
                <a:latin typeface="Calibri"/>
                <a:cs typeface="Calibri"/>
              </a:rPr>
              <a:t>and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probable</a:t>
            </a:r>
            <a:r>
              <a:rPr sz="1620" spc="4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solutions.</a:t>
            </a:r>
            <a:r>
              <a:rPr sz="1620" spc="41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spc="-9" dirty="0">
                <a:solidFill>
                  <a:srgbClr val="006FC0"/>
                </a:solidFill>
                <a:latin typeface="Calibri"/>
                <a:cs typeface="Calibri"/>
              </a:rPr>
              <a:t>However,</a:t>
            </a:r>
            <a:r>
              <a:rPr sz="1620" spc="36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spc="-9" dirty="0">
                <a:solidFill>
                  <a:srgbClr val="006FC0"/>
                </a:solidFill>
                <a:latin typeface="Calibri"/>
                <a:cs typeface="Calibri"/>
              </a:rPr>
              <a:t>you’ll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need</a:t>
            </a:r>
            <a:r>
              <a:rPr sz="1620" spc="41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to</a:t>
            </a:r>
            <a:r>
              <a:rPr sz="1620" spc="36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test</a:t>
            </a:r>
            <a:r>
              <a:rPr sz="1620" spc="41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your</a:t>
            </a:r>
            <a:r>
              <a:rPr sz="1620" spc="446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conclusions</a:t>
            </a:r>
            <a:r>
              <a:rPr sz="1620" spc="45" dirty="0">
                <a:solidFill>
                  <a:srgbClr val="006FC0"/>
                </a:solidFill>
                <a:latin typeface="Calibri"/>
                <a:cs typeface="Calibri"/>
              </a:rPr>
              <a:t>  </a:t>
            </a:r>
            <a:r>
              <a:rPr sz="1620" spc="-23" dirty="0">
                <a:solidFill>
                  <a:srgbClr val="006FC0"/>
                </a:solidFill>
                <a:latin typeface="Calibri"/>
                <a:cs typeface="Calibri"/>
              </a:rPr>
              <a:t>to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know</a:t>
            </a:r>
            <a:r>
              <a:rPr sz="1620" spc="-32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if</a:t>
            </a:r>
            <a:r>
              <a:rPr sz="1620" spc="-23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dirty="0">
                <a:solidFill>
                  <a:srgbClr val="006FC0"/>
                </a:solidFill>
                <a:latin typeface="Calibri"/>
                <a:cs typeface="Calibri"/>
              </a:rPr>
              <a:t>they’re</a:t>
            </a:r>
            <a:r>
              <a:rPr sz="1620" spc="-32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1620" spc="-9" dirty="0">
                <a:solidFill>
                  <a:srgbClr val="006FC0"/>
                </a:solidFill>
                <a:latin typeface="Calibri"/>
                <a:cs typeface="Calibri"/>
              </a:rPr>
              <a:t>right.</a:t>
            </a:r>
            <a:endParaRPr sz="162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22959" y="2788264"/>
            <a:ext cx="7330441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Deductive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If it rained, the ground would be wet. It rained. Therefore, the ground is wet. ✅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Inductive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It has rained the last 5 mornings. So it will probably rain tomorrow. 🌧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Abductive</a:t>
            </a: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The ground is wet → The most likely reason is that it rained.</a:t>
            </a:r>
          </a:p>
        </p:txBody>
      </p:sp>
    </p:spTree>
    <p:extLst>
      <p:ext uri="{BB962C8B-B14F-4D97-AF65-F5344CB8AC3E}">
        <p14:creationId xmlns:p14="http://schemas.microsoft.com/office/powerpoint/2010/main" val="165697206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4097960"/>
              </p:ext>
            </p:extLst>
          </p:nvPr>
        </p:nvGraphicFramePr>
        <p:xfrm>
          <a:off x="822325" y="2714625"/>
          <a:ext cx="7543800" cy="2286000"/>
        </p:xfrm>
        <a:graphic>
          <a:graphicData uri="http://schemas.openxmlformats.org/drawingml/2006/table">
            <a:tbl>
              <a:tblPr/>
              <a:tblGrid>
                <a:gridCol w="1885950"/>
                <a:gridCol w="1885950"/>
                <a:gridCol w="1885950"/>
                <a:gridCol w="1885950"/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Type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Based 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Leads To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Certainty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Deductive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General rules → Specific case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Definitive conclusion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Inductive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Specific cases → General rule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Probable generalization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Medium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Abductive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Observations → Best explanation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Most plausible cause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Low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4483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57341" y="1066800"/>
            <a:ext cx="4857659" cy="444737"/>
          </a:xfrm>
          <a:prstGeom prst="rect">
            <a:avLst/>
          </a:prstGeom>
        </p:spPr>
        <p:txBody>
          <a:bodyPr vert="horz" wrap="square" lIns="0" tIns="13716" rIns="0" bIns="0" rtlCol="0">
            <a:spAutoFit/>
          </a:bodyPr>
          <a:lstStyle/>
          <a:p>
            <a:pPr marL="11430">
              <a:spcBef>
                <a:spcPts val="108"/>
              </a:spcBef>
            </a:pPr>
            <a:r>
              <a:rPr sz="2800" b="1" dirty="0">
                <a:solidFill>
                  <a:srgbClr val="00CC00"/>
                </a:solidFill>
                <a:latin typeface="+mj-lt"/>
                <a:cs typeface="Calibri"/>
              </a:rPr>
              <a:t>Some more</a:t>
            </a:r>
            <a:r>
              <a:rPr sz="2800" b="1" spc="-5" dirty="0">
                <a:solidFill>
                  <a:srgbClr val="00CC00"/>
                </a:solidFill>
                <a:latin typeface="+mj-lt"/>
                <a:cs typeface="Calibri"/>
              </a:rPr>
              <a:t> </a:t>
            </a:r>
            <a:r>
              <a:rPr sz="2800" b="1" spc="-9" dirty="0">
                <a:solidFill>
                  <a:srgbClr val="00CC00"/>
                </a:solidFill>
                <a:latin typeface="+mj-lt"/>
                <a:cs typeface="Calibri"/>
              </a:rPr>
              <a:t>examples</a:t>
            </a:r>
            <a:endParaRPr sz="2800" dirty="0">
              <a:latin typeface="+mj-lt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1981200"/>
            <a:ext cx="8058059" cy="2111284"/>
          </a:xfrm>
          <a:prstGeom prst="rect">
            <a:avLst/>
          </a:prstGeom>
        </p:spPr>
        <p:txBody>
          <a:bodyPr vert="horz" wrap="square" lIns="0" tIns="58865" rIns="0" bIns="0" rtlCol="0">
            <a:spAutoFit/>
          </a:bodyPr>
          <a:lstStyle/>
          <a:p>
            <a:pPr marL="10858" marR="234887" algn="just">
              <a:lnSpc>
                <a:spcPts val="3015"/>
              </a:lnSpc>
              <a:spcBef>
                <a:spcPts val="464"/>
              </a:spcBef>
              <a:buClr>
                <a:srgbClr val="E38312"/>
              </a:buClr>
              <a:tabLst>
                <a:tab pos="491490" algn="l"/>
                <a:tab pos="1732788" algn="l"/>
              </a:tabLst>
            </a:pPr>
            <a:r>
              <a:rPr lang="en-US" sz="2000" spc="-23" dirty="0">
                <a:solidFill>
                  <a:srgbClr val="E38312"/>
                </a:solidFill>
                <a:latin typeface="+mj-lt"/>
                <a:cs typeface="Calibri"/>
              </a:rPr>
              <a:t>1)</a:t>
            </a:r>
            <a:r>
              <a:rPr lang="en-US" sz="2000" dirty="0">
                <a:solidFill>
                  <a:srgbClr val="E38312"/>
                </a:solidFill>
                <a:latin typeface="+mj-lt"/>
                <a:cs typeface="Calibri"/>
              </a:rPr>
              <a:t>	</a:t>
            </a:r>
            <a:r>
              <a:rPr lang="en-US" sz="2000" dirty="0">
                <a:latin typeface="+mj-lt"/>
                <a:cs typeface="Calibri"/>
              </a:rPr>
              <a:t>Every</a:t>
            </a:r>
            <a:r>
              <a:rPr lang="en-US" sz="2000" spc="-54" dirty="0">
                <a:latin typeface="+mj-lt"/>
                <a:cs typeface="Calibri"/>
              </a:rPr>
              <a:t> </a:t>
            </a:r>
            <a:r>
              <a:rPr lang="en-US" sz="2000" dirty="0">
                <a:latin typeface="+mj-lt"/>
                <a:cs typeface="Calibri"/>
              </a:rPr>
              <a:t>quiz</a:t>
            </a:r>
            <a:r>
              <a:rPr lang="en-US" sz="2000" spc="-54" dirty="0">
                <a:latin typeface="+mj-lt"/>
                <a:cs typeface="Calibri"/>
              </a:rPr>
              <a:t> </a:t>
            </a:r>
            <a:r>
              <a:rPr lang="en-US" sz="2000" dirty="0">
                <a:latin typeface="+mj-lt"/>
                <a:cs typeface="Calibri"/>
              </a:rPr>
              <a:t>has</a:t>
            </a:r>
            <a:r>
              <a:rPr lang="en-US" sz="2000" spc="-72" dirty="0">
                <a:latin typeface="+mj-lt"/>
                <a:cs typeface="Calibri"/>
              </a:rPr>
              <a:t> </a:t>
            </a:r>
            <a:r>
              <a:rPr lang="en-US" sz="2000" dirty="0">
                <a:latin typeface="+mj-lt"/>
                <a:cs typeface="Calibri"/>
              </a:rPr>
              <a:t>been</a:t>
            </a:r>
            <a:r>
              <a:rPr lang="en-US" sz="2000" spc="-54" dirty="0">
                <a:latin typeface="+mj-lt"/>
                <a:cs typeface="Calibri"/>
              </a:rPr>
              <a:t> </a:t>
            </a:r>
            <a:r>
              <a:rPr lang="en-US" sz="2000" spc="-9" dirty="0">
                <a:latin typeface="+mj-lt"/>
                <a:cs typeface="Calibri"/>
              </a:rPr>
              <a:t>easy.</a:t>
            </a:r>
            <a:r>
              <a:rPr lang="en-US" sz="2000" dirty="0">
                <a:latin typeface="+mj-lt"/>
                <a:cs typeface="Calibri"/>
              </a:rPr>
              <a:t>	</a:t>
            </a:r>
            <a:r>
              <a:rPr lang="en-US" sz="2000" spc="-18" dirty="0">
                <a:latin typeface="+mj-lt"/>
                <a:cs typeface="Calibri"/>
              </a:rPr>
              <a:t>Therefore,</a:t>
            </a:r>
            <a:r>
              <a:rPr lang="en-US" sz="2000" spc="-45" dirty="0">
                <a:latin typeface="+mj-lt"/>
                <a:cs typeface="Calibri"/>
              </a:rPr>
              <a:t> </a:t>
            </a:r>
            <a:r>
              <a:rPr lang="en-US" sz="2000" dirty="0">
                <a:latin typeface="+mj-lt"/>
                <a:cs typeface="Calibri"/>
              </a:rPr>
              <a:t>the</a:t>
            </a:r>
            <a:r>
              <a:rPr lang="en-US" sz="2000" spc="-18" dirty="0">
                <a:latin typeface="+mj-lt"/>
                <a:cs typeface="Calibri"/>
              </a:rPr>
              <a:t> test </a:t>
            </a:r>
            <a:r>
              <a:rPr lang="en-US" sz="2000" dirty="0">
                <a:latin typeface="+mj-lt"/>
                <a:cs typeface="Calibri"/>
              </a:rPr>
              <a:t>will</a:t>
            </a:r>
            <a:r>
              <a:rPr lang="en-US" sz="2000" spc="-9" dirty="0">
                <a:latin typeface="+mj-lt"/>
                <a:cs typeface="Calibri"/>
              </a:rPr>
              <a:t> </a:t>
            </a:r>
            <a:r>
              <a:rPr lang="en-US" sz="2000" dirty="0">
                <a:latin typeface="+mj-lt"/>
                <a:cs typeface="Calibri"/>
              </a:rPr>
              <a:t>be</a:t>
            </a:r>
            <a:r>
              <a:rPr lang="en-US" sz="2000" spc="-14" dirty="0">
                <a:latin typeface="+mj-lt"/>
                <a:cs typeface="Calibri"/>
              </a:rPr>
              <a:t> </a:t>
            </a:r>
            <a:r>
              <a:rPr lang="en-US" sz="2000" spc="-18" dirty="0">
                <a:latin typeface="+mj-lt"/>
                <a:cs typeface="Calibri"/>
              </a:rPr>
              <a:t>easy.</a:t>
            </a:r>
            <a:endParaRPr lang="en-IN" sz="2000" dirty="0" smtClean="0">
              <a:solidFill>
                <a:srgbClr val="0033CC"/>
              </a:solidFill>
              <a:latin typeface="+mj-lt"/>
              <a:cs typeface="Calibri"/>
            </a:endParaRPr>
          </a:p>
          <a:p>
            <a:pPr marL="491490" marR="234887" indent="-480632" algn="just">
              <a:lnSpc>
                <a:spcPts val="3015"/>
              </a:lnSpc>
              <a:spcBef>
                <a:spcPts val="464"/>
              </a:spcBef>
              <a:buClr>
                <a:srgbClr val="E38312"/>
              </a:buClr>
              <a:buAutoNum type="arabicParenR" startAt="2"/>
              <a:tabLst>
                <a:tab pos="491490" algn="l"/>
                <a:tab pos="1732788" algn="l"/>
              </a:tabLst>
            </a:pPr>
            <a:r>
              <a:rPr sz="2000" dirty="0" smtClean="0">
                <a:solidFill>
                  <a:srgbClr val="0033CC"/>
                </a:solidFill>
                <a:latin typeface="+mj-lt"/>
                <a:cs typeface="Calibri"/>
              </a:rPr>
              <a:t>The</a:t>
            </a:r>
            <a:r>
              <a:rPr sz="2000" spc="-50" dirty="0" smtClean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+mj-lt"/>
                <a:cs typeface="Calibri"/>
              </a:rPr>
              <a:t>teacher</a:t>
            </a:r>
            <a:r>
              <a:rPr sz="2000" spc="-41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+mj-lt"/>
                <a:cs typeface="Calibri"/>
              </a:rPr>
              <a:t>used</a:t>
            </a:r>
            <a:r>
              <a:rPr sz="2000" spc="-54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spc="-18" dirty="0">
                <a:solidFill>
                  <a:srgbClr val="0033CC"/>
                </a:solidFill>
                <a:latin typeface="+mj-lt"/>
                <a:cs typeface="Calibri"/>
              </a:rPr>
              <a:t>PowerPoint</a:t>
            </a:r>
            <a:r>
              <a:rPr sz="2000" spc="-41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+mj-lt"/>
                <a:cs typeface="Calibri"/>
              </a:rPr>
              <a:t>in</a:t>
            </a:r>
            <a:r>
              <a:rPr sz="2000" spc="-45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+mj-lt"/>
                <a:cs typeface="Calibri"/>
              </a:rPr>
              <a:t>the</a:t>
            </a:r>
            <a:r>
              <a:rPr sz="2000" spc="-41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+mj-lt"/>
                <a:cs typeface="Calibri"/>
              </a:rPr>
              <a:t>last</a:t>
            </a:r>
            <a:r>
              <a:rPr sz="2000" spc="-45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spc="-23" dirty="0">
                <a:solidFill>
                  <a:srgbClr val="0033CC"/>
                </a:solidFill>
                <a:latin typeface="+mj-lt"/>
                <a:cs typeface="Calibri"/>
              </a:rPr>
              <a:t>few </a:t>
            </a:r>
            <a:r>
              <a:rPr sz="2000" spc="-9" dirty="0">
                <a:solidFill>
                  <a:srgbClr val="0033CC"/>
                </a:solidFill>
                <a:latin typeface="+mj-lt"/>
                <a:cs typeface="Calibri"/>
              </a:rPr>
              <a:t>classes.</a:t>
            </a:r>
            <a:r>
              <a:rPr sz="2000" dirty="0">
                <a:solidFill>
                  <a:srgbClr val="0033CC"/>
                </a:solidFill>
                <a:latin typeface="+mj-lt"/>
                <a:cs typeface="Calibri"/>
              </a:rPr>
              <a:t>	</a:t>
            </a:r>
            <a:r>
              <a:rPr sz="2000" spc="-9" dirty="0">
                <a:solidFill>
                  <a:srgbClr val="0033CC"/>
                </a:solidFill>
                <a:latin typeface="+mj-lt"/>
                <a:cs typeface="Calibri"/>
              </a:rPr>
              <a:t>Therefore,</a:t>
            </a:r>
            <a:r>
              <a:rPr sz="2000" spc="-72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+mj-lt"/>
                <a:cs typeface="Calibri"/>
              </a:rPr>
              <a:t>the</a:t>
            </a:r>
            <a:r>
              <a:rPr sz="2000" spc="-41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+mj-lt"/>
                <a:cs typeface="Calibri"/>
              </a:rPr>
              <a:t>teacher</a:t>
            </a:r>
            <a:r>
              <a:rPr sz="2000" spc="-45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0033CC"/>
                </a:solidFill>
                <a:latin typeface="+mj-lt"/>
                <a:cs typeface="Calibri"/>
              </a:rPr>
              <a:t>will</a:t>
            </a:r>
            <a:r>
              <a:rPr sz="2000" spc="-36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spc="-23" dirty="0">
                <a:solidFill>
                  <a:srgbClr val="0033CC"/>
                </a:solidFill>
                <a:latin typeface="+mj-lt"/>
                <a:cs typeface="Calibri"/>
              </a:rPr>
              <a:t>use </a:t>
            </a:r>
            <a:r>
              <a:rPr sz="2000" spc="-18" dirty="0">
                <a:solidFill>
                  <a:srgbClr val="0033CC"/>
                </a:solidFill>
                <a:latin typeface="+mj-lt"/>
                <a:cs typeface="Calibri"/>
              </a:rPr>
              <a:t>PowerPoint</a:t>
            </a:r>
            <a:r>
              <a:rPr sz="2000" spc="-99" dirty="0">
                <a:solidFill>
                  <a:srgbClr val="0033CC"/>
                </a:solidFill>
                <a:latin typeface="+mj-lt"/>
                <a:cs typeface="Calibri"/>
              </a:rPr>
              <a:t> </a:t>
            </a:r>
            <a:r>
              <a:rPr sz="2000" spc="-9" dirty="0">
                <a:solidFill>
                  <a:srgbClr val="0033CC"/>
                </a:solidFill>
                <a:latin typeface="+mj-lt"/>
                <a:cs typeface="Calibri"/>
              </a:rPr>
              <a:t>tomorrow.</a:t>
            </a:r>
            <a:endParaRPr sz="2000" dirty="0">
              <a:latin typeface="+mj-lt"/>
              <a:cs typeface="Calibri"/>
            </a:endParaRPr>
          </a:p>
          <a:p>
            <a:pPr marL="491490" marR="4572" indent="-480632" algn="just">
              <a:lnSpc>
                <a:spcPts val="3015"/>
              </a:lnSpc>
              <a:spcBef>
                <a:spcPts val="536"/>
              </a:spcBef>
              <a:buClr>
                <a:srgbClr val="E38312"/>
              </a:buClr>
              <a:buAutoNum type="arabicParenR" startAt="2"/>
              <a:tabLst>
                <a:tab pos="491490" algn="l"/>
                <a:tab pos="1718501" algn="l"/>
              </a:tabLst>
            </a:pP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Every</a:t>
            </a:r>
            <a:r>
              <a:rPr sz="2000" spc="-68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fall</a:t>
            </a:r>
            <a:r>
              <a:rPr sz="2000" spc="-63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there</a:t>
            </a:r>
            <a:r>
              <a:rPr sz="2000" spc="-77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have</a:t>
            </a:r>
            <a:r>
              <a:rPr sz="2000" spc="-72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been</a:t>
            </a:r>
            <a:r>
              <a:rPr sz="2000" spc="-81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hurricanes</a:t>
            </a:r>
            <a:r>
              <a:rPr sz="2000" spc="-95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in</a:t>
            </a:r>
            <a:r>
              <a:rPr sz="2000" spc="-63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spc="-23" dirty="0">
                <a:solidFill>
                  <a:srgbClr val="404040"/>
                </a:solidFill>
                <a:latin typeface="+mj-lt"/>
                <a:cs typeface="Calibri"/>
              </a:rPr>
              <a:t>the </a:t>
            </a:r>
            <a:r>
              <a:rPr sz="2000" spc="-9" dirty="0">
                <a:solidFill>
                  <a:srgbClr val="404040"/>
                </a:solidFill>
                <a:latin typeface="+mj-lt"/>
                <a:cs typeface="Calibri"/>
              </a:rPr>
              <a:t>tropics.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	</a:t>
            </a:r>
            <a:r>
              <a:rPr sz="2000" spc="-9" dirty="0">
                <a:solidFill>
                  <a:srgbClr val="404040"/>
                </a:solidFill>
                <a:latin typeface="+mj-lt"/>
                <a:cs typeface="Calibri"/>
              </a:rPr>
              <a:t>Therefore,</a:t>
            </a:r>
            <a:r>
              <a:rPr sz="2000" spc="-77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there</a:t>
            </a:r>
            <a:r>
              <a:rPr sz="2000" spc="-63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will</a:t>
            </a:r>
            <a:r>
              <a:rPr sz="2000" spc="-50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be</a:t>
            </a:r>
            <a:r>
              <a:rPr sz="2000" spc="-54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hurricanes</a:t>
            </a:r>
            <a:r>
              <a:rPr sz="2000" spc="-72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spc="-23" dirty="0">
                <a:solidFill>
                  <a:srgbClr val="404040"/>
                </a:solidFill>
                <a:latin typeface="+mj-lt"/>
                <a:cs typeface="Calibri"/>
              </a:rPr>
              <a:t>in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the</a:t>
            </a:r>
            <a:r>
              <a:rPr sz="2000" spc="-77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tropics</a:t>
            </a:r>
            <a:r>
              <a:rPr sz="2000" spc="-72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this</a:t>
            </a:r>
            <a:r>
              <a:rPr sz="2000" spc="-77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dirty="0">
                <a:solidFill>
                  <a:srgbClr val="404040"/>
                </a:solidFill>
                <a:latin typeface="+mj-lt"/>
                <a:cs typeface="Calibri"/>
              </a:rPr>
              <a:t>coming</a:t>
            </a:r>
            <a:r>
              <a:rPr sz="2000" spc="-68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2000" spc="-9" dirty="0">
                <a:solidFill>
                  <a:srgbClr val="404040"/>
                </a:solidFill>
                <a:latin typeface="+mj-lt"/>
                <a:cs typeface="Calibri"/>
              </a:rPr>
              <a:t>fall.</a:t>
            </a:r>
            <a:endParaRPr sz="2000" dirty="0"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3576" y="1066800"/>
            <a:ext cx="4325684" cy="510140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0"/>
              </a:spcBef>
            </a:pPr>
            <a:r>
              <a:rPr sz="3240" spc="270" dirty="0">
                <a:solidFill>
                  <a:srgbClr val="FF0000"/>
                </a:solidFill>
                <a:cs typeface="Trebuchet MS"/>
              </a:rPr>
              <a:t>Abductive</a:t>
            </a:r>
            <a:r>
              <a:rPr sz="3240" spc="279" dirty="0">
                <a:solidFill>
                  <a:srgbClr val="FF0000"/>
                </a:solidFill>
                <a:cs typeface="Trebuchet MS"/>
              </a:rPr>
              <a:t> </a:t>
            </a:r>
            <a:r>
              <a:rPr sz="3240" spc="180" dirty="0">
                <a:solidFill>
                  <a:srgbClr val="FF0000"/>
                </a:solidFill>
                <a:cs typeface="Trebuchet MS"/>
              </a:rPr>
              <a:t>reasoning</a:t>
            </a:r>
            <a:endParaRPr sz="3240" dirty="0"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15867" y="1828800"/>
            <a:ext cx="8348024" cy="27672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 marR="4572" algn="just">
              <a:lnSpc>
                <a:spcPct val="107200"/>
              </a:lnSpc>
              <a:spcBef>
                <a:spcPts val="90"/>
              </a:spcBef>
            </a:pPr>
            <a:r>
              <a:rPr sz="2400" spc="-68" dirty="0">
                <a:latin typeface="+mj-lt"/>
                <a:cs typeface="Calibri"/>
              </a:rPr>
              <a:t>Given</a:t>
            </a:r>
            <a:r>
              <a:rPr sz="2400" spc="-32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a</a:t>
            </a:r>
            <a:r>
              <a:rPr sz="2400" spc="-144" dirty="0">
                <a:latin typeface="+mj-lt"/>
                <a:cs typeface="Calibri"/>
              </a:rPr>
              <a:t> </a:t>
            </a:r>
            <a:r>
              <a:rPr sz="2400" spc="-131" dirty="0">
                <a:latin typeface="+mj-lt"/>
                <a:cs typeface="Calibri"/>
              </a:rPr>
              <a:t>range</a:t>
            </a:r>
            <a:r>
              <a:rPr sz="2400" spc="-14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of</a:t>
            </a:r>
            <a:r>
              <a:rPr sz="2400" spc="72" dirty="0">
                <a:latin typeface="+mj-lt"/>
                <a:cs typeface="Calibri"/>
              </a:rPr>
              <a:t> </a:t>
            </a:r>
            <a:r>
              <a:rPr sz="2400" spc="-95" dirty="0">
                <a:latin typeface="+mj-lt"/>
                <a:cs typeface="Calibri"/>
              </a:rPr>
              <a:t>observations</a:t>
            </a:r>
            <a:r>
              <a:rPr sz="2400" spc="27" dirty="0">
                <a:latin typeface="+mj-lt"/>
                <a:cs typeface="Calibri"/>
              </a:rPr>
              <a:t> </a:t>
            </a:r>
            <a:r>
              <a:rPr sz="2400" spc="-81" dirty="0">
                <a:latin typeface="+mj-lt"/>
                <a:cs typeface="Calibri"/>
              </a:rPr>
              <a:t>and</a:t>
            </a:r>
            <a:r>
              <a:rPr sz="2400" spc="-45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prior</a:t>
            </a:r>
            <a:r>
              <a:rPr sz="2400" spc="140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knowledge,</a:t>
            </a:r>
            <a:r>
              <a:rPr sz="2400" spc="63" dirty="0">
                <a:latin typeface="+mj-lt"/>
                <a:cs typeface="Calibri"/>
              </a:rPr>
              <a:t>  </a:t>
            </a:r>
            <a:r>
              <a:rPr sz="2400" spc="-122" dirty="0">
                <a:latin typeface="+mj-lt"/>
                <a:cs typeface="Calibri"/>
              </a:rPr>
              <a:t>abductive </a:t>
            </a:r>
            <a:r>
              <a:rPr sz="2400" spc="-189" dirty="0">
                <a:latin typeface="+mj-lt"/>
                <a:cs typeface="Calibri"/>
              </a:rPr>
              <a:t>reasoning</a:t>
            </a:r>
            <a:r>
              <a:rPr sz="2400" spc="45" dirty="0">
                <a:latin typeface="+mj-lt"/>
                <a:cs typeface="Calibri"/>
              </a:rPr>
              <a:t> </a:t>
            </a:r>
            <a:r>
              <a:rPr sz="2400" spc="-180" dirty="0">
                <a:latin typeface="+mj-lt"/>
                <a:cs typeface="Calibri"/>
              </a:rPr>
              <a:t>is</a:t>
            </a:r>
            <a:r>
              <a:rPr sz="2400" spc="36" dirty="0">
                <a:latin typeface="+mj-lt"/>
                <a:cs typeface="Calibri"/>
              </a:rPr>
              <a:t> </a:t>
            </a:r>
            <a:r>
              <a:rPr sz="2400" spc="-41" dirty="0">
                <a:latin typeface="+mj-lt"/>
                <a:cs typeface="Calibri"/>
              </a:rPr>
              <a:t>the</a:t>
            </a:r>
            <a:r>
              <a:rPr sz="2400" spc="-103" dirty="0">
                <a:latin typeface="+mj-lt"/>
                <a:cs typeface="Calibri"/>
              </a:rPr>
              <a:t> </a:t>
            </a:r>
            <a:r>
              <a:rPr sz="2400" spc="-171" dirty="0">
                <a:latin typeface="+mj-lt"/>
                <a:cs typeface="Calibri"/>
              </a:rPr>
              <a:t>task</a:t>
            </a:r>
            <a:r>
              <a:rPr sz="2400" spc="27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of</a:t>
            </a:r>
            <a:r>
              <a:rPr sz="2400" spc="-144" dirty="0">
                <a:latin typeface="+mj-lt"/>
                <a:cs typeface="Calibri"/>
              </a:rPr>
              <a:t> </a:t>
            </a:r>
            <a:r>
              <a:rPr sz="2400" spc="-32" dirty="0">
                <a:latin typeface="+mj-lt"/>
                <a:cs typeface="Calibri"/>
              </a:rPr>
              <a:t>trying</a:t>
            </a:r>
            <a:r>
              <a:rPr sz="2400" spc="-113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to</a:t>
            </a:r>
            <a:r>
              <a:rPr sz="2400" spc="-144" dirty="0">
                <a:latin typeface="+mj-lt"/>
                <a:cs typeface="Calibri"/>
              </a:rPr>
              <a:t> </a:t>
            </a:r>
            <a:r>
              <a:rPr sz="2400" spc="-158" dirty="0">
                <a:latin typeface="+mj-lt"/>
                <a:cs typeface="Calibri"/>
              </a:rPr>
              <a:t>decide</a:t>
            </a:r>
            <a:r>
              <a:rPr sz="2400" spc="18" dirty="0">
                <a:latin typeface="+mj-lt"/>
                <a:cs typeface="Calibri"/>
              </a:rPr>
              <a:t> </a:t>
            </a:r>
            <a:r>
              <a:rPr sz="2400" spc="-99" dirty="0">
                <a:latin typeface="+mj-lt"/>
                <a:cs typeface="Calibri"/>
              </a:rPr>
              <a:t>what</a:t>
            </a:r>
            <a:r>
              <a:rPr sz="2400" spc="122" dirty="0">
                <a:latin typeface="+mj-lt"/>
                <a:cs typeface="Calibri"/>
              </a:rPr>
              <a:t> </a:t>
            </a:r>
            <a:r>
              <a:rPr sz="2400" spc="-189" dirty="0">
                <a:latin typeface="+mj-lt"/>
                <a:cs typeface="Calibri"/>
              </a:rPr>
              <a:t>is</a:t>
            </a:r>
            <a:r>
              <a:rPr sz="2400" spc="45" dirty="0">
                <a:latin typeface="+mj-lt"/>
                <a:cs typeface="Calibri"/>
              </a:rPr>
              <a:t> </a:t>
            </a:r>
            <a:r>
              <a:rPr sz="2400" spc="-36" dirty="0">
                <a:latin typeface="+mj-lt"/>
                <a:cs typeface="Calibri"/>
              </a:rPr>
              <a:t>the</a:t>
            </a:r>
            <a:r>
              <a:rPr sz="2400" spc="-5" dirty="0">
                <a:latin typeface="+mj-lt"/>
                <a:cs typeface="Calibri"/>
              </a:rPr>
              <a:t> </a:t>
            </a:r>
            <a:r>
              <a:rPr sz="2400" spc="-162" dirty="0">
                <a:latin typeface="+mj-lt"/>
                <a:cs typeface="Calibri"/>
              </a:rPr>
              <a:t>best,</a:t>
            </a:r>
            <a:r>
              <a:rPr sz="2400" spc="77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or</a:t>
            </a:r>
            <a:r>
              <a:rPr sz="2400" spc="275" dirty="0">
                <a:latin typeface="+mj-lt"/>
                <a:cs typeface="Calibri"/>
              </a:rPr>
              <a:t> </a:t>
            </a:r>
            <a:r>
              <a:rPr sz="2400" spc="-18" dirty="0">
                <a:latin typeface="+mj-lt"/>
                <a:cs typeface="Calibri"/>
              </a:rPr>
              <a:t>most </a:t>
            </a:r>
            <a:r>
              <a:rPr sz="2400" spc="-126" dirty="0">
                <a:latin typeface="+mj-lt"/>
                <a:cs typeface="Calibri"/>
              </a:rPr>
              <a:t>likely,</a:t>
            </a:r>
            <a:r>
              <a:rPr sz="2400" dirty="0">
                <a:latin typeface="+mj-lt"/>
                <a:cs typeface="Calibri"/>
              </a:rPr>
              <a:t> </a:t>
            </a:r>
            <a:r>
              <a:rPr sz="2400" spc="-23" dirty="0" err="1" smtClean="0">
                <a:latin typeface="+mj-lt"/>
                <a:cs typeface="Calibri"/>
              </a:rPr>
              <a:t>expl</a:t>
            </a:r>
            <a:r>
              <a:rPr lang="en-IN" sz="2400" spc="-23" dirty="0" smtClean="0">
                <a:latin typeface="+mj-lt"/>
                <a:cs typeface="Calibri"/>
              </a:rPr>
              <a:t>a</a:t>
            </a:r>
            <a:r>
              <a:rPr sz="2400" spc="-23" dirty="0" smtClean="0">
                <a:latin typeface="+mj-lt"/>
                <a:cs typeface="Calibri"/>
              </a:rPr>
              <a:t>nation</a:t>
            </a:r>
            <a:r>
              <a:rPr sz="2400" spc="-23" dirty="0">
                <a:latin typeface="+mj-lt"/>
                <a:cs typeface="Calibri"/>
              </a:rPr>
              <a:t>.</a:t>
            </a:r>
            <a:endParaRPr sz="2400" dirty="0">
              <a:latin typeface="+mj-lt"/>
              <a:cs typeface="Calibri"/>
            </a:endParaRPr>
          </a:p>
          <a:p>
            <a:pPr marL="23431" marR="1209294">
              <a:lnSpc>
                <a:spcPct val="107100"/>
              </a:lnSpc>
              <a:spcBef>
                <a:spcPts val="3029"/>
              </a:spcBef>
              <a:tabLst>
                <a:tab pos="4523994" algn="l"/>
                <a:tab pos="5625846" algn="l"/>
              </a:tabLst>
            </a:pPr>
            <a:r>
              <a:rPr sz="2400" spc="-108" dirty="0">
                <a:latin typeface="+mj-lt"/>
                <a:cs typeface="Calibri"/>
              </a:rPr>
              <a:t>This</a:t>
            </a:r>
            <a:r>
              <a:rPr sz="2400" spc="-99" dirty="0">
                <a:latin typeface="+mj-lt"/>
                <a:cs typeface="Calibri"/>
              </a:rPr>
              <a:t> </a:t>
            </a:r>
            <a:r>
              <a:rPr sz="2400" spc="-103" dirty="0">
                <a:latin typeface="+mj-lt"/>
                <a:cs typeface="Calibri"/>
              </a:rPr>
              <a:t>is</a:t>
            </a:r>
            <a:r>
              <a:rPr sz="2400" spc="-153" dirty="0">
                <a:latin typeface="+mj-lt"/>
                <a:cs typeface="Calibri"/>
              </a:rPr>
              <a:t> </a:t>
            </a:r>
            <a:r>
              <a:rPr sz="2400" spc="-50" dirty="0">
                <a:latin typeface="+mj-lt"/>
                <a:cs typeface="Calibri"/>
              </a:rPr>
              <a:t>rather</a:t>
            </a:r>
            <a:r>
              <a:rPr sz="2400" spc="-18" dirty="0">
                <a:latin typeface="+mj-lt"/>
                <a:cs typeface="Calibri"/>
              </a:rPr>
              <a:t> </a:t>
            </a:r>
            <a:r>
              <a:rPr sz="2400" spc="-153" dirty="0">
                <a:latin typeface="+mj-lt"/>
                <a:cs typeface="Calibri"/>
              </a:rPr>
              <a:t>b</a:t>
            </a:r>
            <a:r>
              <a:rPr sz="2400" spc="-194" dirty="0">
                <a:latin typeface="+mj-lt"/>
                <a:cs typeface="Calibri"/>
              </a:rPr>
              <a:t>r</a:t>
            </a:r>
            <a:r>
              <a:rPr sz="2400" spc="-149" dirty="0">
                <a:latin typeface="+mj-lt"/>
                <a:cs typeface="Calibri"/>
              </a:rPr>
              <a:t>o</a:t>
            </a:r>
            <a:r>
              <a:rPr sz="2400" spc="-140" dirty="0">
                <a:latin typeface="+mj-lt"/>
                <a:cs typeface="Calibri"/>
              </a:rPr>
              <a:t>a</a:t>
            </a:r>
            <a:r>
              <a:rPr sz="2400" spc="-153" dirty="0">
                <a:latin typeface="+mj-lt"/>
                <a:cs typeface="Calibri"/>
              </a:rPr>
              <a:t>d</a:t>
            </a:r>
            <a:r>
              <a:rPr sz="2400" spc="180" dirty="0">
                <a:latin typeface="+mj-lt"/>
                <a:cs typeface="Calibri"/>
              </a:rPr>
              <a:t>,</a:t>
            </a:r>
            <a:r>
              <a:rPr sz="2400" spc="-302" dirty="0">
                <a:latin typeface="+mj-lt"/>
                <a:cs typeface="Calibri"/>
              </a:rPr>
              <a:t>m</a:t>
            </a:r>
            <a:r>
              <a:rPr sz="2400" spc="-338" dirty="0">
                <a:latin typeface="+mj-lt"/>
                <a:cs typeface="Calibri"/>
              </a:rPr>
              <a:t>a</a:t>
            </a:r>
            <a:r>
              <a:rPr sz="2400" spc="-14" dirty="0">
                <a:latin typeface="+mj-lt"/>
                <a:cs typeface="Calibri"/>
              </a:rPr>
              <a:t>y</a:t>
            </a:r>
            <a:r>
              <a:rPr sz="2400" spc="-270" dirty="0">
                <a:latin typeface="+mj-lt"/>
                <a:cs typeface="Calibri"/>
              </a:rPr>
              <a:t> </a:t>
            </a:r>
            <a:r>
              <a:rPr sz="2400" spc="-135" dirty="0">
                <a:latin typeface="+mj-lt"/>
                <a:cs typeface="Calibri"/>
              </a:rPr>
              <a:t>involve</a:t>
            </a:r>
            <a:r>
              <a:rPr sz="2400" spc="-149" dirty="0">
                <a:latin typeface="+mj-lt"/>
                <a:cs typeface="Calibri"/>
              </a:rPr>
              <a:t> </a:t>
            </a:r>
            <a:r>
              <a:rPr sz="2400" spc="-180" dirty="0">
                <a:latin typeface="+mj-lt"/>
                <a:cs typeface="Calibri"/>
              </a:rPr>
              <a:t>several</a:t>
            </a:r>
            <a:r>
              <a:rPr sz="2400" spc="-171" dirty="0">
                <a:latin typeface="+mj-lt"/>
                <a:cs typeface="Calibri"/>
              </a:rPr>
              <a:t> </a:t>
            </a:r>
            <a:r>
              <a:rPr sz="2400" spc="-9" dirty="0">
                <a:latin typeface="+mj-lt"/>
                <a:cs typeface="Calibri"/>
              </a:rPr>
              <a:t>distinct</a:t>
            </a:r>
            <a:r>
              <a:rPr sz="2400" dirty="0">
                <a:latin typeface="+mj-lt"/>
                <a:cs typeface="Calibri"/>
              </a:rPr>
              <a:t>	</a:t>
            </a:r>
            <a:r>
              <a:rPr sz="2400" spc="-135" dirty="0">
                <a:latin typeface="+mj-lt"/>
                <a:cs typeface="Calibri"/>
              </a:rPr>
              <a:t>kinds</a:t>
            </a:r>
            <a:r>
              <a:rPr sz="2400" spc="-234" dirty="0">
                <a:latin typeface="+mj-lt"/>
                <a:cs typeface="Calibri"/>
              </a:rPr>
              <a:t> </a:t>
            </a:r>
            <a:r>
              <a:rPr sz="2400" spc="-23" dirty="0">
                <a:latin typeface="+mj-lt"/>
                <a:cs typeface="Calibri"/>
              </a:rPr>
              <a:t>of </a:t>
            </a:r>
            <a:r>
              <a:rPr sz="2400" spc="-144" dirty="0">
                <a:latin typeface="+mj-lt"/>
                <a:cs typeface="Calibri"/>
              </a:rPr>
              <a:t>argumentation,</a:t>
            </a:r>
            <a:r>
              <a:rPr sz="2400" spc="-158" dirty="0">
                <a:latin typeface="+mj-lt"/>
                <a:cs typeface="Calibri"/>
              </a:rPr>
              <a:t> </a:t>
            </a:r>
            <a:r>
              <a:rPr sz="2400" spc="-117" dirty="0">
                <a:latin typeface="+mj-lt"/>
                <a:cs typeface="Calibri"/>
              </a:rPr>
              <a:t>andis</a:t>
            </a:r>
            <a:r>
              <a:rPr sz="2400" spc="-324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not</a:t>
            </a:r>
            <a:r>
              <a:rPr sz="2400" spc="54" dirty="0">
                <a:latin typeface="+mj-lt"/>
                <a:cs typeface="Calibri"/>
              </a:rPr>
              <a:t> </a:t>
            </a:r>
            <a:r>
              <a:rPr sz="2400" spc="-374" dirty="0">
                <a:latin typeface="+mj-lt"/>
                <a:cs typeface="Calibri"/>
              </a:rPr>
              <a:t>a</a:t>
            </a:r>
            <a:r>
              <a:rPr sz="2400" spc="81" dirty="0">
                <a:latin typeface="+mj-lt"/>
                <a:cs typeface="Calibri"/>
              </a:rPr>
              <a:t>s</a:t>
            </a:r>
            <a:r>
              <a:rPr sz="2400" spc="-176" dirty="0">
                <a:latin typeface="+mj-lt"/>
                <a:cs typeface="Calibri"/>
              </a:rPr>
              <a:t>s</a:t>
            </a:r>
            <a:r>
              <a:rPr sz="2400" spc="-171" dirty="0">
                <a:latin typeface="+mj-lt"/>
                <a:cs typeface="Calibri"/>
              </a:rPr>
              <a:t>i</a:t>
            </a:r>
            <a:r>
              <a:rPr sz="2400" spc="-176" dirty="0">
                <a:latin typeface="+mj-lt"/>
                <a:cs typeface="Calibri"/>
              </a:rPr>
              <a:t>mp</a:t>
            </a:r>
            <a:r>
              <a:rPr sz="2400" spc="-171" dirty="0">
                <a:latin typeface="+mj-lt"/>
                <a:cs typeface="Calibri"/>
              </a:rPr>
              <a:t>l</a:t>
            </a:r>
            <a:r>
              <a:rPr sz="2400" spc="-14" dirty="0">
                <a:latin typeface="+mj-lt"/>
                <a:cs typeface="Calibri"/>
              </a:rPr>
              <a:t>e</a:t>
            </a:r>
            <a:r>
              <a:rPr sz="2400" spc="-257" dirty="0">
                <a:latin typeface="+mj-lt"/>
                <a:cs typeface="Calibri"/>
              </a:rPr>
              <a:t> </a:t>
            </a:r>
            <a:r>
              <a:rPr sz="2400" spc="-23" dirty="0">
                <a:latin typeface="+mj-lt"/>
                <a:cs typeface="Calibri"/>
              </a:rPr>
              <a:t>to</a:t>
            </a:r>
            <a:r>
              <a:rPr sz="2400" dirty="0">
                <a:latin typeface="+mj-lt"/>
                <a:cs typeface="Calibri"/>
              </a:rPr>
              <a:t>	</a:t>
            </a:r>
            <a:r>
              <a:rPr sz="2400" spc="-140" dirty="0">
                <a:latin typeface="+mj-lt"/>
                <a:cs typeface="Calibri"/>
              </a:rPr>
              <a:t>characterise</a:t>
            </a:r>
            <a:r>
              <a:rPr sz="2400" spc="-63" dirty="0">
                <a:latin typeface="+mj-lt"/>
                <a:cs typeface="Calibri"/>
              </a:rPr>
              <a:t> </a:t>
            </a:r>
            <a:r>
              <a:rPr sz="2400" spc="-391" dirty="0">
                <a:latin typeface="+mj-lt"/>
                <a:cs typeface="Calibri"/>
              </a:rPr>
              <a:t>as </a:t>
            </a:r>
            <a:r>
              <a:rPr sz="2400" spc="-117" dirty="0">
                <a:latin typeface="+mj-lt"/>
                <a:cs typeface="Calibri"/>
              </a:rPr>
              <a:t>inductive</a:t>
            </a:r>
            <a:r>
              <a:rPr sz="2400" spc="-41" dirty="0">
                <a:latin typeface="+mj-lt"/>
                <a:cs typeface="Calibri"/>
              </a:rPr>
              <a:t> </a:t>
            </a:r>
            <a:r>
              <a:rPr sz="2400" dirty="0">
                <a:latin typeface="+mj-lt"/>
                <a:cs typeface="Calibri"/>
              </a:rPr>
              <a:t>or</a:t>
            </a:r>
            <a:r>
              <a:rPr sz="2400" spc="162" dirty="0">
                <a:latin typeface="+mj-lt"/>
                <a:cs typeface="Calibri"/>
              </a:rPr>
              <a:t> </a:t>
            </a:r>
            <a:r>
              <a:rPr sz="2400" spc="-131" dirty="0">
                <a:latin typeface="+mj-lt"/>
                <a:cs typeface="Calibri"/>
              </a:rPr>
              <a:t>deductive</a:t>
            </a:r>
            <a:r>
              <a:rPr sz="2400" spc="-72" dirty="0">
                <a:latin typeface="+mj-lt"/>
                <a:cs typeface="Calibri"/>
              </a:rPr>
              <a:t> reasoning.</a:t>
            </a:r>
            <a:endParaRPr sz="2400" dirty="0">
              <a:latin typeface="+mj-lt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95085" y="4820449"/>
            <a:ext cx="8348023" cy="1323696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372422" marR="4572" indent="-3361563">
              <a:spcBef>
                <a:spcPts val="90"/>
              </a:spcBef>
            </a:pPr>
            <a:r>
              <a:rPr sz="1620" i="1" dirty="0">
                <a:solidFill>
                  <a:srgbClr val="00AFEF"/>
                </a:solidFill>
                <a:cs typeface="Arial"/>
              </a:rPr>
              <a:t>“These</a:t>
            </a:r>
            <a:r>
              <a:rPr sz="1620" i="1" spc="-32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are</a:t>
            </a:r>
            <a:r>
              <a:rPr sz="1620" i="1" spc="-18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my</a:t>
            </a:r>
            <a:r>
              <a:rPr sz="1620" i="1" spc="-23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favorite</a:t>
            </a:r>
            <a:r>
              <a:rPr sz="1620" i="1" spc="-18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jeans</a:t>
            </a:r>
            <a:r>
              <a:rPr sz="1620" i="1" spc="-18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and</a:t>
            </a:r>
            <a:r>
              <a:rPr sz="1620" i="1" spc="-18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I</a:t>
            </a:r>
            <a:r>
              <a:rPr sz="1620" i="1" spc="-23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can’t</a:t>
            </a:r>
            <a:r>
              <a:rPr sz="1620" i="1" spc="-5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fit</a:t>
            </a:r>
            <a:r>
              <a:rPr sz="1620" i="1" spc="-23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into</a:t>
            </a:r>
            <a:r>
              <a:rPr sz="1620" i="1" spc="-18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them</a:t>
            </a:r>
            <a:r>
              <a:rPr sz="1620" i="1" spc="-23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anymore.</a:t>
            </a:r>
            <a:r>
              <a:rPr sz="1620" i="1" spc="-9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I</a:t>
            </a:r>
            <a:r>
              <a:rPr sz="1620" i="1" spc="-18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must</a:t>
            </a:r>
            <a:r>
              <a:rPr sz="1620" i="1" spc="-23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dirty="0">
                <a:solidFill>
                  <a:srgbClr val="00AFEF"/>
                </a:solidFill>
                <a:cs typeface="Arial"/>
              </a:rPr>
              <a:t>have</a:t>
            </a:r>
            <a:r>
              <a:rPr sz="1620" i="1" spc="-18" dirty="0">
                <a:solidFill>
                  <a:srgbClr val="00AFEF"/>
                </a:solidFill>
                <a:cs typeface="Arial"/>
              </a:rPr>
              <a:t> </a:t>
            </a:r>
            <a:r>
              <a:rPr sz="1620" i="1" spc="-9" dirty="0">
                <a:solidFill>
                  <a:srgbClr val="00AFEF"/>
                </a:solidFill>
                <a:cs typeface="Arial"/>
              </a:rPr>
              <a:t>gained weight</a:t>
            </a:r>
            <a:r>
              <a:rPr sz="1620" i="1" spc="-9" dirty="0" smtClean="0">
                <a:solidFill>
                  <a:srgbClr val="00AFEF"/>
                </a:solidFill>
                <a:cs typeface="Arial"/>
              </a:rPr>
              <a:t>.”</a:t>
            </a:r>
            <a:endParaRPr sz="1620" dirty="0">
              <a:cs typeface="Arial"/>
            </a:endParaRPr>
          </a:p>
          <a:p>
            <a:pPr>
              <a:spcBef>
                <a:spcPts val="639"/>
              </a:spcBef>
            </a:pPr>
            <a:endParaRPr sz="1620" dirty="0">
              <a:cs typeface="Arial"/>
            </a:endParaRPr>
          </a:p>
          <a:p>
            <a:pPr marL="208026" algn="ctr">
              <a:lnSpc>
                <a:spcPts val="1922"/>
              </a:lnSpc>
            </a:pPr>
            <a:r>
              <a:rPr sz="1620" i="1" dirty="0">
                <a:solidFill>
                  <a:srgbClr val="006FC0"/>
                </a:solidFill>
                <a:cs typeface="Arial"/>
              </a:rPr>
              <a:t>I</a:t>
            </a:r>
            <a:r>
              <a:rPr sz="1620" i="1" spc="-18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woke</a:t>
            </a:r>
            <a:r>
              <a:rPr sz="1620" i="1" spc="-18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up</a:t>
            </a:r>
            <a:r>
              <a:rPr sz="1620" i="1" spc="-18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this</a:t>
            </a:r>
            <a:r>
              <a:rPr sz="1620" i="1" spc="-9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morning</a:t>
            </a:r>
            <a:r>
              <a:rPr sz="1620" i="1" spc="18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to</a:t>
            </a:r>
            <a:r>
              <a:rPr sz="1620" i="1" spc="-14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the</a:t>
            </a:r>
            <a:r>
              <a:rPr sz="1620" i="1" spc="-18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sounds of</a:t>
            </a:r>
            <a:r>
              <a:rPr sz="1620" i="1" spc="-9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birds chirping.</a:t>
            </a:r>
            <a:r>
              <a:rPr sz="1620" i="1" spc="5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It</a:t>
            </a:r>
            <a:r>
              <a:rPr sz="1620" i="1" spc="-14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was</a:t>
            </a:r>
            <a:r>
              <a:rPr sz="1620" i="1" spc="-23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beautiful, and </a:t>
            </a:r>
            <a:r>
              <a:rPr sz="1620" i="1" spc="-45" dirty="0">
                <a:solidFill>
                  <a:srgbClr val="006FC0"/>
                </a:solidFill>
                <a:cs typeface="Arial"/>
              </a:rPr>
              <a:t>a</a:t>
            </a:r>
            <a:endParaRPr sz="1620" dirty="0">
              <a:cs typeface="Arial"/>
            </a:endParaRPr>
          </a:p>
          <a:p>
            <a:pPr marL="207454" algn="ctr">
              <a:lnSpc>
                <a:spcPts val="1922"/>
              </a:lnSpc>
            </a:pPr>
            <a:r>
              <a:rPr sz="1620" i="1" dirty="0">
                <a:solidFill>
                  <a:srgbClr val="006FC0"/>
                </a:solidFill>
                <a:cs typeface="Arial"/>
              </a:rPr>
              <a:t>lovely</a:t>
            </a:r>
            <a:r>
              <a:rPr sz="1620" i="1" spc="-5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way</a:t>
            </a:r>
            <a:r>
              <a:rPr sz="1620" i="1" spc="-14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to</a:t>
            </a:r>
            <a:r>
              <a:rPr sz="1620" i="1" spc="-5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start</a:t>
            </a:r>
            <a:r>
              <a:rPr sz="1620" i="1" spc="-14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dirty="0">
                <a:solidFill>
                  <a:srgbClr val="006FC0"/>
                </a:solidFill>
                <a:cs typeface="Arial"/>
              </a:rPr>
              <a:t>the</a:t>
            </a:r>
            <a:r>
              <a:rPr sz="1620" i="1" spc="-14" dirty="0">
                <a:solidFill>
                  <a:srgbClr val="006FC0"/>
                </a:solidFill>
                <a:cs typeface="Arial"/>
              </a:rPr>
              <a:t> </a:t>
            </a:r>
            <a:r>
              <a:rPr sz="1620" i="1" spc="-18" dirty="0">
                <a:solidFill>
                  <a:srgbClr val="006FC0"/>
                </a:solidFill>
                <a:cs typeface="Arial"/>
              </a:rPr>
              <a:t>day.</a:t>
            </a:r>
            <a:endParaRPr sz="1620" dirty="0"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3738" y="990600"/>
            <a:ext cx="4422839" cy="510140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0"/>
              </a:spcBef>
            </a:pPr>
            <a:r>
              <a:rPr sz="3240" spc="238" dirty="0">
                <a:solidFill>
                  <a:srgbClr val="FF0000"/>
                </a:solidFill>
                <a:cs typeface="Trebuchet MS"/>
              </a:rPr>
              <a:t>Deductive</a:t>
            </a:r>
            <a:r>
              <a:rPr sz="3240" spc="270" dirty="0">
                <a:solidFill>
                  <a:srgbClr val="FF0000"/>
                </a:solidFill>
                <a:cs typeface="Trebuchet MS"/>
              </a:rPr>
              <a:t> </a:t>
            </a:r>
            <a:r>
              <a:rPr sz="3240" spc="225" dirty="0">
                <a:solidFill>
                  <a:srgbClr val="FF0000"/>
                </a:solidFill>
                <a:cs typeface="Trebuchet MS"/>
              </a:rPr>
              <a:t>Reasoning</a:t>
            </a:r>
            <a:endParaRPr sz="3240" dirty="0"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1446" y="2133600"/>
            <a:ext cx="8417753" cy="3062698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57722" marR="22860">
              <a:lnSpc>
                <a:spcPts val="3240"/>
              </a:lnSpc>
              <a:spcBef>
                <a:spcPts val="383"/>
              </a:spcBef>
            </a:pPr>
            <a:r>
              <a:rPr sz="2880" spc="-149" dirty="0">
                <a:latin typeface="+mj-lt"/>
                <a:cs typeface="Calibri"/>
              </a:rPr>
              <a:t>Given</a:t>
            </a:r>
            <a:r>
              <a:rPr sz="2880" spc="-144" dirty="0">
                <a:latin typeface="+mj-lt"/>
                <a:cs typeface="Calibri"/>
              </a:rPr>
              <a:t> </a:t>
            </a:r>
            <a:r>
              <a:rPr sz="2880" spc="-180" dirty="0">
                <a:latin typeface="+mj-lt"/>
                <a:cs typeface="Calibri"/>
              </a:rPr>
              <a:t>as</a:t>
            </a:r>
            <a:r>
              <a:rPr sz="2880" spc="-329" dirty="0">
                <a:latin typeface="+mj-lt"/>
                <a:cs typeface="Calibri"/>
              </a:rPr>
              <a:t> </a:t>
            </a:r>
            <a:r>
              <a:rPr sz="2880" spc="-113" dirty="0">
                <a:latin typeface="+mj-lt"/>
                <a:cs typeface="Calibri"/>
              </a:rPr>
              <a:t>set</a:t>
            </a:r>
            <a:r>
              <a:rPr sz="2880" spc="-117" dirty="0">
                <a:latin typeface="+mj-lt"/>
                <a:cs typeface="Calibri"/>
              </a:rPr>
              <a:t> </a:t>
            </a:r>
            <a:r>
              <a:rPr sz="2880" dirty="0">
                <a:latin typeface="+mj-lt"/>
                <a:cs typeface="Calibri"/>
              </a:rPr>
              <a:t>of</a:t>
            </a:r>
            <a:r>
              <a:rPr sz="2880" spc="-27" dirty="0">
                <a:latin typeface="+mj-lt"/>
                <a:cs typeface="Calibri"/>
              </a:rPr>
              <a:t> </a:t>
            </a:r>
            <a:r>
              <a:rPr sz="2880" spc="-158" dirty="0">
                <a:latin typeface="+mj-lt"/>
                <a:cs typeface="Calibri"/>
              </a:rPr>
              <a:t>premises,and</a:t>
            </a:r>
            <a:r>
              <a:rPr sz="2880" spc="-194" dirty="0">
                <a:latin typeface="+mj-lt"/>
                <a:cs typeface="Calibri"/>
              </a:rPr>
              <a:t> using</a:t>
            </a:r>
            <a:r>
              <a:rPr sz="2880" spc="-153" dirty="0">
                <a:latin typeface="+mj-lt"/>
                <a:cs typeface="Calibri"/>
              </a:rPr>
              <a:t> </a:t>
            </a:r>
            <a:r>
              <a:rPr sz="2880" spc="-86" dirty="0">
                <a:latin typeface="+mj-lt"/>
                <a:cs typeface="Calibri"/>
              </a:rPr>
              <a:t>only</a:t>
            </a:r>
            <a:r>
              <a:rPr sz="2880" spc="-68" dirty="0">
                <a:latin typeface="+mj-lt"/>
                <a:cs typeface="Calibri"/>
              </a:rPr>
              <a:t> </a:t>
            </a:r>
            <a:r>
              <a:rPr sz="2880" spc="-95" dirty="0">
                <a:latin typeface="+mj-lt"/>
                <a:cs typeface="Calibri"/>
              </a:rPr>
              <a:t>rules</a:t>
            </a:r>
            <a:r>
              <a:rPr sz="2880" spc="-117" dirty="0">
                <a:latin typeface="+mj-lt"/>
                <a:cs typeface="Calibri"/>
              </a:rPr>
              <a:t> </a:t>
            </a:r>
            <a:r>
              <a:rPr sz="2880" spc="-23" dirty="0">
                <a:latin typeface="+mj-lt"/>
                <a:cs typeface="Calibri"/>
              </a:rPr>
              <a:t>of </a:t>
            </a:r>
            <a:r>
              <a:rPr sz="2880" spc="-153" dirty="0">
                <a:latin typeface="+mj-lt"/>
                <a:cs typeface="Calibri"/>
              </a:rPr>
              <a:t>logical</a:t>
            </a:r>
            <a:r>
              <a:rPr sz="2880" spc="23" dirty="0">
                <a:latin typeface="+mj-lt"/>
                <a:cs typeface="Calibri"/>
              </a:rPr>
              <a:t> </a:t>
            </a:r>
            <a:r>
              <a:rPr sz="2880" spc="-135" dirty="0">
                <a:latin typeface="+mj-lt"/>
                <a:cs typeface="Calibri"/>
              </a:rPr>
              <a:t>inference</a:t>
            </a:r>
            <a:r>
              <a:rPr sz="2880" spc="-206" dirty="0">
                <a:latin typeface="+mj-lt"/>
                <a:cs typeface="Calibri"/>
              </a:rPr>
              <a:t> </a:t>
            </a:r>
            <a:r>
              <a:rPr sz="2880" spc="99" dirty="0">
                <a:latin typeface="+mj-lt"/>
                <a:cs typeface="Calibri"/>
              </a:rPr>
              <a:t>...</a:t>
            </a:r>
            <a:endParaRPr sz="2880" dirty="0">
              <a:latin typeface="+mj-lt"/>
              <a:cs typeface="Calibri"/>
            </a:endParaRPr>
          </a:p>
          <a:p>
            <a:pPr marL="34290" marR="4572">
              <a:lnSpc>
                <a:spcPts val="3240"/>
              </a:lnSpc>
              <a:spcBef>
                <a:spcPts val="2160"/>
              </a:spcBef>
            </a:pPr>
            <a:r>
              <a:rPr sz="2880" spc="-95" dirty="0">
                <a:latin typeface="+mj-lt"/>
                <a:cs typeface="Calibri"/>
              </a:rPr>
              <a:t>we</a:t>
            </a:r>
            <a:r>
              <a:rPr sz="2880" spc="-293" dirty="0">
                <a:latin typeface="+mj-lt"/>
                <a:cs typeface="Calibri"/>
              </a:rPr>
              <a:t> </a:t>
            </a:r>
            <a:r>
              <a:rPr sz="2880" dirty="0">
                <a:latin typeface="+mj-lt"/>
                <a:cs typeface="Calibri"/>
              </a:rPr>
              <a:t>work</a:t>
            </a:r>
            <a:r>
              <a:rPr sz="2880" spc="23" dirty="0">
                <a:latin typeface="+mj-lt"/>
                <a:cs typeface="Calibri"/>
              </a:rPr>
              <a:t> </a:t>
            </a:r>
            <a:r>
              <a:rPr sz="2880" dirty="0">
                <a:latin typeface="+mj-lt"/>
                <a:cs typeface="Calibri"/>
              </a:rPr>
              <a:t>to</a:t>
            </a:r>
            <a:r>
              <a:rPr sz="2880" spc="194" dirty="0">
                <a:latin typeface="+mj-lt"/>
                <a:cs typeface="Calibri"/>
              </a:rPr>
              <a:t> </a:t>
            </a:r>
            <a:r>
              <a:rPr sz="2880" spc="-131" dirty="0" smtClean="0">
                <a:latin typeface="+mj-lt"/>
                <a:cs typeface="Calibri"/>
              </a:rPr>
              <a:t>a</a:t>
            </a:r>
            <a:r>
              <a:rPr lang="en-IN" sz="2880" spc="-131" dirty="0" smtClean="0">
                <a:latin typeface="+mj-lt"/>
                <a:cs typeface="Calibri"/>
              </a:rPr>
              <a:t> </a:t>
            </a:r>
            <a:r>
              <a:rPr sz="2880" spc="-131" dirty="0" smtClean="0">
                <a:latin typeface="+mj-lt"/>
                <a:cs typeface="Calibri"/>
              </a:rPr>
              <a:t>conclusion</a:t>
            </a:r>
            <a:r>
              <a:rPr sz="2880" spc="-189" dirty="0" smtClean="0">
                <a:latin typeface="+mj-lt"/>
                <a:cs typeface="Calibri"/>
              </a:rPr>
              <a:t> </a:t>
            </a:r>
            <a:r>
              <a:rPr sz="2880" spc="-68" dirty="0">
                <a:latin typeface="+mj-lt"/>
                <a:cs typeface="Calibri"/>
              </a:rPr>
              <a:t>that</a:t>
            </a:r>
            <a:r>
              <a:rPr sz="2880" spc="-108" dirty="0">
                <a:latin typeface="+mj-lt"/>
                <a:cs typeface="Calibri"/>
              </a:rPr>
              <a:t> </a:t>
            </a:r>
            <a:r>
              <a:rPr sz="2880" i="1" spc="-171" dirty="0" smtClean="0">
                <a:latin typeface="+mj-lt"/>
                <a:cs typeface="Calibri"/>
              </a:rPr>
              <a:t>necessarily</a:t>
            </a:r>
            <a:r>
              <a:rPr lang="en-IN" sz="2880" i="1" spc="-171" dirty="0" smtClean="0">
                <a:latin typeface="+mj-lt"/>
                <a:cs typeface="Calibri"/>
              </a:rPr>
              <a:t> </a:t>
            </a:r>
            <a:r>
              <a:rPr sz="2880" spc="-171" dirty="0" smtClean="0">
                <a:latin typeface="+mj-lt"/>
                <a:cs typeface="Calibri"/>
              </a:rPr>
              <a:t>follows </a:t>
            </a:r>
            <a:r>
              <a:rPr sz="2880" spc="-27" dirty="0">
                <a:latin typeface="+mj-lt"/>
                <a:cs typeface="Calibri"/>
              </a:rPr>
              <a:t>from</a:t>
            </a:r>
            <a:r>
              <a:rPr sz="2880" spc="-122" dirty="0">
                <a:latin typeface="+mj-lt"/>
                <a:cs typeface="Calibri"/>
              </a:rPr>
              <a:t> </a:t>
            </a:r>
            <a:r>
              <a:rPr sz="2880" spc="-68" dirty="0">
                <a:latin typeface="+mj-lt"/>
                <a:cs typeface="Calibri"/>
              </a:rPr>
              <a:t>the</a:t>
            </a:r>
            <a:r>
              <a:rPr sz="2880" spc="-95" dirty="0">
                <a:latin typeface="+mj-lt"/>
                <a:cs typeface="Calibri"/>
              </a:rPr>
              <a:t> </a:t>
            </a:r>
            <a:r>
              <a:rPr sz="2880" spc="-50" dirty="0">
                <a:latin typeface="+mj-lt"/>
                <a:cs typeface="Calibri"/>
              </a:rPr>
              <a:t>premises</a:t>
            </a:r>
            <a:endParaRPr sz="2880" dirty="0">
              <a:latin typeface="+mj-lt"/>
              <a:cs typeface="Calibri"/>
            </a:endParaRPr>
          </a:p>
          <a:p>
            <a:pPr marL="11430" marR="100584">
              <a:lnSpc>
                <a:spcPts val="3240"/>
              </a:lnSpc>
              <a:spcBef>
                <a:spcPts val="2061"/>
              </a:spcBef>
            </a:pPr>
            <a:r>
              <a:rPr sz="2880" spc="-122" dirty="0">
                <a:latin typeface="+mj-lt"/>
                <a:cs typeface="Calibri"/>
              </a:rPr>
              <a:t>Again,if</a:t>
            </a:r>
            <a:r>
              <a:rPr sz="2880" spc="-32" dirty="0">
                <a:latin typeface="+mj-lt"/>
                <a:cs typeface="Calibri"/>
              </a:rPr>
              <a:t> </a:t>
            </a:r>
            <a:r>
              <a:rPr sz="2880" spc="-63" dirty="0">
                <a:latin typeface="+mj-lt"/>
                <a:cs typeface="Calibri"/>
              </a:rPr>
              <a:t>the</a:t>
            </a:r>
            <a:r>
              <a:rPr sz="2880" spc="-32" dirty="0">
                <a:latin typeface="+mj-lt"/>
                <a:cs typeface="Calibri"/>
              </a:rPr>
              <a:t> </a:t>
            </a:r>
            <a:r>
              <a:rPr sz="2880" spc="-171" dirty="0">
                <a:latin typeface="+mj-lt"/>
                <a:cs typeface="Calibri"/>
              </a:rPr>
              <a:t>premises</a:t>
            </a:r>
            <a:r>
              <a:rPr sz="2880" spc="-144" dirty="0">
                <a:latin typeface="+mj-lt"/>
                <a:cs typeface="Calibri"/>
              </a:rPr>
              <a:t> </a:t>
            </a:r>
            <a:r>
              <a:rPr sz="2880" spc="-131" dirty="0">
                <a:latin typeface="+mj-lt"/>
                <a:cs typeface="Calibri"/>
              </a:rPr>
              <a:t>are</a:t>
            </a:r>
            <a:r>
              <a:rPr sz="2880" spc="-149" dirty="0">
                <a:latin typeface="+mj-lt"/>
                <a:cs typeface="Calibri"/>
              </a:rPr>
              <a:t> </a:t>
            </a:r>
            <a:r>
              <a:rPr sz="2880" spc="-126" dirty="0">
                <a:latin typeface="+mj-lt"/>
                <a:cs typeface="Calibri"/>
              </a:rPr>
              <a:t>stupid,</a:t>
            </a:r>
            <a:r>
              <a:rPr sz="2880" spc="-347" dirty="0">
                <a:latin typeface="+mj-lt"/>
                <a:cs typeface="Calibri"/>
              </a:rPr>
              <a:t> </a:t>
            </a:r>
            <a:r>
              <a:rPr sz="2880" spc="-41" dirty="0">
                <a:latin typeface="+mj-lt"/>
                <a:cs typeface="Calibri"/>
              </a:rPr>
              <a:t>no</a:t>
            </a:r>
            <a:r>
              <a:rPr sz="2880" spc="-77" dirty="0">
                <a:latin typeface="+mj-lt"/>
                <a:cs typeface="Calibri"/>
              </a:rPr>
              <a:t> </a:t>
            </a:r>
            <a:r>
              <a:rPr sz="2880" spc="-135" dirty="0">
                <a:latin typeface="+mj-lt"/>
                <a:cs typeface="Calibri"/>
              </a:rPr>
              <a:t>amount</a:t>
            </a:r>
            <a:r>
              <a:rPr sz="2880" spc="-63" dirty="0">
                <a:latin typeface="+mj-lt"/>
                <a:cs typeface="Calibri"/>
              </a:rPr>
              <a:t> </a:t>
            </a:r>
            <a:r>
              <a:rPr sz="2880" spc="-23" dirty="0">
                <a:latin typeface="+mj-lt"/>
                <a:cs typeface="Calibri"/>
              </a:rPr>
              <a:t>of </a:t>
            </a:r>
            <a:r>
              <a:rPr sz="2880" spc="-131" dirty="0">
                <a:latin typeface="+mj-lt"/>
                <a:cs typeface="Calibri"/>
              </a:rPr>
              <a:t>deductive</a:t>
            </a:r>
            <a:r>
              <a:rPr sz="2880" spc="-135" dirty="0">
                <a:latin typeface="+mj-lt"/>
                <a:cs typeface="Calibri"/>
              </a:rPr>
              <a:t> </a:t>
            </a:r>
            <a:r>
              <a:rPr sz="2880" spc="-162" dirty="0">
                <a:latin typeface="+mj-lt"/>
                <a:cs typeface="Calibri"/>
              </a:rPr>
              <a:t>reasoning</a:t>
            </a:r>
            <a:r>
              <a:rPr sz="2880" spc="-229" dirty="0">
                <a:latin typeface="+mj-lt"/>
                <a:cs typeface="Calibri"/>
              </a:rPr>
              <a:t> </a:t>
            </a:r>
            <a:r>
              <a:rPr sz="2880" spc="-212" dirty="0">
                <a:latin typeface="+mj-lt"/>
                <a:cs typeface="Calibri"/>
              </a:rPr>
              <a:t>can</a:t>
            </a:r>
            <a:r>
              <a:rPr sz="2880" spc="-113" dirty="0">
                <a:latin typeface="+mj-lt"/>
                <a:cs typeface="Calibri"/>
              </a:rPr>
              <a:t> </a:t>
            </a:r>
            <a:r>
              <a:rPr sz="2880" spc="-126" dirty="0">
                <a:latin typeface="+mj-lt"/>
                <a:cs typeface="Calibri"/>
              </a:rPr>
              <a:t>overcome</a:t>
            </a:r>
            <a:r>
              <a:rPr sz="2880" spc="-167" dirty="0">
                <a:latin typeface="+mj-lt"/>
                <a:cs typeface="Calibri"/>
              </a:rPr>
              <a:t> </a:t>
            </a:r>
            <a:r>
              <a:rPr sz="2880" spc="-9" dirty="0">
                <a:latin typeface="+mj-lt"/>
                <a:cs typeface="Calibri"/>
              </a:rPr>
              <a:t>that.</a:t>
            </a:r>
            <a:endParaRPr sz="2880" dirty="0">
              <a:latin typeface="+mj-lt"/>
              <a:cs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4800" y="933646"/>
            <a:ext cx="5387340" cy="565539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0"/>
              </a:spcBef>
            </a:pPr>
            <a:r>
              <a:rPr sz="3600" spc="-63" dirty="0">
                <a:solidFill>
                  <a:srgbClr val="FF0000"/>
                </a:solidFill>
                <a:cs typeface="Calibri Light"/>
              </a:rPr>
              <a:t>Deductive</a:t>
            </a:r>
            <a:r>
              <a:rPr sz="3600" spc="-54" dirty="0">
                <a:solidFill>
                  <a:srgbClr val="FF0000"/>
                </a:solidFill>
                <a:cs typeface="Calibri Light"/>
              </a:rPr>
              <a:t> </a:t>
            </a:r>
            <a:r>
              <a:rPr sz="3600" spc="-45" dirty="0">
                <a:solidFill>
                  <a:srgbClr val="FF0000"/>
                </a:solidFill>
                <a:cs typeface="Calibri Light"/>
              </a:rPr>
              <a:t>Reasoning</a:t>
            </a:r>
            <a:endParaRPr sz="3600" dirty="0"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2079053"/>
            <a:ext cx="8059674" cy="1728358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 algn="just">
              <a:spcBef>
                <a:spcPts val="86"/>
              </a:spcBef>
            </a:pPr>
            <a:r>
              <a:rPr sz="2520" b="1" dirty="0">
                <a:solidFill>
                  <a:srgbClr val="92D050"/>
                </a:solidFill>
                <a:cs typeface="Tahoma"/>
              </a:rPr>
              <a:t>An</a:t>
            </a:r>
            <a:r>
              <a:rPr sz="2520" b="1" spc="-32" dirty="0">
                <a:solidFill>
                  <a:srgbClr val="92D050"/>
                </a:solidFill>
                <a:cs typeface="Tahoma"/>
              </a:rPr>
              <a:t> </a:t>
            </a:r>
            <a:r>
              <a:rPr sz="2520" b="1" spc="-9" dirty="0">
                <a:solidFill>
                  <a:srgbClr val="92D050"/>
                </a:solidFill>
                <a:cs typeface="Tahoma"/>
              </a:rPr>
              <a:t>Example</a:t>
            </a:r>
            <a:r>
              <a:rPr sz="2520" b="1" spc="-9" dirty="0" smtClean="0">
                <a:solidFill>
                  <a:srgbClr val="92D050"/>
                </a:solidFill>
                <a:cs typeface="Tahoma"/>
              </a:rPr>
              <a:t>:</a:t>
            </a:r>
            <a:endParaRPr sz="2520" b="1" dirty="0">
              <a:cs typeface="Tahoma"/>
            </a:endParaRPr>
          </a:p>
          <a:p>
            <a:pPr marL="80010" marR="4572" algn="just"/>
            <a:r>
              <a:rPr sz="2880" b="1" dirty="0">
                <a:cs typeface="Tahoma"/>
              </a:rPr>
              <a:t>The</a:t>
            </a:r>
            <a:r>
              <a:rPr sz="2880" b="1" spc="-5" dirty="0">
                <a:cs typeface="Tahoma"/>
              </a:rPr>
              <a:t> </a:t>
            </a:r>
            <a:r>
              <a:rPr sz="2880" b="1" dirty="0">
                <a:cs typeface="Tahoma"/>
              </a:rPr>
              <a:t>catalog</a:t>
            </a:r>
            <a:r>
              <a:rPr sz="2880" b="1" spc="-36" dirty="0">
                <a:cs typeface="Tahoma"/>
              </a:rPr>
              <a:t> </a:t>
            </a:r>
            <a:r>
              <a:rPr sz="2880" b="1" dirty="0">
                <a:cs typeface="Tahoma"/>
              </a:rPr>
              <a:t>states</a:t>
            </a:r>
            <a:r>
              <a:rPr sz="2880" b="1" spc="-23" dirty="0">
                <a:cs typeface="Tahoma"/>
              </a:rPr>
              <a:t> </a:t>
            </a:r>
            <a:r>
              <a:rPr sz="2880" b="1" dirty="0">
                <a:cs typeface="Tahoma"/>
              </a:rPr>
              <a:t>that</a:t>
            </a:r>
            <a:r>
              <a:rPr sz="2880" b="1" spc="-18" dirty="0">
                <a:cs typeface="Tahoma"/>
              </a:rPr>
              <a:t> </a:t>
            </a:r>
            <a:r>
              <a:rPr sz="2880" b="1" dirty="0">
                <a:cs typeface="Tahoma"/>
              </a:rPr>
              <a:t>all</a:t>
            </a:r>
            <a:r>
              <a:rPr sz="2880" b="1" spc="-14" dirty="0">
                <a:cs typeface="Tahoma"/>
              </a:rPr>
              <a:t> </a:t>
            </a:r>
            <a:r>
              <a:rPr sz="2880" b="1" spc="-9" dirty="0">
                <a:cs typeface="Tahoma"/>
              </a:rPr>
              <a:t>entering </a:t>
            </a:r>
            <a:r>
              <a:rPr sz="2880" b="1" dirty="0">
                <a:cs typeface="Tahoma"/>
              </a:rPr>
              <a:t>freshmen</a:t>
            </a:r>
            <a:r>
              <a:rPr sz="2880" b="1" spc="-27" dirty="0">
                <a:cs typeface="Tahoma"/>
              </a:rPr>
              <a:t> </a:t>
            </a:r>
            <a:r>
              <a:rPr sz="2880" b="1" dirty="0">
                <a:cs typeface="Tahoma"/>
              </a:rPr>
              <a:t>must</a:t>
            </a:r>
            <a:r>
              <a:rPr sz="2880" b="1" spc="-18" dirty="0">
                <a:cs typeface="Tahoma"/>
              </a:rPr>
              <a:t> </a:t>
            </a:r>
            <a:r>
              <a:rPr sz="2880" b="1" dirty="0">
                <a:cs typeface="Tahoma"/>
              </a:rPr>
              <a:t>take</a:t>
            </a:r>
            <a:r>
              <a:rPr sz="2880" b="1" spc="-14" dirty="0">
                <a:cs typeface="Tahoma"/>
              </a:rPr>
              <a:t> </a:t>
            </a:r>
            <a:r>
              <a:rPr sz="2880" b="1" dirty="0">
                <a:cs typeface="Tahoma"/>
              </a:rPr>
              <a:t>a</a:t>
            </a:r>
            <a:r>
              <a:rPr sz="2880" b="1" spc="-9" dirty="0">
                <a:cs typeface="Tahoma"/>
              </a:rPr>
              <a:t> mathematics </a:t>
            </a:r>
            <a:r>
              <a:rPr sz="2880" b="1" dirty="0">
                <a:cs typeface="Tahoma"/>
              </a:rPr>
              <a:t>placement</a:t>
            </a:r>
            <a:r>
              <a:rPr sz="2880" b="1" spc="-36" dirty="0">
                <a:cs typeface="Tahoma"/>
              </a:rPr>
              <a:t> </a:t>
            </a:r>
            <a:r>
              <a:rPr sz="2880" b="1" spc="-9" dirty="0">
                <a:cs typeface="Tahoma"/>
              </a:rPr>
              <a:t>test.</a:t>
            </a:r>
            <a:endParaRPr sz="2880" dirty="0"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17220" y="4526280"/>
            <a:ext cx="8298180" cy="815993"/>
          </a:xfrm>
          <a:prstGeom prst="rect">
            <a:avLst/>
          </a:prstGeom>
          <a:solidFill>
            <a:srgbClr val="92D050"/>
          </a:solidFill>
        </p:spPr>
        <p:txBody>
          <a:bodyPr vert="horz" wrap="square" lIns="0" tIns="40005" rIns="0" bIns="0" rtlCol="0">
            <a:spAutoFit/>
          </a:bodyPr>
          <a:lstStyle/>
          <a:p>
            <a:pPr marL="82296" marR="985838">
              <a:spcBef>
                <a:spcPts val="315"/>
              </a:spcBef>
              <a:tabLst>
                <a:tab pos="2134553" algn="l"/>
              </a:tabLst>
            </a:pPr>
            <a:r>
              <a:rPr sz="2520" b="1" spc="-9" dirty="0">
                <a:solidFill>
                  <a:srgbClr val="FFFFFF"/>
                </a:solidFill>
                <a:latin typeface="+mj-lt"/>
                <a:cs typeface="Tahoma"/>
              </a:rPr>
              <a:t>Conclusion</a:t>
            </a:r>
            <a:r>
              <a:rPr sz="2520" b="1" spc="-9" dirty="0">
                <a:latin typeface="+mj-lt"/>
                <a:cs typeface="Tahoma"/>
              </a:rPr>
              <a:t>:</a:t>
            </a:r>
            <a:r>
              <a:rPr sz="2520" b="1" dirty="0">
                <a:latin typeface="+mj-lt"/>
                <a:cs typeface="Tahoma"/>
              </a:rPr>
              <a:t>	You</a:t>
            </a:r>
            <a:r>
              <a:rPr sz="2520" b="1" spc="-36" dirty="0">
                <a:latin typeface="+mj-lt"/>
                <a:cs typeface="Tahoma"/>
              </a:rPr>
              <a:t> </a:t>
            </a:r>
            <a:r>
              <a:rPr sz="2520" b="1" dirty="0">
                <a:latin typeface="+mj-lt"/>
                <a:cs typeface="Tahoma"/>
              </a:rPr>
              <a:t>will</a:t>
            </a:r>
            <a:r>
              <a:rPr sz="2520" b="1" spc="-23" dirty="0">
                <a:latin typeface="+mj-lt"/>
                <a:cs typeface="Tahoma"/>
              </a:rPr>
              <a:t> </a:t>
            </a:r>
            <a:r>
              <a:rPr sz="2520" b="1" dirty="0">
                <a:latin typeface="+mj-lt"/>
                <a:cs typeface="Tahoma"/>
              </a:rPr>
              <a:t>have</a:t>
            </a:r>
            <a:r>
              <a:rPr sz="2520" b="1" spc="-32" dirty="0">
                <a:latin typeface="+mj-lt"/>
                <a:cs typeface="Tahoma"/>
              </a:rPr>
              <a:t> </a:t>
            </a:r>
            <a:r>
              <a:rPr sz="2520" b="1" dirty="0">
                <a:latin typeface="+mj-lt"/>
                <a:cs typeface="Tahoma"/>
              </a:rPr>
              <a:t>to</a:t>
            </a:r>
            <a:r>
              <a:rPr sz="2520" b="1" spc="-36" dirty="0">
                <a:latin typeface="+mj-lt"/>
                <a:cs typeface="Tahoma"/>
              </a:rPr>
              <a:t> </a:t>
            </a:r>
            <a:r>
              <a:rPr sz="2520" b="1" dirty="0">
                <a:latin typeface="+mj-lt"/>
                <a:cs typeface="Tahoma"/>
              </a:rPr>
              <a:t>take</a:t>
            </a:r>
            <a:r>
              <a:rPr sz="2520" b="1" spc="-32" dirty="0">
                <a:latin typeface="+mj-lt"/>
                <a:cs typeface="Tahoma"/>
              </a:rPr>
              <a:t> </a:t>
            </a:r>
            <a:r>
              <a:rPr sz="2520" b="1" spc="-45" dirty="0">
                <a:latin typeface="+mj-lt"/>
                <a:cs typeface="Tahoma"/>
              </a:rPr>
              <a:t>a </a:t>
            </a:r>
            <a:r>
              <a:rPr sz="2520" b="1" dirty="0">
                <a:latin typeface="+mj-lt"/>
                <a:cs typeface="Tahoma"/>
              </a:rPr>
              <a:t>mathematics</a:t>
            </a:r>
            <a:r>
              <a:rPr sz="2520" b="1" spc="-103" dirty="0">
                <a:latin typeface="+mj-lt"/>
                <a:cs typeface="Tahoma"/>
              </a:rPr>
              <a:t> </a:t>
            </a:r>
            <a:r>
              <a:rPr sz="2520" b="1" dirty="0">
                <a:latin typeface="+mj-lt"/>
                <a:cs typeface="Tahoma"/>
              </a:rPr>
              <a:t>placement</a:t>
            </a:r>
            <a:r>
              <a:rPr sz="2520" b="1" spc="-122" dirty="0">
                <a:latin typeface="+mj-lt"/>
                <a:cs typeface="Tahoma"/>
              </a:rPr>
              <a:t> </a:t>
            </a:r>
            <a:r>
              <a:rPr sz="2520" b="1" spc="-9" dirty="0">
                <a:latin typeface="+mj-lt"/>
                <a:cs typeface="Tahoma"/>
              </a:rPr>
              <a:t>test.</a:t>
            </a:r>
            <a:endParaRPr sz="2520" dirty="0">
              <a:latin typeface="+mj-lt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7220" y="3952748"/>
            <a:ext cx="5074920" cy="428194"/>
          </a:xfrm>
          <a:prstGeom prst="rect">
            <a:avLst/>
          </a:prstGeom>
          <a:solidFill>
            <a:srgbClr val="99CCFF"/>
          </a:solidFill>
        </p:spPr>
        <p:txBody>
          <a:bodyPr vert="horz" wrap="square" lIns="0" tIns="40005" rIns="0" bIns="0" rtlCol="0">
            <a:spAutoFit/>
          </a:bodyPr>
          <a:lstStyle/>
          <a:p>
            <a:pPr marL="82296">
              <a:spcBef>
                <a:spcPts val="315"/>
              </a:spcBef>
            </a:pPr>
            <a:r>
              <a:rPr sz="2520" b="1" dirty="0">
                <a:cs typeface="Tahoma"/>
              </a:rPr>
              <a:t>You</a:t>
            </a:r>
            <a:r>
              <a:rPr sz="2520" b="1" spc="-50" dirty="0">
                <a:cs typeface="Tahoma"/>
              </a:rPr>
              <a:t> </a:t>
            </a:r>
            <a:r>
              <a:rPr sz="2520" b="1" dirty="0">
                <a:cs typeface="Tahoma"/>
              </a:rPr>
              <a:t>are</a:t>
            </a:r>
            <a:r>
              <a:rPr sz="2520" b="1" spc="-45" dirty="0">
                <a:cs typeface="Tahoma"/>
              </a:rPr>
              <a:t> </a:t>
            </a:r>
            <a:r>
              <a:rPr sz="2520" b="1" dirty="0">
                <a:cs typeface="Tahoma"/>
              </a:rPr>
              <a:t>an</a:t>
            </a:r>
            <a:r>
              <a:rPr sz="2520" b="1" spc="-50" dirty="0">
                <a:cs typeface="Tahoma"/>
              </a:rPr>
              <a:t> </a:t>
            </a:r>
            <a:r>
              <a:rPr sz="2520" b="1" dirty="0">
                <a:cs typeface="Tahoma"/>
              </a:rPr>
              <a:t>entering</a:t>
            </a:r>
            <a:r>
              <a:rPr sz="2520" b="1" spc="-36" dirty="0">
                <a:cs typeface="Tahoma"/>
              </a:rPr>
              <a:t> </a:t>
            </a:r>
            <a:r>
              <a:rPr sz="2520" b="1" spc="-9" dirty="0">
                <a:cs typeface="Tahoma"/>
              </a:rPr>
              <a:t>freshman.</a:t>
            </a:r>
            <a:endParaRPr sz="2520" dirty="0">
              <a:cs typeface="Tahom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11804" y="1829257"/>
            <a:ext cx="6959727" cy="610424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1430" marR="4572">
              <a:lnSpc>
                <a:spcPts val="2160"/>
              </a:lnSpc>
              <a:spcBef>
                <a:spcPts val="360"/>
              </a:spcBef>
            </a:pPr>
            <a:r>
              <a:rPr sz="1980" dirty="0">
                <a:solidFill>
                  <a:srgbClr val="404040"/>
                </a:solidFill>
                <a:latin typeface="+mj-lt"/>
                <a:cs typeface="Calibri"/>
              </a:rPr>
              <a:t>90%</a:t>
            </a:r>
            <a:r>
              <a:rPr sz="1980" spc="14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980" dirty="0">
                <a:solidFill>
                  <a:srgbClr val="404040"/>
                </a:solidFill>
                <a:latin typeface="+mj-lt"/>
                <a:cs typeface="Calibri"/>
              </a:rPr>
              <a:t>of</a:t>
            </a:r>
            <a:r>
              <a:rPr sz="1980" spc="18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980" dirty="0">
                <a:solidFill>
                  <a:srgbClr val="404040"/>
                </a:solidFill>
                <a:latin typeface="+mj-lt"/>
                <a:cs typeface="Calibri"/>
              </a:rPr>
              <a:t>humans</a:t>
            </a:r>
            <a:r>
              <a:rPr sz="1980" spc="18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980" dirty="0">
                <a:solidFill>
                  <a:srgbClr val="404040"/>
                </a:solidFill>
                <a:latin typeface="+mj-lt"/>
                <a:cs typeface="Calibri"/>
              </a:rPr>
              <a:t>are </a:t>
            </a:r>
            <a:r>
              <a:rPr sz="1980" spc="-9" dirty="0">
                <a:solidFill>
                  <a:srgbClr val="404040"/>
                </a:solidFill>
                <a:latin typeface="+mj-lt"/>
                <a:cs typeface="Calibri"/>
              </a:rPr>
              <a:t>right-</a:t>
            </a:r>
            <a:r>
              <a:rPr sz="1980" dirty="0">
                <a:solidFill>
                  <a:srgbClr val="404040"/>
                </a:solidFill>
                <a:latin typeface="+mj-lt"/>
                <a:cs typeface="Calibri"/>
              </a:rPr>
              <a:t>handed.</a:t>
            </a:r>
            <a:r>
              <a:rPr sz="1980" spc="486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980" dirty="0">
                <a:solidFill>
                  <a:srgbClr val="404040"/>
                </a:solidFill>
                <a:latin typeface="+mj-lt"/>
                <a:cs typeface="Calibri"/>
              </a:rPr>
              <a:t>Akhil</a:t>
            </a:r>
            <a:r>
              <a:rPr sz="1980" spc="23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980" dirty="0">
                <a:solidFill>
                  <a:srgbClr val="404040"/>
                </a:solidFill>
                <a:latin typeface="+mj-lt"/>
                <a:cs typeface="Calibri"/>
              </a:rPr>
              <a:t>is</a:t>
            </a:r>
            <a:r>
              <a:rPr sz="1980" spc="36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980" dirty="0">
                <a:solidFill>
                  <a:srgbClr val="404040"/>
                </a:solidFill>
                <a:latin typeface="+mj-lt"/>
                <a:cs typeface="Calibri"/>
              </a:rPr>
              <a:t>human, therefore Akhil</a:t>
            </a:r>
            <a:r>
              <a:rPr sz="1980" spc="36" dirty="0">
                <a:solidFill>
                  <a:srgbClr val="404040"/>
                </a:solidFill>
                <a:latin typeface="+mj-lt"/>
                <a:cs typeface="Calibri"/>
              </a:rPr>
              <a:t> </a:t>
            </a:r>
            <a:r>
              <a:rPr sz="1980" spc="-23" dirty="0">
                <a:solidFill>
                  <a:srgbClr val="404040"/>
                </a:solidFill>
                <a:latin typeface="+mj-lt"/>
                <a:cs typeface="Calibri"/>
              </a:rPr>
              <a:t>is </a:t>
            </a:r>
            <a:r>
              <a:rPr sz="1980" spc="-9" dirty="0">
                <a:solidFill>
                  <a:srgbClr val="404040"/>
                </a:solidFill>
                <a:latin typeface="+mj-lt"/>
                <a:cs typeface="Calibri"/>
              </a:rPr>
              <a:t>right-handed.</a:t>
            </a:r>
            <a:endParaRPr sz="1980" dirty="0">
              <a:latin typeface="+mj-lt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" y="876218"/>
            <a:ext cx="8229600" cy="56117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1778622" y="3784586"/>
            <a:ext cx="5155578" cy="916866"/>
          </a:xfrm>
          <a:prstGeom prst="rect">
            <a:avLst/>
          </a:prstGeom>
        </p:spPr>
        <p:txBody>
          <a:bodyPr vert="horz" wrap="square" lIns="0" tIns="85039" rIns="0" bIns="0" rtlCol="0">
            <a:spAutoFit/>
          </a:bodyPr>
          <a:lstStyle/>
          <a:p>
            <a:pPr marL="11430">
              <a:lnSpc>
                <a:spcPct val="100000"/>
              </a:lnSpc>
              <a:spcBef>
                <a:spcPts val="90"/>
              </a:spcBef>
            </a:pPr>
            <a:r>
              <a:rPr sz="5400" b="1" spc="-9" dirty="0">
                <a:solidFill>
                  <a:srgbClr val="FF0000"/>
                </a:solidFill>
                <a:latin typeface="+mn-lt"/>
                <a:cs typeface="Arial"/>
              </a:rPr>
              <a:t>DEDUCTIVE</a:t>
            </a:r>
            <a:endParaRPr sz="5400" dirty="0"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838200"/>
            <a:ext cx="8229600" cy="5601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602673" y="2299180"/>
            <a:ext cx="8001000" cy="1485407"/>
          </a:xfrm>
          <a:prstGeom prst="rect">
            <a:avLst/>
          </a:prstGeom>
        </p:spPr>
        <p:txBody>
          <a:bodyPr vert="horz" wrap="square" lIns="0" tIns="10287" rIns="0" bIns="0" rtlCol="0" anchor="b">
            <a:spAutoFit/>
          </a:bodyPr>
          <a:lstStyle/>
          <a:p>
            <a:pPr marL="337185" marR="3184398">
              <a:lnSpc>
                <a:spcPct val="100299"/>
              </a:lnSpc>
              <a:spcBef>
                <a:spcPts val="81"/>
              </a:spcBef>
            </a:pPr>
            <a:r>
              <a:rPr sz="3195" b="0" spc="-36" dirty="0">
                <a:solidFill>
                  <a:srgbClr val="000000"/>
                </a:solidFill>
                <a:latin typeface="+mj-lt"/>
                <a:cs typeface="Microsoft Sans Serif"/>
              </a:rPr>
              <a:t>You</a:t>
            </a:r>
            <a:r>
              <a:rPr sz="3195" b="0" spc="-23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dirty="0">
                <a:solidFill>
                  <a:srgbClr val="000000"/>
                </a:solidFill>
                <a:latin typeface="+mj-lt"/>
                <a:cs typeface="Microsoft Sans Serif"/>
              </a:rPr>
              <a:t>are</a:t>
            </a:r>
            <a:r>
              <a:rPr sz="3195" b="0" spc="-23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dirty="0">
                <a:solidFill>
                  <a:srgbClr val="000000"/>
                </a:solidFill>
                <a:latin typeface="+mj-lt"/>
                <a:cs typeface="Microsoft Sans Serif"/>
              </a:rPr>
              <a:t>a</a:t>
            </a:r>
            <a:r>
              <a:rPr sz="3195" b="0" spc="-23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dirty="0">
                <a:solidFill>
                  <a:srgbClr val="000000"/>
                </a:solidFill>
                <a:latin typeface="+mj-lt"/>
                <a:cs typeface="Microsoft Sans Serif"/>
              </a:rPr>
              <a:t>good</a:t>
            </a:r>
            <a:r>
              <a:rPr sz="3195" b="0" spc="-23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spc="-9" dirty="0">
                <a:solidFill>
                  <a:srgbClr val="000000"/>
                </a:solidFill>
                <a:latin typeface="+mj-lt"/>
                <a:cs typeface="Microsoft Sans Serif"/>
              </a:rPr>
              <a:t>student. </a:t>
            </a:r>
            <a:r>
              <a:rPr sz="3195" b="0" spc="-36" dirty="0">
                <a:solidFill>
                  <a:srgbClr val="000000"/>
                </a:solidFill>
                <a:latin typeface="+mj-lt"/>
                <a:cs typeface="Microsoft Sans Serif"/>
              </a:rPr>
              <a:t>You</a:t>
            </a:r>
            <a:r>
              <a:rPr sz="3195" b="0" spc="-68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dirty="0">
                <a:solidFill>
                  <a:srgbClr val="000000"/>
                </a:solidFill>
                <a:latin typeface="+mj-lt"/>
                <a:cs typeface="Microsoft Sans Serif"/>
              </a:rPr>
              <a:t>get </a:t>
            </a:r>
            <a:r>
              <a:rPr sz="3195" b="0" spc="-9" dirty="0">
                <a:solidFill>
                  <a:srgbClr val="000000"/>
                </a:solidFill>
                <a:latin typeface="+mj-lt"/>
                <a:cs typeface="Microsoft Sans Serif"/>
              </a:rPr>
              <a:t>all</a:t>
            </a:r>
            <a:r>
              <a:rPr sz="3195" b="0" spc="-203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spc="-23" dirty="0">
                <a:solidFill>
                  <a:srgbClr val="000000"/>
                </a:solidFill>
                <a:latin typeface="+mj-lt"/>
                <a:cs typeface="Microsoft Sans Serif"/>
              </a:rPr>
              <a:t>A’s</a:t>
            </a:r>
            <a:endParaRPr sz="3195" dirty="0">
              <a:latin typeface="+mj-lt"/>
              <a:cs typeface="Microsoft Sans Serif"/>
            </a:endParaRPr>
          </a:p>
          <a:p>
            <a:pPr marL="337185">
              <a:lnSpc>
                <a:spcPct val="100000"/>
              </a:lnSpc>
            </a:pPr>
            <a:r>
              <a:rPr sz="3195" b="0" dirty="0">
                <a:solidFill>
                  <a:srgbClr val="000000"/>
                </a:solidFill>
                <a:latin typeface="+mj-lt"/>
                <a:cs typeface="Microsoft Sans Serif"/>
              </a:rPr>
              <a:t>Therefore</a:t>
            </a:r>
            <a:r>
              <a:rPr sz="3195" b="0" spc="-81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dirty="0">
                <a:solidFill>
                  <a:srgbClr val="000000"/>
                </a:solidFill>
                <a:latin typeface="+mj-lt"/>
                <a:cs typeface="Microsoft Sans Serif"/>
              </a:rPr>
              <a:t>your friends</a:t>
            </a:r>
            <a:r>
              <a:rPr sz="3195" b="0" spc="-54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dirty="0">
                <a:solidFill>
                  <a:srgbClr val="000000"/>
                </a:solidFill>
                <a:latin typeface="+mj-lt"/>
                <a:cs typeface="Microsoft Sans Serif"/>
              </a:rPr>
              <a:t>must</a:t>
            </a:r>
            <a:r>
              <a:rPr sz="3195" b="0" spc="-45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dirty="0">
                <a:solidFill>
                  <a:srgbClr val="000000"/>
                </a:solidFill>
                <a:latin typeface="+mj-lt"/>
                <a:cs typeface="Microsoft Sans Serif"/>
              </a:rPr>
              <a:t>get </a:t>
            </a:r>
            <a:r>
              <a:rPr sz="3195" b="0" spc="-9" dirty="0">
                <a:solidFill>
                  <a:srgbClr val="000000"/>
                </a:solidFill>
                <a:latin typeface="+mj-lt"/>
                <a:cs typeface="Microsoft Sans Serif"/>
              </a:rPr>
              <a:t>all</a:t>
            </a:r>
            <a:r>
              <a:rPr sz="3195" b="0" spc="-198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spc="-32" dirty="0">
                <a:solidFill>
                  <a:srgbClr val="000000"/>
                </a:solidFill>
                <a:latin typeface="+mj-lt"/>
                <a:cs typeface="Microsoft Sans Serif"/>
              </a:rPr>
              <a:t>A’s</a:t>
            </a:r>
            <a:r>
              <a:rPr sz="3195" b="0" dirty="0">
                <a:solidFill>
                  <a:srgbClr val="000000"/>
                </a:solidFill>
                <a:latin typeface="+mj-lt"/>
                <a:cs typeface="Microsoft Sans Serif"/>
              </a:rPr>
              <a:t> </a:t>
            </a:r>
            <a:r>
              <a:rPr sz="3195" b="0" spc="-23" dirty="0">
                <a:solidFill>
                  <a:srgbClr val="000000"/>
                </a:solidFill>
                <a:latin typeface="+mj-lt"/>
                <a:cs typeface="Microsoft Sans Serif"/>
              </a:rPr>
              <a:t>too</a:t>
            </a:r>
            <a:endParaRPr sz="3195" dirty="0">
              <a:latin typeface="+mj-lt"/>
              <a:cs typeface="Microsoft Sans Serif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1676400" y="4114800"/>
            <a:ext cx="5307978" cy="748475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240030">
              <a:lnSpc>
                <a:spcPct val="100000"/>
              </a:lnSpc>
              <a:spcBef>
                <a:spcPts val="113"/>
              </a:spcBef>
            </a:pPr>
            <a:r>
              <a:rPr sz="4770" b="1" spc="-9" dirty="0">
                <a:solidFill>
                  <a:srgbClr val="FF0000"/>
                </a:solidFill>
                <a:latin typeface="+mn-lt"/>
                <a:cs typeface="Arial"/>
              </a:rPr>
              <a:t>INDUCTIVE</a:t>
            </a:r>
            <a:endParaRPr sz="4770" dirty="0"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57200" y="904308"/>
            <a:ext cx="8229600" cy="56014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33897" y="1956545"/>
            <a:ext cx="7373493" cy="455317"/>
          </a:xfrm>
          <a:prstGeom prst="rect">
            <a:avLst/>
          </a:prstGeom>
        </p:spPr>
        <p:txBody>
          <a:bodyPr vert="horz" wrap="square" lIns="0" tIns="12002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5"/>
              </a:spcBef>
              <a:tabLst>
                <a:tab pos="3643884" algn="l"/>
                <a:tab pos="5148072" algn="l"/>
              </a:tabLst>
            </a:pPr>
            <a:r>
              <a:rPr sz="2880" dirty="0">
                <a:solidFill>
                  <a:srgbClr val="000000"/>
                </a:solidFill>
                <a:cs typeface="Microsoft Sans Serif"/>
              </a:rPr>
              <a:t>All</a:t>
            </a:r>
            <a:r>
              <a:rPr sz="2880" spc="-9" dirty="0">
                <a:solidFill>
                  <a:srgbClr val="000000"/>
                </a:solidFill>
                <a:cs typeface="Microsoft Sans Serif"/>
              </a:rPr>
              <a:t> </a:t>
            </a:r>
            <a:r>
              <a:rPr sz="2880" dirty="0">
                <a:solidFill>
                  <a:srgbClr val="000000"/>
                </a:solidFill>
                <a:cs typeface="Microsoft Sans Serif"/>
              </a:rPr>
              <a:t>oranges</a:t>
            </a:r>
            <a:r>
              <a:rPr sz="2880" spc="-18" dirty="0">
                <a:solidFill>
                  <a:srgbClr val="000000"/>
                </a:solidFill>
                <a:cs typeface="Microsoft Sans Serif"/>
              </a:rPr>
              <a:t> </a:t>
            </a:r>
            <a:r>
              <a:rPr sz="2880" dirty="0">
                <a:solidFill>
                  <a:srgbClr val="000000"/>
                </a:solidFill>
                <a:cs typeface="Microsoft Sans Serif"/>
              </a:rPr>
              <a:t>are</a:t>
            </a:r>
            <a:r>
              <a:rPr sz="2880" spc="-9" dirty="0">
                <a:solidFill>
                  <a:srgbClr val="000000"/>
                </a:solidFill>
                <a:cs typeface="Microsoft Sans Serif"/>
              </a:rPr>
              <a:t> fruits.</a:t>
            </a:r>
            <a:r>
              <a:rPr sz="2880" dirty="0">
                <a:solidFill>
                  <a:srgbClr val="000000"/>
                </a:solidFill>
                <a:cs typeface="Microsoft Sans Serif"/>
              </a:rPr>
              <a:t>	All</a:t>
            </a:r>
            <a:r>
              <a:rPr sz="2880" spc="-18" dirty="0">
                <a:solidFill>
                  <a:srgbClr val="000000"/>
                </a:solidFill>
                <a:cs typeface="Microsoft Sans Serif"/>
              </a:rPr>
              <a:t> </a:t>
            </a:r>
            <a:r>
              <a:rPr sz="2880" spc="-9" dirty="0">
                <a:solidFill>
                  <a:srgbClr val="000000"/>
                </a:solidFill>
                <a:cs typeface="Microsoft Sans Serif"/>
              </a:rPr>
              <a:t>fruits</a:t>
            </a:r>
            <a:r>
              <a:rPr sz="2880" dirty="0">
                <a:solidFill>
                  <a:srgbClr val="000000"/>
                </a:solidFill>
                <a:cs typeface="Microsoft Sans Serif"/>
              </a:rPr>
              <a:t>	grow</a:t>
            </a:r>
            <a:r>
              <a:rPr sz="2880" spc="-9" dirty="0">
                <a:solidFill>
                  <a:srgbClr val="000000"/>
                </a:solidFill>
                <a:cs typeface="Microsoft Sans Serif"/>
              </a:rPr>
              <a:t> </a:t>
            </a:r>
            <a:r>
              <a:rPr sz="2880" dirty="0">
                <a:solidFill>
                  <a:srgbClr val="000000"/>
                </a:solidFill>
                <a:cs typeface="Microsoft Sans Serif"/>
              </a:rPr>
              <a:t>on</a:t>
            </a:r>
            <a:r>
              <a:rPr sz="2880" spc="9" dirty="0">
                <a:solidFill>
                  <a:srgbClr val="000000"/>
                </a:solidFill>
                <a:cs typeface="Microsoft Sans Serif"/>
              </a:rPr>
              <a:t> </a:t>
            </a:r>
            <a:r>
              <a:rPr sz="2880" spc="-9" dirty="0">
                <a:solidFill>
                  <a:srgbClr val="000000"/>
                </a:solidFill>
                <a:cs typeface="Microsoft Sans Serif"/>
              </a:rPr>
              <a:t>trees</a:t>
            </a:r>
            <a:endParaRPr sz="2880" dirty="0"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33897" y="2543061"/>
            <a:ext cx="5908167" cy="4553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80" dirty="0">
                <a:cs typeface="Microsoft Sans Serif"/>
              </a:rPr>
              <a:t>Therefore,</a:t>
            </a:r>
            <a:r>
              <a:rPr sz="2880" spc="-27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all</a:t>
            </a:r>
            <a:r>
              <a:rPr sz="2880" spc="-5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oranges</a:t>
            </a:r>
            <a:r>
              <a:rPr sz="2880" spc="-18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grow</a:t>
            </a:r>
            <a:r>
              <a:rPr sz="2880" spc="-5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on</a:t>
            </a:r>
            <a:r>
              <a:rPr sz="2880" spc="-5" dirty="0">
                <a:cs typeface="Microsoft Sans Serif"/>
              </a:rPr>
              <a:t> </a:t>
            </a:r>
            <a:r>
              <a:rPr sz="2880" spc="-18" dirty="0">
                <a:cs typeface="Microsoft Sans Serif"/>
              </a:rPr>
              <a:t>trees</a:t>
            </a:r>
            <a:endParaRPr sz="2880" dirty="0"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48707" y="3581400"/>
            <a:ext cx="3543872" cy="748475"/>
          </a:xfrm>
          <a:prstGeom prst="rect">
            <a:avLst/>
          </a:prstGeom>
        </p:spPr>
        <p:txBody>
          <a:bodyPr vert="horz" wrap="square" lIns="0" tIns="14288" rIns="0" bIns="0" rtlCol="0">
            <a:spAutoFit/>
          </a:bodyPr>
          <a:lstStyle/>
          <a:p>
            <a:pPr marL="11430">
              <a:spcBef>
                <a:spcPts val="113"/>
              </a:spcBef>
            </a:pPr>
            <a:r>
              <a:rPr sz="4770" b="1" spc="-9" dirty="0">
                <a:solidFill>
                  <a:srgbClr val="FF0000"/>
                </a:solidFill>
                <a:latin typeface="Arial"/>
                <a:cs typeface="Arial"/>
              </a:rPr>
              <a:t>DEDUCTIVE</a:t>
            </a:r>
            <a:endParaRPr sz="477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730624" y="2118722"/>
            <a:ext cx="7727576" cy="607435"/>
          </a:xfrm>
          <a:prstGeom prst="rect">
            <a:avLst/>
          </a:prstGeom>
        </p:spPr>
        <p:txBody>
          <a:bodyPr vert="horz" wrap="square" lIns="0" tIns="299808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108"/>
              </a:spcBef>
            </a:pPr>
            <a:r>
              <a:rPr sz="1980" b="0" dirty="0">
                <a:latin typeface="+mj-lt"/>
                <a:cs typeface="Calibri"/>
              </a:rPr>
              <a:t>Mikhail</a:t>
            </a:r>
            <a:r>
              <a:rPr sz="1980" b="0" spc="14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hails</a:t>
            </a:r>
            <a:r>
              <a:rPr sz="1980" b="0" spc="14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from</a:t>
            </a:r>
            <a:r>
              <a:rPr sz="1980" b="0" spc="9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Russia</a:t>
            </a:r>
            <a:r>
              <a:rPr sz="1980" b="0" spc="32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and</a:t>
            </a:r>
            <a:r>
              <a:rPr sz="1980" b="0" spc="-5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Russians</a:t>
            </a:r>
            <a:r>
              <a:rPr sz="1980" b="0" spc="41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are</a:t>
            </a:r>
            <a:r>
              <a:rPr sz="1980" b="0" spc="-14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tall,</a:t>
            </a:r>
            <a:r>
              <a:rPr sz="1980" b="0" spc="9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therefore</a:t>
            </a:r>
            <a:r>
              <a:rPr sz="1980" b="0" spc="-18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Mikhail</a:t>
            </a:r>
            <a:r>
              <a:rPr sz="1980" b="0" spc="18" dirty="0">
                <a:latin typeface="+mj-lt"/>
                <a:cs typeface="Calibri"/>
              </a:rPr>
              <a:t> </a:t>
            </a:r>
            <a:r>
              <a:rPr sz="1980" b="0" dirty="0">
                <a:latin typeface="+mj-lt"/>
                <a:cs typeface="Calibri"/>
              </a:rPr>
              <a:t>is</a:t>
            </a:r>
            <a:r>
              <a:rPr sz="1980" b="0" spc="18" dirty="0">
                <a:latin typeface="+mj-lt"/>
                <a:cs typeface="Calibri"/>
              </a:rPr>
              <a:t> </a:t>
            </a:r>
            <a:r>
              <a:rPr sz="1980" b="0" spc="-18" dirty="0">
                <a:latin typeface="+mj-lt"/>
                <a:cs typeface="Calibri"/>
              </a:rPr>
              <a:t>tall</a:t>
            </a:r>
            <a:endParaRPr sz="1980" dirty="0">
              <a:latin typeface="+mj-lt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780218"/>
            <a:ext cx="8229600" cy="560147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1778622" y="3784587"/>
            <a:ext cx="4012578" cy="765786"/>
          </a:xfrm>
          <a:prstGeom prst="rect">
            <a:avLst/>
          </a:prstGeom>
        </p:spPr>
        <p:txBody>
          <a:bodyPr vert="horz" wrap="square" lIns="0" tIns="93154" rIns="0" bIns="0" rtlCol="0">
            <a:spAutoFit/>
          </a:bodyPr>
          <a:lstStyle/>
          <a:p>
            <a:pPr marL="354330">
              <a:lnSpc>
                <a:spcPct val="100000"/>
              </a:lnSpc>
              <a:spcBef>
                <a:spcPts val="122"/>
              </a:spcBef>
            </a:pPr>
            <a:r>
              <a:rPr sz="4365" b="1" spc="-9" dirty="0">
                <a:solidFill>
                  <a:srgbClr val="FF0000"/>
                </a:solidFill>
                <a:latin typeface="+mn-lt"/>
                <a:cs typeface="Arial"/>
              </a:rPr>
              <a:t>INDUCTIVE</a:t>
            </a:r>
            <a:endParaRPr sz="4365" dirty="0"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105" y="159106"/>
            <a:ext cx="6628943" cy="6500012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7105" y="157317"/>
            <a:ext cx="7085685" cy="650687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57200" y="457200"/>
            <a:ext cx="8487918" cy="2565639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lnSpc>
                <a:spcPts val="3393"/>
              </a:lnSpc>
              <a:spcBef>
                <a:spcPts val="95"/>
              </a:spcBef>
            </a:pPr>
            <a:r>
              <a:rPr sz="2880" dirty="0">
                <a:cs typeface="Microsoft Sans Serif"/>
              </a:rPr>
              <a:t>Do</a:t>
            </a:r>
            <a:r>
              <a:rPr sz="2880" spc="72" dirty="0">
                <a:cs typeface="Microsoft Sans Serif"/>
              </a:rPr>
              <a:t> </a:t>
            </a:r>
            <a:r>
              <a:rPr sz="2880" spc="-18" dirty="0">
                <a:cs typeface="Microsoft Sans Serif"/>
              </a:rPr>
              <a:t>the </a:t>
            </a:r>
            <a:r>
              <a:rPr sz="2880" spc="-86" dirty="0">
                <a:cs typeface="Microsoft Sans Serif"/>
              </a:rPr>
              <a:t>following</a:t>
            </a:r>
            <a:r>
              <a:rPr sz="2880" spc="-27" dirty="0">
                <a:cs typeface="Microsoft Sans Serif"/>
              </a:rPr>
              <a:t> </a:t>
            </a:r>
            <a:r>
              <a:rPr sz="2880" spc="-113" dirty="0">
                <a:cs typeface="Microsoft Sans Serif"/>
              </a:rPr>
              <a:t>enterprises</a:t>
            </a:r>
            <a:r>
              <a:rPr sz="2880" spc="-68" dirty="0">
                <a:cs typeface="Microsoft Sans Serif"/>
              </a:rPr>
              <a:t> </a:t>
            </a:r>
            <a:r>
              <a:rPr sz="2880" spc="-176" dirty="0">
                <a:cs typeface="Microsoft Sans Serif"/>
              </a:rPr>
              <a:t>use</a:t>
            </a:r>
            <a:r>
              <a:rPr sz="2880" spc="-189" dirty="0">
                <a:cs typeface="Microsoft Sans Serif"/>
              </a:rPr>
              <a:t> </a:t>
            </a:r>
            <a:r>
              <a:rPr sz="2880" i="1" spc="-206" dirty="0">
                <a:cs typeface="Arial"/>
              </a:rPr>
              <a:t>inductive,</a:t>
            </a:r>
            <a:r>
              <a:rPr sz="2880" i="1" spc="-518" dirty="0">
                <a:cs typeface="Arial"/>
              </a:rPr>
              <a:t> </a:t>
            </a:r>
            <a:r>
              <a:rPr sz="2880" i="1" spc="-221" dirty="0">
                <a:cs typeface="Arial"/>
              </a:rPr>
              <a:t>abductive</a:t>
            </a:r>
            <a:r>
              <a:rPr sz="2880" i="1" spc="-257" dirty="0">
                <a:cs typeface="Arial"/>
              </a:rPr>
              <a:t> </a:t>
            </a:r>
            <a:r>
              <a:rPr sz="2880" spc="54" dirty="0">
                <a:cs typeface="Microsoft Sans Serif"/>
              </a:rPr>
              <a:t>or</a:t>
            </a:r>
            <a:endParaRPr sz="2880" dirty="0">
              <a:cs typeface="Microsoft Sans Serif"/>
            </a:endParaRPr>
          </a:p>
          <a:p>
            <a:pPr marL="11430">
              <a:lnSpc>
                <a:spcPts val="3393"/>
              </a:lnSpc>
            </a:pPr>
            <a:r>
              <a:rPr sz="2880" i="1" spc="-229" dirty="0">
                <a:cs typeface="Arial"/>
              </a:rPr>
              <a:t>deductive</a:t>
            </a:r>
            <a:r>
              <a:rPr sz="2880" i="1" spc="-234" dirty="0">
                <a:cs typeface="Arial"/>
              </a:rPr>
              <a:t> </a:t>
            </a:r>
            <a:r>
              <a:rPr lang="en-IN" sz="2880" i="1" spc="-234" dirty="0" smtClean="0">
                <a:cs typeface="Arial"/>
              </a:rPr>
              <a:t> </a:t>
            </a:r>
            <a:r>
              <a:rPr sz="2880" spc="108" dirty="0" smtClean="0">
                <a:cs typeface="Microsoft Sans Serif"/>
              </a:rPr>
              <a:t>r</a:t>
            </a:r>
            <a:r>
              <a:rPr sz="2880" spc="-315" dirty="0" smtClean="0">
                <a:cs typeface="Microsoft Sans Serif"/>
              </a:rPr>
              <a:t>e</a:t>
            </a:r>
            <a:r>
              <a:rPr sz="2880" spc="-320" dirty="0" smtClean="0">
                <a:cs typeface="Microsoft Sans Serif"/>
              </a:rPr>
              <a:t>a</a:t>
            </a:r>
            <a:r>
              <a:rPr sz="2880" spc="-342" dirty="0" smtClean="0">
                <a:cs typeface="Microsoft Sans Serif"/>
              </a:rPr>
              <a:t>s</a:t>
            </a:r>
            <a:r>
              <a:rPr sz="2880" spc="-27" dirty="0" smtClean="0">
                <a:cs typeface="Microsoft Sans Serif"/>
              </a:rPr>
              <a:t>o</a:t>
            </a:r>
            <a:r>
              <a:rPr sz="2880" spc="-108" dirty="0" smtClean="0">
                <a:cs typeface="Microsoft Sans Serif"/>
              </a:rPr>
              <a:t>ni</a:t>
            </a:r>
            <a:r>
              <a:rPr sz="2880" spc="-288" dirty="0" smtClean="0">
                <a:cs typeface="Microsoft Sans Serif"/>
              </a:rPr>
              <a:t>n</a:t>
            </a:r>
            <a:r>
              <a:rPr sz="2880" spc="-9" dirty="0" smtClean="0">
                <a:cs typeface="Microsoft Sans Serif"/>
              </a:rPr>
              <a:t>g</a:t>
            </a:r>
            <a:r>
              <a:rPr sz="2880" spc="-206" dirty="0" smtClean="0">
                <a:cs typeface="Microsoft Sans Serif"/>
              </a:rPr>
              <a:t> </a:t>
            </a:r>
            <a:r>
              <a:rPr sz="2880" spc="50" dirty="0">
                <a:cs typeface="Microsoft Sans Serif"/>
              </a:rPr>
              <a:t>m</a:t>
            </a:r>
            <a:r>
              <a:rPr sz="2880" spc="86" dirty="0">
                <a:cs typeface="Microsoft Sans Serif"/>
              </a:rPr>
              <a:t>o</a:t>
            </a:r>
            <a:r>
              <a:rPr sz="2880" spc="293" dirty="0">
                <a:cs typeface="Microsoft Sans Serif"/>
              </a:rPr>
              <a:t>r</a:t>
            </a:r>
            <a:r>
              <a:rPr sz="2880" spc="-261" dirty="0">
                <a:cs typeface="Microsoft Sans Serif"/>
              </a:rPr>
              <a:t>e?</a:t>
            </a:r>
            <a:endParaRPr sz="2880" dirty="0">
              <a:cs typeface="Microsoft Sans Serif"/>
            </a:endParaRPr>
          </a:p>
          <a:p>
            <a:pPr marL="718947" indent="-504635">
              <a:spcBef>
                <a:spcPts val="3131"/>
              </a:spcBef>
              <a:buAutoNum type="arabicParenR"/>
              <a:tabLst>
                <a:tab pos="718947" algn="l"/>
              </a:tabLst>
            </a:pPr>
            <a:r>
              <a:rPr sz="2880" spc="-117" dirty="0">
                <a:cs typeface="Microsoft Sans Serif"/>
              </a:rPr>
              <a:t>Scientific</a:t>
            </a:r>
            <a:r>
              <a:rPr sz="2880" spc="-140" dirty="0">
                <a:cs typeface="Microsoft Sans Serif"/>
              </a:rPr>
              <a:t> </a:t>
            </a:r>
            <a:r>
              <a:rPr sz="2880" spc="-9" dirty="0">
                <a:cs typeface="Microsoft Sans Serif"/>
              </a:rPr>
              <a:t>Inquiry</a:t>
            </a:r>
            <a:endParaRPr sz="2880" dirty="0">
              <a:cs typeface="Microsoft Sans Serif"/>
            </a:endParaRPr>
          </a:p>
          <a:p>
            <a:pPr marL="718947" indent="-504635">
              <a:spcBef>
                <a:spcPts val="3136"/>
              </a:spcBef>
              <a:buAutoNum type="arabicParenR"/>
              <a:tabLst>
                <a:tab pos="718947" algn="l"/>
              </a:tabLst>
            </a:pPr>
            <a:r>
              <a:rPr sz="2880" spc="-68" dirty="0">
                <a:cs typeface="Microsoft Sans Serif"/>
              </a:rPr>
              <a:t>Mathematics</a:t>
            </a:r>
            <a:endParaRPr sz="2880" dirty="0">
              <a:cs typeface="Microsoft Sans Serif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2213625"/>
              </p:ext>
            </p:extLst>
          </p:nvPr>
        </p:nvGraphicFramePr>
        <p:xfrm>
          <a:off x="609600" y="381000"/>
          <a:ext cx="8077200" cy="3321698"/>
        </p:xfrm>
        <a:graphic>
          <a:graphicData uri="http://schemas.openxmlformats.org/drawingml/2006/table">
            <a:tbl>
              <a:tblPr/>
              <a:tblGrid>
                <a:gridCol w="1447800"/>
                <a:gridCol w="6629400"/>
              </a:tblGrid>
              <a:tr h="342123"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Type</a:t>
                      </a:r>
                    </a:p>
                  </a:txBody>
                  <a:tcPr marL="82096" marR="82096" marT="41048" marB="410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/>
                        <a:t>Role in Science</a:t>
                      </a:r>
                    </a:p>
                  </a:txBody>
                  <a:tcPr marL="82096" marR="82096" marT="41048" marB="410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5677">
                <a:tc>
                  <a:txBody>
                    <a:bodyPr/>
                    <a:lstStyle/>
                    <a:p>
                      <a:r>
                        <a:rPr lang="en-IN" sz="1600" b="1" dirty="0"/>
                        <a:t>Inductive</a:t>
                      </a:r>
                      <a:endParaRPr lang="en-IN" sz="1600" dirty="0"/>
                    </a:p>
                  </a:txBody>
                  <a:tcPr marL="82096" marR="82096" marT="41048" marB="410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Scientists observe repeated phenomena and derive general theories. Example: "Every time this chemical reacts with oxygen, it gives off heat. Therefore, combustion is exothermic."</a:t>
                      </a:r>
                    </a:p>
                  </a:txBody>
                  <a:tcPr marL="82096" marR="82096" marT="41048" marB="410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lang="en-IN" sz="1600" b="1" dirty="0" err="1"/>
                        <a:t>Abductive</a:t>
                      </a:r>
                      <a:endParaRPr lang="en-IN" sz="1600" dirty="0"/>
                    </a:p>
                  </a:txBody>
                  <a:tcPr marL="82096" marR="82096" marT="41048" marB="410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Used to generate hypotheses or explanations for observed data. "The plant is wilted — maybe it lacks water."</a:t>
                      </a:r>
                    </a:p>
                  </a:txBody>
                  <a:tcPr marL="82096" marR="82096" marT="41048" marB="410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1898">
                <a:tc>
                  <a:txBody>
                    <a:bodyPr/>
                    <a:lstStyle/>
                    <a:p>
                      <a:r>
                        <a:rPr lang="en-IN" sz="1600" b="1"/>
                        <a:t>Deductive</a:t>
                      </a:r>
                      <a:endParaRPr lang="en-IN" sz="1600"/>
                    </a:p>
                  </a:txBody>
                  <a:tcPr marL="82096" marR="82096" marT="41048" marB="410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Used later to test theories through prediction. "If our theory is correct, then X should happen under condition Y."</a:t>
                      </a:r>
                    </a:p>
                  </a:txBody>
                  <a:tcPr marL="82096" marR="82096" marT="41048" marB="4104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838200" y="4038600"/>
            <a:ext cx="77724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Scientific reasoning </a:t>
            </a:r>
            <a:r>
              <a:rPr lang="en-US" b="1" dirty="0"/>
              <a:t>moves between all three</a:t>
            </a:r>
            <a:r>
              <a:rPr lang="en-US" dirty="0"/>
              <a:t>, but </a:t>
            </a:r>
            <a:r>
              <a:rPr lang="en-US" b="1" dirty="0"/>
              <a:t>starts inductively</a:t>
            </a:r>
            <a:r>
              <a:rPr lang="en-US" dirty="0"/>
              <a:t>, </a:t>
            </a:r>
            <a:r>
              <a:rPr lang="en-US" b="1" dirty="0"/>
              <a:t>hypothesizes </a:t>
            </a:r>
            <a:r>
              <a:rPr lang="en-US" b="1" dirty="0" err="1"/>
              <a:t>abductively</a:t>
            </a:r>
            <a:r>
              <a:rPr lang="en-US" dirty="0"/>
              <a:t>, and </a:t>
            </a:r>
            <a:r>
              <a:rPr lang="en-US" b="1" dirty="0"/>
              <a:t>tests deductively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764636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5688003"/>
              </p:ext>
            </p:extLst>
          </p:nvPr>
        </p:nvGraphicFramePr>
        <p:xfrm>
          <a:off x="533399" y="152400"/>
          <a:ext cx="8382001" cy="3518523"/>
        </p:xfrm>
        <a:graphic>
          <a:graphicData uri="http://schemas.openxmlformats.org/drawingml/2006/table">
            <a:tbl>
              <a:tblPr/>
              <a:tblGrid>
                <a:gridCol w="1344283"/>
                <a:gridCol w="7037718"/>
              </a:tblGrid>
              <a:tr h="287736"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Type</a:t>
                      </a:r>
                    </a:p>
                  </a:txBody>
                  <a:tcPr marL="69357" marR="69357" marT="34679" marB="34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/>
                        <a:t>Role in Math</a:t>
                      </a:r>
                    </a:p>
                  </a:txBody>
                  <a:tcPr marL="69357" marR="69357" marT="34679" marB="34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1722">
                <a:tc>
                  <a:txBody>
                    <a:bodyPr/>
                    <a:lstStyle/>
                    <a:p>
                      <a:r>
                        <a:rPr lang="en-IN" sz="1400" b="1" dirty="0"/>
                        <a:t>Deductive</a:t>
                      </a:r>
                      <a:endParaRPr lang="en-IN" sz="1400" dirty="0"/>
                    </a:p>
                  </a:txBody>
                  <a:tcPr marL="69357" marR="69357" marT="34679" marB="34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Central to mathematics. Proofs begin with axioms and definitions and deduce truths. Example: "Given that all even numbers are divisible by 2, and 8 is even → 8 is divisible by 2."</a:t>
                      </a:r>
                    </a:p>
                  </a:txBody>
                  <a:tcPr marL="69357" marR="69357" marT="34679" marB="34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r>
                        <a:rPr lang="en-IN" sz="1400" b="1"/>
                        <a:t>Inductive</a:t>
                      </a:r>
                      <a:endParaRPr lang="en-IN" sz="1400"/>
                    </a:p>
                  </a:txBody>
                  <a:tcPr marL="69357" marR="69357" marT="34679" marB="34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Occasionally used in pattern recognition, especially in exploratory or applied math (e.g., finding sequences), but the conclusions are not accepted as true until proven deductively.</a:t>
                      </a:r>
                    </a:p>
                  </a:txBody>
                  <a:tcPr marL="69357" marR="69357" marT="34679" marB="34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56323">
                <a:tc>
                  <a:txBody>
                    <a:bodyPr/>
                    <a:lstStyle/>
                    <a:p>
                      <a:r>
                        <a:rPr lang="en-IN" sz="1400" b="1"/>
                        <a:t>Abductive</a:t>
                      </a:r>
                      <a:endParaRPr lang="en-IN" sz="1400"/>
                    </a:p>
                  </a:txBody>
                  <a:tcPr marL="69357" marR="69357" marT="34679" marB="34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Rare, but can appear when forming conjectures. Example: "This pattern appears true in multiple cases — perhaps it's universally true?"</a:t>
                      </a:r>
                    </a:p>
                  </a:txBody>
                  <a:tcPr marL="69357" marR="69357" marT="34679" marB="3467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9822079"/>
              </p:ext>
            </p:extLst>
          </p:nvPr>
        </p:nvGraphicFramePr>
        <p:xfrm>
          <a:off x="609600" y="4191000"/>
          <a:ext cx="8153400" cy="1493520"/>
        </p:xfrm>
        <a:graphic>
          <a:graphicData uri="http://schemas.openxmlformats.org/drawingml/2006/table">
            <a:tbl>
              <a:tblPr/>
              <a:tblGrid>
                <a:gridCol w="2133600"/>
                <a:gridCol w="6019800"/>
              </a:tblGrid>
              <a:tr h="0">
                <a:tc>
                  <a:txBody>
                    <a:bodyPr/>
                    <a:lstStyle/>
                    <a:p>
                      <a:r>
                        <a:rPr lang="en-IN" sz="1600" b="1" dirty="0"/>
                        <a:t>Enterprise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600" b="1" dirty="0"/>
                        <a:t>Dominant Reasoning Type(s)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 dirty="0"/>
                        <a:t>Scientific Inquiry</a:t>
                      </a:r>
                      <a:endParaRPr lang="en-IN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Inductive + Abductive (for discovery)</a:t>
                      </a:r>
                      <a:r>
                        <a:rPr lang="en-US" sz="1600"/>
                        <a:t>, then Deductive (for testing)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IN" sz="1600" b="1"/>
                        <a:t>Mathematics</a:t>
                      </a:r>
                      <a:endParaRPr lang="en-IN" sz="160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Deductive (for proof)</a:t>
                      </a:r>
                      <a:r>
                        <a:rPr lang="en-US" sz="1600" dirty="0"/>
                        <a:t>, with occasional Inductive (for intuition/patterns)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325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85342" y="994822"/>
            <a:ext cx="1905458" cy="443006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00" b="1" spc="50" dirty="0">
                <a:cs typeface="Trebuchet MS"/>
              </a:rPr>
              <a:t>Science</a:t>
            </a:r>
            <a:endParaRPr sz="2800" dirty="0"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44986" y="940698"/>
            <a:ext cx="3281404" cy="455317"/>
          </a:xfrm>
          <a:prstGeom prst="rect">
            <a:avLst/>
          </a:prstGeom>
        </p:spPr>
        <p:txBody>
          <a:bodyPr vert="horz" wrap="square" lIns="0" tIns="12002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5"/>
              </a:spcBef>
            </a:pPr>
            <a:r>
              <a:rPr sz="2800" b="1" spc="140" dirty="0">
                <a:latin typeface="+mn-lt"/>
                <a:cs typeface="Trebuchet MS"/>
              </a:rPr>
              <a:t>Mathematics</a:t>
            </a:r>
            <a:endParaRPr sz="2800" b="1" dirty="0">
              <a:latin typeface="+mn-lt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45312" y="2378469"/>
            <a:ext cx="3930938" cy="443006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00" spc="-108" dirty="0">
                <a:cs typeface="Microsoft Sans Serif"/>
              </a:rPr>
              <a:t>inductive</a:t>
            </a:r>
            <a:r>
              <a:rPr sz="2800" spc="-117" dirty="0">
                <a:cs typeface="Microsoft Sans Serif"/>
              </a:rPr>
              <a:t> </a:t>
            </a:r>
            <a:r>
              <a:rPr sz="2800" spc="-149" dirty="0">
                <a:cs typeface="Microsoft Sans Serif"/>
              </a:rPr>
              <a:t>reasoning</a:t>
            </a:r>
            <a:endParaRPr sz="2800" dirty="0"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58257" y="2137593"/>
            <a:ext cx="4068218" cy="4553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00" spc="-126" dirty="0">
                <a:cs typeface="Microsoft Sans Serif"/>
              </a:rPr>
              <a:t>deductive</a:t>
            </a:r>
            <a:r>
              <a:rPr sz="2800" spc="-131" dirty="0">
                <a:cs typeface="Microsoft Sans Serif"/>
              </a:rPr>
              <a:t> </a:t>
            </a:r>
            <a:r>
              <a:rPr sz="2800" spc="-144" dirty="0">
                <a:cs typeface="Microsoft Sans Serif"/>
              </a:rPr>
              <a:t>reasoning</a:t>
            </a:r>
            <a:endParaRPr sz="2800">
              <a:cs typeface="Microsoft Sans Serif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85816" y="700201"/>
            <a:ext cx="45719" cy="4301681"/>
          </a:xfrm>
          <a:custGeom>
            <a:avLst/>
            <a:gdLst/>
            <a:ahLst/>
            <a:cxnLst/>
            <a:rect l="l" t="t" r="r" b="b"/>
            <a:pathLst>
              <a:path h="4779645">
                <a:moveTo>
                  <a:pt x="0" y="4779137"/>
                </a:moveTo>
                <a:lnTo>
                  <a:pt x="0" y="0"/>
                </a:lnTo>
              </a:path>
            </a:pathLst>
          </a:custGeom>
          <a:ln w="1981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00"/>
          </a:p>
        </p:txBody>
      </p:sp>
      <p:sp>
        <p:nvSpPr>
          <p:cNvPr id="7" name="object 7"/>
          <p:cNvSpPr txBox="1"/>
          <p:nvPr/>
        </p:nvSpPr>
        <p:spPr>
          <a:xfrm>
            <a:off x="422544" y="3635883"/>
            <a:ext cx="4038407" cy="4553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00" spc="-144" dirty="0">
                <a:cs typeface="Microsoft Sans Serif"/>
              </a:rPr>
              <a:t>abductive</a:t>
            </a:r>
            <a:r>
              <a:rPr sz="2800" spc="-113" dirty="0">
                <a:cs typeface="Microsoft Sans Serif"/>
              </a:rPr>
              <a:t> </a:t>
            </a:r>
            <a:r>
              <a:rPr sz="2800" spc="-149" dirty="0">
                <a:cs typeface="Microsoft Sans Serif"/>
              </a:rPr>
              <a:t>reasoning</a:t>
            </a:r>
            <a:endParaRPr sz="2800">
              <a:cs typeface="Microsoft Sans Serif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" y="5059456"/>
            <a:ext cx="8686800" cy="869212"/>
          </a:xfrm>
          <a:prstGeom prst="rect">
            <a:avLst/>
          </a:prstGeom>
        </p:spPr>
        <p:txBody>
          <a:bodyPr vert="horz" wrap="square" lIns="0" tIns="48006" rIns="0" bIns="0" rtlCol="0">
            <a:spAutoFit/>
          </a:bodyPr>
          <a:lstStyle/>
          <a:p>
            <a:pPr marL="11430" marR="4572">
              <a:lnSpc>
                <a:spcPts val="3240"/>
              </a:lnSpc>
              <a:spcBef>
                <a:spcPts val="378"/>
              </a:spcBef>
            </a:pPr>
            <a:r>
              <a:rPr sz="2800" spc="-212" dirty="0">
                <a:cs typeface="Microsoft Sans Serif"/>
              </a:rPr>
              <a:t>Science</a:t>
            </a:r>
            <a:r>
              <a:rPr sz="2800" spc="-153" dirty="0">
                <a:cs typeface="Microsoft Sans Serif"/>
              </a:rPr>
              <a:t> </a:t>
            </a:r>
            <a:r>
              <a:rPr sz="2800" spc="-189" dirty="0">
                <a:cs typeface="Microsoft Sans Serif"/>
              </a:rPr>
              <a:t>and</a:t>
            </a:r>
            <a:r>
              <a:rPr sz="2800" spc="-72" dirty="0">
                <a:cs typeface="Microsoft Sans Serif"/>
              </a:rPr>
              <a:t> </a:t>
            </a:r>
            <a:r>
              <a:rPr sz="2800" spc="-149" dirty="0">
                <a:cs typeface="Microsoft Sans Serif"/>
              </a:rPr>
              <a:t>mathematics</a:t>
            </a:r>
            <a:r>
              <a:rPr sz="2800" spc="-203" dirty="0">
                <a:cs typeface="Microsoft Sans Serif"/>
              </a:rPr>
              <a:t> </a:t>
            </a:r>
            <a:r>
              <a:rPr sz="2800" spc="-383" dirty="0">
                <a:cs typeface="Microsoft Sans Serif"/>
              </a:rPr>
              <a:t>a</a:t>
            </a:r>
            <a:r>
              <a:rPr sz="2800" spc="117" dirty="0">
                <a:cs typeface="Microsoft Sans Serif"/>
              </a:rPr>
              <a:t>r</a:t>
            </a:r>
            <a:r>
              <a:rPr sz="2800" dirty="0">
                <a:cs typeface="Microsoft Sans Serif"/>
              </a:rPr>
              <a:t>e</a:t>
            </a:r>
            <a:r>
              <a:rPr sz="2800" spc="-162" dirty="0">
                <a:cs typeface="Microsoft Sans Serif"/>
              </a:rPr>
              <a:t> </a:t>
            </a:r>
            <a:r>
              <a:rPr sz="2800" spc="-149" dirty="0">
                <a:cs typeface="Microsoft Sans Serif"/>
              </a:rPr>
              <a:t>fundamentally</a:t>
            </a:r>
            <a:r>
              <a:rPr sz="2800" spc="-95" dirty="0">
                <a:cs typeface="Microsoft Sans Serif"/>
              </a:rPr>
              <a:t> </a:t>
            </a:r>
            <a:r>
              <a:rPr sz="2800" spc="-63" dirty="0">
                <a:cs typeface="Microsoft Sans Serif"/>
              </a:rPr>
              <a:t>different. </a:t>
            </a:r>
            <a:r>
              <a:rPr sz="2800" spc="-212" dirty="0">
                <a:cs typeface="Microsoft Sans Serif"/>
              </a:rPr>
              <a:t>Science</a:t>
            </a:r>
            <a:r>
              <a:rPr sz="2800" spc="-189" dirty="0">
                <a:cs typeface="Microsoft Sans Serif"/>
              </a:rPr>
              <a:t> </a:t>
            </a:r>
            <a:r>
              <a:rPr sz="2800" spc="-23" dirty="0">
                <a:cs typeface="Microsoft Sans Serif"/>
              </a:rPr>
              <a:t>is</a:t>
            </a:r>
            <a:r>
              <a:rPr sz="2800" spc="-293" dirty="0">
                <a:cs typeface="Microsoft Sans Serif"/>
              </a:rPr>
              <a:t> </a:t>
            </a:r>
            <a:r>
              <a:rPr sz="2800" spc="-391" dirty="0">
                <a:cs typeface="Microsoft Sans Serif"/>
              </a:rPr>
              <a:t>g</a:t>
            </a:r>
            <a:r>
              <a:rPr sz="2800" spc="103" dirty="0">
                <a:cs typeface="Microsoft Sans Serif"/>
              </a:rPr>
              <a:t>r</a:t>
            </a:r>
            <a:r>
              <a:rPr sz="2800" spc="-23" dirty="0">
                <a:cs typeface="Microsoft Sans Serif"/>
              </a:rPr>
              <a:t>o</a:t>
            </a:r>
            <a:r>
              <a:rPr sz="2800" spc="-167" dirty="0">
                <a:cs typeface="Microsoft Sans Serif"/>
              </a:rPr>
              <a:t>u</a:t>
            </a:r>
            <a:r>
              <a:rPr sz="2800" spc="-162" dirty="0">
                <a:cs typeface="Microsoft Sans Serif"/>
              </a:rPr>
              <a:t>n</a:t>
            </a:r>
            <a:r>
              <a:rPr sz="2800" spc="-176" dirty="0">
                <a:cs typeface="Microsoft Sans Serif"/>
              </a:rPr>
              <a:t>d</a:t>
            </a:r>
            <a:r>
              <a:rPr sz="2800" spc="-198" dirty="0">
                <a:cs typeface="Microsoft Sans Serif"/>
              </a:rPr>
              <a:t>e</a:t>
            </a:r>
            <a:r>
              <a:rPr sz="2800" spc="-5" dirty="0">
                <a:cs typeface="Microsoft Sans Serif"/>
              </a:rPr>
              <a:t>d</a:t>
            </a:r>
            <a:r>
              <a:rPr sz="2800" spc="-158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in</a:t>
            </a:r>
            <a:r>
              <a:rPr sz="2800" spc="-135" dirty="0">
                <a:cs typeface="Microsoft Sans Serif"/>
              </a:rPr>
              <a:t> </a:t>
            </a:r>
            <a:r>
              <a:rPr sz="2800" spc="-108" dirty="0">
                <a:cs typeface="Microsoft Sans Serif"/>
              </a:rPr>
              <a:t>empirical</a:t>
            </a:r>
            <a:r>
              <a:rPr sz="2800" dirty="0">
                <a:cs typeface="Microsoft Sans Serif"/>
              </a:rPr>
              <a:t> </a:t>
            </a:r>
            <a:r>
              <a:rPr sz="2800" spc="-9" dirty="0">
                <a:cs typeface="Microsoft Sans Serif"/>
              </a:rPr>
              <a:t>observation</a:t>
            </a:r>
            <a:endParaRPr sz="2800" dirty="0">
              <a:cs typeface="Microsoft Sans Serif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927" y="762000"/>
            <a:ext cx="7717536" cy="504562"/>
          </a:xfrm>
          <a:prstGeom prst="rect">
            <a:avLst/>
          </a:prstGeom>
        </p:spPr>
        <p:txBody>
          <a:bodyPr vert="horz" wrap="square" lIns="0" tIns="12002" rIns="0" bIns="0" rtlCol="0" anchor="b">
            <a:spAutoFit/>
          </a:bodyPr>
          <a:lstStyle/>
          <a:p>
            <a:pPr marL="68009">
              <a:lnSpc>
                <a:spcPct val="100000"/>
              </a:lnSpc>
              <a:spcBef>
                <a:spcPts val="95"/>
              </a:spcBef>
            </a:pPr>
            <a:r>
              <a:rPr sz="3200" spc="95" dirty="0">
                <a:solidFill>
                  <a:srgbClr val="FF0000"/>
                </a:solidFill>
                <a:cs typeface="Trebuchet MS"/>
              </a:rPr>
              <a:t>Inductive </a:t>
            </a:r>
            <a:r>
              <a:rPr sz="3200" spc="103" dirty="0">
                <a:solidFill>
                  <a:srgbClr val="FF0000"/>
                </a:solidFill>
                <a:cs typeface="Trebuchet MS"/>
              </a:rPr>
              <a:t>reasoning-</a:t>
            </a:r>
            <a:r>
              <a:rPr sz="3200" spc="77" dirty="0">
                <a:solidFill>
                  <a:srgbClr val="FF0000"/>
                </a:solidFill>
                <a:cs typeface="Trebuchet MS"/>
              </a:rPr>
              <a:t>More</a:t>
            </a:r>
            <a:r>
              <a:rPr sz="3200" spc="252" dirty="0">
                <a:solidFill>
                  <a:srgbClr val="FF0000"/>
                </a:solidFill>
                <a:cs typeface="Trebuchet MS"/>
              </a:rPr>
              <a:t> </a:t>
            </a:r>
            <a:r>
              <a:rPr sz="3200" spc="77" dirty="0">
                <a:solidFill>
                  <a:srgbClr val="FF0000"/>
                </a:solidFill>
                <a:cs typeface="Trebuchet MS"/>
              </a:rPr>
              <a:t>examples</a:t>
            </a:r>
            <a:endParaRPr sz="3200" dirty="0"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1824466"/>
            <a:ext cx="8915400" cy="314688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20040" marR="4572" indent="-308610">
              <a:lnSpc>
                <a:spcPct val="127899"/>
              </a:lnSpc>
              <a:spcBef>
                <a:spcPts val="90"/>
              </a:spcBef>
            </a:pPr>
            <a:r>
              <a:rPr sz="2800" dirty="0">
                <a:cs typeface="Microsoft Sans Serif"/>
              </a:rPr>
              <a:t>If</a:t>
            </a:r>
            <a:r>
              <a:rPr sz="2800" spc="-9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the</a:t>
            </a:r>
            <a:r>
              <a:rPr sz="2800" spc="-23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sky is</a:t>
            </a:r>
            <a:r>
              <a:rPr sz="2800" spc="-5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getting</a:t>
            </a:r>
            <a:r>
              <a:rPr sz="2800" spc="-32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very</a:t>
            </a:r>
            <a:r>
              <a:rPr sz="2800" spc="-36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dark</a:t>
            </a:r>
            <a:r>
              <a:rPr sz="2800" spc="-32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and </a:t>
            </a:r>
            <a:r>
              <a:rPr sz="2800" spc="9" dirty="0">
                <a:cs typeface="Microsoft Sans Serif"/>
              </a:rPr>
              <a:t>clo</a:t>
            </a:r>
            <a:r>
              <a:rPr sz="2800" dirty="0">
                <a:cs typeface="Microsoft Sans Serif"/>
              </a:rPr>
              <a:t>u</a:t>
            </a:r>
            <a:r>
              <a:rPr sz="2800" spc="5" dirty="0">
                <a:cs typeface="Microsoft Sans Serif"/>
              </a:rPr>
              <a:t>d</a:t>
            </a:r>
            <a:r>
              <a:rPr sz="2800" spc="-491" dirty="0">
                <a:cs typeface="Microsoft Sans Serif"/>
              </a:rPr>
              <a:t>y</a:t>
            </a:r>
            <a:r>
              <a:rPr sz="2800" spc="14" dirty="0">
                <a:cs typeface="Microsoft Sans Serif"/>
              </a:rPr>
              <a:t>,</a:t>
            </a:r>
            <a:r>
              <a:rPr sz="2800" spc="-5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it </a:t>
            </a:r>
            <a:r>
              <a:rPr sz="2800" spc="-23" dirty="0">
                <a:cs typeface="Microsoft Sans Serif"/>
              </a:rPr>
              <a:t>is </a:t>
            </a:r>
            <a:r>
              <a:rPr sz="2800" dirty="0">
                <a:cs typeface="Microsoft Sans Serif"/>
              </a:rPr>
              <a:t>probably</a:t>
            </a:r>
            <a:r>
              <a:rPr sz="2800" spc="-27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going</a:t>
            </a:r>
            <a:r>
              <a:rPr sz="2800" spc="-18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to</a:t>
            </a:r>
            <a:r>
              <a:rPr sz="2800" spc="-9" dirty="0">
                <a:cs typeface="Microsoft Sans Serif"/>
              </a:rPr>
              <a:t> rain.</a:t>
            </a:r>
            <a:endParaRPr sz="2800" dirty="0">
              <a:cs typeface="Microsoft Sans Serif"/>
            </a:endParaRPr>
          </a:p>
          <a:p>
            <a:pPr marL="223457" marR="1669923" indent="-144018">
              <a:lnSpc>
                <a:spcPct val="156300"/>
              </a:lnSpc>
              <a:spcBef>
                <a:spcPts val="2790"/>
              </a:spcBef>
              <a:tabLst>
                <a:tab pos="5007483" algn="l"/>
              </a:tabLst>
            </a:pPr>
            <a:r>
              <a:rPr sz="2800" dirty="0">
                <a:cs typeface="Microsoft Sans Serif"/>
              </a:rPr>
              <a:t>If</a:t>
            </a:r>
            <a:r>
              <a:rPr sz="2800" spc="-23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I</a:t>
            </a:r>
            <a:r>
              <a:rPr sz="2800" spc="5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don’t</a:t>
            </a:r>
            <a:r>
              <a:rPr sz="2800" spc="-23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eat something,</a:t>
            </a:r>
            <a:r>
              <a:rPr sz="2800" spc="-41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I</a:t>
            </a:r>
            <a:r>
              <a:rPr sz="2800" spc="18" dirty="0">
                <a:cs typeface="Microsoft Sans Serif"/>
              </a:rPr>
              <a:t> </a:t>
            </a:r>
            <a:r>
              <a:rPr sz="2800" spc="-18" dirty="0">
                <a:cs typeface="Microsoft Sans Serif"/>
              </a:rPr>
              <a:t>will</a:t>
            </a:r>
            <a:r>
              <a:rPr sz="2800" dirty="0">
                <a:cs typeface="Microsoft Sans Serif"/>
              </a:rPr>
              <a:t>	</a:t>
            </a:r>
            <a:r>
              <a:rPr sz="2800" spc="-23" dirty="0">
                <a:cs typeface="Microsoft Sans Serif"/>
              </a:rPr>
              <a:t>get </a:t>
            </a:r>
            <a:r>
              <a:rPr sz="2800" spc="-9" dirty="0" smtClean="0">
                <a:cs typeface="Microsoft Sans Serif"/>
              </a:rPr>
              <a:t>hungry</a:t>
            </a:r>
            <a:r>
              <a:rPr sz="2800" spc="-9" dirty="0">
                <a:cs typeface="Microsoft Sans Serif"/>
              </a:rPr>
              <a:t>.</a:t>
            </a:r>
            <a:endParaRPr sz="2800" dirty="0">
              <a:cs typeface="Microsoft Sans Serif"/>
            </a:endParaRPr>
          </a:p>
          <a:p>
            <a:pPr marL="453771" marR="832675" indent="-308610">
              <a:lnSpc>
                <a:spcPct val="146000"/>
              </a:lnSpc>
              <a:spcBef>
                <a:spcPts val="2929"/>
              </a:spcBef>
            </a:pPr>
            <a:r>
              <a:rPr sz="2800" dirty="0">
                <a:cs typeface="Microsoft Sans Serif"/>
              </a:rPr>
              <a:t>If</a:t>
            </a:r>
            <a:r>
              <a:rPr sz="2800" spc="-9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I</a:t>
            </a:r>
            <a:r>
              <a:rPr sz="2800" spc="5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turn</a:t>
            </a:r>
            <a:r>
              <a:rPr sz="2800" spc="-14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on</a:t>
            </a:r>
            <a:r>
              <a:rPr sz="2800" spc="5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the</a:t>
            </a:r>
            <a:r>
              <a:rPr sz="2800" spc="-18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light</a:t>
            </a:r>
            <a:r>
              <a:rPr sz="2800" spc="-63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switch,</a:t>
            </a:r>
            <a:r>
              <a:rPr sz="2800" spc="-36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the</a:t>
            </a:r>
            <a:r>
              <a:rPr sz="2800" spc="-50" dirty="0">
                <a:cs typeface="Microsoft Sans Serif"/>
              </a:rPr>
              <a:t> </a:t>
            </a:r>
            <a:r>
              <a:rPr sz="2800" dirty="0">
                <a:cs typeface="Microsoft Sans Serif"/>
              </a:rPr>
              <a:t>light </a:t>
            </a:r>
            <a:r>
              <a:rPr sz="2800" spc="-18" dirty="0">
                <a:cs typeface="Microsoft Sans Serif"/>
              </a:rPr>
              <a:t>will </a:t>
            </a:r>
            <a:r>
              <a:rPr sz="2800" dirty="0">
                <a:cs typeface="Microsoft Sans Serif"/>
              </a:rPr>
              <a:t>come</a:t>
            </a:r>
            <a:r>
              <a:rPr sz="2800" spc="-18" dirty="0">
                <a:cs typeface="Microsoft Sans Serif"/>
              </a:rPr>
              <a:t> </a:t>
            </a:r>
            <a:r>
              <a:rPr sz="2800" spc="-23" dirty="0">
                <a:cs typeface="Microsoft Sans Serif"/>
              </a:rPr>
              <a:t>on.</a:t>
            </a:r>
            <a:endParaRPr sz="2800" dirty="0">
              <a:cs typeface="Microsoft Sans Serif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2998" y="2415294"/>
            <a:ext cx="8718613" cy="619465"/>
          </a:xfrm>
          <a:prstGeom prst="rect">
            <a:avLst/>
          </a:prstGeom>
        </p:spPr>
        <p:txBody>
          <a:bodyPr vert="horz" wrap="square" lIns="0" tIns="54864" rIns="0" bIns="0" rtlCol="0" anchor="b">
            <a:spAutoFit/>
          </a:bodyPr>
          <a:lstStyle/>
          <a:p>
            <a:pPr marL="320040" marR="4572" indent="-308610">
              <a:lnSpc>
                <a:spcPts val="5040"/>
              </a:lnSpc>
              <a:spcBef>
                <a:spcPts val="432"/>
              </a:spcBef>
              <a:tabLst>
                <a:tab pos="2688908" algn="l"/>
                <a:tab pos="3370706" algn="l"/>
              </a:tabLst>
            </a:pPr>
            <a:r>
              <a:rPr sz="2800" dirty="0">
                <a:cs typeface="Calibri Light"/>
              </a:rPr>
              <a:t>If</a:t>
            </a:r>
            <a:r>
              <a:rPr sz="2800" spc="-95" dirty="0">
                <a:cs typeface="Calibri Light"/>
              </a:rPr>
              <a:t> </a:t>
            </a:r>
            <a:r>
              <a:rPr sz="2800" dirty="0">
                <a:cs typeface="Calibri Light"/>
              </a:rPr>
              <a:t>I</a:t>
            </a:r>
            <a:r>
              <a:rPr sz="2800" spc="-135" dirty="0">
                <a:cs typeface="Calibri Light"/>
              </a:rPr>
              <a:t> </a:t>
            </a:r>
            <a:r>
              <a:rPr sz="2800" dirty="0">
                <a:cs typeface="Calibri Light"/>
              </a:rPr>
              <a:t>turn</a:t>
            </a:r>
            <a:r>
              <a:rPr sz="2800" spc="-32" dirty="0">
                <a:cs typeface="Calibri Light"/>
              </a:rPr>
              <a:t> </a:t>
            </a:r>
            <a:r>
              <a:rPr sz="2800" spc="-23" dirty="0" smtClean="0">
                <a:cs typeface="Calibri Light"/>
              </a:rPr>
              <a:t>on</a:t>
            </a:r>
            <a:r>
              <a:rPr lang="en-IN" sz="2800" dirty="0">
                <a:cs typeface="Calibri Light"/>
              </a:rPr>
              <a:t> </a:t>
            </a:r>
            <a:r>
              <a:rPr sz="2800" dirty="0" smtClean="0">
                <a:cs typeface="Calibri Light"/>
              </a:rPr>
              <a:t>the</a:t>
            </a:r>
            <a:r>
              <a:rPr sz="2800" spc="342" dirty="0" smtClean="0">
                <a:cs typeface="Calibri Light"/>
              </a:rPr>
              <a:t> </a:t>
            </a:r>
            <a:r>
              <a:rPr sz="2800" dirty="0">
                <a:cs typeface="Calibri Light"/>
              </a:rPr>
              <a:t>light</a:t>
            </a:r>
            <a:r>
              <a:rPr sz="2800" spc="-135" dirty="0">
                <a:cs typeface="Calibri Light"/>
              </a:rPr>
              <a:t> </a:t>
            </a:r>
            <a:r>
              <a:rPr sz="2800" spc="-9" dirty="0">
                <a:cs typeface="Calibri Light"/>
              </a:rPr>
              <a:t>switch, </a:t>
            </a:r>
            <a:r>
              <a:rPr sz="2800" dirty="0">
                <a:solidFill>
                  <a:srgbClr val="0433FF"/>
                </a:solidFill>
                <a:cs typeface="Calibri Light"/>
              </a:rPr>
              <a:t>the</a:t>
            </a:r>
            <a:r>
              <a:rPr sz="2800" spc="302" dirty="0">
                <a:solidFill>
                  <a:srgbClr val="0433FF"/>
                </a:solidFill>
                <a:cs typeface="Calibri Light"/>
              </a:rPr>
              <a:t> </a:t>
            </a:r>
            <a:r>
              <a:rPr sz="2800" spc="-36" dirty="0">
                <a:solidFill>
                  <a:srgbClr val="0433FF"/>
                </a:solidFill>
                <a:cs typeface="Calibri Light"/>
              </a:rPr>
              <a:t>light</a:t>
            </a:r>
            <a:r>
              <a:rPr sz="2800" spc="-108" dirty="0">
                <a:solidFill>
                  <a:srgbClr val="0433FF"/>
                </a:solidFill>
                <a:cs typeface="Calibri Light"/>
              </a:rPr>
              <a:t> </a:t>
            </a:r>
            <a:r>
              <a:rPr sz="2800" spc="-18" dirty="0">
                <a:solidFill>
                  <a:srgbClr val="0433FF"/>
                </a:solidFill>
                <a:cs typeface="Calibri Light"/>
              </a:rPr>
              <a:t>will</a:t>
            </a:r>
            <a:r>
              <a:rPr sz="2800" dirty="0">
                <a:solidFill>
                  <a:srgbClr val="0433FF"/>
                </a:solidFill>
                <a:cs typeface="Calibri Light"/>
              </a:rPr>
              <a:t>	</a:t>
            </a:r>
            <a:r>
              <a:rPr sz="2800" spc="-36" dirty="0">
                <a:solidFill>
                  <a:srgbClr val="0433FF"/>
                </a:solidFill>
                <a:cs typeface="Calibri Light"/>
              </a:rPr>
              <a:t>come</a:t>
            </a:r>
            <a:r>
              <a:rPr sz="2800" spc="-189" dirty="0">
                <a:solidFill>
                  <a:srgbClr val="0433FF"/>
                </a:solidFill>
                <a:cs typeface="Calibri Light"/>
              </a:rPr>
              <a:t> </a:t>
            </a:r>
            <a:r>
              <a:rPr sz="2800" spc="-23" dirty="0">
                <a:solidFill>
                  <a:srgbClr val="0433FF"/>
                </a:solidFill>
                <a:cs typeface="Calibri Light"/>
              </a:rPr>
              <a:t>on.</a:t>
            </a:r>
            <a:endParaRPr sz="2800" dirty="0"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09800" y="3034759"/>
            <a:ext cx="1486472" cy="319896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000" spc="-95" dirty="0">
                <a:solidFill>
                  <a:srgbClr val="0433FF"/>
                </a:solidFill>
                <a:cs typeface="Microsoft Sans Serif"/>
              </a:rPr>
              <a:t>Hypothesis</a:t>
            </a:r>
            <a:endParaRPr sz="2000" dirty="0"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52400" y="4667809"/>
            <a:ext cx="1828800" cy="8579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lnSpc>
                <a:spcPts val="3348"/>
              </a:lnSpc>
              <a:spcBef>
                <a:spcPts val="90"/>
              </a:spcBef>
            </a:pPr>
            <a:r>
              <a:rPr sz="2000" spc="-9" dirty="0" smtClean="0">
                <a:cs typeface="Microsoft Sans Serif"/>
              </a:rPr>
              <a:t>Confirmed</a:t>
            </a:r>
            <a:r>
              <a:rPr sz="2000" spc="-45" dirty="0" smtClean="0">
                <a:cs typeface="Microsoft Sans Serif"/>
              </a:rPr>
              <a:t>?</a:t>
            </a:r>
            <a:endParaRPr sz="2000" dirty="0">
              <a:cs typeface="Microsoft Sans Serif"/>
            </a:endParaRPr>
          </a:p>
          <a:p>
            <a:pPr marL="11430">
              <a:lnSpc>
                <a:spcPts val="3348"/>
              </a:lnSpc>
            </a:pPr>
            <a:r>
              <a:rPr sz="2000" spc="-153" dirty="0">
                <a:cs typeface="Microsoft Sans Serif"/>
              </a:rPr>
              <a:t>Supported?</a:t>
            </a:r>
            <a:endParaRPr sz="2000" dirty="0"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70251" y="4865869"/>
            <a:ext cx="898328" cy="319896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000" spc="-158" dirty="0">
                <a:cs typeface="Microsoft Sans Serif"/>
              </a:rPr>
              <a:t>Falsified?</a:t>
            </a:r>
            <a:endParaRPr sz="2000" dirty="0"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1159671" y="3845534"/>
            <a:ext cx="605274" cy="926461"/>
            <a:chOff x="2628900" y="4419600"/>
            <a:chExt cx="1042669" cy="1078865"/>
          </a:xfrm>
        </p:grpSpPr>
        <p:sp>
          <p:nvSpPr>
            <p:cNvPr id="7" name="object 7"/>
            <p:cNvSpPr/>
            <p:nvPr/>
          </p:nvSpPr>
          <p:spPr>
            <a:xfrm>
              <a:off x="2800350" y="4470653"/>
              <a:ext cx="819785" cy="852169"/>
            </a:xfrm>
            <a:custGeom>
              <a:avLst/>
              <a:gdLst/>
              <a:ahLst/>
              <a:cxnLst/>
              <a:rect l="l" t="t" r="r" b="b"/>
              <a:pathLst>
                <a:path w="819785" h="852170">
                  <a:moveTo>
                    <a:pt x="0" y="851662"/>
                  </a:moveTo>
                  <a:lnTo>
                    <a:pt x="35179" y="814959"/>
                  </a:lnTo>
                  <a:lnTo>
                    <a:pt x="819785" y="0"/>
                  </a:lnTo>
                </a:path>
              </a:pathLst>
            </a:custGeom>
            <a:ln w="102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8" name="object 8"/>
            <p:cNvSpPr/>
            <p:nvPr/>
          </p:nvSpPr>
          <p:spPr>
            <a:xfrm>
              <a:off x="2628900" y="5076444"/>
              <a:ext cx="417830" cy="422275"/>
            </a:xfrm>
            <a:custGeom>
              <a:avLst/>
              <a:gdLst/>
              <a:ahLst/>
              <a:cxnLst/>
              <a:rect l="l" t="t" r="r" b="b"/>
              <a:pathLst>
                <a:path w="417830" h="422275">
                  <a:moveTo>
                    <a:pt x="132080" y="0"/>
                  </a:moveTo>
                  <a:lnTo>
                    <a:pt x="0" y="422020"/>
                  </a:lnTo>
                  <a:lnTo>
                    <a:pt x="417322" y="274319"/>
                  </a:lnTo>
                  <a:lnTo>
                    <a:pt x="205994" y="208406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3804020" y="3845534"/>
            <a:ext cx="714755" cy="938457"/>
            <a:chOff x="5500115" y="4419600"/>
            <a:chExt cx="1231265" cy="1092835"/>
          </a:xfrm>
        </p:grpSpPr>
        <p:sp>
          <p:nvSpPr>
            <p:cNvPr id="10" name="object 10"/>
            <p:cNvSpPr/>
            <p:nvPr/>
          </p:nvSpPr>
          <p:spPr>
            <a:xfrm>
              <a:off x="5551169" y="4470653"/>
              <a:ext cx="995680" cy="879475"/>
            </a:xfrm>
            <a:custGeom>
              <a:avLst/>
              <a:gdLst/>
              <a:ahLst/>
              <a:cxnLst/>
              <a:rect l="l" t="t" r="r" b="b"/>
              <a:pathLst>
                <a:path w="995679" h="879475">
                  <a:moveTo>
                    <a:pt x="995172" y="878967"/>
                  </a:moveTo>
                  <a:lnTo>
                    <a:pt x="957072" y="845312"/>
                  </a:lnTo>
                  <a:lnTo>
                    <a:pt x="0" y="0"/>
                  </a:lnTo>
                </a:path>
              </a:pathLst>
            </a:custGeom>
            <a:ln w="102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20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303263" y="5100827"/>
              <a:ext cx="427990" cy="411480"/>
            </a:xfrm>
            <a:custGeom>
              <a:avLst/>
              <a:gdLst/>
              <a:ahLst/>
              <a:cxnLst/>
              <a:rect l="l" t="t" r="r" b="b"/>
              <a:pathLst>
                <a:path w="427990" h="411479">
                  <a:moveTo>
                    <a:pt x="261874" y="0"/>
                  </a:moveTo>
                  <a:lnTo>
                    <a:pt x="205105" y="214503"/>
                  </a:lnTo>
                  <a:lnTo>
                    <a:pt x="0" y="297688"/>
                  </a:lnTo>
                  <a:lnTo>
                    <a:pt x="427863" y="411353"/>
                  </a:lnTo>
                  <a:lnTo>
                    <a:pt x="261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200"/>
            </a:p>
          </p:txBody>
        </p:sp>
      </p:grpSp>
      <p:sp>
        <p:nvSpPr>
          <p:cNvPr id="12" name="object 12"/>
          <p:cNvSpPr/>
          <p:nvPr/>
        </p:nvSpPr>
        <p:spPr>
          <a:xfrm>
            <a:off x="1600200" y="4987705"/>
            <a:ext cx="2387923" cy="643997"/>
          </a:xfrm>
          <a:custGeom>
            <a:avLst/>
            <a:gdLst/>
            <a:ahLst/>
            <a:cxnLst/>
            <a:rect l="l" t="t" r="r" b="b"/>
            <a:pathLst>
              <a:path w="4113529" h="749934">
                <a:moveTo>
                  <a:pt x="3511042" y="109804"/>
                </a:moveTo>
                <a:lnTo>
                  <a:pt x="3574415" y="121869"/>
                </a:lnTo>
                <a:lnTo>
                  <a:pt x="3634232" y="134315"/>
                </a:lnTo>
                <a:lnTo>
                  <a:pt x="3690493" y="147116"/>
                </a:lnTo>
                <a:lnTo>
                  <a:pt x="3743325" y="160248"/>
                </a:lnTo>
                <a:lnTo>
                  <a:pt x="3792601" y="173697"/>
                </a:lnTo>
                <a:lnTo>
                  <a:pt x="3838448" y="187426"/>
                </a:lnTo>
                <a:lnTo>
                  <a:pt x="3880612" y="201434"/>
                </a:lnTo>
                <a:lnTo>
                  <a:pt x="3919347" y="215696"/>
                </a:lnTo>
                <a:lnTo>
                  <a:pt x="3986276" y="244856"/>
                </a:lnTo>
                <a:lnTo>
                  <a:pt x="4039107" y="274751"/>
                </a:lnTo>
                <a:lnTo>
                  <a:pt x="4077843" y="305219"/>
                </a:lnTo>
                <a:lnTo>
                  <a:pt x="4102480" y="336067"/>
                </a:lnTo>
                <a:lnTo>
                  <a:pt x="4113022" y="367118"/>
                </a:lnTo>
                <a:lnTo>
                  <a:pt x="4113022" y="382676"/>
                </a:lnTo>
                <a:lnTo>
                  <a:pt x="4091940" y="429209"/>
                </a:lnTo>
                <a:lnTo>
                  <a:pt x="4060190" y="459879"/>
                </a:lnTo>
                <a:lnTo>
                  <a:pt x="4014470" y="490080"/>
                </a:lnTo>
                <a:lnTo>
                  <a:pt x="3954653" y="519633"/>
                </a:lnTo>
                <a:lnTo>
                  <a:pt x="3880612" y="548360"/>
                </a:lnTo>
                <a:lnTo>
                  <a:pt x="3838448" y="562368"/>
                </a:lnTo>
                <a:lnTo>
                  <a:pt x="3792601" y="576110"/>
                </a:lnTo>
                <a:lnTo>
                  <a:pt x="3743325" y="589559"/>
                </a:lnTo>
                <a:lnTo>
                  <a:pt x="3690493" y="602691"/>
                </a:lnTo>
                <a:lnTo>
                  <a:pt x="3634232" y="615492"/>
                </a:lnTo>
                <a:lnTo>
                  <a:pt x="3574415" y="627938"/>
                </a:lnTo>
                <a:lnTo>
                  <a:pt x="3511042" y="640003"/>
                </a:lnTo>
                <a:lnTo>
                  <a:pt x="3469005" y="647446"/>
                </a:lnTo>
                <a:lnTo>
                  <a:pt x="3426206" y="654621"/>
                </a:lnTo>
                <a:lnTo>
                  <a:pt x="3382518" y="661543"/>
                </a:lnTo>
                <a:lnTo>
                  <a:pt x="3338068" y="668197"/>
                </a:lnTo>
                <a:lnTo>
                  <a:pt x="3292729" y="674598"/>
                </a:lnTo>
                <a:lnTo>
                  <a:pt x="3246755" y="680732"/>
                </a:lnTo>
                <a:lnTo>
                  <a:pt x="3200146" y="686612"/>
                </a:lnTo>
                <a:lnTo>
                  <a:pt x="3152775" y="692226"/>
                </a:lnTo>
                <a:lnTo>
                  <a:pt x="3104769" y="697585"/>
                </a:lnTo>
                <a:lnTo>
                  <a:pt x="3056128" y="702678"/>
                </a:lnTo>
                <a:lnTo>
                  <a:pt x="3006852" y="707504"/>
                </a:lnTo>
                <a:lnTo>
                  <a:pt x="2957195" y="712076"/>
                </a:lnTo>
                <a:lnTo>
                  <a:pt x="2906903" y="716381"/>
                </a:lnTo>
                <a:lnTo>
                  <a:pt x="2856103" y="720432"/>
                </a:lnTo>
                <a:lnTo>
                  <a:pt x="2804922" y="724217"/>
                </a:lnTo>
                <a:lnTo>
                  <a:pt x="2753233" y="727735"/>
                </a:lnTo>
                <a:lnTo>
                  <a:pt x="2701163" y="731012"/>
                </a:lnTo>
                <a:lnTo>
                  <a:pt x="2648712" y="734009"/>
                </a:lnTo>
                <a:lnTo>
                  <a:pt x="2596007" y="736752"/>
                </a:lnTo>
                <a:lnTo>
                  <a:pt x="2542921" y="739228"/>
                </a:lnTo>
                <a:lnTo>
                  <a:pt x="2489581" y="741451"/>
                </a:lnTo>
                <a:lnTo>
                  <a:pt x="2435987" y="743407"/>
                </a:lnTo>
                <a:lnTo>
                  <a:pt x="2382139" y="745109"/>
                </a:lnTo>
                <a:lnTo>
                  <a:pt x="2328164" y="746544"/>
                </a:lnTo>
                <a:lnTo>
                  <a:pt x="2274062" y="747712"/>
                </a:lnTo>
                <a:lnTo>
                  <a:pt x="2219706" y="748626"/>
                </a:lnTo>
                <a:lnTo>
                  <a:pt x="2165350" y="749287"/>
                </a:lnTo>
                <a:lnTo>
                  <a:pt x="2110994" y="749681"/>
                </a:lnTo>
                <a:lnTo>
                  <a:pt x="2056511" y="749808"/>
                </a:lnTo>
                <a:lnTo>
                  <a:pt x="2002027" y="749681"/>
                </a:lnTo>
                <a:lnTo>
                  <a:pt x="1947672" y="749287"/>
                </a:lnTo>
                <a:lnTo>
                  <a:pt x="1893316" y="748626"/>
                </a:lnTo>
                <a:lnTo>
                  <a:pt x="1838960" y="747712"/>
                </a:lnTo>
                <a:lnTo>
                  <a:pt x="1784858" y="746544"/>
                </a:lnTo>
                <a:lnTo>
                  <a:pt x="1730883" y="745109"/>
                </a:lnTo>
                <a:lnTo>
                  <a:pt x="1677035" y="743407"/>
                </a:lnTo>
                <a:lnTo>
                  <a:pt x="1623441" y="741451"/>
                </a:lnTo>
                <a:lnTo>
                  <a:pt x="1570101" y="739228"/>
                </a:lnTo>
                <a:lnTo>
                  <a:pt x="1517014" y="736752"/>
                </a:lnTo>
                <a:lnTo>
                  <a:pt x="1464310" y="734009"/>
                </a:lnTo>
                <a:lnTo>
                  <a:pt x="1411859" y="731012"/>
                </a:lnTo>
                <a:lnTo>
                  <a:pt x="1359789" y="727735"/>
                </a:lnTo>
                <a:lnTo>
                  <a:pt x="1308100" y="724217"/>
                </a:lnTo>
                <a:lnTo>
                  <a:pt x="1256919" y="720432"/>
                </a:lnTo>
                <a:lnTo>
                  <a:pt x="1206119" y="716381"/>
                </a:lnTo>
                <a:lnTo>
                  <a:pt x="1155827" y="712076"/>
                </a:lnTo>
                <a:lnTo>
                  <a:pt x="1106170" y="707504"/>
                </a:lnTo>
                <a:lnTo>
                  <a:pt x="1056894" y="702678"/>
                </a:lnTo>
                <a:lnTo>
                  <a:pt x="1008252" y="697585"/>
                </a:lnTo>
                <a:lnTo>
                  <a:pt x="960247" y="692226"/>
                </a:lnTo>
                <a:lnTo>
                  <a:pt x="912876" y="686612"/>
                </a:lnTo>
                <a:lnTo>
                  <a:pt x="866267" y="680732"/>
                </a:lnTo>
                <a:lnTo>
                  <a:pt x="820293" y="674598"/>
                </a:lnTo>
                <a:lnTo>
                  <a:pt x="775081" y="668197"/>
                </a:lnTo>
                <a:lnTo>
                  <a:pt x="730504" y="661543"/>
                </a:lnTo>
                <a:lnTo>
                  <a:pt x="686816" y="654621"/>
                </a:lnTo>
                <a:lnTo>
                  <a:pt x="644017" y="647446"/>
                </a:lnTo>
                <a:lnTo>
                  <a:pt x="601980" y="640003"/>
                </a:lnTo>
                <a:lnTo>
                  <a:pt x="538607" y="627938"/>
                </a:lnTo>
                <a:lnTo>
                  <a:pt x="478789" y="615492"/>
                </a:lnTo>
                <a:lnTo>
                  <a:pt x="422529" y="602691"/>
                </a:lnTo>
                <a:lnTo>
                  <a:pt x="369697" y="589559"/>
                </a:lnTo>
                <a:lnTo>
                  <a:pt x="320421" y="576110"/>
                </a:lnTo>
                <a:lnTo>
                  <a:pt x="274574" y="562368"/>
                </a:lnTo>
                <a:lnTo>
                  <a:pt x="232410" y="548360"/>
                </a:lnTo>
                <a:lnTo>
                  <a:pt x="193675" y="534111"/>
                </a:lnTo>
                <a:lnTo>
                  <a:pt x="126746" y="504952"/>
                </a:lnTo>
                <a:lnTo>
                  <a:pt x="73914" y="475043"/>
                </a:lnTo>
                <a:lnTo>
                  <a:pt x="35179" y="444588"/>
                </a:lnTo>
                <a:lnTo>
                  <a:pt x="10541" y="413740"/>
                </a:lnTo>
                <a:lnTo>
                  <a:pt x="0" y="382676"/>
                </a:lnTo>
                <a:lnTo>
                  <a:pt x="0" y="367118"/>
                </a:lnTo>
                <a:lnTo>
                  <a:pt x="21082" y="320598"/>
                </a:lnTo>
                <a:lnTo>
                  <a:pt x="52832" y="289928"/>
                </a:lnTo>
                <a:lnTo>
                  <a:pt x="98552" y="259727"/>
                </a:lnTo>
                <a:lnTo>
                  <a:pt x="158369" y="230174"/>
                </a:lnTo>
                <a:lnTo>
                  <a:pt x="232410" y="201434"/>
                </a:lnTo>
                <a:lnTo>
                  <a:pt x="274574" y="187426"/>
                </a:lnTo>
                <a:lnTo>
                  <a:pt x="320421" y="173697"/>
                </a:lnTo>
                <a:lnTo>
                  <a:pt x="369697" y="160248"/>
                </a:lnTo>
                <a:lnTo>
                  <a:pt x="422529" y="147116"/>
                </a:lnTo>
                <a:lnTo>
                  <a:pt x="478789" y="134315"/>
                </a:lnTo>
                <a:lnTo>
                  <a:pt x="538607" y="121869"/>
                </a:lnTo>
                <a:lnTo>
                  <a:pt x="601980" y="109804"/>
                </a:lnTo>
                <a:lnTo>
                  <a:pt x="644017" y="102362"/>
                </a:lnTo>
                <a:lnTo>
                  <a:pt x="686816" y="95186"/>
                </a:lnTo>
                <a:lnTo>
                  <a:pt x="730504" y="88265"/>
                </a:lnTo>
                <a:lnTo>
                  <a:pt x="775081" y="81597"/>
                </a:lnTo>
                <a:lnTo>
                  <a:pt x="820293" y="75209"/>
                </a:lnTo>
                <a:lnTo>
                  <a:pt x="866267" y="69062"/>
                </a:lnTo>
                <a:lnTo>
                  <a:pt x="912876" y="63195"/>
                </a:lnTo>
                <a:lnTo>
                  <a:pt x="960247" y="57581"/>
                </a:lnTo>
                <a:lnTo>
                  <a:pt x="1008252" y="52222"/>
                </a:lnTo>
                <a:lnTo>
                  <a:pt x="1056894" y="47129"/>
                </a:lnTo>
                <a:lnTo>
                  <a:pt x="1106170" y="42303"/>
                </a:lnTo>
                <a:lnTo>
                  <a:pt x="1155827" y="37731"/>
                </a:lnTo>
                <a:lnTo>
                  <a:pt x="1206119" y="33426"/>
                </a:lnTo>
                <a:lnTo>
                  <a:pt x="1256919" y="29375"/>
                </a:lnTo>
                <a:lnTo>
                  <a:pt x="1308100" y="25590"/>
                </a:lnTo>
                <a:lnTo>
                  <a:pt x="1359789" y="22059"/>
                </a:lnTo>
                <a:lnTo>
                  <a:pt x="1411859" y="18796"/>
                </a:lnTo>
                <a:lnTo>
                  <a:pt x="1464310" y="15798"/>
                </a:lnTo>
                <a:lnTo>
                  <a:pt x="1517014" y="13055"/>
                </a:lnTo>
                <a:lnTo>
                  <a:pt x="1570101" y="10579"/>
                </a:lnTo>
                <a:lnTo>
                  <a:pt x="1623441" y="8356"/>
                </a:lnTo>
                <a:lnTo>
                  <a:pt x="1677035" y="6400"/>
                </a:lnTo>
                <a:lnTo>
                  <a:pt x="1730883" y="4699"/>
                </a:lnTo>
                <a:lnTo>
                  <a:pt x="1784858" y="3263"/>
                </a:lnTo>
                <a:lnTo>
                  <a:pt x="1838960" y="2082"/>
                </a:lnTo>
                <a:lnTo>
                  <a:pt x="1893316" y="1168"/>
                </a:lnTo>
                <a:lnTo>
                  <a:pt x="1947672" y="520"/>
                </a:lnTo>
                <a:lnTo>
                  <a:pt x="2002027" y="127"/>
                </a:lnTo>
                <a:lnTo>
                  <a:pt x="2056511" y="0"/>
                </a:lnTo>
                <a:lnTo>
                  <a:pt x="2110994" y="127"/>
                </a:lnTo>
                <a:lnTo>
                  <a:pt x="2165350" y="520"/>
                </a:lnTo>
                <a:lnTo>
                  <a:pt x="2219706" y="1168"/>
                </a:lnTo>
                <a:lnTo>
                  <a:pt x="2274062" y="2082"/>
                </a:lnTo>
                <a:lnTo>
                  <a:pt x="2328164" y="3263"/>
                </a:lnTo>
                <a:lnTo>
                  <a:pt x="2382139" y="4699"/>
                </a:lnTo>
                <a:lnTo>
                  <a:pt x="2435987" y="6400"/>
                </a:lnTo>
                <a:lnTo>
                  <a:pt x="2489581" y="8356"/>
                </a:lnTo>
                <a:lnTo>
                  <a:pt x="2542921" y="10579"/>
                </a:lnTo>
                <a:lnTo>
                  <a:pt x="2596007" y="13055"/>
                </a:lnTo>
                <a:lnTo>
                  <a:pt x="2648712" y="15798"/>
                </a:lnTo>
                <a:lnTo>
                  <a:pt x="2701163" y="18796"/>
                </a:lnTo>
                <a:lnTo>
                  <a:pt x="2753233" y="22059"/>
                </a:lnTo>
                <a:lnTo>
                  <a:pt x="2804922" y="25590"/>
                </a:lnTo>
                <a:lnTo>
                  <a:pt x="2856103" y="29375"/>
                </a:lnTo>
                <a:lnTo>
                  <a:pt x="2906903" y="33426"/>
                </a:lnTo>
                <a:lnTo>
                  <a:pt x="2957195" y="37731"/>
                </a:lnTo>
                <a:lnTo>
                  <a:pt x="3006852" y="42303"/>
                </a:lnTo>
                <a:lnTo>
                  <a:pt x="3056128" y="47129"/>
                </a:lnTo>
                <a:lnTo>
                  <a:pt x="3104769" y="52222"/>
                </a:lnTo>
                <a:lnTo>
                  <a:pt x="3152775" y="57581"/>
                </a:lnTo>
                <a:lnTo>
                  <a:pt x="3200146" y="63195"/>
                </a:lnTo>
                <a:lnTo>
                  <a:pt x="3246755" y="69062"/>
                </a:lnTo>
                <a:lnTo>
                  <a:pt x="3292729" y="75209"/>
                </a:lnTo>
                <a:lnTo>
                  <a:pt x="3338068" y="81597"/>
                </a:lnTo>
                <a:lnTo>
                  <a:pt x="3382518" y="88265"/>
                </a:lnTo>
                <a:lnTo>
                  <a:pt x="3426206" y="95186"/>
                </a:lnTo>
                <a:lnTo>
                  <a:pt x="3469005" y="102362"/>
                </a:lnTo>
                <a:lnTo>
                  <a:pt x="3511042" y="109804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200"/>
          </a:p>
        </p:txBody>
      </p:sp>
      <p:sp>
        <p:nvSpPr>
          <p:cNvPr id="13" name="object 13"/>
          <p:cNvSpPr txBox="1"/>
          <p:nvPr/>
        </p:nvSpPr>
        <p:spPr>
          <a:xfrm>
            <a:off x="2389600" y="5163330"/>
            <a:ext cx="809122" cy="288541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pc="-176" dirty="0">
                <a:cs typeface="Microsoft Sans Serif"/>
              </a:rPr>
              <a:t>Evidence</a:t>
            </a:r>
            <a:endParaRPr dirty="0">
              <a:cs typeface="Microsoft Sans Serif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7972031"/>
              </p:ext>
            </p:extLst>
          </p:nvPr>
        </p:nvGraphicFramePr>
        <p:xfrm>
          <a:off x="383132" y="152400"/>
          <a:ext cx="8456067" cy="2026920"/>
        </p:xfrm>
        <a:graphic>
          <a:graphicData uri="http://schemas.openxmlformats.org/drawingml/2006/table">
            <a:tbl>
              <a:tblPr/>
              <a:tblGrid>
                <a:gridCol w="2512468"/>
                <a:gridCol w="2362200"/>
                <a:gridCol w="3581399"/>
              </a:tblGrid>
              <a:tr h="217714">
                <a:tc>
                  <a:txBody>
                    <a:bodyPr/>
                    <a:lstStyle/>
                    <a:p>
                      <a:r>
                        <a:rPr lang="en-IN" dirty="0"/>
                        <a:t>Step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Type of Reasoning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Role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lang="en-IN"/>
                        <a:t>Observing the pattern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Inductive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“The light always comes on when I flip the switch.”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IN"/>
                        <a:t>Forming the hypothesis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Abductive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“Maybe the switch causes the light to turn on.”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lang="en-IN" dirty="0"/>
                        <a:t>Making the prediction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Deductive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“If I flip it again, it </a:t>
                      </a:r>
                      <a:r>
                        <a:rPr lang="en-US" i="1" dirty="0"/>
                        <a:t>will</a:t>
                      </a:r>
                      <a:r>
                        <a:rPr lang="en-US" dirty="0"/>
                        <a:t> turn on.”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Rectangle 1"/>
          <p:cNvSpPr>
            <a:spLocks noChangeArrowheads="1"/>
          </p:cNvSpPr>
          <p:nvPr/>
        </p:nvSpPr>
        <p:spPr bwMode="auto">
          <a:xfrm>
            <a:off x="4903826" y="3226118"/>
            <a:ext cx="4114800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Hypotheses are testable predictions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Reasoning types combine</a:t>
            </a: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: induction, abduction, and deduction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77570" y="555419"/>
            <a:ext cx="8033030" cy="869790"/>
          </a:xfrm>
          <a:prstGeom prst="rect">
            <a:avLst/>
          </a:prstGeom>
        </p:spPr>
        <p:txBody>
          <a:bodyPr vert="horz" wrap="square" lIns="0" tIns="48578" rIns="0" bIns="0" rtlCol="0" anchor="b">
            <a:spAutoFit/>
          </a:bodyPr>
          <a:lstStyle/>
          <a:p>
            <a:pPr marL="11430" marR="4572">
              <a:lnSpc>
                <a:spcPts val="3240"/>
              </a:lnSpc>
              <a:spcBef>
                <a:spcPts val="383"/>
              </a:spcBef>
            </a:pPr>
            <a:r>
              <a:rPr sz="2880" spc="-189" dirty="0">
                <a:solidFill>
                  <a:srgbClr val="001892"/>
                </a:solidFill>
                <a:latin typeface="+mn-lt"/>
                <a:cs typeface="Microsoft Sans Serif"/>
              </a:rPr>
              <a:t>Many</a:t>
            </a:r>
            <a:r>
              <a:rPr sz="2880" spc="-206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dirty="0">
                <a:solidFill>
                  <a:srgbClr val="001892"/>
                </a:solidFill>
                <a:latin typeface="+mn-lt"/>
                <a:cs typeface="Microsoft Sans Serif"/>
              </a:rPr>
              <a:t>of</a:t>
            </a:r>
            <a:r>
              <a:rPr sz="2880" spc="-113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spc="-153" dirty="0">
                <a:solidFill>
                  <a:srgbClr val="001892"/>
                </a:solidFill>
                <a:latin typeface="+mn-lt"/>
                <a:cs typeface="Microsoft Sans Serif"/>
              </a:rPr>
              <a:t>us,</a:t>
            </a:r>
            <a:r>
              <a:rPr sz="2880" spc="-500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dirty="0">
                <a:solidFill>
                  <a:srgbClr val="001892"/>
                </a:solidFill>
                <a:latin typeface="+mn-lt"/>
                <a:cs typeface="Microsoft Sans Serif"/>
              </a:rPr>
              <a:t>a</a:t>
            </a:r>
            <a:r>
              <a:rPr sz="2880" spc="-351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dirty="0">
                <a:solidFill>
                  <a:srgbClr val="001892"/>
                </a:solidFill>
                <a:latin typeface="+mn-lt"/>
                <a:cs typeface="Microsoft Sans Serif"/>
              </a:rPr>
              <a:t>lot</a:t>
            </a:r>
            <a:r>
              <a:rPr sz="2880" spc="50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dirty="0">
                <a:solidFill>
                  <a:srgbClr val="001892"/>
                </a:solidFill>
                <a:latin typeface="+mn-lt"/>
                <a:cs typeface="Microsoft Sans Serif"/>
              </a:rPr>
              <a:t>of</a:t>
            </a:r>
            <a:r>
              <a:rPr sz="2880" spc="-59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spc="-27" dirty="0">
                <a:solidFill>
                  <a:srgbClr val="001892"/>
                </a:solidFill>
                <a:latin typeface="+mn-lt"/>
                <a:cs typeface="Microsoft Sans Serif"/>
              </a:rPr>
              <a:t>the</a:t>
            </a:r>
            <a:r>
              <a:rPr sz="2880" spc="-72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spc="-77" dirty="0">
                <a:solidFill>
                  <a:srgbClr val="001892"/>
                </a:solidFill>
                <a:latin typeface="+mn-lt"/>
                <a:cs typeface="Microsoft Sans Serif"/>
              </a:rPr>
              <a:t>time,</a:t>
            </a:r>
            <a:r>
              <a:rPr sz="2880" spc="-347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dirty="0">
                <a:solidFill>
                  <a:srgbClr val="001892"/>
                </a:solidFill>
                <a:latin typeface="+mn-lt"/>
                <a:cs typeface="Microsoft Sans Serif"/>
              </a:rPr>
              <a:t>will</a:t>
            </a:r>
            <a:r>
              <a:rPr sz="2880" spc="-14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spc="-54" dirty="0">
                <a:solidFill>
                  <a:srgbClr val="001892"/>
                </a:solidFill>
                <a:latin typeface="+mn-lt"/>
                <a:cs typeface="Microsoft Sans Serif"/>
              </a:rPr>
              <a:t>tend</a:t>
            </a:r>
            <a:r>
              <a:rPr sz="2880" spc="-108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dirty="0">
                <a:solidFill>
                  <a:srgbClr val="001892"/>
                </a:solidFill>
                <a:latin typeface="+mn-lt"/>
                <a:cs typeface="Microsoft Sans Serif"/>
              </a:rPr>
              <a:t>to</a:t>
            </a:r>
            <a:r>
              <a:rPr sz="2880" spc="59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dirty="0">
                <a:solidFill>
                  <a:srgbClr val="001892"/>
                </a:solidFill>
                <a:latin typeface="+mn-lt"/>
                <a:cs typeface="Microsoft Sans Serif"/>
              </a:rPr>
              <a:t>look</a:t>
            </a:r>
            <a:r>
              <a:rPr sz="2880" spc="-14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spc="-23" dirty="0">
                <a:solidFill>
                  <a:srgbClr val="001892"/>
                </a:solidFill>
                <a:latin typeface="+mn-lt"/>
                <a:cs typeface="Microsoft Sans Serif"/>
              </a:rPr>
              <a:t>for </a:t>
            </a:r>
            <a:r>
              <a:rPr sz="2880" spc="-162" dirty="0">
                <a:solidFill>
                  <a:srgbClr val="001892"/>
                </a:solidFill>
                <a:latin typeface="+mn-lt"/>
                <a:cs typeface="Microsoft Sans Serif"/>
              </a:rPr>
              <a:t>evidence</a:t>
            </a:r>
            <a:r>
              <a:rPr sz="2880" spc="-203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spc="-18" dirty="0">
                <a:solidFill>
                  <a:srgbClr val="001892"/>
                </a:solidFill>
                <a:latin typeface="+mn-lt"/>
                <a:cs typeface="Microsoft Sans Serif"/>
              </a:rPr>
              <a:t>that</a:t>
            </a:r>
            <a:r>
              <a:rPr sz="2880" spc="-54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spc="-95" dirty="0">
                <a:solidFill>
                  <a:srgbClr val="001892"/>
                </a:solidFill>
                <a:latin typeface="+mn-lt"/>
                <a:cs typeface="Microsoft Sans Serif"/>
              </a:rPr>
              <a:t>supports</a:t>
            </a:r>
            <a:r>
              <a:rPr sz="2880" spc="-103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dirty="0">
                <a:solidFill>
                  <a:srgbClr val="001892"/>
                </a:solidFill>
                <a:latin typeface="+mn-lt"/>
                <a:cs typeface="Microsoft Sans Serif"/>
              </a:rPr>
              <a:t>our</a:t>
            </a:r>
            <a:r>
              <a:rPr sz="2880" spc="23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spc="-144" dirty="0">
                <a:solidFill>
                  <a:srgbClr val="001892"/>
                </a:solidFill>
                <a:latin typeface="+mn-lt"/>
                <a:cs typeface="Microsoft Sans Serif"/>
              </a:rPr>
              <a:t>hypothesis</a:t>
            </a:r>
            <a:r>
              <a:rPr sz="2880" spc="-140" dirty="0">
                <a:solidFill>
                  <a:srgbClr val="001892"/>
                </a:solidFill>
                <a:latin typeface="+mn-lt"/>
                <a:cs typeface="Microsoft Sans Serif"/>
              </a:rPr>
              <a:t> </a:t>
            </a:r>
            <a:r>
              <a:rPr sz="2880" spc="-9" dirty="0">
                <a:solidFill>
                  <a:srgbClr val="001892"/>
                </a:solidFill>
                <a:latin typeface="+mn-lt"/>
                <a:cs typeface="Microsoft Sans Serif"/>
              </a:rPr>
              <a:t>(only).</a:t>
            </a:r>
            <a:endParaRPr sz="2880" dirty="0">
              <a:latin typeface="+mn-lt"/>
              <a:cs typeface="Microsoft Sans Serif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49815" y="2900249"/>
            <a:ext cx="1684211" cy="898516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80" spc="-117" dirty="0">
                <a:cs typeface="Microsoft Sans Serif"/>
              </a:rPr>
              <a:t>Hypothesis</a:t>
            </a:r>
            <a:endParaRPr sz="2880" dirty="0"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9703" y="4793029"/>
            <a:ext cx="2720111" cy="857927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lnSpc>
                <a:spcPts val="3348"/>
              </a:lnSpc>
              <a:spcBef>
                <a:spcPts val="90"/>
              </a:spcBef>
            </a:pPr>
            <a:r>
              <a:rPr sz="2880" spc="-9" dirty="0" smtClean="0">
                <a:cs typeface="Microsoft Sans Serif"/>
              </a:rPr>
              <a:t>Confirmed</a:t>
            </a:r>
            <a:r>
              <a:rPr sz="2880" spc="-45" dirty="0" smtClean="0">
                <a:cs typeface="Microsoft Sans Serif"/>
              </a:rPr>
              <a:t>?</a:t>
            </a:r>
            <a:endParaRPr sz="2880" dirty="0">
              <a:cs typeface="Microsoft Sans Serif"/>
            </a:endParaRPr>
          </a:p>
          <a:p>
            <a:pPr marL="11430">
              <a:lnSpc>
                <a:spcPts val="3348"/>
              </a:lnSpc>
            </a:pPr>
            <a:r>
              <a:rPr sz="2880" spc="-158" dirty="0">
                <a:cs typeface="Microsoft Sans Serif"/>
              </a:rPr>
              <a:t>Supported?</a:t>
            </a:r>
            <a:endParaRPr sz="2880" dirty="0"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058471" y="4710759"/>
            <a:ext cx="1392746" cy="45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80" spc="-158" dirty="0">
                <a:solidFill>
                  <a:srgbClr val="5E5E5E"/>
                </a:solidFill>
                <a:cs typeface="Microsoft Sans Serif"/>
              </a:rPr>
              <a:t>Falsified?</a:t>
            </a:r>
            <a:endParaRPr sz="2880">
              <a:cs typeface="Microsoft Sans Serif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2389327" y="3692347"/>
            <a:ext cx="938402" cy="970979"/>
            <a:chOff x="2654807" y="4102608"/>
            <a:chExt cx="1042669" cy="1078865"/>
          </a:xfrm>
        </p:grpSpPr>
        <p:sp>
          <p:nvSpPr>
            <p:cNvPr id="7" name="object 7"/>
            <p:cNvSpPr/>
            <p:nvPr/>
          </p:nvSpPr>
          <p:spPr>
            <a:xfrm>
              <a:off x="2826257" y="4153662"/>
              <a:ext cx="819785" cy="852169"/>
            </a:xfrm>
            <a:custGeom>
              <a:avLst/>
              <a:gdLst/>
              <a:ahLst/>
              <a:cxnLst/>
              <a:rect l="l" t="t" r="r" b="b"/>
              <a:pathLst>
                <a:path w="819785" h="852170">
                  <a:moveTo>
                    <a:pt x="0" y="851662"/>
                  </a:moveTo>
                  <a:lnTo>
                    <a:pt x="35179" y="814958"/>
                  </a:lnTo>
                  <a:lnTo>
                    <a:pt x="819784" y="0"/>
                  </a:lnTo>
                </a:path>
              </a:pathLst>
            </a:custGeom>
            <a:ln w="10210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8" name="object 8"/>
            <p:cNvSpPr/>
            <p:nvPr/>
          </p:nvSpPr>
          <p:spPr>
            <a:xfrm>
              <a:off x="2654807" y="4759452"/>
              <a:ext cx="417830" cy="422275"/>
            </a:xfrm>
            <a:custGeom>
              <a:avLst/>
              <a:gdLst/>
              <a:ahLst/>
              <a:cxnLst/>
              <a:rect l="l" t="t" r="r" b="b"/>
              <a:pathLst>
                <a:path w="417830" h="422275">
                  <a:moveTo>
                    <a:pt x="132080" y="0"/>
                  </a:moveTo>
                  <a:lnTo>
                    <a:pt x="0" y="422021"/>
                  </a:lnTo>
                  <a:lnTo>
                    <a:pt x="417322" y="274320"/>
                  </a:lnTo>
                  <a:lnTo>
                    <a:pt x="205994" y="208406"/>
                  </a:lnTo>
                  <a:lnTo>
                    <a:pt x="1320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972050" y="3692347"/>
            <a:ext cx="1109282" cy="982409"/>
            <a:chOff x="5524500" y="4102608"/>
            <a:chExt cx="1232535" cy="1091565"/>
          </a:xfrm>
        </p:grpSpPr>
        <p:sp>
          <p:nvSpPr>
            <p:cNvPr id="10" name="object 10"/>
            <p:cNvSpPr/>
            <p:nvPr/>
          </p:nvSpPr>
          <p:spPr>
            <a:xfrm>
              <a:off x="5575553" y="4153662"/>
              <a:ext cx="996950" cy="879475"/>
            </a:xfrm>
            <a:custGeom>
              <a:avLst/>
              <a:gdLst/>
              <a:ahLst/>
              <a:cxnLst/>
              <a:rect l="l" t="t" r="r" b="b"/>
              <a:pathLst>
                <a:path w="996950" h="879475">
                  <a:moveTo>
                    <a:pt x="996696" y="878967"/>
                  </a:moveTo>
                  <a:lnTo>
                    <a:pt x="958596" y="845312"/>
                  </a:lnTo>
                  <a:lnTo>
                    <a:pt x="0" y="0"/>
                  </a:lnTo>
                </a:path>
              </a:pathLst>
            </a:custGeom>
            <a:ln w="102107">
              <a:solidFill>
                <a:srgbClr val="5E5E5E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11" name="object 11"/>
            <p:cNvSpPr/>
            <p:nvPr/>
          </p:nvSpPr>
          <p:spPr>
            <a:xfrm>
              <a:off x="6327648" y="4783836"/>
              <a:ext cx="429895" cy="410209"/>
            </a:xfrm>
            <a:custGeom>
              <a:avLst/>
              <a:gdLst/>
              <a:ahLst/>
              <a:cxnLst/>
              <a:rect l="l" t="t" r="r" b="b"/>
              <a:pathLst>
                <a:path w="429895" h="410210">
                  <a:moveTo>
                    <a:pt x="262762" y="0"/>
                  </a:moveTo>
                  <a:lnTo>
                    <a:pt x="205867" y="213613"/>
                  </a:lnTo>
                  <a:lnTo>
                    <a:pt x="0" y="296544"/>
                  </a:lnTo>
                  <a:lnTo>
                    <a:pt x="429386" y="409828"/>
                  </a:lnTo>
                  <a:lnTo>
                    <a:pt x="262762" y="0"/>
                  </a:lnTo>
                  <a:close/>
                </a:path>
              </a:pathLst>
            </a:custGeom>
            <a:solidFill>
              <a:srgbClr val="5E5E5E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2" name="object 12"/>
          <p:cNvSpPr/>
          <p:nvPr/>
        </p:nvSpPr>
        <p:spPr>
          <a:xfrm>
            <a:off x="2639027" y="5165499"/>
            <a:ext cx="3702176" cy="674942"/>
          </a:xfrm>
          <a:custGeom>
            <a:avLst/>
            <a:gdLst/>
            <a:ahLst/>
            <a:cxnLst/>
            <a:rect l="l" t="t" r="r" b="b"/>
            <a:pathLst>
              <a:path w="4113529" h="749934">
                <a:moveTo>
                  <a:pt x="3511042" y="109804"/>
                </a:moveTo>
                <a:lnTo>
                  <a:pt x="3574415" y="121869"/>
                </a:lnTo>
                <a:lnTo>
                  <a:pt x="3634232" y="134315"/>
                </a:lnTo>
                <a:lnTo>
                  <a:pt x="3690493" y="147116"/>
                </a:lnTo>
                <a:lnTo>
                  <a:pt x="3743325" y="160248"/>
                </a:lnTo>
                <a:lnTo>
                  <a:pt x="3792601" y="173697"/>
                </a:lnTo>
                <a:lnTo>
                  <a:pt x="3838448" y="187426"/>
                </a:lnTo>
                <a:lnTo>
                  <a:pt x="3880612" y="201434"/>
                </a:lnTo>
                <a:lnTo>
                  <a:pt x="3919347" y="215696"/>
                </a:lnTo>
                <a:lnTo>
                  <a:pt x="3986276" y="244856"/>
                </a:lnTo>
                <a:lnTo>
                  <a:pt x="4039108" y="274751"/>
                </a:lnTo>
                <a:lnTo>
                  <a:pt x="4077843" y="305219"/>
                </a:lnTo>
                <a:lnTo>
                  <a:pt x="4102481" y="336067"/>
                </a:lnTo>
                <a:lnTo>
                  <a:pt x="4113022" y="367118"/>
                </a:lnTo>
                <a:lnTo>
                  <a:pt x="4113022" y="382676"/>
                </a:lnTo>
                <a:lnTo>
                  <a:pt x="4091940" y="429209"/>
                </a:lnTo>
                <a:lnTo>
                  <a:pt x="4060190" y="459879"/>
                </a:lnTo>
                <a:lnTo>
                  <a:pt x="4014470" y="490080"/>
                </a:lnTo>
                <a:lnTo>
                  <a:pt x="3954653" y="519633"/>
                </a:lnTo>
                <a:lnTo>
                  <a:pt x="3880612" y="548360"/>
                </a:lnTo>
                <a:lnTo>
                  <a:pt x="3838448" y="562368"/>
                </a:lnTo>
                <a:lnTo>
                  <a:pt x="3792601" y="576110"/>
                </a:lnTo>
                <a:lnTo>
                  <a:pt x="3743325" y="589559"/>
                </a:lnTo>
                <a:lnTo>
                  <a:pt x="3690493" y="602691"/>
                </a:lnTo>
                <a:lnTo>
                  <a:pt x="3634232" y="615492"/>
                </a:lnTo>
                <a:lnTo>
                  <a:pt x="3574415" y="627938"/>
                </a:lnTo>
                <a:lnTo>
                  <a:pt x="3511042" y="640003"/>
                </a:lnTo>
                <a:lnTo>
                  <a:pt x="3469005" y="647446"/>
                </a:lnTo>
                <a:lnTo>
                  <a:pt x="3426206" y="654621"/>
                </a:lnTo>
                <a:lnTo>
                  <a:pt x="3382518" y="661543"/>
                </a:lnTo>
                <a:lnTo>
                  <a:pt x="3338068" y="668197"/>
                </a:lnTo>
                <a:lnTo>
                  <a:pt x="3292729" y="674599"/>
                </a:lnTo>
                <a:lnTo>
                  <a:pt x="3246755" y="680736"/>
                </a:lnTo>
                <a:lnTo>
                  <a:pt x="3200146" y="686612"/>
                </a:lnTo>
                <a:lnTo>
                  <a:pt x="3152775" y="692226"/>
                </a:lnTo>
                <a:lnTo>
                  <a:pt x="3104769" y="697579"/>
                </a:lnTo>
                <a:lnTo>
                  <a:pt x="3056128" y="702671"/>
                </a:lnTo>
                <a:lnTo>
                  <a:pt x="3006852" y="707503"/>
                </a:lnTo>
                <a:lnTo>
                  <a:pt x="2957195" y="712072"/>
                </a:lnTo>
                <a:lnTo>
                  <a:pt x="2906903" y="716381"/>
                </a:lnTo>
                <a:lnTo>
                  <a:pt x="2856103" y="720429"/>
                </a:lnTo>
                <a:lnTo>
                  <a:pt x="2804922" y="724214"/>
                </a:lnTo>
                <a:lnTo>
                  <a:pt x="2753233" y="727740"/>
                </a:lnTo>
                <a:lnTo>
                  <a:pt x="2701163" y="731005"/>
                </a:lnTo>
                <a:lnTo>
                  <a:pt x="2648712" y="734009"/>
                </a:lnTo>
                <a:lnTo>
                  <a:pt x="2596007" y="736749"/>
                </a:lnTo>
                <a:lnTo>
                  <a:pt x="2542921" y="739231"/>
                </a:lnTo>
                <a:lnTo>
                  <a:pt x="2489580" y="741451"/>
                </a:lnTo>
                <a:lnTo>
                  <a:pt x="2435987" y="743408"/>
                </a:lnTo>
                <a:lnTo>
                  <a:pt x="2382139" y="745105"/>
                </a:lnTo>
                <a:lnTo>
                  <a:pt x="2328164" y="746542"/>
                </a:lnTo>
                <a:lnTo>
                  <a:pt x="2274062" y="747717"/>
                </a:lnTo>
                <a:lnTo>
                  <a:pt x="2219705" y="748630"/>
                </a:lnTo>
                <a:lnTo>
                  <a:pt x="2165350" y="749284"/>
                </a:lnTo>
                <a:lnTo>
                  <a:pt x="2110994" y="749675"/>
                </a:lnTo>
                <a:lnTo>
                  <a:pt x="2056511" y="749806"/>
                </a:lnTo>
                <a:lnTo>
                  <a:pt x="2002027" y="749675"/>
                </a:lnTo>
                <a:lnTo>
                  <a:pt x="1947672" y="749284"/>
                </a:lnTo>
                <a:lnTo>
                  <a:pt x="1893315" y="748630"/>
                </a:lnTo>
                <a:lnTo>
                  <a:pt x="1838960" y="747717"/>
                </a:lnTo>
                <a:lnTo>
                  <a:pt x="1784858" y="746542"/>
                </a:lnTo>
                <a:lnTo>
                  <a:pt x="1730883" y="745105"/>
                </a:lnTo>
                <a:lnTo>
                  <a:pt x="1677035" y="743408"/>
                </a:lnTo>
                <a:lnTo>
                  <a:pt x="1623441" y="741451"/>
                </a:lnTo>
                <a:lnTo>
                  <a:pt x="1570101" y="739231"/>
                </a:lnTo>
                <a:lnTo>
                  <a:pt x="1517015" y="736749"/>
                </a:lnTo>
                <a:lnTo>
                  <a:pt x="1464310" y="734009"/>
                </a:lnTo>
                <a:lnTo>
                  <a:pt x="1411859" y="731005"/>
                </a:lnTo>
                <a:lnTo>
                  <a:pt x="1359789" y="727740"/>
                </a:lnTo>
                <a:lnTo>
                  <a:pt x="1308100" y="724214"/>
                </a:lnTo>
                <a:lnTo>
                  <a:pt x="1256919" y="720429"/>
                </a:lnTo>
                <a:lnTo>
                  <a:pt x="1206119" y="716381"/>
                </a:lnTo>
                <a:lnTo>
                  <a:pt x="1155827" y="712072"/>
                </a:lnTo>
                <a:lnTo>
                  <a:pt x="1106119" y="707503"/>
                </a:lnTo>
                <a:lnTo>
                  <a:pt x="1056919" y="702671"/>
                </a:lnTo>
                <a:lnTo>
                  <a:pt x="1008291" y="697579"/>
                </a:lnTo>
                <a:lnTo>
                  <a:pt x="960285" y="692226"/>
                </a:lnTo>
                <a:lnTo>
                  <a:pt x="912926" y="686612"/>
                </a:lnTo>
                <a:lnTo>
                  <a:pt x="866241" y="680736"/>
                </a:lnTo>
                <a:lnTo>
                  <a:pt x="820267" y="674599"/>
                </a:lnTo>
                <a:lnTo>
                  <a:pt x="775017" y="668197"/>
                </a:lnTo>
                <a:lnTo>
                  <a:pt x="730542" y="661543"/>
                </a:lnTo>
                <a:lnTo>
                  <a:pt x="686866" y="654621"/>
                </a:lnTo>
                <a:lnTo>
                  <a:pt x="644017" y="647446"/>
                </a:lnTo>
                <a:lnTo>
                  <a:pt x="602030" y="640003"/>
                </a:lnTo>
                <a:lnTo>
                  <a:pt x="538657" y="627938"/>
                </a:lnTo>
                <a:lnTo>
                  <a:pt x="478802" y="615492"/>
                </a:lnTo>
                <a:lnTo>
                  <a:pt x="422478" y="602691"/>
                </a:lnTo>
                <a:lnTo>
                  <a:pt x="369671" y="589559"/>
                </a:lnTo>
                <a:lnTo>
                  <a:pt x="320382" y="576110"/>
                </a:lnTo>
                <a:lnTo>
                  <a:pt x="274612" y="562368"/>
                </a:lnTo>
                <a:lnTo>
                  <a:pt x="232359" y="548360"/>
                </a:lnTo>
                <a:lnTo>
                  <a:pt x="193636" y="534111"/>
                </a:lnTo>
                <a:lnTo>
                  <a:pt x="126746" y="504952"/>
                </a:lnTo>
                <a:lnTo>
                  <a:pt x="73926" y="475043"/>
                </a:lnTo>
                <a:lnTo>
                  <a:pt x="35204" y="444588"/>
                </a:lnTo>
                <a:lnTo>
                  <a:pt x="10566" y="413740"/>
                </a:lnTo>
                <a:lnTo>
                  <a:pt x="0" y="382676"/>
                </a:lnTo>
                <a:lnTo>
                  <a:pt x="0" y="367118"/>
                </a:lnTo>
                <a:lnTo>
                  <a:pt x="21120" y="320598"/>
                </a:lnTo>
                <a:lnTo>
                  <a:pt x="52806" y="289928"/>
                </a:lnTo>
                <a:lnTo>
                  <a:pt x="98577" y="259727"/>
                </a:lnTo>
                <a:lnTo>
                  <a:pt x="158432" y="230174"/>
                </a:lnTo>
                <a:lnTo>
                  <a:pt x="232359" y="201434"/>
                </a:lnTo>
                <a:lnTo>
                  <a:pt x="274612" y="187426"/>
                </a:lnTo>
                <a:lnTo>
                  <a:pt x="320382" y="173697"/>
                </a:lnTo>
                <a:lnTo>
                  <a:pt x="369671" y="160248"/>
                </a:lnTo>
                <a:lnTo>
                  <a:pt x="422478" y="147116"/>
                </a:lnTo>
                <a:lnTo>
                  <a:pt x="478802" y="134315"/>
                </a:lnTo>
                <a:lnTo>
                  <a:pt x="538657" y="121869"/>
                </a:lnTo>
                <a:lnTo>
                  <a:pt x="602030" y="109804"/>
                </a:lnTo>
                <a:lnTo>
                  <a:pt x="644017" y="102362"/>
                </a:lnTo>
                <a:lnTo>
                  <a:pt x="686866" y="95186"/>
                </a:lnTo>
                <a:lnTo>
                  <a:pt x="730542" y="88265"/>
                </a:lnTo>
                <a:lnTo>
                  <a:pt x="775017" y="81597"/>
                </a:lnTo>
                <a:lnTo>
                  <a:pt x="820267" y="75209"/>
                </a:lnTo>
                <a:lnTo>
                  <a:pt x="866241" y="69062"/>
                </a:lnTo>
                <a:lnTo>
                  <a:pt x="912926" y="63195"/>
                </a:lnTo>
                <a:lnTo>
                  <a:pt x="960285" y="57581"/>
                </a:lnTo>
                <a:lnTo>
                  <a:pt x="1008291" y="52222"/>
                </a:lnTo>
                <a:lnTo>
                  <a:pt x="1056919" y="47129"/>
                </a:lnTo>
                <a:lnTo>
                  <a:pt x="1106119" y="42303"/>
                </a:lnTo>
                <a:lnTo>
                  <a:pt x="1155827" y="37731"/>
                </a:lnTo>
                <a:lnTo>
                  <a:pt x="1206119" y="33426"/>
                </a:lnTo>
                <a:lnTo>
                  <a:pt x="1256919" y="29375"/>
                </a:lnTo>
                <a:lnTo>
                  <a:pt x="1308100" y="25590"/>
                </a:lnTo>
                <a:lnTo>
                  <a:pt x="1359789" y="22059"/>
                </a:lnTo>
                <a:lnTo>
                  <a:pt x="1411859" y="18796"/>
                </a:lnTo>
                <a:lnTo>
                  <a:pt x="1464310" y="15798"/>
                </a:lnTo>
                <a:lnTo>
                  <a:pt x="1517015" y="13055"/>
                </a:lnTo>
                <a:lnTo>
                  <a:pt x="1570101" y="10579"/>
                </a:lnTo>
                <a:lnTo>
                  <a:pt x="1623441" y="8356"/>
                </a:lnTo>
                <a:lnTo>
                  <a:pt x="1677035" y="6400"/>
                </a:lnTo>
                <a:lnTo>
                  <a:pt x="1730883" y="4699"/>
                </a:lnTo>
                <a:lnTo>
                  <a:pt x="1784858" y="3263"/>
                </a:lnTo>
                <a:lnTo>
                  <a:pt x="1838960" y="2082"/>
                </a:lnTo>
                <a:lnTo>
                  <a:pt x="1893315" y="1168"/>
                </a:lnTo>
                <a:lnTo>
                  <a:pt x="1947672" y="520"/>
                </a:lnTo>
                <a:lnTo>
                  <a:pt x="2002027" y="127"/>
                </a:lnTo>
                <a:lnTo>
                  <a:pt x="2056511" y="0"/>
                </a:lnTo>
                <a:lnTo>
                  <a:pt x="2110994" y="127"/>
                </a:lnTo>
                <a:lnTo>
                  <a:pt x="2165350" y="520"/>
                </a:lnTo>
                <a:lnTo>
                  <a:pt x="2219705" y="1168"/>
                </a:lnTo>
                <a:lnTo>
                  <a:pt x="2274062" y="2082"/>
                </a:lnTo>
                <a:lnTo>
                  <a:pt x="2328164" y="3263"/>
                </a:lnTo>
                <a:lnTo>
                  <a:pt x="2382139" y="4699"/>
                </a:lnTo>
                <a:lnTo>
                  <a:pt x="2435987" y="6400"/>
                </a:lnTo>
                <a:lnTo>
                  <a:pt x="2489580" y="8356"/>
                </a:lnTo>
                <a:lnTo>
                  <a:pt x="2542921" y="10579"/>
                </a:lnTo>
                <a:lnTo>
                  <a:pt x="2596007" y="13055"/>
                </a:lnTo>
                <a:lnTo>
                  <a:pt x="2648712" y="15798"/>
                </a:lnTo>
                <a:lnTo>
                  <a:pt x="2701163" y="18796"/>
                </a:lnTo>
                <a:lnTo>
                  <a:pt x="2753233" y="22059"/>
                </a:lnTo>
                <a:lnTo>
                  <a:pt x="2804922" y="25590"/>
                </a:lnTo>
                <a:lnTo>
                  <a:pt x="2856103" y="29375"/>
                </a:lnTo>
                <a:lnTo>
                  <a:pt x="2906903" y="33426"/>
                </a:lnTo>
                <a:lnTo>
                  <a:pt x="2957195" y="37731"/>
                </a:lnTo>
                <a:lnTo>
                  <a:pt x="3006852" y="42303"/>
                </a:lnTo>
                <a:lnTo>
                  <a:pt x="3056128" y="47129"/>
                </a:lnTo>
                <a:lnTo>
                  <a:pt x="3104769" y="52222"/>
                </a:lnTo>
                <a:lnTo>
                  <a:pt x="3152775" y="57581"/>
                </a:lnTo>
                <a:lnTo>
                  <a:pt x="3200146" y="63195"/>
                </a:lnTo>
                <a:lnTo>
                  <a:pt x="3246755" y="69062"/>
                </a:lnTo>
                <a:lnTo>
                  <a:pt x="3292729" y="75209"/>
                </a:lnTo>
                <a:lnTo>
                  <a:pt x="3338068" y="81597"/>
                </a:lnTo>
                <a:lnTo>
                  <a:pt x="3382518" y="88265"/>
                </a:lnTo>
                <a:lnTo>
                  <a:pt x="3426206" y="95186"/>
                </a:lnTo>
                <a:lnTo>
                  <a:pt x="3469005" y="102362"/>
                </a:lnTo>
                <a:lnTo>
                  <a:pt x="3511042" y="109804"/>
                </a:lnTo>
              </a:path>
            </a:pathLst>
          </a:custGeom>
          <a:ln w="2590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13" name="object 13"/>
          <p:cNvSpPr txBox="1"/>
          <p:nvPr/>
        </p:nvSpPr>
        <p:spPr>
          <a:xfrm>
            <a:off x="3302220" y="5221992"/>
            <a:ext cx="1254443" cy="4270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700" spc="-176" dirty="0">
                <a:cs typeface="Microsoft Sans Serif"/>
              </a:rPr>
              <a:t>Evidence</a:t>
            </a:r>
            <a:endParaRPr sz="2700" dirty="0">
              <a:cs typeface="Microsoft Sans Serif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9674" y="456764"/>
            <a:ext cx="8138526" cy="4191276"/>
          </a:xfrm>
          <a:prstGeom prst="rect">
            <a:avLst/>
          </a:prstGeom>
        </p:spPr>
        <p:txBody>
          <a:bodyPr vert="horz" wrap="square" lIns="0" tIns="270891" rIns="0" bIns="0" rtlCol="0">
            <a:spAutoFit/>
          </a:bodyPr>
          <a:lstStyle/>
          <a:p>
            <a:pPr marL="11430" algn="just">
              <a:spcBef>
                <a:spcPts val="2133"/>
              </a:spcBef>
            </a:pPr>
            <a:r>
              <a:rPr sz="2880" b="1" spc="113" dirty="0">
                <a:cs typeface="Trebuchet MS"/>
              </a:rPr>
              <a:t>Deductive</a:t>
            </a:r>
            <a:r>
              <a:rPr sz="2880" b="1" spc="117" dirty="0">
                <a:cs typeface="Trebuchet MS"/>
              </a:rPr>
              <a:t> </a:t>
            </a:r>
            <a:r>
              <a:rPr sz="2880" b="1" spc="81" dirty="0">
                <a:cs typeface="Trebuchet MS"/>
              </a:rPr>
              <a:t>reasoning</a:t>
            </a:r>
            <a:endParaRPr sz="2880" dirty="0">
              <a:cs typeface="Trebuchet MS"/>
            </a:endParaRPr>
          </a:p>
          <a:p>
            <a:pPr marL="800100" marR="4572" indent="-308610" algn="just">
              <a:lnSpc>
                <a:spcPts val="3240"/>
              </a:lnSpc>
              <a:spcBef>
                <a:spcPts val="2331"/>
              </a:spcBef>
              <a:buChar char="•"/>
              <a:tabLst>
                <a:tab pos="800100" algn="l"/>
              </a:tabLst>
            </a:pPr>
            <a:r>
              <a:rPr sz="2880" spc="-86" dirty="0">
                <a:cs typeface="Microsoft Sans Serif"/>
              </a:rPr>
              <a:t>There</a:t>
            </a:r>
            <a:r>
              <a:rPr sz="2880" spc="-81" dirty="0">
                <a:cs typeface="Microsoft Sans Serif"/>
              </a:rPr>
              <a:t> </a:t>
            </a:r>
            <a:r>
              <a:rPr sz="2880" spc="-103" dirty="0">
                <a:cs typeface="Microsoft Sans Serif"/>
              </a:rPr>
              <a:t>is</a:t>
            </a:r>
            <a:r>
              <a:rPr sz="2880" spc="-149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a</a:t>
            </a:r>
            <a:r>
              <a:rPr sz="2880" spc="-342" dirty="0">
                <a:cs typeface="Microsoft Sans Serif"/>
              </a:rPr>
              <a:t> </a:t>
            </a:r>
            <a:r>
              <a:rPr sz="2880" spc="-140" dirty="0">
                <a:cs typeface="Microsoft Sans Serif"/>
              </a:rPr>
              <a:t>much</a:t>
            </a:r>
            <a:r>
              <a:rPr sz="2880" spc="-158" dirty="0">
                <a:cs typeface="Microsoft Sans Serif"/>
              </a:rPr>
              <a:t> </a:t>
            </a:r>
            <a:r>
              <a:rPr sz="2880" spc="-103" dirty="0">
                <a:cs typeface="Microsoft Sans Serif"/>
              </a:rPr>
              <a:t>greater</a:t>
            </a:r>
            <a:r>
              <a:rPr sz="2880" spc="-99" dirty="0">
                <a:cs typeface="Microsoft Sans Serif"/>
              </a:rPr>
              <a:t> </a:t>
            </a:r>
            <a:r>
              <a:rPr sz="2880" spc="-117" dirty="0">
                <a:cs typeface="Microsoft Sans Serif"/>
              </a:rPr>
              <a:t>amount</a:t>
            </a:r>
            <a:r>
              <a:rPr sz="2880" spc="-95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of</a:t>
            </a:r>
            <a:r>
              <a:rPr sz="2880" spc="-14" dirty="0">
                <a:cs typeface="Microsoft Sans Serif"/>
              </a:rPr>
              <a:t> </a:t>
            </a:r>
            <a:r>
              <a:rPr sz="2880" spc="-122" dirty="0">
                <a:cs typeface="Microsoft Sans Serif"/>
              </a:rPr>
              <a:t>research </a:t>
            </a:r>
            <a:r>
              <a:rPr sz="2880" spc="-117" dirty="0">
                <a:cs typeface="Microsoft Sans Serif"/>
              </a:rPr>
              <a:t>conducted</a:t>
            </a:r>
            <a:r>
              <a:rPr sz="2880" spc="-99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on</a:t>
            </a:r>
            <a:r>
              <a:rPr sz="2880" spc="-63" dirty="0">
                <a:cs typeface="Microsoft Sans Serif"/>
              </a:rPr>
              <a:t> </a:t>
            </a:r>
            <a:r>
              <a:rPr sz="2880" spc="-122" dirty="0">
                <a:cs typeface="Microsoft Sans Serif"/>
              </a:rPr>
              <a:t>deductive</a:t>
            </a:r>
            <a:r>
              <a:rPr sz="2880" spc="-126" dirty="0">
                <a:cs typeface="Microsoft Sans Serif"/>
              </a:rPr>
              <a:t> </a:t>
            </a:r>
            <a:r>
              <a:rPr sz="2880" spc="-162" dirty="0">
                <a:cs typeface="Microsoft Sans Serif"/>
              </a:rPr>
              <a:t>reasoning</a:t>
            </a:r>
            <a:r>
              <a:rPr sz="2880" spc="-135" dirty="0">
                <a:cs typeface="Microsoft Sans Serif"/>
              </a:rPr>
              <a:t> </a:t>
            </a:r>
            <a:r>
              <a:rPr sz="2880" spc="-117" dirty="0">
                <a:cs typeface="Microsoft Sans Serif"/>
              </a:rPr>
              <a:t>than</a:t>
            </a:r>
            <a:r>
              <a:rPr sz="2880" spc="-103" dirty="0">
                <a:cs typeface="Microsoft Sans Serif"/>
              </a:rPr>
              <a:t> </a:t>
            </a:r>
            <a:r>
              <a:rPr sz="2880" spc="-23" dirty="0">
                <a:cs typeface="Microsoft Sans Serif"/>
              </a:rPr>
              <a:t>on </a:t>
            </a:r>
            <a:r>
              <a:rPr sz="2880" spc="-113" dirty="0">
                <a:cs typeface="Microsoft Sans Serif"/>
              </a:rPr>
              <a:t>inductive</a:t>
            </a:r>
            <a:r>
              <a:rPr sz="2880" spc="-27" dirty="0">
                <a:cs typeface="Microsoft Sans Serif"/>
              </a:rPr>
              <a:t> </a:t>
            </a:r>
            <a:r>
              <a:rPr sz="2880" spc="-72" dirty="0">
                <a:cs typeface="Microsoft Sans Serif"/>
              </a:rPr>
              <a:t>reasoning.</a:t>
            </a:r>
            <a:endParaRPr sz="2880" dirty="0">
              <a:cs typeface="Microsoft Sans Serif"/>
            </a:endParaRPr>
          </a:p>
          <a:p>
            <a:pPr marL="800100" marR="70866" indent="-308610" algn="just">
              <a:lnSpc>
                <a:spcPct val="93800"/>
              </a:lnSpc>
              <a:spcBef>
                <a:spcPts val="2178"/>
              </a:spcBef>
              <a:buChar char="•"/>
              <a:tabLst>
                <a:tab pos="800100" algn="l"/>
              </a:tabLst>
            </a:pPr>
            <a:r>
              <a:rPr sz="2880" spc="-27" dirty="0" smtClean="0">
                <a:cs typeface="Microsoft Sans Serif"/>
              </a:rPr>
              <a:t>This</a:t>
            </a:r>
            <a:r>
              <a:rPr lang="en-IN" sz="2880" spc="-27" dirty="0" smtClean="0">
                <a:cs typeface="Microsoft Sans Serif"/>
              </a:rPr>
              <a:t> </a:t>
            </a:r>
            <a:r>
              <a:rPr sz="2880" spc="-27" dirty="0" smtClean="0">
                <a:cs typeface="Microsoft Sans Serif"/>
              </a:rPr>
              <a:t>is</a:t>
            </a:r>
            <a:r>
              <a:rPr sz="2880" spc="-293" dirty="0" smtClean="0">
                <a:cs typeface="Microsoft Sans Serif"/>
              </a:rPr>
              <a:t> </a:t>
            </a:r>
            <a:r>
              <a:rPr sz="2880" spc="-68" dirty="0" smtClean="0">
                <a:cs typeface="Microsoft Sans Serif"/>
              </a:rPr>
              <a:t>primarily</a:t>
            </a:r>
            <a:r>
              <a:rPr sz="2880" spc="-126" dirty="0" smtClean="0">
                <a:cs typeface="Microsoft Sans Serif"/>
              </a:rPr>
              <a:t> </a:t>
            </a:r>
            <a:r>
              <a:rPr sz="2880" dirty="0" smtClean="0">
                <a:cs typeface="Microsoft Sans Serif"/>
              </a:rPr>
              <a:t>for</a:t>
            </a:r>
            <a:r>
              <a:rPr sz="2880" spc="221" dirty="0" smtClean="0">
                <a:cs typeface="Microsoft Sans Serif"/>
              </a:rPr>
              <a:t> </a:t>
            </a:r>
            <a:r>
              <a:rPr sz="2880" spc="-167" dirty="0" smtClean="0">
                <a:cs typeface="Microsoft Sans Serif"/>
              </a:rPr>
              <a:t>reasons</a:t>
            </a:r>
            <a:r>
              <a:rPr sz="2880" spc="-216" dirty="0" smtClean="0">
                <a:cs typeface="Microsoft Sans Serif"/>
              </a:rPr>
              <a:t> </a:t>
            </a:r>
            <a:r>
              <a:rPr sz="2880" dirty="0" smtClean="0">
                <a:cs typeface="Microsoft Sans Serif"/>
              </a:rPr>
              <a:t>of</a:t>
            </a:r>
            <a:r>
              <a:rPr sz="2880" spc="-50" dirty="0" smtClean="0">
                <a:cs typeface="Microsoft Sans Serif"/>
              </a:rPr>
              <a:t> </a:t>
            </a:r>
            <a:r>
              <a:rPr sz="2880" spc="-122" dirty="0" smtClean="0">
                <a:cs typeface="Microsoft Sans Serif"/>
              </a:rPr>
              <a:t>p</a:t>
            </a:r>
            <a:r>
              <a:rPr sz="2880" spc="-117" dirty="0" smtClean="0">
                <a:cs typeface="Microsoft Sans Serif"/>
              </a:rPr>
              <a:t>r</a:t>
            </a:r>
            <a:r>
              <a:rPr sz="2880" spc="-158" dirty="0" smtClean="0">
                <a:cs typeface="Microsoft Sans Serif"/>
              </a:rPr>
              <a:t>a</a:t>
            </a:r>
            <a:r>
              <a:rPr sz="2880" spc="-9" dirty="0" smtClean="0">
                <a:cs typeface="Microsoft Sans Serif"/>
              </a:rPr>
              <a:t>c</a:t>
            </a:r>
            <a:r>
              <a:rPr sz="2880" spc="-27" dirty="0" smtClean="0">
                <a:cs typeface="Microsoft Sans Serif"/>
              </a:rPr>
              <a:t>t</a:t>
            </a:r>
            <a:r>
              <a:rPr sz="2880" spc="-32" dirty="0" smtClean="0">
                <a:cs typeface="Microsoft Sans Serif"/>
              </a:rPr>
              <a:t>i</a:t>
            </a:r>
            <a:r>
              <a:rPr sz="2880" spc="-266" dirty="0" smtClean="0">
                <a:cs typeface="Microsoft Sans Serif"/>
              </a:rPr>
              <a:t>c</a:t>
            </a:r>
            <a:r>
              <a:rPr sz="2880" spc="-320" dirty="0" smtClean="0">
                <a:cs typeface="Microsoft Sans Serif"/>
              </a:rPr>
              <a:t>a</a:t>
            </a:r>
            <a:r>
              <a:rPr sz="2880" spc="-32" dirty="0" smtClean="0">
                <a:cs typeface="Microsoft Sans Serif"/>
              </a:rPr>
              <a:t>li</a:t>
            </a:r>
            <a:r>
              <a:rPr sz="2880" spc="149" dirty="0" smtClean="0">
                <a:cs typeface="Microsoft Sans Serif"/>
              </a:rPr>
              <a:t>t</a:t>
            </a:r>
            <a:r>
              <a:rPr sz="2880" spc="-644" dirty="0" smtClean="0">
                <a:cs typeface="Microsoft Sans Serif"/>
              </a:rPr>
              <a:t>y</a:t>
            </a:r>
            <a:r>
              <a:rPr sz="2880" spc="-9" dirty="0" smtClean="0">
                <a:cs typeface="Microsoft Sans Serif"/>
              </a:rPr>
              <a:t>.</a:t>
            </a:r>
            <a:r>
              <a:rPr sz="2880" spc="-458" dirty="0" smtClean="0">
                <a:cs typeface="Microsoft Sans Serif"/>
              </a:rPr>
              <a:t> </a:t>
            </a:r>
            <a:r>
              <a:rPr sz="2880" spc="-23" dirty="0" smtClean="0">
                <a:cs typeface="Microsoft Sans Serif"/>
              </a:rPr>
              <a:t>It </a:t>
            </a:r>
            <a:r>
              <a:rPr sz="2880" spc="-167" dirty="0" smtClean="0">
                <a:cs typeface="Microsoft Sans Serif"/>
              </a:rPr>
              <a:t>takes</a:t>
            </a:r>
            <a:r>
              <a:rPr sz="2880" spc="-329" dirty="0" smtClean="0">
                <a:cs typeface="Microsoft Sans Serif"/>
              </a:rPr>
              <a:t> </a:t>
            </a:r>
            <a:r>
              <a:rPr sz="2880" spc="-198" dirty="0" smtClean="0">
                <a:cs typeface="Microsoft Sans Serif"/>
              </a:rPr>
              <a:t>many</a:t>
            </a:r>
            <a:r>
              <a:rPr sz="2880" spc="-436" dirty="0" smtClean="0">
                <a:cs typeface="Microsoft Sans Serif"/>
              </a:rPr>
              <a:t> </a:t>
            </a:r>
            <a:r>
              <a:rPr lang="en-IN" sz="2880" spc="-436" dirty="0" smtClean="0">
                <a:cs typeface="Microsoft Sans Serif"/>
              </a:rPr>
              <a:t> </a:t>
            </a:r>
            <a:r>
              <a:rPr sz="2880" spc="-63" dirty="0" smtClean="0">
                <a:cs typeface="Microsoft Sans Serif"/>
              </a:rPr>
              <a:t>trials</a:t>
            </a:r>
            <a:r>
              <a:rPr sz="2880" spc="-103" dirty="0" smtClean="0">
                <a:cs typeface="Microsoft Sans Serif"/>
              </a:rPr>
              <a:t> </a:t>
            </a:r>
            <a:r>
              <a:rPr sz="2880" spc="-59" dirty="0" smtClean="0">
                <a:cs typeface="Microsoft Sans Serif"/>
              </a:rPr>
              <a:t>in</a:t>
            </a:r>
            <a:r>
              <a:rPr sz="2880" spc="-144" dirty="0" smtClean="0">
                <a:cs typeface="Microsoft Sans Serif"/>
              </a:rPr>
              <a:t> </a:t>
            </a:r>
            <a:r>
              <a:rPr sz="2880" dirty="0" smtClean="0">
                <a:cs typeface="Microsoft Sans Serif"/>
              </a:rPr>
              <a:t>order</a:t>
            </a:r>
            <a:r>
              <a:rPr sz="2880" spc="5" dirty="0" smtClean="0">
                <a:cs typeface="Microsoft Sans Serif"/>
              </a:rPr>
              <a:t> </a:t>
            </a:r>
            <a:r>
              <a:rPr sz="2880" dirty="0" smtClean="0">
                <a:cs typeface="Microsoft Sans Serif"/>
              </a:rPr>
              <a:t>to</a:t>
            </a:r>
            <a:r>
              <a:rPr sz="2880" spc="180" dirty="0" smtClean="0">
                <a:cs typeface="Microsoft Sans Serif"/>
              </a:rPr>
              <a:t> </a:t>
            </a:r>
            <a:r>
              <a:rPr sz="2880" spc="-180" dirty="0" smtClean="0">
                <a:cs typeface="Microsoft Sans Serif"/>
              </a:rPr>
              <a:t>make</a:t>
            </a:r>
            <a:r>
              <a:rPr lang="en-IN" sz="2880" spc="-180" dirty="0" smtClean="0">
                <a:cs typeface="Microsoft Sans Serif"/>
              </a:rPr>
              <a:t> </a:t>
            </a:r>
            <a:r>
              <a:rPr sz="2880" spc="-418" dirty="0" smtClean="0">
                <a:cs typeface="Microsoft Sans Serif"/>
              </a:rPr>
              <a:t> </a:t>
            </a:r>
            <a:r>
              <a:rPr sz="2880" spc="-9" dirty="0" smtClean="0">
                <a:cs typeface="Microsoft Sans Serif"/>
              </a:rPr>
              <a:t>a</a:t>
            </a:r>
            <a:r>
              <a:rPr lang="en-IN" sz="2880" spc="-9" dirty="0" smtClean="0">
                <a:cs typeface="Microsoft Sans Serif"/>
              </a:rPr>
              <a:t> </a:t>
            </a:r>
            <a:r>
              <a:rPr sz="2880" spc="-9" dirty="0" smtClean="0">
                <a:cs typeface="Microsoft Sans Serif"/>
              </a:rPr>
              <a:t>single </a:t>
            </a:r>
            <a:r>
              <a:rPr sz="2880" spc="-99" dirty="0" smtClean="0">
                <a:cs typeface="Microsoft Sans Serif"/>
              </a:rPr>
              <a:t>induction.</a:t>
            </a:r>
            <a:r>
              <a:rPr lang="en-IN" sz="2880" spc="-99" dirty="0" smtClean="0">
                <a:cs typeface="Microsoft Sans Serif"/>
              </a:rPr>
              <a:t> </a:t>
            </a:r>
            <a:r>
              <a:rPr sz="2880" spc="-99" dirty="0" smtClean="0">
                <a:cs typeface="Microsoft Sans Serif"/>
              </a:rPr>
              <a:t>Also,</a:t>
            </a:r>
            <a:r>
              <a:rPr sz="2880" spc="-401" dirty="0" smtClean="0">
                <a:cs typeface="Microsoft Sans Serif"/>
              </a:rPr>
              <a:t> </a:t>
            </a:r>
            <a:r>
              <a:rPr sz="2880" spc="-99" dirty="0" smtClean="0">
                <a:cs typeface="Microsoft Sans Serif"/>
              </a:rPr>
              <a:t>inductive</a:t>
            </a:r>
            <a:r>
              <a:rPr sz="2880" spc="-108" dirty="0" smtClean="0">
                <a:cs typeface="Microsoft Sans Serif"/>
              </a:rPr>
              <a:t> </a:t>
            </a:r>
            <a:r>
              <a:rPr sz="2880" spc="108" dirty="0" smtClean="0">
                <a:cs typeface="Microsoft Sans Serif"/>
              </a:rPr>
              <a:t>r</a:t>
            </a:r>
            <a:r>
              <a:rPr sz="2880" spc="-320" dirty="0" smtClean="0">
                <a:cs typeface="Microsoft Sans Serif"/>
              </a:rPr>
              <a:t>ea</a:t>
            </a:r>
            <a:r>
              <a:rPr sz="2880" spc="-342" dirty="0" smtClean="0">
                <a:cs typeface="Microsoft Sans Serif"/>
              </a:rPr>
              <a:t>s</a:t>
            </a:r>
            <a:r>
              <a:rPr sz="2880" spc="-27" dirty="0" smtClean="0">
                <a:cs typeface="Microsoft Sans Serif"/>
              </a:rPr>
              <a:t>o</a:t>
            </a:r>
            <a:r>
              <a:rPr sz="2880" spc="-108" dirty="0" smtClean="0">
                <a:cs typeface="Microsoft Sans Serif"/>
              </a:rPr>
              <a:t>ni</a:t>
            </a:r>
            <a:r>
              <a:rPr sz="2880" spc="-288" dirty="0" smtClean="0">
                <a:cs typeface="Microsoft Sans Serif"/>
              </a:rPr>
              <a:t>n</a:t>
            </a:r>
            <a:r>
              <a:rPr sz="2880" spc="-9" dirty="0" smtClean="0">
                <a:cs typeface="Microsoft Sans Serif"/>
              </a:rPr>
              <a:t>g</a:t>
            </a:r>
            <a:r>
              <a:rPr sz="2880" spc="-171" dirty="0" smtClean="0">
                <a:cs typeface="Microsoft Sans Serif"/>
              </a:rPr>
              <a:t> </a:t>
            </a:r>
            <a:r>
              <a:rPr sz="2880" spc="-23" dirty="0" smtClean="0">
                <a:cs typeface="Microsoft Sans Serif"/>
              </a:rPr>
              <a:t>is</a:t>
            </a:r>
            <a:r>
              <a:rPr sz="2880" spc="-238" dirty="0" smtClean="0">
                <a:cs typeface="Microsoft Sans Serif"/>
              </a:rPr>
              <a:t> </a:t>
            </a:r>
            <a:r>
              <a:rPr sz="2880" spc="-23" dirty="0" smtClean="0">
                <a:cs typeface="Microsoft Sans Serif"/>
              </a:rPr>
              <a:t>not </a:t>
            </a:r>
            <a:r>
              <a:rPr sz="2880" spc="-135" dirty="0" smtClean="0">
                <a:cs typeface="Microsoft Sans Serif"/>
              </a:rPr>
              <a:t>precise</a:t>
            </a:r>
            <a:r>
              <a:rPr sz="2880" spc="-126" dirty="0" smtClean="0">
                <a:cs typeface="Microsoft Sans Serif"/>
              </a:rPr>
              <a:t> </a:t>
            </a:r>
            <a:r>
              <a:rPr sz="2880" dirty="0" smtClean="0">
                <a:cs typeface="Microsoft Sans Serif"/>
              </a:rPr>
              <a:t>or</a:t>
            </a:r>
            <a:r>
              <a:rPr sz="2880" spc="131" dirty="0" smtClean="0">
                <a:cs typeface="Microsoft Sans Serif"/>
              </a:rPr>
              <a:t> </a:t>
            </a:r>
            <a:r>
              <a:rPr sz="2880" spc="-72" dirty="0" smtClean="0">
                <a:cs typeface="Microsoft Sans Serif"/>
              </a:rPr>
              <a:t>definite</a:t>
            </a:r>
            <a:r>
              <a:rPr sz="2880" spc="-23" dirty="0" smtClean="0">
                <a:cs typeface="Microsoft Sans Serif"/>
              </a:rPr>
              <a:t> </a:t>
            </a:r>
            <a:r>
              <a:rPr sz="2880" spc="-86" dirty="0" smtClean="0">
                <a:cs typeface="Microsoft Sans Serif"/>
              </a:rPr>
              <a:t>like</a:t>
            </a:r>
            <a:r>
              <a:rPr sz="2880" spc="-41" dirty="0" smtClean="0">
                <a:cs typeface="Microsoft Sans Serif"/>
              </a:rPr>
              <a:t> </a:t>
            </a:r>
            <a:r>
              <a:rPr sz="2880" spc="-122" dirty="0" smtClean="0">
                <a:cs typeface="Microsoft Sans Serif"/>
              </a:rPr>
              <a:t>deductive</a:t>
            </a:r>
            <a:r>
              <a:rPr sz="2880" spc="-126" dirty="0" smtClean="0">
                <a:cs typeface="Microsoft Sans Serif"/>
              </a:rPr>
              <a:t> </a:t>
            </a:r>
            <a:r>
              <a:rPr sz="2880" spc="-54" dirty="0" smtClean="0">
                <a:cs typeface="Microsoft Sans Serif"/>
              </a:rPr>
              <a:t>reasoning </a:t>
            </a:r>
            <a:r>
              <a:rPr sz="2880" spc="-23" dirty="0" smtClean="0">
                <a:cs typeface="Microsoft Sans Serif"/>
              </a:rPr>
              <a:t>is.</a:t>
            </a:r>
            <a:endParaRPr sz="2880" dirty="0">
              <a:cs typeface="Microsoft Sans Serif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79816" y="752779"/>
            <a:ext cx="7406983" cy="2967287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320040" marR="4572" indent="-309182" algn="just">
              <a:lnSpc>
                <a:spcPts val="3240"/>
              </a:lnSpc>
              <a:spcBef>
                <a:spcPts val="383"/>
              </a:spcBef>
              <a:buChar char="•"/>
              <a:tabLst>
                <a:tab pos="320040" algn="l"/>
              </a:tabLst>
            </a:pPr>
            <a:r>
              <a:rPr sz="2880" spc="-72" dirty="0">
                <a:cs typeface="Microsoft Sans Serif"/>
              </a:rPr>
              <a:t>Conditional</a:t>
            </a:r>
            <a:r>
              <a:rPr sz="2880" spc="-50" dirty="0">
                <a:cs typeface="Microsoft Sans Serif"/>
              </a:rPr>
              <a:t> </a:t>
            </a:r>
            <a:r>
              <a:rPr sz="2880" spc="-162" dirty="0">
                <a:cs typeface="Microsoft Sans Serif"/>
              </a:rPr>
              <a:t>reasoning</a:t>
            </a:r>
            <a:r>
              <a:rPr sz="2880" spc="-149" dirty="0">
                <a:cs typeface="Microsoft Sans Serif"/>
              </a:rPr>
              <a:t> </a:t>
            </a:r>
            <a:r>
              <a:rPr sz="2880" spc="-103" dirty="0">
                <a:cs typeface="Microsoft Sans Serif"/>
              </a:rPr>
              <a:t>is</a:t>
            </a:r>
            <a:r>
              <a:rPr sz="2880" spc="-158" dirty="0">
                <a:cs typeface="Microsoft Sans Serif"/>
              </a:rPr>
              <a:t> </a:t>
            </a:r>
            <a:r>
              <a:rPr sz="2880" spc="-162" dirty="0">
                <a:cs typeface="Microsoft Sans Serif"/>
              </a:rPr>
              <a:t>reasoning</a:t>
            </a:r>
            <a:r>
              <a:rPr sz="2880" spc="-149" dirty="0">
                <a:cs typeface="Microsoft Sans Serif"/>
              </a:rPr>
              <a:t> </a:t>
            </a:r>
            <a:r>
              <a:rPr sz="2880" spc="-54" dirty="0">
                <a:cs typeface="Microsoft Sans Serif"/>
              </a:rPr>
              <a:t>about </a:t>
            </a:r>
            <a:r>
              <a:rPr sz="2880" i="1" spc="-206" dirty="0">
                <a:cs typeface="Arial"/>
              </a:rPr>
              <a:t>propositions</a:t>
            </a:r>
            <a:r>
              <a:rPr sz="2880" i="1" spc="-432" dirty="0">
                <a:cs typeface="Arial"/>
              </a:rPr>
              <a:t> </a:t>
            </a:r>
            <a:r>
              <a:rPr sz="2880" spc="-167" dirty="0">
                <a:cs typeface="Microsoft Sans Serif"/>
              </a:rPr>
              <a:t>using</a:t>
            </a:r>
            <a:r>
              <a:rPr sz="2880" spc="-266" dirty="0">
                <a:cs typeface="Microsoft Sans Serif"/>
              </a:rPr>
              <a:t> </a:t>
            </a:r>
            <a:r>
              <a:rPr sz="2880" spc="-18" dirty="0">
                <a:cs typeface="Microsoft Sans Serif"/>
              </a:rPr>
              <a:t>the</a:t>
            </a:r>
            <a:r>
              <a:rPr sz="2880" spc="-108" dirty="0">
                <a:cs typeface="Microsoft Sans Serif"/>
              </a:rPr>
              <a:t> </a:t>
            </a:r>
            <a:r>
              <a:rPr sz="2880" spc="-144" dirty="0">
                <a:cs typeface="Microsoft Sans Serif"/>
              </a:rPr>
              <a:t>logical</a:t>
            </a:r>
            <a:r>
              <a:rPr sz="2880" spc="-5" dirty="0">
                <a:cs typeface="Microsoft Sans Serif"/>
              </a:rPr>
              <a:t> </a:t>
            </a:r>
            <a:r>
              <a:rPr sz="2880" spc="158" dirty="0">
                <a:cs typeface="Microsoft Sans Serif"/>
              </a:rPr>
              <a:t>r</a:t>
            </a:r>
            <a:r>
              <a:rPr sz="2880" spc="-90" dirty="0">
                <a:cs typeface="Microsoft Sans Serif"/>
              </a:rPr>
              <a:t>el</a:t>
            </a:r>
            <a:r>
              <a:rPr sz="2880" spc="-342" dirty="0">
                <a:cs typeface="Microsoft Sans Serif"/>
              </a:rPr>
              <a:t>a</a:t>
            </a:r>
            <a:r>
              <a:rPr sz="2880" spc="113" dirty="0">
                <a:cs typeface="Microsoft Sans Serif"/>
              </a:rPr>
              <a:t>ti</a:t>
            </a:r>
            <a:r>
              <a:rPr sz="2880" spc="23" dirty="0">
                <a:cs typeface="Microsoft Sans Serif"/>
              </a:rPr>
              <a:t>o</a:t>
            </a:r>
            <a:r>
              <a:rPr sz="2880" spc="41" dirty="0">
                <a:cs typeface="Microsoft Sans Serif"/>
              </a:rPr>
              <a:t>n</a:t>
            </a:r>
            <a:r>
              <a:rPr sz="2880" spc="-14" dirty="0">
                <a:cs typeface="Microsoft Sans Serif"/>
              </a:rPr>
              <a:t> </a:t>
            </a:r>
            <a:r>
              <a:rPr sz="2880" spc="-68" dirty="0">
                <a:cs typeface="Microsoft Sans Serif"/>
              </a:rPr>
              <a:t>known</a:t>
            </a:r>
            <a:r>
              <a:rPr sz="2880" spc="-135" dirty="0">
                <a:cs typeface="Microsoft Sans Serif"/>
              </a:rPr>
              <a:t> </a:t>
            </a:r>
            <a:r>
              <a:rPr sz="2880" spc="-194" dirty="0">
                <a:cs typeface="Microsoft Sans Serif"/>
              </a:rPr>
              <a:t>as</a:t>
            </a:r>
            <a:r>
              <a:rPr sz="2880" spc="-293" dirty="0">
                <a:cs typeface="Microsoft Sans Serif"/>
              </a:rPr>
              <a:t> </a:t>
            </a:r>
            <a:r>
              <a:rPr sz="2880" i="1" spc="-103" dirty="0">
                <a:cs typeface="Arial"/>
              </a:rPr>
              <a:t>implication</a:t>
            </a:r>
            <a:r>
              <a:rPr sz="2880" spc="-103" dirty="0">
                <a:cs typeface="Microsoft Sans Serif"/>
              </a:rPr>
              <a:t>.</a:t>
            </a:r>
            <a:endParaRPr sz="2880" dirty="0">
              <a:cs typeface="Microsoft Sans Serif"/>
            </a:endParaRPr>
          </a:p>
          <a:p>
            <a:pPr algn="just">
              <a:spcBef>
                <a:spcPts val="90"/>
              </a:spcBef>
              <a:buFont typeface="Microsoft Sans Serif"/>
              <a:buChar char="•"/>
            </a:pPr>
            <a:endParaRPr sz="2880" dirty="0">
              <a:cs typeface="Microsoft Sans Serif"/>
            </a:endParaRPr>
          </a:p>
          <a:p>
            <a:pPr marL="320040" marR="689801" indent="-309182" algn="just">
              <a:lnSpc>
                <a:spcPts val="3240"/>
              </a:lnSpc>
              <a:buChar char="•"/>
              <a:tabLst>
                <a:tab pos="320040" algn="l"/>
              </a:tabLst>
            </a:pPr>
            <a:r>
              <a:rPr sz="2880" spc="-140" dirty="0" smtClean="0">
                <a:cs typeface="Microsoft Sans Serif"/>
              </a:rPr>
              <a:t>Forma</a:t>
            </a:r>
            <a:r>
              <a:rPr lang="en-IN" sz="2880" spc="-140" dirty="0" smtClean="0">
                <a:cs typeface="Microsoft Sans Serif"/>
              </a:rPr>
              <a:t>l</a:t>
            </a:r>
            <a:r>
              <a:rPr sz="2880" b="1" spc="-238" dirty="0" err="1" smtClean="0">
                <a:cs typeface="Arial"/>
              </a:rPr>
              <a:t>l</a:t>
            </a:r>
            <a:r>
              <a:rPr sz="2880" spc="-238" dirty="0" err="1" smtClean="0">
                <a:cs typeface="Microsoft Sans Serif"/>
              </a:rPr>
              <a:t>y</a:t>
            </a:r>
            <a:r>
              <a:rPr sz="2880" spc="-238" dirty="0">
                <a:cs typeface="Microsoft Sans Serif"/>
              </a:rPr>
              <a:t>,</a:t>
            </a:r>
            <a:r>
              <a:rPr sz="2880" spc="-464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it</a:t>
            </a:r>
            <a:r>
              <a:rPr sz="2880" spc="108" dirty="0">
                <a:cs typeface="Microsoft Sans Serif"/>
              </a:rPr>
              <a:t> </a:t>
            </a:r>
            <a:r>
              <a:rPr sz="2880" spc="-103" dirty="0">
                <a:cs typeface="Microsoft Sans Serif"/>
              </a:rPr>
              <a:t>is</a:t>
            </a:r>
            <a:r>
              <a:rPr sz="2880" spc="-144" dirty="0">
                <a:cs typeface="Microsoft Sans Serif"/>
              </a:rPr>
              <a:t> </a:t>
            </a:r>
            <a:r>
              <a:rPr sz="2880" spc="-203" dirty="0">
                <a:cs typeface="Microsoft Sans Serif"/>
              </a:rPr>
              <a:t>based</a:t>
            </a:r>
            <a:r>
              <a:rPr sz="2880" spc="-234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on</a:t>
            </a:r>
            <a:r>
              <a:rPr sz="2880" spc="-72" dirty="0">
                <a:cs typeface="Microsoft Sans Serif"/>
              </a:rPr>
              <a:t> </a:t>
            </a:r>
            <a:r>
              <a:rPr sz="2880" spc="-81" dirty="0">
                <a:cs typeface="Microsoft Sans Serif"/>
              </a:rPr>
              <a:t>propositional </a:t>
            </a:r>
            <a:r>
              <a:rPr sz="2880" spc="-9" dirty="0">
                <a:cs typeface="Microsoft Sans Serif"/>
              </a:rPr>
              <a:t>logic</a:t>
            </a:r>
            <a:endParaRPr sz="2880" dirty="0">
              <a:cs typeface="Microsoft Sans Serif"/>
            </a:endParaRPr>
          </a:p>
          <a:p>
            <a:pPr marL="731520" marR="61722" lvl="1" indent="-308610" algn="just">
              <a:lnSpc>
                <a:spcPts val="3240"/>
              </a:lnSpc>
              <a:buChar char="•"/>
              <a:tabLst>
                <a:tab pos="731520" algn="l"/>
              </a:tabLst>
            </a:pPr>
            <a:r>
              <a:rPr sz="2880" spc="-113" dirty="0">
                <a:cs typeface="Microsoft Sans Serif"/>
              </a:rPr>
              <a:t>‘</a:t>
            </a:r>
            <a:r>
              <a:rPr sz="2880" i="1" spc="-113" dirty="0">
                <a:cs typeface="Arial"/>
              </a:rPr>
              <a:t>if….then</a:t>
            </a:r>
            <a:r>
              <a:rPr sz="2880" spc="-113" dirty="0">
                <a:cs typeface="Microsoft Sans Serif"/>
              </a:rPr>
              <a:t>’,</a:t>
            </a:r>
            <a:r>
              <a:rPr sz="2880" spc="-14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‘</a:t>
            </a:r>
            <a:r>
              <a:rPr sz="2880" i="1" dirty="0">
                <a:cs typeface="Arial"/>
              </a:rPr>
              <a:t>if…&amp;</a:t>
            </a:r>
            <a:r>
              <a:rPr sz="2880" i="1" spc="-45" dirty="0">
                <a:cs typeface="Arial"/>
              </a:rPr>
              <a:t> </a:t>
            </a:r>
            <a:r>
              <a:rPr sz="2880" i="1" spc="-216" dirty="0">
                <a:cs typeface="Arial"/>
              </a:rPr>
              <a:t>only</a:t>
            </a:r>
            <a:r>
              <a:rPr sz="2880" i="1" spc="-225" dirty="0">
                <a:cs typeface="Arial"/>
              </a:rPr>
              <a:t> </a:t>
            </a:r>
            <a:r>
              <a:rPr sz="2880" i="1" spc="-36" dirty="0">
                <a:cs typeface="Arial"/>
              </a:rPr>
              <a:t>if</a:t>
            </a:r>
            <a:r>
              <a:rPr sz="2880" i="1" spc="-504" dirty="0">
                <a:cs typeface="Arial"/>
              </a:rPr>
              <a:t> </a:t>
            </a:r>
            <a:r>
              <a:rPr sz="2880" i="1" spc="-9" dirty="0">
                <a:cs typeface="Arial"/>
              </a:rPr>
              <a:t>’</a:t>
            </a:r>
            <a:r>
              <a:rPr sz="2880" i="1" spc="-243" dirty="0">
                <a:cs typeface="Arial"/>
              </a:rPr>
              <a:t> </a:t>
            </a:r>
            <a:r>
              <a:rPr sz="2880" spc="-126" dirty="0">
                <a:cs typeface="Microsoft Sans Serif"/>
              </a:rPr>
              <a:t>(also</a:t>
            </a:r>
            <a:r>
              <a:rPr sz="2880" spc="-153" dirty="0">
                <a:cs typeface="Microsoft Sans Serif"/>
              </a:rPr>
              <a:t> </a:t>
            </a:r>
            <a:r>
              <a:rPr sz="2880" i="1" spc="-153" dirty="0">
                <a:cs typeface="Arial"/>
              </a:rPr>
              <a:t>not</a:t>
            </a:r>
            <a:r>
              <a:rPr sz="2880" spc="-153" dirty="0">
                <a:cs typeface="Microsoft Sans Serif"/>
              </a:rPr>
              <a:t>,</a:t>
            </a:r>
            <a:r>
              <a:rPr sz="2880" spc="-446" dirty="0">
                <a:cs typeface="Microsoft Sans Serif"/>
              </a:rPr>
              <a:t> </a:t>
            </a:r>
            <a:r>
              <a:rPr sz="2880" i="1" spc="-108" dirty="0">
                <a:cs typeface="Arial"/>
              </a:rPr>
              <a:t>and</a:t>
            </a:r>
            <a:r>
              <a:rPr sz="2880" spc="-108" dirty="0">
                <a:cs typeface="Microsoft Sans Serif"/>
              </a:rPr>
              <a:t>, </a:t>
            </a:r>
            <a:r>
              <a:rPr sz="2880" spc="-189" dirty="0">
                <a:cs typeface="Microsoft Sans Serif"/>
              </a:rPr>
              <a:t>and</a:t>
            </a:r>
            <a:r>
              <a:rPr sz="2880" spc="-122" dirty="0">
                <a:cs typeface="Microsoft Sans Serif"/>
              </a:rPr>
              <a:t> </a:t>
            </a:r>
            <a:r>
              <a:rPr sz="2880" i="1" spc="-122" dirty="0">
                <a:cs typeface="Arial"/>
              </a:rPr>
              <a:t>or</a:t>
            </a:r>
            <a:r>
              <a:rPr sz="2880" i="1" spc="-135" dirty="0">
                <a:cs typeface="Arial"/>
              </a:rPr>
              <a:t> </a:t>
            </a:r>
            <a:r>
              <a:rPr sz="2880" spc="-387" dirty="0">
                <a:cs typeface="Microsoft Sans Serif"/>
              </a:rPr>
              <a:t>a</a:t>
            </a:r>
            <a:r>
              <a:rPr sz="2880" spc="117" dirty="0">
                <a:cs typeface="Microsoft Sans Serif"/>
              </a:rPr>
              <a:t>r</a:t>
            </a:r>
            <a:r>
              <a:rPr sz="2880" dirty="0">
                <a:cs typeface="Microsoft Sans Serif"/>
              </a:rPr>
              <a:t>e</a:t>
            </a:r>
            <a:r>
              <a:rPr sz="2880" spc="-206" dirty="0">
                <a:cs typeface="Microsoft Sans Serif"/>
              </a:rPr>
              <a:t> </a:t>
            </a:r>
            <a:r>
              <a:rPr sz="2880" spc="-180" dirty="0">
                <a:cs typeface="Microsoft Sans Serif"/>
              </a:rPr>
              <a:t>used</a:t>
            </a:r>
            <a:r>
              <a:rPr sz="2880" spc="-162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in</a:t>
            </a:r>
            <a:r>
              <a:rPr sz="2880" spc="-131" dirty="0">
                <a:cs typeface="Microsoft Sans Serif"/>
              </a:rPr>
              <a:t> </a:t>
            </a:r>
            <a:r>
              <a:rPr sz="2880" spc="-86" dirty="0">
                <a:cs typeface="Microsoft Sans Serif"/>
              </a:rPr>
              <a:t>propositional</a:t>
            </a:r>
            <a:r>
              <a:rPr sz="2880" spc="-5" dirty="0">
                <a:cs typeface="Microsoft Sans Serif"/>
              </a:rPr>
              <a:t> </a:t>
            </a:r>
            <a:r>
              <a:rPr sz="2880" spc="-86" dirty="0">
                <a:cs typeface="Microsoft Sans Serif"/>
              </a:rPr>
              <a:t>logic)</a:t>
            </a:r>
            <a:endParaRPr sz="2880" dirty="0">
              <a:cs typeface="Microsoft Sans Serif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8356" y="302667"/>
            <a:ext cx="8218444" cy="1280159"/>
          </a:xfrm>
          <a:prstGeom prst="rect">
            <a:avLst/>
          </a:prstGeom>
        </p:spPr>
        <p:txBody>
          <a:bodyPr vert="horz" wrap="square" lIns="0" tIns="48578" rIns="0" bIns="0" rtlCol="0" anchor="b">
            <a:spAutoFit/>
          </a:bodyPr>
          <a:lstStyle/>
          <a:p>
            <a:pPr marL="11430" marR="26861">
              <a:lnSpc>
                <a:spcPts val="3240"/>
              </a:lnSpc>
              <a:spcBef>
                <a:spcPts val="383"/>
              </a:spcBef>
              <a:tabLst>
                <a:tab pos="1521333" algn="l"/>
                <a:tab pos="2082546" algn="l"/>
              </a:tabLst>
            </a:pPr>
            <a:r>
              <a:rPr sz="2400" dirty="0">
                <a:latin typeface="+mn-lt"/>
                <a:cs typeface="Calibri Light"/>
              </a:rPr>
              <a:t>A</a:t>
            </a:r>
            <a:r>
              <a:rPr sz="2400" spc="-126" dirty="0">
                <a:latin typeface="+mn-lt"/>
                <a:cs typeface="Calibri Light"/>
              </a:rPr>
              <a:t> </a:t>
            </a:r>
            <a:r>
              <a:rPr sz="2400" spc="-63" dirty="0">
                <a:latin typeface="+mn-lt"/>
                <a:cs typeface="Calibri Light"/>
              </a:rPr>
              <a:t>proposition</a:t>
            </a:r>
            <a:r>
              <a:rPr sz="2400" spc="-90" dirty="0">
                <a:latin typeface="+mn-lt"/>
                <a:cs typeface="Calibri Light"/>
              </a:rPr>
              <a:t> </a:t>
            </a:r>
            <a:r>
              <a:rPr sz="2400" spc="-103" dirty="0">
                <a:latin typeface="+mn-lt"/>
                <a:cs typeface="Calibri Light"/>
              </a:rPr>
              <a:t>is</a:t>
            </a:r>
            <a:r>
              <a:rPr sz="2400" spc="-234" dirty="0">
                <a:latin typeface="+mn-lt"/>
                <a:cs typeface="Calibri Light"/>
              </a:rPr>
              <a:t> </a:t>
            </a:r>
            <a:r>
              <a:rPr sz="2400" spc="-23" dirty="0">
                <a:latin typeface="+mn-lt"/>
                <a:cs typeface="Calibri Light"/>
              </a:rPr>
              <a:t>a</a:t>
            </a:r>
            <a:r>
              <a:rPr sz="2400" spc="-360" dirty="0">
                <a:latin typeface="+mn-lt"/>
                <a:cs typeface="Calibri Light"/>
              </a:rPr>
              <a:t> </a:t>
            </a:r>
            <a:r>
              <a:rPr sz="2400" spc="-171" dirty="0">
                <a:latin typeface="+mn-lt"/>
                <a:cs typeface="Calibri Light"/>
              </a:rPr>
              <a:t>special</a:t>
            </a:r>
            <a:r>
              <a:rPr sz="2400" spc="-184" dirty="0">
                <a:latin typeface="+mn-lt"/>
                <a:cs typeface="Calibri Light"/>
              </a:rPr>
              <a:t> </a:t>
            </a:r>
            <a:r>
              <a:rPr sz="2400" spc="-81" dirty="0">
                <a:latin typeface="+mn-lt"/>
                <a:cs typeface="Calibri Light"/>
              </a:rPr>
              <a:t>kind</a:t>
            </a:r>
            <a:r>
              <a:rPr sz="2400" spc="-99" dirty="0">
                <a:latin typeface="+mn-lt"/>
                <a:cs typeface="Calibri Light"/>
              </a:rPr>
              <a:t> </a:t>
            </a:r>
            <a:r>
              <a:rPr sz="2400" dirty="0">
                <a:latin typeface="+mn-lt"/>
                <a:cs typeface="Calibri Light"/>
              </a:rPr>
              <a:t>of</a:t>
            </a:r>
            <a:r>
              <a:rPr sz="2400" spc="-36" dirty="0">
                <a:latin typeface="+mn-lt"/>
                <a:cs typeface="Calibri Light"/>
              </a:rPr>
              <a:t> </a:t>
            </a:r>
            <a:r>
              <a:rPr sz="2400" spc="-103" dirty="0">
                <a:latin typeface="+mn-lt"/>
                <a:cs typeface="Calibri Light"/>
              </a:rPr>
              <a:t>sentence.It</a:t>
            </a:r>
            <a:r>
              <a:rPr sz="2400" spc="36" dirty="0">
                <a:latin typeface="+mn-lt"/>
                <a:cs typeface="Calibri Light"/>
              </a:rPr>
              <a:t> </a:t>
            </a:r>
            <a:r>
              <a:rPr sz="2400" spc="-238" dirty="0">
                <a:latin typeface="+mn-lt"/>
                <a:cs typeface="Calibri Light"/>
              </a:rPr>
              <a:t>makes </a:t>
            </a:r>
            <a:r>
              <a:rPr sz="2400" spc="-311" dirty="0">
                <a:latin typeface="+mn-lt"/>
                <a:cs typeface="Calibri Light"/>
              </a:rPr>
              <a:t>an </a:t>
            </a:r>
            <a:r>
              <a:rPr sz="2400" spc="-284" dirty="0">
                <a:latin typeface="+mn-lt"/>
                <a:cs typeface="Calibri Light"/>
              </a:rPr>
              <a:t>a</a:t>
            </a:r>
            <a:r>
              <a:rPr sz="2400" spc="-243" dirty="0">
                <a:latin typeface="+mn-lt"/>
                <a:cs typeface="Calibri Light"/>
              </a:rPr>
              <a:t>ss</a:t>
            </a:r>
            <a:r>
              <a:rPr sz="2400" spc="59" dirty="0">
                <a:latin typeface="+mn-lt"/>
                <a:cs typeface="Calibri Light"/>
              </a:rPr>
              <a:t>e</a:t>
            </a:r>
            <a:r>
              <a:rPr sz="2400" spc="126" dirty="0">
                <a:latin typeface="+mn-lt"/>
                <a:cs typeface="Calibri Light"/>
              </a:rPr>
              <a:t>r</a:t>
            </a:r>
            <a:r>
              <a:rPr sz="2400" spc="176" dirty="0">
                <a:latin typeface="+mn-lt"/>
                <a:cs typeface="Calibri Light"/>
              </a:rPr>
              <a:t>ti</a:t>
            </a:r>
            <a:r>
              <a:rPr sz="2400" spc="77" dirty="0">
                <a:latin typeface="+mn-lt"/>
                <a:cs typeface="Calibri Light"/>
              </a:rPr>
              <a:t>o</a:t>
            </a:r>
            <a:r>
              <a:rPr sz="2400" spc="-63" dirty="0">
                <a:latin typeface="+mn-lt"/>
                <a:cs typeface="Calibri Light"/>
              </a:rPr>
              <a:t>n</a:t>
            </a:r>
            <a:r>
              <a:rPr sz="2400" spc="99" dirty="0">
                <a:latin typeface="+mn-lt"/>
                <a:cs typeface="Calibri Light"/>
              </a:rPr>
              <a:t>.</a:t>
            </a:r>
            <a:r>
              <a:rPr sz="2400" dirty="0">
                <a:latin typeface="+mn-lt"/>
                <a:cs typeface="Calibri Light"/>
              </a:rPr>
              <a:t>	</a:t>
            </a:r>
            <a:r>
              <a:rPr lang="en-IN" sz="2400" dirty="0" smtClean="0">
                <a:latin typeface="+mn-lt"/>
                <a:cs typeface="Calibri Light"/>
              </a:rPr>
              <a:t/>
            </a:r>
            <a:br>
              <a:rPr lang="en-IN" sz="2400" dirty="0" smtClean="0">
                <a:latin typeface="+mn-lt"/>
                <a:cs typeface="Calibri Light"/>
              </a:rPr>
            </a:br>
            <a:r>
              <a:rPr sz="2400" spc="-270" dirty="0" smtClean="0">
                <a:latin typeface="+mn-lt"/>
                <a:cs typeface="Calibri Light"/>
              </a:rPr>
              <a:t>E.g.</a:t>
            </a:r>
            <a:r>
              <a:rPr lang="en-IN" sz="2400" spc="-270" dirty="0" smtClean="0">
                <a:latin typeface="+mn-lt"/>
                <a:cs typeface="Calibri Light"/>
              </a:rPr>
              <a:t> </a:t>
            </a:r>
            <a:r>
              <a:rPr sz="2400" spc="-108" dirty="0" smtClean="0">
                <a:latin typeface="+mn-lt"/>
                <a:cs typeface="Calibri Light"/>
              </a:rPr>
              <a:t>The</a:t>
            </a:r>
            <a:r>
              <a:rPr sz="2400" spc="-135" dirty="0" smtClean="0">
                <a:latin typeface="+mn-lt"/>
                <a:cs typeface="Calibri Light"/>
              </a:rPr>
              <a:t> </a:t>
            </a:r>
            <a:r>
              <a:rPr sz="2400" spc="-158" dirty="0">
                <a:latin typeface="+mn-lt"/>
                <a:cs typeface="Calibri Light"/>
              </a:rPr>
              <a:t>cat</a:t>
            </a:r>
            <a:r>
              <a:rPr sz="2400" spc="54" dirty="0">
                <a:latin typeface="+mn-lt"/>
                <a:cs typeface="Calibri Light"/>
              </a:rPr>
              <a:t> </a:t>
            </a:r>
            <a:r>
              <a:rPr sz="2400" spc="50" dirty="0">
                <a:latin typeface="+mn-lt"/>
                <a:cs typeface="Calibri Light"/>
              </a:rPr>
              <a:t>ison</a:t>
            </a:r>
            <a:r>
              <a:rPr sz="2400" spc="-167" dirty="0">
                <a:latin typeface="+mn-lt"/>
                <a:cs typeface="Calibri Light"/>
              </a:rPr>
              <a:t> </a:t>
            </a:r>
            <a:r>
              <a:rPr sz="2400" spc="-54" dirty="0">
                <a:latin typeface="+mn-lt"/>
                <a:cs typeface="Calibri Light"/>
              </a:rPr>
              <a:t>the</a:t>
            </a:r>
            <a:r>
              <a:rPr sz="2400" spc="-113" dirty="0">
                <a:latin typeface="+mn-lt"/>
                <a:cs typeface="Calibri Light"/>
              </a:rPr>
              <a:t> </a:t>
            </a:r>
            <a:r>
              <a:rPr sz="2400" spc="-23" dirty="0">
                <a:latin typeface="+mn-lt"/>
                <a:cs typeface="Calibri Light"/>
              </a:rPr>
              <a:t>mat</a:t>
            </a:r>
            <a:endParaRPr sz="2400" dirty="0">
              <a:latin typeface="+mn-l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48182" y="2515629"/>
            <a:ext cx="7840980" cy="381451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400" dirty="0">
                <a:cs typeface="Microsoft Sans Serif"/>
              </a:rPr>
              <a:t>A</a:t>
            </a:r>
            <a:r>
              <a:rPr sz="2400" spc="-162" dirty="0">
                <a:cs typeface="Microsoft Sans Serif"/>
              </a:rPr>
              <a:t> </a:t>
            </a:r>
            <a:r>
              <a:rPr sz="2400" spc="-54" dirty="0">
                <a:cs typeface="Microsoft Sans Serif"/>
              </a:rPr>
              <a:t>proposition</a:t>
            </a:r>
            <a:r>
              <a:rPr sz="2400" spc="-167" dirty="0">
                <a:cs typeface="Microsoft Sans Serif"/>
              </a:rPr>
              <a:t> </a:t>
            </a:r>
            <a:r>
              <a:rPr sz="2400" b="1" i="1" dirty="0">
                <a:cs typeface="Trebuchet MS"/>
              </a:rPr>
              <a:t>P</a:t>
            </a:r>
            <a:r>
              <a:rPr sz="2400" b="1" i="1" spc="32" dirty="0">
                <a:cs typeface="Trebuchet MS"/>
              </a:rPr>
              <a:t> </a:t>
            </a:r>
            <a:r>
              <a:rPr sz="2400" spc="-23" dirty="0">
                <a:cs typeface="Microsoft Sans Serif"/>
              </a:rPr>
              <a:t>is</a:t>
            </a:r>
            <a:r>
              <a:rPr sz="2400" spc="-297" dirty="0">
                <a:cs typeface="Microsoft Sans Serif"/>
              </a:rPr>
              <a:t> </a:t>
            </a:r>
            <a:r>
              <a:rPr sz="2400" spc="-229" dirty="0">
                <a:cs typeface="Microsoft Sans Serif"/>
              </a:rPr>
              <a:t>assumed</a:t>
            </a:r>
            <a:r>
              <a:rPr sz="2400" spc="-176" dirty="0">
                <a:cs typeface="Microsoft Sans Serif"/>
              </a:rPr>
              <a:t> </a:t>
            </a:r>
            <a:r>
              <a:rPr sz="2400" dirty="0">
                <a:cs typeface="Microsoft Sans Serif"/>
              </a:rPr>
              <a:t>to</a:t>
            </a:r>
            <a:r>
              <a:rPr sz="2400" spc="90" dirty="0">
                <a:cs typeface="Microsoft Sans Serif"/>
              </a:rPr>
              <a:t> </a:t>
            </a:r>
            <a:r>
              <a:rPr sz="2400" spc="-103" dirty="0">
                <a:cs typeface="Microsoft Sans Serif"/>
              </a:rPr>
              <a:t>be</a:t>
            </a:r>
            <a:r>
              <a:rPr sz="2400" spc="-180" dirty="0">
                <a:cs typeface="Microsoft Sans Serif"/>
              </a:rPr>
              <a:t> </a:t>
            </a:r>
            <a:r>
              <a:rPr sz="2400" spc="-27" dirty="0">
                <a:cs typeface="Microsoft Sans Serif"/>
              </a:rPr>
              <a:t>either</a:t>
            </a:r>
            <a:r>
              <a:rPr sz="2400" spc="23" dirty="0">
                <a:cs typeface="Microsoft Sans Serif"/>
              </a:rPr>
              <a:t> </a:t>
            </a:r>
            <a:r>
              <a:rPr sz="2400" i="1" spc="-801" dirty="0">
                <a:cs typeface="Arial"/>
              </a:rPr>
              <a:t>T</a:t>
            </a:r>
            <a:r>
              <a:rPr sz="2400" i="1" spc="-162" dirty="0">
                <a:cs typeface="Arial"/>
              </a:rPr>
              <a:t>r</a:t>
            </a:r>
            <a:r>
              <a:rPr sz="2400" i="1" spc="-171" dirty="0">
                <a:cs typeface="Arial"/>
              </a:rPr>
              <a:t>u</a:t>
            </a:r>
            <a:r>
              <a:rPr sz="2400" i="1" dirty="0">
                <a:cs typeface="Arial"/>
              </a:rPr>
              <a:t>e</a:t>
            </a:r>
            <a:r>
              <a:rPr sz="2400" i="1" spc="-356" dirty="0">
                <a:cs typeface="Arial"/>
              </a:rPr>
              <a:t> </a:t>
            </a:r>
            <a:r>
              <a:rPr sz="2400" dirty="0">
                <a:cs typeface="Microsoft Sans Serif"/>
              </a:rPr>
              <a:t>or</a:t>
            </a:r>
            <a:r>
              <a:rPr sz="2400" spc="198" dirty="0">
                <a:cs typeface="Microsoft Sans Serif"/>
              </a:rPr>
              <a:t> </a:t>
            </a:r>
            <a:r>
              <a:rPr sz="2400" i="1" spc="-702" dirty="0">
                <a:cs typeface="Arial"/>
              </a:rPr>
              <a:t>F</a:t>
            </a:r>
            <a:r>
              <a:rPr sz="2400" i="1" spc="-284" dirty="0">
                <a:cs typeface="Arial"/>
              </a:rPr>
              <a:t>a</a:t>
            </a:r>
            <a:r>
              <a:rPr sz="2400" i="1" spc="-320" dirty="0">
                <a:cs typeface="Arial"/>
              </a:rPr>
              <a:t>l</a:t>
            </a:r>
            <a:r>
              <a:rPr sz="2400" i="1" spc="-306" dirty="0">
                <a:cs typeface="Arial"/>
              </a:rPr>
              <a:t>s</a:t>
            </a:r>
            <a:r>
              <a:rPr sz="2400" i="1" spc="-18" dirty="0">
                <a:cs typeface="Arial"/>
              </a:rPr>
              <a:t>e</a:t>
            </a:r>
            <a:endParaRPr sz="2400" dirty="0"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48182" y="4079481"/>
            <a:ext cx="7780401" cy="869212"/>
          </a:xfrm>
          <a:prstGeom prst="rect">
            <a:avLst/>
          </a:prstGeom>
        </p:spPr>
        <p:txBody>
          <a:bodyPr vert="horz" wrap="square" lIns="0" tIns="48006" rIns="0" bIns="0" rtlCol="0">
            <a:spAutoFit/>
          </a:bodyPr>
          <a:lstStyle/>
          <a:p>
            <a:pPr marL="11430" marR="4572">
              <a:lnSpc>
                <a:spcPts val="3240"/>
              </a:lnSpc>
              <a:spcBef>
                <a:spcPts val="378"/>
              </a:spcBef>
            </a:pPr>
            <a:r>
              <a:rPr sz="2400" spc="-131" dirty="0">
                <a:cs typeface="Microsoft Sans Serif"/>
              </a:rPr>
              <a:t>Given</a:t>
            </a:r>
            <a:r>
              <a:rPr sz="2400" spc="-113" dirty="0">
                <a:cs typeface="Microsoft Sans Serif"/>
              </a:rPr>
              <a:t> </a:t>
            </a:r>
            <a:r>
              <a:rPr sz="2400" spc="-167" dirty="0">
                <a:cs typeface="Microsoft Sans Serif"/>
              </a:rPr>
              <a:t>several</a:t>
            </a:r>
            <a:r>
              <a:rPr sz="2400" spc="-144" dirty="0">
                <a:cs typeface="Microsoft Sans Serif"/>
              </a:rPr>
              <a:t> </a:t>
            </a:r>
            <a:r>
              <a:rPr sz="2400" spc="-95" dirty="0">
                <a:cs typeface="Microsoft Sans Serif"/>
              </a:rPr>
              <a:t>propositions,</a:t>
            </a:r>
            <a:r>
              <a:rPr sz="2400" spc="-329" dirty="0">
                <a:cs typeface="Microsoft Sans Serif"/>
              </a:rPr>
              <a:t> </a:t>
            </a:r>
            <a:r>
              <a:rPr sz="2400" spc="-77" dirty="0">
                <a:cs typeface="Microsoft Sans Serif"/>
              </a:rPr>
              <a:t>we</a:t>
            </a:r>
            <a:r>
              <a:rPr sz="2400" spc="-113" dirty="0">
                <a:cs typeface="Microsoft Sans Serif"/>
              </a:rPr>
              <a:t> </a:t>
            </a:r>
            <a:r>
              <a:rPr sz="2400" i="1" spc="-206" dirty="0">
                <a:cs typeface="Arial"/>
              </a:rPr>
              <a:t>may</a:t>
            </a:r>
            <a:r>
              <a:rPr sz="2400" i="1" spc="-248" dirty="0">
                <a:cs typeface="Arial"/>
              </a:rPr>
              <a:t> </a:t>
            </a:r>
            <a:r>
              <a:rPr sz="2400" spc="-103" dirty="0">
                <a:cs typeface="Microsoft Sans Serif"/>
              </a:rPr>
              <a:t>be</a:t>
            </a:r>
            <a:r>
              <a:rPr sz="2400" spc="-149" dirty="0">
                <a:cs typeface="Microsoft Sans Serif"/>
              </a:rPr>
              <a:t> </a:t>
            </a:r>
            <a:r>
              <a:rPr sz="2400" spc="-162" dirty="0">
                <a:cs typeface="Microsoft Sans Serif"/>
              </a:rPr>
              <a:t>able</a:t>
            </a:r>
            <a:r>
              <a:rPr sz="2400" spc="-122" dirty="0">
                <a:cs typeface="Microsoft Sans Serif"/>
              </a:rPr>
              <a:t> </a:t>
            </a:r>
            <a:r>
              <a:rPr sz="2400" dirty="0">
                <a:cs typeface="Microsoft Sans Serif"/>
              </a:rPr>
              <a:t>to</a:t>
            </a:r>
            <a:r>
              <a:rPr sz="2400" spc="140" dirty="0">
                <a:cs typeface="Microsoft Sans Serif"/>
              </a:rPr>
              <a:t> </a:t>
            </a:r>
            <a:r>
              <a:rPr sz="2400" spc="-103" dirty="0">
                <a:cs typeface="Microsoft Sans Serif"/>
              </a:rPr>
              <a:t>validly </a:t>
            </a:r>
            <a:r>
              <a:rPr sz="2400" spc="-50" dirty="0">
                <a:cs typeface="Microsoft Sans Serif"/>
              </a:rPr>
              <a:t>infer</a:t>
            </a:r>
            <a:r>
              <a:rPr sz="2400" spc="-140" dirty="0">
                <a:cs typeface="Microsoft Sans Serif"/>
              </a:rPr>
              <a:t> </a:t>
            </a:r>
            <a:r>
              <a:rPr sz="2400" dirty="0">
                <a:cs typeface="Microsoft Sans Serif"/>
              </a:rPr>
              <a:t>other</a:t>
            </a:r>
            <a:r>
              <a:rPr sz="2400" spc="-81" dirty="0">
                <a:cs typeface="Microsoft Sans Serif"/>
              </a:rPr>
              <a:t> </a:t>
            </a:r>
            <a:r>
              <a:rPr sz="2400" spc="-23" dirty="0">
                <a:cs typeface="Microsoft Sans Serif"/>
              </a:rPr>
              <a:t>propositions.</a:t>
            </a:r>
            <a:endParaRPr sz="2400" dirty="0">
              <a:cs typeface="Microsoft Sans Serif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8600" y="929045"/>
            <a:ext cx="7322820" cy="657634"/>
          </a:xfrm>
          <a:prstGeom prst="rect">
            <a:avLst/>
          </a:prstGeom>
        </p:spPr>
        <p:txBody>
          <a:bodyPr vert="horz" wrap="square" lIns="0" tIns="224554" rIns="0" bIns="0" rtlCol="0" anchor="b">
            <a:spAutoFit/>
          </a:bodyPr>
          <a:lstStyle/>
          <a:p>
            <a:pPr marL="457200">
              <a:lnSpc>
                <a:spcPct val="100000"/>
              </a:lnSpc>
              <a:spcBef>
                <a:spcPts val="90"/>
              </a:spcBef>
            </a:pPr>
            <a:r>
              <a:rPr sz="2800" spc="184" dirty="0">
                <a:solidFill>
                  <a:srgbClr val="FF0000"/>
                </a:solidFill>
                <a:latin typeface="+mn-lt"/>
                <a:cs typeface="Trebuchet MS"/>
              </a:rPr>
              <a:t>Modus</a:t>
            </a:r>
            <a:r>
              <a:rPr sz="2800" spc="229" dirty="0">
                <a:solidFill>
                  <a:srgbClr val="FF0000"/>
                </a:solidFill>
                <a:latin typeface="+mn-lt"/>
                <a:cs typeface="Trebuchet MS"/>
              </a:rPr>
              <a:t> </a:t>
            </a:r>
            <a:r>
              <a:rPr sz="2800" spc="81" dirty="0">
                <a:solidFill>
                  <a:srgbClr val="FF0000"/>
                </a:solidFill>
                <a:latin typeface="+mn-lt"/>
                <a:cs typeface="Trebuchet MS"/>
              </a:rPr>
              <a:t>Ponens</a:t>
            </a:r>
            <a:endParaRPr sz="2800" dirty="0">
              <a:latin typeface="+mn-lt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95730" y="5076713"/>
            <a:ext cx="2482025" cy="599331"/>
          </a:xfrm>
          <a:prstGeom prst="rect">
            <a:avLst/>
          </a:prstGeom>
        </p:spPr>
        <p:txBody>
          <a:bodyPr vert="horz" wrap="square" lIns="0" tIns="30861" rIns="0" bIns="0" rtlCol="0">
            <a:spAutoFit/>
          </a:bodyPr>
          <a:lstStyle/>
          <a:p>
            <a:pPr marL="11430" marR="4572">
              <a:lnSpc>
                <a:spcPts val="2061"/>
              </a:lnSpc>
              <a:spcBef>
                <a:spcPts val="243"/>
              </a:spcBef>
            </a:pPr>
            <a:r>
              <a:rPr sz="2400" dirty="0">
                <a:cs typeface="Microsoft Sans Serif"/>
              </a:rPr>
              <a:t>if</a:t>
            </a:r>
            <a:r>
              <a:rPr sz="2400" spc="-45" dirty="0">
                <a:cs typeface="Microsoft Sans Serif"/>
              </a:rPr>
              <a:t> </a:t>
            </a:r>
            <a:r>
              <a:rPr sz="2400" b="1" i="1" dirty="0">
                <a:cs typeface="Arial"/>
              </a:rPr>
              <a:t>p</a:t>
            </a:r>
            <a:r>
              <a:rPr sz="2400" b="1" i="1" spc="-45" dirty="0">
                <a:cs typeface="Arial"/>
              </a:rPr>
              <a:t> </a:t>
            </a:r>
            <a:r>
              <a:rPr sz="2400" dirty="0">
                <a:cs typeface="Microsoft Sans Serif"/>
              </a:rPr>
              <a:t>then</a:t>
            </a:r>
            <a:r>
              <a:rPr sz="2400" spc="-32" dirty="0">
                <a:cs typeface="Microsoft Sans Serif"/>
              </a:rPr>
              <a:t> </a:t>
            </a:r>
            <a:r>
              <a:rPr sz="2400" b="1" i="1" spc="-45" dirty="0">
                <a:cs typeface="Arial"/>
              </a:rPr>
              <a:t>q </a:t>
            </a:r>
            <a:endParaRPr lang="en-IN" sz="2400" b="1" i="1" spc="-45" dirty="0" smtClean="0">
              <a:cs typeface="Arial"/>
            </a:endParaRPr>
          </a:p>
          <a:p>
            <a:pPr marL="11430" marR="4572">
              <a:lnSpc>
                <a:spcPts val="2061"/>
              </a:lnSpc>
              <a:spcBef>
                <a:spcPts val="243"/>
              </a:spcBef>
            </a:pPr>
            <a:r>
              <a:rPr sz="2400" b="1" i="1" spc="-45" dirty="0" smtClean="0">
                <a:cs typeface="Arial"/>
              </a:rPr>
              <a:t>p</a:t>
            </a:r>
            <a:endParaRPr sz="2400" dirty="0"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71800" y="5076713"/>
            <a:ext cx="5923217" cy="569771"/>
          </a:xfrm>
          <a:prstGeom prst="rect">
            <a:avLst/>
          </a:prstGeom>
        </p:spPr>
        <p:txBody>
          <a:bodyPr vert="horz" wrap="square" lIns="0" tIns="30861" rIns="0" bIns="0" rtlCol="0">
            <a:spAutoFit/>
          </a:bodyPr>
          <a:lstStyle/>
          <a:p>
            <a:pPr marL="11430" marR="4572">
              <a:lnSpc>
                <a:spcPts val="2061"/>
              </a:lnSpc>
              <a:spcBef>
                <a:spcPts val="243"/>
              </a:spcBef>
            </a:pPr>
            <a:r>
              <a:rPr sz="2400" dirty="0">
                <a:cs typeface="Microsoft Sans Serif"/>
              </a:rPr>
              <a:t>if</a:t>
            </a:r>
            <a:r>
              <a:rPr sz="2400" spc="-9" dirty="0">
                <a:cs typeface="Microsoft Sans Serif"/>
              </a:rPr>
              <a:t> </a:t>
            </a:r>
            <a:r>
              <a:rPr sz="2400" b="1" i="1" dirty="0">
                <a:cs typeface="Arial"/>
              </a:rPr>
              <a:t>Socrates</a:t>
            </a:r>
            <a:r>
              <a:rPr sz="2400" b="1" i="1" spc="-54" dirty="0">
                <a:cs typeface="Arial"/>
              </a:rPr>
              <a:t> </a:t>
            </a:r>
            <a:r>
              <a:rPr sz="2400" b="1" i="1" dirty="0">
                <a:cs typeface="Arial"/>
              </a:rPr>
              <a:t>is</a:t>
            </a:r>
            <a:r>
              <a:rPr sz="2400" b="1" i="1" spc="-32" dirty="0">
                <a:cs typeface="Arial"/>
              </a:rPr>
              <a:t> </a:t>
            </a:r>
            <a:r>
              <a:rPr sz="2400" b="1" i="1" dirty="0">
                <a:cs typeface="Arial"/>
              </a:rPr>
              <a:t>a</a:t>
            </a:r>
            <a:r>
              <a:rPr sz="2400" b="1" i="1" spc="-5" dirty="0">
                <a:cs typeface="Arial"/>
              </a:rPr>
              <a:t> </a:t>
            </a:r>
            <a:r>
              <a:rPr sz="2400" b="1" i="1" dirty="0">
                <a:cs typeface="Arial"/>
              </a:rPr>
              <a:t>man</a:t>
            </a:r>
            <a:r>
              <a:rPr sz="2400" b="1" i="1" spc="-23" dirty="0">
                <a:cs typeface="Arial"/>
              </a:rPr>
              <a:t> </a:t>
            </a:r>
            <a:r>
              <a:rPr sz="2400" dirty="0">
                <a:cs typeface="Microsoft Sans Serif"/>
              </a:rPr>
              <a:t>then </a:t>
            </a:r>
            <a:r>
              <a:rPr sz="2400" b="1" i="1" dirty="0">
                <a:cs typeface="Arial"/>
              </a:rPr>
              <a:t>he</a:t>
            </a:r>
            <a:r>
              <a:rPr sz="2400" b="1" i="1" spc="-18" dirty="0">
                <a:cs typeface="Arial"/>
              </a:rPr>
              <a:t> </a:t>
            </a:r>
            <a:r>
              <a:rPr sz="2400" b="1" i="1" dirty="0">
                <a:cs typeface="Arial"/>
              </a:rPr>
              <a:t>is</a:t>
            </a:r>
            <a:r>
              <a:rPr sz="2400" b="1" i="1" spc="-36" dirty="0">
                <a:cs typeface="Arial"/>
              </a:rPr>
              <a:t> </a:t>
            </a:r>
            <a:r>
              <a:rPr sz="2400" b="1" i="1" spc="-9" dirty="0">
                <a:cs typeface="Arial"/>
              </a:rPr>
              <a:t>mortal </a:t>
            </a:r>
            <a:r>
              <a:rPr sz="2400" b="1" i="1" dirty="0">
                <a:cs typeface="Arial"/>
              </a:rPr>
              <a:t>Socrates</a:t>
            </a:r>
            <a:r>
              <a:rPr sz="2400" b="1" i="1" spc="-63" dirty="0">
                <a:cs typeface="Arial"/>
              </a:rPr>
              <a:t> </a:t>
            </a:r>
            <a:r>
              <a:rPr sz="2400" b="1" i="1" dirty="0">
                <a:cs typeface="Arial"/>
              </a:rPr>
              <a:t>is</a:t>
            </a:r>
            <a:r>
              <a:rPr sz="2400" b="1" i="1" spc="-27" dirty="0">
                <a:cs typeface="Arial"/>
              </a:rPr>
              <a:t> </a:t>
            </a:r>
            <a:r>
              <a:rPr sz="2400" b="1" i="1" dirty="0">
                <a:cs typeface="Arial"/>
              </a:rPr>
              <a:t>a</a:t>
            </a:r>
            <a:r>
              <a:rPr sz="2400" b="1" i="1" spc="-14" dirty="0">
                <a:cs typeface="Arial"/>
              </a:rPr>
              <a:t> </a:t>
            </a:r>
            <a:r>
              <a:rPr sz="2400" b="1" i="1" spc="-23" dirty="0">
                <a:cs typeface="Arial"/>
              </a:rPr>
              <a:t>man</a:t>
            </a:r>
            <a:endParaRPr sz="2400" dirty="0"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95730" y="5858206"/>
            <a:ext cx="2572322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spc="-9" dirty="0">
                <a:cs typeface="Microsoft Sans Serif"/>
              </a:rPr>
              <a:t>therefore</a:t>
            </a:r>
            <a:r>
              <a:rPr sz="2400" spc="-50" dirty="0">
                <a:cs typeface="Microsoft Sans Serif"/>
              </a:rPr>
              <a:t> </a:t>
            </a:r>
            <a:r>
              <a:rPr sz="2400" b="1" i="1" spc="-45" dirty="0">
                <a:cs typeface="Arial"/>
              </a:rPr>
              <a:t>q</a:t>
            </a:r>
            <a:endParaRPr sz="2400" dirty="0"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71800" y="5858206"/>
            <a:ext cx="4971668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dirty="0">
                <a:cs typeface="Microsoft Sans Serif"/>
              </a:rPr>
              <a:t>therefore,</a:t>
            </a:r>
            <a:r>
              <a:rPr sz="2400" spc="-59" dirty="0">
                <a:cs typeface="Microsoft Sans Serif"/>
              </a:rPr>
              <a:t> </a:t>
            </a:r>
            <a:r>
              <a:rPr sz="2400" b="1" i="1" dirty="0">
                <a:cs typeface="Arial"/>
              </a:rPr>
              <a:t>Socrates</a:t>
            </a:r>
            <a:r>
              <a:rPr sz="2400" b="1" i="1" spc="-72" dirty="0">
                <a:cs typeface="Arial"/>
              </a:rPr>
              <a:t> </a:t>
            </a:r>
            <a:r>
              <a:rPr sz="2400" b="1" i="1" dirty="0">
                <a:cs typeface="Arial"/>
              </a:rPr>
              <a:t>is</a:t>
            </a:r>
            <a:r>
              <a:rPr sz="2400" b="1" i="1" spc="-45" dirty="0">
                <a:cs typeface="Arial"/>
              </a:rPr>
              <a:t> </a:t>
            </a:r>
            <a:r>
              <a:rPr sz="2400" b="1" i="1" spc="-9" dirty="0">
                <a:cs typeface="Arial"/>
              </a:rPr>
              <a:t>mortal</a:t>
            </a:r>
            <a:endParaRPr sz="2400" dirty="0"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xfrm>
            <a:off x="495299" y="2069960"/>
            <a:ext cx="6789421" cy="2846228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lnSpc>
                <a:spcPts val="3438"/>
              </a:lnSpc>
              <a:spcBef>
                <a:spcPts val="95"/>
              </a:spcBef>
            </a:pPr>
            <a:r>
              <a:rPr sz="2400" spc="-126" dirty="0">
                <a:solidFill>
                  <a:schemeClr val="tx1"/>
                </a:solidFill>
              </a:rPr>
              <a:t>Given</a:t>
            </a:r>
            <a:r>
              <a:rPr sz="2400" spc="-140" dirty="0">
                <a:solidFill>
                  <a:schemeClr val="tx1"/>
                </a:solidFill>
              </a:rPr>
              <a:t> these</a:t>
            </a:r>
            <a:r>
              <a:rPr sz="2400" spc="-99"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two</a:t>
            </a:r>
            <a:r>
              <a:rPr sz="2400" spc="81" dirty="0">
                <a:solidFill>
                  <a:schemeClr val="tx1"/>
                </a:solidFill>
              </a:rPr>
              <a:t> </a:t>
            </a:r>
            <a:r>
              <a:rPr sz="2400" spc="-81" dirty="0">
                <a:solidFill>
                  <a:schemeClr val="tx1"/>
                </a:solidFill>
              </a:rPr>
              <a:t>propositions:</a:t>
            </a:r>
          </a:p>
          <a:p>
            <a:pPr marL="628650" marR="2406015">
              <a:lnSpc>
                <a:spcPts val="3240"/>
              </a:lnSpc>
              <a:spcBef>
                <a:spcPts val="266"/>
              </a:spcBef>
            </a:pPr>
            <a:r>
              <a:rPr sz="2400" i="1" dirty="0">
                <a:solidFill>
                  <a:schemeClr val="tx1"/>
                </a:solidFill>
                <a:cs typeface="Arial"/>
              </a:rPr>
              <a:t>if</a:t>
            </a:r>
            <a:r>
              <a:rPr sz="2400" i="1" spc="-198" dirty="0">
                <a:solidFill>
                  <a:schemeClr val="tx1"/>
                </a:solidFill>
                <a:cs typeface="Arial"/>
              </a:rPr>
              <a:t> </a:t>
            </a:r>
            <a:r>
              <a:rPr sz="2400" i="1" dirty="0">
                <a:solidFill>
                  <a:schemeClr val="tx1"/>
                </a:solidFill>
                <a:cs typeface="Arial"/>
              </a:rPr>
              <a:t>p</a:t>
            </a:r>
            <a:r>
              <a:rPr sz="2400" i="1" spc="-212" dirty="0">
                <a:solidFill>
                  <a:schemeClr val="tx1"/>
                </a:solidFill>
                <a:cs typeface="Arial"/>
              </a:rPr>
              <a:t> </a:t>
            </a:r>
            <a:r>
              <a:rPr sz="2400" i="1" spc="-144" dirty="0">
                <a:solidFill>
                  <a:schemeClr val="tx1"/>
                </a:solidFill>
                <a:cs typeface="Arial"/>
              </a:rPr>
              <a:t>then</a:t>
            </a:r>
            <a:r>
              <a:rPr sz="2400" i="1" spc="-288" dirty="0">
                <a:solidFill>
                  <a:schemeClr val="tx1"/>
                </a:solidFill>
                <a:cs typeface="Arial"/>
              </a:rPr>
              <a:t> </a:t>
            </a:r>
            <a:r>
              <a:rPr sz="2400" i="1" spc="-45" dirty="0">
                <a:solidFill>
                  <a:schemeClr val="tx1"/>
                </a:solidFill>
                <a:cs typeface="Arial"/>
              </a:rPr>
              <a:t>q </a:t>
            </a:r>
            <a:endParaRPr lang="en-IN" sz="2400" i="1" spc="-45" dirty="0" smtClean="0">
              <a:solidFill>
                <a:schemeClr val="tx1"/>
              </a:solidFill>
              <a:cs typeface="Arial"/>
            </a:endParaRPr>
          </a:p>
          <a:p>
            <a:pPr marL="628650" marR="2406015">
              <a:lnSpc>
                <a:spcPts val="3240"/>
              </a:lnSpc>
              <a:spcBef>
                <a:spcPts val="266"/>
              </a:spcBef>
            </a:pPr>
            <a:r>
              <a:rPr lang="en-IN" sz="2400" i="1" spc="-45" dirty="0" smtClean="0">
                <a:solidFill>
                  <a:schemeClr val="tx1"/>
                </a:solidFill>
                <a:cs typeface="Arial"/>
              </a:rPr>
              <a:t>P is true</a:t>
            </a:r>
            <a:endParaRPr sz="2400" i="1" spc="-45" dirty="0">
              <a:solidFill>
                <a:schemeClr val="tx1"/>
              </a:solidFill>
              <a:cs typeface="Arial"/>
            </a:endParaRPr>
          </a:p>
          <a:p>
            <a:pPr marL="11430">
              <a:lnSpc>
                <a:spcPts val="3393"/>
              </a:lnSpc>
              <a:spcBef>
                <a:spcPts val="2888"/>
              </a:spcBef>
            </a:pPr>
            <a:r>
              <a:rPr sz="2400" spc="-18" dirty="0">
                <a:solidFill>
                  <a:schemeClr val="tx1"/>
                </a:solidFill>
              </a:rPr>
              <a:t>We</a:t>
            </a:r>
            <a:r>
              <a:rPr sz="2400" spc="-203" dirty="0">
                <a:solidFill>
                  <a:schemeClr val="tx1"/>
                </a:solidFill>
              </a:rPr>
              <a:t> </a:t>
            </a:r>
            <a:r>
              <a:rPr sz="2400" spc="-189" dirty="0">
                <a:solidFill>
                  <a:schemeClr val="tx1"/>
                </a:solidFill>
              </a:rPr>
              <a:t>can</a:t>
            </a:r>
            <a:r>
              <a:rPr sz="2400" spc="-144" dirty="0">
                <a:solidFill>
                  <a:schemeClr val="tx1"/>
                </a:solidFill>
              </a:rPr>
              <a:t> </a:t>
            </a:r>
            <a:r>
              <a:rPr sz="2400" spc="-122" dirty="0">
                <a:solidFill>
                  <a:schemeClr val="tx1"/>
                </a:solidFill>
              </a:rPr>
              <a:t>validly</a:t>
            </a:r>
            <a:r>
              <a:rPr sz="2400" spc="-144" dirty="0">
                <a:solidFill>
                  <a:schemeClr val="tx1"/>
                </a:solidFill>
              </a:rPr>
              <a:t> </a:t>
            </a:r>
            <a:r>
              <a:rPr sz="2400" spc="-9" dirty="0">
                <a:solidFill>
                  <a:schemeClr val="tx1"/>
                </a:solidFill>
              </a:rPr>
              <a:t>conclude</a:t>
            </a:r>
          </a:p>
          <a:p>
            <a:pPr marL="628650">
              <a:lnSpc>
                <a:spcPts val="3393"/>
              </a:lnSpc>
            </a:pPr>
            <a:r>
              <a:rPr lang="en-IN" sz="2400" i="1" spc="-45" dirty="0" smtClean="0">
                <a:solidFill>
                  <a:schemeClr val="tx1"/>
                </a:solidFill>
                <a:cs typeface="Arial"/>
              </a:rPr>
              <a:t>q must be true</a:t>
            </a:r>
            <a:endParaRPr sz="2400" i="1" spc="-45" dirty="0">
              <a:solidFill>
                <a:schemeClr val="tx1"/>
              </a:solidFill>
              <a:cs typeface="Arial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0664" y="1036796"/>
            <a:ext cx="6789420" cy="526829"/>
          </a:xfrm>
          <a:prstGeom prst="rect">
            <a:avLst/>
          </a:prstGeom>
        </p:spPr>
        <p:txBody>
          <a:bodyPr vert="horz" wrap="square" lIns="0" tIns="155974" rIns="0" bIns="0" rtlCol="0" anchor="b">
            <a:spAutoFit/>
          </a:bodyPr>
          <a:lstStyle/>
          <a:p>
            <a:pPr marL="182880">
              <a:lnSpc>
                <a:spcPct val="100000"/>
              </a:lnSpc>
              <a:spcBef>
                <a:spcPts val="90"/>
              </a:spcBef>
            </a:pPr>
            <a:r>
              <a:rPr sz="2400" spc="184" dirty="0">
                <a:solidFill>
                  <a:srgbClr val="FF0000"/>
                </a:solidFill>
                <a:latin typeface="+mn-lt"/>
                <a:cs typeface="Trebuchet MS"/>
              </a:rPr>
              <a:t>Modus</a:t>
            </a:r>
            <a:r>
              <a:rPr sz="2400" spc="167" dirty="0">
                <a:solidFill>
                  <a:srgbClr val="FF0000"/>
                </a:solidFill>
                <a:latin typeface="+mn-lt"/>
                <a:cs typeface="Trebuchet MS"/>
              </a:rPr>
              <a:t> </a:t>
            </a:r>
            <a:r>
              <a:rPr sz="2400" spc="-9" dirty="0">
                <a:solidFill>
                  <a:srgbClr val="FF0000"/>
                </a:solidFill>
                <a:latin typeface="+mn-lt"/>
                <a:cs typeface="Trebuchet MS"/>
              </a:rPr>
              <a:t>Tollens</a:t>
            </a:r>
            <a:endParaRPr sz="2400" dirty="0">
              <a:latin typeface="+mn-lt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533779" y="1967294"/>
            <a:ext cx="6789421" cy="2705870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>
              <a:lnSpc>
                <a:spcPts val="3438"/>
              </a:lnSpc>
              <a:spcBef>
                <a:spcPts val="95"/>
              </a:spcBef>
              <a:spcAft>
                <a:spcPts val="0"/>
              </a:spcAft>
            </a:pPr>
            <a:r>
              <a:rPr sz="2400" spc="-135" dirty="0"/>
              <a:t>Given</a:t>
            </a:r>
            <a:r>
              <a:rPr sz="2400" spc="-126" dirty="0"/>
              <a:t> </a:t>
            </a:r>
            <a:r>
              <a:rPr sz="2400" spc="-140" dirty="0"/>
              <a:t>these</a:t>
            </a:r>
            <a:r>
              <a:rPr sz="2400" spc="-95" dirty="0"/>
              <a:t> </a:t>
            </a:r>
            <a:r>
              <a:rPr sz="2400" dirty="0"/>
              <a:t>two</a:t>
            </a:r>
            <a:r>
              <a:rPr sz="2400" spc="99" dirty="0"/>
              <a:t> </a:t>
            </a:r>
            <a:r>
              <a:rPr sz="2400" spc="-77" dirty="0"/>
              <a:t>propositions:</a:t>
            </a:r>
          </a:p>
          <a:p>
            <a:pPr marL="605219" marR="2407730">
              <a:lnSpc>
                <a:spcPts val="3240"/>
              </a:lnSpc>
              <a:spcBef>
                <a:spcPts val="266"/>
              </a:spcBef>
              <a:spcAft>
                <a:spcPts val="0"/>
              </a:spcAft>
            </a:pPr>
            <a:r>
              <a:rPr sz="2400" i="1" dirty="0">
                <a:cs typeface="Arial"/>
              </a:rPr>
              <a:t>if</a:t>
            </a:r>
            <a:r>
              <a:rPr sz="2400" i="1" spc="-176" dirty="0">
                <a:cs typeface="Arial"/>
              </a:rPr>
              <a:t> </a:t>
            </a:r>
            <a:r>
              <a:rPr sz="2400" i="1" dirty="0">
                <a:cs typeface="Arial"/>
              </a:rPr>
              <a:t>p</a:t>
            </a:r>
            <a:r>
              <a:rPr sz="2400" i="1" spc="-212" dirty="0">
                <a:cs typeface="Arial"/>
              </a:rPr>
              <a:t> </a:t>
            </a:r>
            <a:r>
              <a:rPr sz="2400" i="1" spc="-153" dirty="0">
                <a:cs typeface="Arial"/>
              </a:rPr>
              <a:t>then</a:t>
            </a:r>
            <a:r>
              <a:rPr sz="2400" i="1" spc="-288" dirty="0">
                <a:cs typeface="Arial"/>
              </a:rPr>
              <a:t> </a:t>
            </a:r>
            <a:r>
              <a:rPr sz="2400" i="1" spc="-45" dirty="0">
                <a:cs typeface="Arial"/>
              </a:rPr>
              <a:t>q </a:t>
            </a:r>
            <a:endParaRPr lang="en-IN" sz="2400" i="1" spc="-45" dirty="0" smtClean="0">
              <a:cs typeface="Arial"/>
            </a:endParaRPr>
          </a:p>
          <a:p>
            <a:pPr marL="605219" marR="2407730">
              <a:lnSpc>
                <a:spcPts val="3240"/>
              </a:lnSpc>
              <a:spcBef>
                <a:spcPts val="266"/>
              </a:spcBef>
              <a:spcAft>
                <a:spcPts val="0"/>
              </a:spcAft>
            </a:pPr>
            <a:r>
              <a:rPr sz="2400" i="1" spc="-135" dirty="0" smtClean="0">
                <a:cs typeface="Arial"/>
              </a:rPr>
              <a:t>not</a:t>
            </a:r>
            <a:r>
              <a:rPr sz="2400" i="1" spc="-203" dirty="0" smtClean="0">
                <a:cs typeface="Arial"/>
              </a:rPr>
              <a:t> </a:t>
            </a:r>
            <a:r>
              <a:rPr sz="2400" i="1" spc="-45" dirty="0">
                <a:cs typeface="Arial"/>
              </a:rPr>
              <a:t>q</a:t>
            </a:r>
          </a:p>
          <a:p>
            <a:pPr>
              <a:lnSpc>
                <a:spcPts val="3393"/>
              </a:lnSpc>
              <a:spcBef>
                <a:spcPts val="2889"/>
              </a:spcBef>
              <a:spcAft>
                <a:spcPts val="0"/>
              </a:spcAft>
            </a:pPr>
            <a:r>
              <a:rPr sz="2400" spc="-18" dirty="0"/>
              <a:t>We</a:t>
            </a:r>
            <a:r>
              <a:rPr sz="2400" spc="-198" dirty="0"/>
              <a:t> </a:t>
            </a:r>
            <a:r>
              <a:rPr sz="2400" spc="-189" dirty="0"/>
              <a:t>can</a:t>
            </a:r>
            <a:r>
              <a:rPr sz="2400" spc="-144" dirty="0"/>
              <a:t> </a:t>
            </a:r>
            <a:r>
              <a:rPr sz="2400" spc="-122" dirty="0"/>
              <a:t>validly</a:t>
            </a:r>
            <a:r>
              <a:rPr sz="2400" spc="-140" dirty="0"/>
              <a:t> </a:t>
            </a:r>
            <a:r>
              <a:rPr sz="2400" spc="-9" dirty="0"/>
              <a:t>conclude</a:t>
            </a:r>
          </a:p>
          <a:p>
            <a:pPr marL="605219">
              <a:lnSpc>
                <a:spcPts val="3393"/>
              </a:lnSpc>
              <a:spcAft>
                <a:spcPts val="0"/>
              </a:spcAft>
            </a:pPr>
            <a:r>
              <a:rPr sz="2400" i="1" spc="-162" dirty="0">
                <a:cs typeface="Arial"/>
              </a:rPr>
              <a:t>not</a:t>
            </a:r>
            <a:r>
              <a:rPr sz="2400" i="1" spc="-108" dirty="0">
                <a:cs typeface="Arial"/>
              </a:rPr>
              <a:t> </a:t>
            </a:r>
            <a:r>
              <a:rPr sz="2400" i="1" spc="-45" dirty="0">
                <a:cs typeface="Arial"/>
              </a:rPr>
              <a:t>p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3780" y="4726076"/>
            <a:ext cx="2925510" cy="7502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dirty="0">
                <a:cs typeface="Microsoft Sans Serif"/>
              </a:rPr>
              <a:t>if</a:t>
            </a:r>
            <a:r>
              <a:rPr sz="2400" spc="-36" dirty="0">
                <a:cs typeface="Microsoft Sans Serif"/>
              </a:rPr>
              <a:t> </a:t>
            </a:r>
            <a:r>
              <a:rPr sz="2400" b="1" i="1" dirty="0">
                <a:cs typeface="Arial"/>
              </a:rPr>
              <a:t>p</a:t>
            </a:r>
            <a:r>
              <a:rPr sz="2400" b="1" i="1" spc="-36" dirty="0">
                <a:cs typeface="Arial"/>
              </a:rPr>
              <a:t> </a:t>
            </a:r>
            <a:r>
              <a:rPr sz="2400" dirty="0">
                <a:cs typeface="Microsoft Sans Serif"/>
              </a:rPr>
              <a:t>then</a:t>
            </a:r>
            <a:r>
              <a:rPr sz="2400" spc="-54" dirty="0">
                <a:cs typeface="Microsoft Sans Serif"/>
              </a:rPr>
              <a:t> </a:t>
            </a:r>
            <a:r>
              <a:rPr sz="2400" b="1" i="1" spc="-45" dirty="0">
                <a:cs typeface="Arial"/>
              </a:rPr>
              <a:t>q</a:t>
            </a:r>
            <a:endParaRPr sz="2400">
              <a:cs typeface="Arial"/>
            </a:endParaRPr>
          </a:p>
          <a:p>
            <a:pPr marL="11430"/>
            <a:r>
              <a:rPr sz="2400" dirty="0">
                <a:cs typeface="Microsoft Sans Serif"/>
              </a:rPr>
              <a:t>not</a:t>
            </a:r>
            <a:r>
              <a:rPr sz="2400" spc="-54" dirty="0">
                <a:cs typeface="Microsoft Sans Serif"/>
              </a:rPr>
              <a:t> </a:t>
            </a:r>
            <a:r>
              <a:rPr sz="2400" b="1" i="1" spc="-45" dirty="0">
                <a:cs typeface="Arial"/>
              </a:rPr>
              <a:t>q</a:t>
            </a:r>
            <a:endParaRPr sz="2400"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124201" y="4733506"/>
            <a:ext cx="5532310" cy="569771"/>
          </a:xfrm>
          <a:prstGeom prst="rect">
            <a:avLst/>
          </a:prstGeom>
        </p:spPr>
        <p:txBody>
          <a:bodyPr vert="horz" wrap="square" lIns="0" tIns="30861" rIns="0" bIns="0" rtlCol="0">
            <a:spAutoFit/>
          </a:bodyPr>
          <a:lstStyle/>
          <a:p>
            <a:pPr marL="11430" marR="4572">
              <a:lnSpc>
                <a:spcPts val="2061"/>
              </a:lnSpc>
              <a:spcBef>
                <a:spcPts val="243"/>
              </a:spcBef>
            </a:pPr>
            <a:r>
              <a:rPr sz="2400" dirty="0">
                <a:cs typeface="Microsoft Sans Serif"/>
              </a:rPr>
              <a:t>if</a:t>
            </a:r>
            <a:r>
              <a:rPr sz="2400" spc="-18" dirty="0">
                <a:cs typeface="Microsoft Sans Serif"/>
              </a:rPr>
              <a:t> </a:t>
            </a:r>
            <a:r>
              <a:rPr sz="2400" b="1" i="1" dirty="0">
                <a:cs typeface="Arial"/>
              </a:rPr>
              <a:t>there</a:t>
            </a:r>
            <a:r>
              <a:rPr sz="2400" b="1" i="1" spc="-45" dirty="0">
                <a:cs typeface="Arial"/>
              </a:rPr>
              <a:t> </a:t>
            </a:r>
            <a:r>
              <a:rPr sz="2400" b="1" i="1" dirty="0">
                <a:cs typeface="Arial"/>
              </a:rPr>
              <a:t>is</a:t>
            </a:r>
            <a:r>
              <a:rPr sz="2400" b="1" i="1" spc="-32" dirty="0">
                <a:cs typeface="Arial"/>
              </a:rPr>
              <a:t> </a:t>
            </a:r>
            <a:r>
              <a:rPr sz="2400" b="1" i="1" dirty="0">
                <a:cs typeface="Arial"/>
              </a:rPr>
              <a:t>fire</a:t>
            </a:r>
            <a:r>
              <a:rPr sz="2400" b="1" i="1" spc="-41" dirty="0">
                <a:cs typeface="Arial"/>
              </a:rPr>
              <a:t> </a:t>
            </a:r>
            <a:r>
              <a:rPr sz="2400" dirty="0">
                <a:cs typeface="Microsoft Sans Serif"/>
              </a:rPr>
              <a:t>then</a:t>
            </a:r>
            <a:r>
              <a:rPr sz="2400" spc="-18" dirty="0">
                <a:cs typeface="Microsoft Sans Serif"/>
              </a:rPr>
              <a:t> </a:t>
            </a:r>
            <a:r>
              <a:rPr sz="2400" b="1" i="1" dirty="0">
                <a:cs typeface="Arial"/>
              </a:rPr>
              <a:t>there</a:t>
            </a:r>
            <a:r>
              <a:rPr sz="2400" b="1" i="1" spc="-50" dirty="0">
                <a:cs typeface="Arial"/>
              </a:rPr>
              <a:t> </a:t>
            </a:r>
            <a:r>
              <a:rPr sz="2400" b="1" i="1" dirty="0">
                <a:cs typeface="Arial"/>
              </a:rPr>
              <a:t>is</a:t>
            </a:r>
            <a:r>
              <a:rPr sz="2400" b="1" i="1" spc="-18" dirty="0">
                <a:cs typeface="Arial"/>
              </a:rPr>
              <a:t> </a:t>
            </a:r>
            <a:r>
              <a:rPr sz="2400" b="1" i="1" spc="-9" dirty="0">
                <a:cs typeface="Arial"/>
              </a:rPr>
              <a:t>oxygen </a:t>
            </a:r>
            <a:r>
              <a:rPr sz="2400" b="1" i="1" dirty="0">
                <a:cs typeface="Arial"/>
              </a:rPr>
              <a:t>there</a:t>
            </a:r>
            <a:r>
              <a:rPr sz="2400" b="1" i="1" spc="-50" dirty="0">
                <a:cs typeface="Arial"/>
              </a:rPr>
              <a:t> </a:t>
            </a:r>
            <a:r>
              <a:rPr sz="2400" b="1" i="1" dirty="0">
                <a:cs typeface="Arial"/>
              </a:rPr>
              <a:t>is</a:t>
            </a:r>
            <a:r>
              <a:rPr sz="2400" b="1" i="1" spc="-27" dirty="0">
                <a:cs typeface="Arial"/>
              </a:rPr>
              <a:t> </a:t>
            </a:r>
            <a:r>
              <a:rPr sz="2400" dirty="0">
                <a:cs typeface="Microsoft Sans Serif"/>
              </a:rPr>
              <a:t>not</a:t>
            </a:r>
            <a:r>
              <a:rPr sz="2400" spc="-9" dirty="0">
                <a:cs typeface="Microsoft Sans Serif"/>
              </a:rPr>
              <a:t> </a:t>
            </a:r>
            <a:r>
              <a:rPr sz="2400" b="1" i="1" spc="-9" dirty="0">
                <a:cs typeface="Arial"/>
              </a:rPr>
              <a:t>oxygen</a:t>
            </a:r>
            <a:endParaRPr sz="2400" dirty="0"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33779" y="5515020"/>
            <a:ext cx="3394711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dirty="0">
                <a:cs typeface="Microsoft Sans Serif"/>
              </a:rPr>
              <a:t>therefore</a:t>
            </a:r>
            <a:r>
              <a:rPr sz="2400" spc="-86" dirty="0">
                <a:cs typeface="Microsoft Sans Serif"/>
              </a:rPr>
              <a:t> </a:t>
            </a:r>
            <a:r>
              <a:rPr sz="2400" dirty="0">
                <a:cs typeface="Microsoft Sans Serif"/>
              </a:rPr>
              <a:t>not</a:t>
            </a:r>
            <a:r>
              <a:rPr sz="2400" spc="-54" dirty="0">
                <a:cs typeface="Microsoft Sans Serif"/>
              </a:rPr>
              <a:t> </a:t>
            </a:r>
            <a:r>
              <a:rPr sz="2400" b="1" i="1" spc="-45" dirty="0">
                <a:cs typeface="Arial"/>
              </a:rPr>
              <a:t>p</a:t>
            </a:r>
            <a:endParaRPr sz="2400" dirty="0"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48000" y="5559529"/>
            <a:ext cx="4648200" cy="38087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400" dirty="0">
                <a:cs typeface="Microsoft Sans Serif"/>
              </a:rPr>
              <a:t>therefore,</a:t>
            </a:r>
            <a:r>
              <a:rPr sz="2400" spc="-59" dirty="0">
                <a:cs typeface="Microsoft Sans Serif"/>
              </a:rPr>
              <a:t> </a:t>
            </a:r>
            <a:r>
              <a:rPr sz="2400" b="1" i="1" dirty="0">
                <a:cs typeface="Arial"/>
              </a:rPr>
              <a:t>there</a:t>
            </a:r>
            <a:r>
              <a:rPr sz="2400" b="1" i="1" spc="-63" dirty="0">
                <a:cs typeface="Arial"/>
              </a:rPr>
              <a:t> </a:t>
            </a:r>
            <a:r>
              <a:rPr sz="2400" b="1" i="1" dirty="0">
                <a:cs typeface="Arial"/>
              </a:rPr>
              <a:t>is</a:t>
            </a:r>
            <a:r>
              <a:rPr sz="2400" b="1" i="1" spc="-50" dirty="0">
                <a:cs typeface="Arial"/>
              </a:rPr>
              <a:t> </a:t>
            </a:r>
            <a:r>
              <a:rPr sz="2400" b="1" i="1" dirty="0">
                <a:cs typeface="Arial"/>
              </a:rPr>
              <a:t>not</a:t>
            </a:r>
            <a:r>
              <a:rPr sz="2400" b="1" i="1" spc="-36" dirty="0">
                <a:cs typeface="Arial"/>
              </a:rPr>
              <a:t> </a:t>
            </a:r>
            <a:r>
              <a:rPr sz="2400" b="1" i="1" spc="-18" dirty="0">
                <a:cs typeface="Arial"/>
              </a:rPr>
              <a:t>fire</a:t>
            </a:r>
            <a:endParaRPr sz="2400">
              <a:cs typeface="Arial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05401" y="972236"/>
            <a:ext cx="3274962" cy="45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80" b="1" spc="184" dirty="0">
                <a:solidFill>
                  <a:srgbClr val="404040"/>
                </a:solidFill>
                <a:cs typeface="Trebuchet MS"/>
              </a:rPr>
              <a:t>Modus</a:t>
            </a:r>
            <a:r>
              <a:rPr sz="2880" b="1" spc="149" dirty="0">
                <a:solidFill>
                  <a:srgbClr val="404040"/>
                </a:solidFill>
                <a:cs typeface="Trebuchet MS"/>
              </a:rPr>
              <a:t> </a:t>
            </a:r>
            <a:r>
              <a:rPr sz="2880" b="1" spc="-9" dirty="0">
                <a:solidFill>
                  <a:srgbClr val="404040"/>
                </a:solidFill>
                <a:cs typeface="Trebuchet MS"/>
              </a:rPr>
              <a:t>Tollens</a:t>
            </a:r>
            <a:endParaRPr sz="2880" dirty="0"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19632" y="918885"/>
            <a:ext cx="3547568" cy="504562"/>
          </a:xfrm>
          <a:prstGeom prst="rect">
            <a:avLst/>
          </a:prstGeom>
        </p:spPr>
        <p:txBody>
          <a:bodyPr vert="horz" wrap="square" lIns="0" tIns="12002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5"/>
              </a:spcBef>
            </a:pPr>
            <a:r>
              <a:rPr sz="3200" b="1" spc="189" dirty="0">
                <a:solidFill>
                  <a:srgbClr val="000000"/>
                </a:solidFill>
                <a:latin typeface="+mn-lt"/>
                <a:cs typeface="Trebuchet MS"/>
              </a:rPr>
              <a:t>Modus</a:t>
            </a:r>
            <a:r>
              <a:rPr sz="3200" b="1" spc="212" dirty="0">
                <a:solidFill>
                  <a:srgbClr val="000000"/>
                </a:solidFill>
                <a:latin typeface="+mn-lt"/>
                <a:cs typeface="Trebuchet MS"/>
              </a:rPr>
              <a:t> </a:t>
            </a:r>
            <a:r>
              <a:rPr sz="3200" b="1" spc="86" dirty="0">
                <a:solidFill>
                  <a:srgbClr val="000000"/>
                </a:solidFill>
                <a:latin typeface="+mn-lt"/>
                <a:cs typeface="Trebuchet MS"/>
              </a:rPr>
              <a:t>Ponens</a:t>
            </a:r>
            <a:endParaRPr sz="3200" b="1" dirty="0">
              <a:latin typeface="+mn-lt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59937" y="4332953"/>
            <a:ext cx="6813995" cy="1534074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R="427482" algn="ctr">
              <a:spcBef>
                <a:spcPts val="95"/>
              </a:spcBef>
            </a:pPr>
            <a:r>
              <a:rPr sz="2880" spc="-54" dirty="0">
                <a:cs typeface="Microsoft Sans Serif"/>
              </a:rPr>
              <a:t>Both</a:t>
            </a:r>
            <a:r>
              <a:rPr sz="2880" spc="-113" dirty="0">
                <a:cs typeface="Microsoft Sans Serif"/>
              </a:rPr>
              <a:t> </a:t>
            </a:r>
            <a:r>
              <a:rPr sz="2880" spc="-117" dirty="0">
                <a:cs typeface="Microsoft Sans Serif"/>
              </a:rPr>
              <a:t>are</a:t>
            </a:r>
            <a:r>
              <a:rPr sz="2880" spc="-158" dirty="0">
                <a:cs typeface="Microsoft Sans Serif"/>
              </a:rPr>
              <a:t> </a:t>
            </a:r>
            <a:r>
              <a:rPr sz="2880" spc="-9" dirty="0">
                <a:cs typeface="Microsoft Sans Serif"/>
              </a:rPr>
              <a:t>valid!</a:t>
            </a:r>
            <a:endParaRPr sz="2880">
              <a:cs typeface="Microsoft Sans Serif"/>
            </a:endParaRPr>
          </a:p>
          <a:p>
            <a:pPr>
              <a:spcBef>
                <a:spcPts val="1494"/>
              </a:spcBef>
            </a:pPr>
            <a:endParaRPr sz="2880">
              <a:cs typeface="Microsoft Sans Serif"/>
            </a:endParaRPr>
          </a:p>
          <a:p>
            <a:pPr marL="11430"/>
            <a:r>
              <a:rPr sz="2880" spc="-549" dirty="0">
                <a:cs typeface="Microsoft Sans Serif"/>
              </a:rPr>
              <a:t>P</a:t>
            </a:r>
            <a:r>
              <a:rPr sz="2880" spc="-135" dirty="0">
                <a:cs typeface="Microsoft Sans Serif"/>
              </a:rPr>
              <a:t>e</a:t>
            </a:r>
            <a:r>
              <a:rPr sz="2880" spc="-144" dirty="0">
                <a:cs typeface="Microsoft Sans Serif"/>
              </a:rPr>
              <a:t>o</a:t>
            </a:r>
            <a:r>
              <a:rPr sz="2880" spc="-103" dirty="0">
                <a:cs typeface="Microsoft Sans Serif"/>
              </a:rPr>
              <a:t>p</a:t>
            </a:r>
            <a:r>
              <a:rPr sz="2880" spc="-108" dirty="0">
                <a:cs typeface="Microsoft Sans Serif"/>
              </a:rPr>
              <a:t>l</a:t>
            </a:r>
            <a:r>
              <a:rPr sz="2880" spc="-9" dirty="0">
                <a:cs typeface="Microsoft Sans Serif"/>
              </a:rPr>
              <a:t>e</a:t>
            </a:r>
            <a:r>
              <a:rPr sz="2880" spc="-198" dirty="0">
                <a:cs typeface="Microsoft Sans Serif"/>
              </a:rPr>
              <a:t> </a:t>
            </a:r>
            <a:r>
              <a:rPr sz="2880" spc="-59" dirty="0">
                <a:cs typeface="Microsoft Sans Serif"/>
              </a:rPr>
              <a:t>tend</a:t>
            </a:r>
            <a:r>
              <a:rPr sz="2880" spc="-135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to</a:t>
            </a:r>
            <a:r>
              <a:rPr sz="2880" spc="-77" dirty="0">
                <a:cs typeface="Microsoft Sans Serif"/>
              </a:rPr>
              <a:t> </a:t>
            </a:r>
            <a:r>
              <a:rPr sz="2880" spc="-108" dirty="0">
                <a:cs typeface="Microsoft Sans Serif"/>
              </a:rPr>
              <a:t>be</a:t>
            </a:r>
            <a:r>
              <a:rPr sz="2880" spc="-167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better</a:t>
            </a:r>
            <a:r>
              <a:rPr sz="2880" spc="-32" dirty="0">
                <a:cs typeface="Microsoft Sans Serif"/>
              </a:rPr>
              <a:t> at</a:t>
            </a:r>
            <a:r>
              <a:rPr sz="2880" spc="140" dirty="0">
                <a:cs typeface="Microsoft Sans Serif"/>
              </a:rPr>
              <a:t> </a:t>
            </a:r>
            <a:r>
              <a:rPr sz="2880" spc="-167" dirty="0">
                <a:cs typeface="Microsoft Sans Serif"/>
              </a:rPr>
              <a:t>using</a:t>
            </a:r>
            <a:r>
              <a:rPr sz="2880" spc="-261" dirty="0">
                <a:cs typeface="Microsoft Sans Serif"/>
              </a:rPr>
              <a:t> </a:t>
            </a:r>
            <a:r>
              <a:rPr sz="2880" spc="-95" dirty="0">
                <a:cs typeface="Microsoft Sans Serif"/>
              </a:rPr>
              <a:t>MP</a:t>
            </a:r>
            <a:r>
              <a:rPr sz="2880" spc="-477" dirty="0">
                <a:cs typeface="Microsoft Sans Serif"/>
              </a:rPr>
              <a:t> </a:t>
            </a:r>
            <a:r>
              <a:rPr sz="2880" spc="-113" dirty="0">
                <a:cs typeface="Microsoft Sans Serif"/>
              </a:rPr>
              <a:t>than</a:t>
            </a:r>
            <a:r>
              <a:rPr sz="2880" spc="-135" dirty="0">
                <a:cs typeface="Microsoft Sans Serif"/>
              </a:rPr>
              <a:t> </a:t>
            </a:r>
            <a:r>
              <a:rPr sz="2880" spc="-23" dirty="0">
                <a:cs typeface="Microsoft Sans Serif"/>
              </a:rPr>
              <a:t>MT</a:t>
            </a:r>
            <a:endParaRPr sz="2880"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45312" y="2056142"/>
            <a:ext cx="3151823" cy="1280159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11430" marR="4572">
              <a:lnSpc>
                <a:spcPts val="3240"/>
              </a:lnSpc>
              <a:spcBef>
                <a:spcPts val="383"/>
              </a:spcBef>
            </a:pPr>
            <a:r>
              <a:rPr sz="2880" spc="-477" dirty="0">
                <a:cs typeface="Microsoft Sans Serif"/>
              </a:rPr>
              <a:t>P</a:t>
            </a:r>
            <a:r>
              <a:rPr sz="2880" spc="113" dirty="0">
                <a:cs typeface="Microsoft Sans Serif"/>
              </a:rPr>
              <a:t>r</a:t>
            </a:r>
            <a:r>
              <a:rPr sz="2880" spc="-158" dirty="0">
                <a:cs typeface="Microsoft Sans Serif"/>
              </a:rPr>
              <a:t>em</a:t>
            </a:r>
            <a:r>
              <a:rPr sz="2880" spc="-153" dirty="0">
                <a:cs typeface="Microsoft Sans Serif"/>
              </a:rPr>
              <a:t>i</a:t>
            </a:r>
            <a:r>
              <a:rPr sz="2880" spc="-342" dirty="0">
                <a:cs typeface="Microsoft Sans Serif"/>
              </a:rPr>
              <a:t>s</a:t>
            </a:r>
            <a:r>
              <a:rPr sz="2880" spc="-9" dirty="0">
                <a:cs typeface="Microsoft Sans Serif"/>
              </a:rPr>
              <a:t>e</a:t>
            </a:r>
            <a:r>
              <a:rPr sz="2880" spc="-212" dirty="0">
                <a:cs typeface="Microsoft Sans Serif"/>
              </a:rPr>
              <a:t> </a:t>
            </a:r>
            <a:r>
              <a:rPr sz="2880" spc="-90" dirty="0">
                <a:cs typeface="Microsoft Sans Serif"/>
              </a:rPr>
              <a:t>1:</a:t>
            </a:r>
            <a:r>
              <a:rPr sz="2880" spc="-423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If</a:t>
            </a:r>
            <a:r>
              <a:rPr sz="2880" spc="-95" dirty="0">
                <a:cs typeface="Microsoft Sans Serif"/>
              </a:rPr>
              <a:t> </a:t>
            </a:r>
            <a:r>
              <a:rPr sz="2880" i="1" dirty="0">
                <a:cs typeface="Arial"/>
              </a:rPr>
              <a:t>p</a:t>
            </a:r>
            <a:r>
              <a:rPr sz="2880" i="1" spc="-198" dirty="0">
                <a:cs typeface="Arial"/>
              </a:rPr>
              <a:t> </a:t>
            </a:r>
            <a:r>
              <a:rPr sz="2880" spc="-72" dirty="0">
                <a:cs typeface="Microsoft Sans Serif"/>
              </a:rPr>
              <a:t>then</a:t>
            </a:r>
            <a:r>
              <a:rPr sz="2880" spc="-103" dirty="0">
                <a:cs typeface="Microsoft Sans Serif"/>
              </a:rPr>
              <a:t> </a:t>
            </a:r>
            <a:r>
              <a:rPr sz="2880" i="1" spc="-45" dirty="0">
                <a:cs typeface="Arial"/>
              </a:rPr>
              <a:t>q </a:t>
            </a:r>
            <a:r>
              <a:rPr sz="2880" spc="-477" dirty="0">
                <a:cs typeface="Microsoft Sans Serif"/>
              </a:rPr>
              <a:t>P</a:t>
            </a:r>
            <a:r>
              <a:rPr sz="2880" spc="113" dirty="0">
                <a:cs typeface="Microsoft Sans Serif"/>
              </a:rPr>
              <a:t>r</a:t>
            </a:r>
            <a:r>
              <a:rPr sz="2880" spc="-158" dirty="0">
                <a:cs typeface="Microsoft Sans Serif"/>
              </a:rPr>
              <a:t>em</a:t>
            </a:r>
            <a:r>
              <a:rPr sz="2880" spc="-153" dirty="0">
                <a:cs typeface="Microsoft Sans Serif"/>
              </a:rPr>
              <a:t>i</a:t>
            </a:r>
            <a:r>
              <a:rPr sz="2880" spc="-342" dirty="0">
                <a:cs typeface="Microsoft Sans Serif"/>
              </a:rPr>
              <a:t>s</a:t>
            </a:r>
            <a:r>
              <a:rPr sz="2880" spc="-9" dirty="0">
                <a:cs typeface="Microsoft Sans Serif"/>
              </a:rPr>
              <a:t>e</a:t>
            </a:r>
            <a:r>
              <a:rPr sz="2880" spc="-171" dirty="0">
                <a:cs typeface="Microsoft Sans Serif"/>
              </a:rPr>
              <a:t> </a:t>
            </a:r>
            <a:r>
              <a:rPr sz="2880" i="1" spc="-90" dirty="0">
                <a:cs typeface="Arial"/>
              </a:rPr>
              <a:t>2:</a:t>
            </a:r>
            <a:r>
              <a:rPr sz="2880" i="1" spc="-436" dirty="0">
                <a:cs typeface="Arial"/>
              </a:rPr>
              <a:t> </a:t>
            </a:r>
            <a:r>
              <a:rPr sz="2880" i="1" spc="-45" dirty="0">
                <a:cs typeface="Arial"/>
              </a:rPr>
              <a:t>p </a:t>
            </a:r>
            <a:r>
              <a:rPr sz="2880" spc="-86" dirty="0">
                <a:cs typeface="Microsoft Sans Serif"/>
              </a:rPr>
              <a:t>Therefore:</a:t>
            </a:r>
            <a:r>
              <a:rPr sz="2880" spc="-391" dirty="0">
                <a:cs typeface="Microsoft Sans Serif"/>
              </a:rPr>
              <a:t> </a:t>
            </a:r>
            <a:r>
              <a:rPr sz="2880" i="1" spc="-45" dirty="0">
                <a:cs typeface="Arial"/>
              </a:rPr>
              <a:t>q</a:t>
            </a:r>
            <a:endParaRPr sz="2880" dirty="0"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98287" y="2056142"/>
            <a:ext cx="3151823" cy="1280159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11430" marR="4572">
              <a:lnSpc>
                <a:spcPts val="3240"/>
              </a:lnSpc>
              <a:spcBef>
                <a:spcPts val="383"/>
              </a:spcBef>
            </a:pPr>
            <a:r>
              <a:rPr sz="2880" spc="-477" dirty="0">
                <a:cs typeface="Microsoft Sans Serif"/>
              </a:rPr>
              <a:t>P</a:t>
            </a:r>
            <a:r>
              <a:rPr sz="2880" spc="108" dirty="0">
                <a:cs typeface="Microsoft Sans Serif"/>
              </a:rPr>
              <a:t>r</a:t>
            </a:r>
            <a:r>
              <a:rPr sz="2880" spc="-158" dirty="0">
                <a:cs typeface="Microsoft Sans Serif"/>
              </a:rPr>
              <a:t>em</a:t>
            </a:r>
            <a:r>
              <a:rPr sz="2880" spc="-153" dirty="0">
                <a:cs typeface="Microsoft Sans Serif"/>
              </a:rPr>
              <a:t>i</a:t>
            </a:r>
            <a:r>
              <a:rPr sz="2880" spc="-342" dirty="0">
                <a:cs typeface="Microsoft Sans Serif"/>
              </a:rPr>
              <a:t>s</a:t>
            </a:r>
            <a:r>
              <a:rPr sz="2880" spc="-9" dirty="0">
                <a:cs typeface="Microsoft Sans Serif"/>
              </a:rPr>
              <a:t>e</a:t>
            </a:r>
            <a:r>
              <a:rPr sz="2880" spc="-212" dirty="0">
                <a:cs typeface="Microsoft Sans Serif"/>
              </a:rPr>
              <a:t> </a:t>
            </a:r>
            <a:r>
              <a:rPr sz="2880" spc="-90" dirty="0">
                <a:cs typeface="Microsoft Sans Serif"/>
              </a:rPr>
              <a:t>1:</a:t>
            </a:r>
            <a:r>
              <a:rPr sz="2880" spc="-423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If</a:t>
            </a:r>
            <a:r>
              <a:rPr sz="2880" spc="-95" dirty="0">
                <a:cs typeface="Microsoft Sans Serif"/>
              </a:rPr>
              <a:t> </a:t>
            </a:r>
            <a:r>
              <a:rPr sz="2880" i="1" dirty="0">
                <a:cs typeface="Arial"/>
              </a:rPr>
              <a:t>p</a:t>
            </a:r>
            <a:r>
              <a:rPr sz="2880" i="1" spc="-203" dirty="0">
                <a:cs typeface="Arial"/>
              </a:rPr>
              <a:t> </a:t>
            </a:r>
            <a:r>
              <a:rPr sz="2880" spc="-72" dirty="0">
                <a:cs typeface="Microsoft Sans Serif"/>
              </a:rPr>
              <a:t>then</a:t>
            </a:r>
            <a:r>
              <a:rPr sz="2880" spc="-103" dirty="0">
                <a:cs typeface="Microsoft Sans Serif"/>
              </a:rPr>
              <a:t> </a:t>
            </a:r>
            <a:r>
              <a:rPr sz="2880" i="1" spc="-45" dirty="0">
                <a:cs typeface="Arial"/>
              </a:rPr>
              <a:t>q </a:t>
            </a:r>
            <a:r>
              <a:rPr sz="2880" spc="-477" dirty="0">
                <a:cs typeface="Microsoft Sans Serif"/>
              </a:rPr>
              <a:t>P</a:t>
            </a:r>
            <a:r>
              <a:rPr sz="2880" spc="108" dirty="0">
                <a:cs typeface="Microsoft Sans Serif"/>
              </a:rPr>
              <a:t>r</a:t>
            </a:r>
            <a:r>
              <a:rPr sz="2880" spc="-158" dirty="0">
                <a:cs typeface="Microsoft Sans Serif"/>
              </a:rPr>
              <a:t>em</a:t>
            </a:r>
            <a:r>
              <a:rPr sz="2880" spc="-153" dirty="0">
                <a:cs typeface="Microsoft Sans Serif"/>
              </a:rPr>
              <a:t>i</a:t>
            </a:r>
            <a:r>
              <a:rPr sz="2880" spc="-342" dirty="0">
                <a:cs typeface="Microsoft Sans Serif"/>
              </a:rPr>
              <a:t>s</a:t>
            </a:r>
            <a:r>
              <a:rPr sz="2880" spc="-9" dirty="0">
                <a:cs typeface="Microsoft Sans Serif"/>
              </a:rPr>
              <a:t>e</a:t>
            </a:r>
            <a:r>
              <a:rPr sz="2880" spc="-212" dirty="0">
                <a:cs typeface="Microsoft Sans Serif"/>
              </a:rPr>
              <a:t> </a:t>
            </a:r>
            <a:r>
              <a:rPr sz="2880" i="1" spc="-90" dirty="0">
                <a:cs typeface="Arial"/>
              </a:rPr>
              <a:t>2:</a:t>
            </a:r>
            <a:r>
              <a:rPr sz="2880" i="1" spc="-472" dirty="0">
                <a:cs typeface="Arial"/>
              </a:rPr>
              <a:t> </a:t>
            </a:r>
            <a:r>
              <a:rPr sz="2880" dirty="0">
                <a:cs typeface="Microsoft Sans Serif"/>
              </a:rPr>
              <a:t>not</a:t>
            </a:r>
            <a:r>
              <a:rPr sz="2880" spc="59" dirty="0">
                <a:cs typeface="Microsoft Sans Serif"/>
              </a:rPr>
              <a:t> </a:t>
            </a:r>
            <a:r>
              <a:rPr sz="2880" i="1" spc="-45" dirty="0">
                <a:cs typeface="Arial"/>
              </a:rPr>
              <a:t>q </a:t>
            </a:r>
            <a:r>
              <a:rPr sz="2880" spc="-86" dirty="0">
                <a:cs typeface="Microsoft Sans Serif"/>
              </a:rPr>
              <a:t>Therefore:</a:t>
            </a:r>
            <a:r>
              <a:rPr sz="2880" spc="-477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not</a:t>
            </a:r>
            <a:r>
              <a:rPr sz="2880" spc="59" dirty="0">
                <a:cs typeface="Microsoft Sans Serif"/>
              </a:rPr>
              <a:t> </a:t>
            </a:r>
            <a:r>
              <a:rPr sz="2880" i="1" spc="-45" dirty="0">
                <a:cs typeface="Arial"/>
              </a:rPr>
              <a:t>p</a:t>
            </a:r>
            <a:endParaRPr sz="2880">
              <a:cs typeface="Arial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094" y="861459"/>
            <a:ext cx="3406506" cy="510140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0"/>
              </a:spcBef>
            </a:pPr>
            <a:r>
              <a:rPr sz="3240" b="1" spc="103" dirty="0">
                <a:cs typeface="Trebuchet MS"/>
              </a:rPr>
              <a:t>Is</a:t>
            </a:r>
            <a:r>
              <a:rPr sz="3240" b="1" spc="176" dirty="0">
                <a:cs typeface="Trebuchet MS"/>
              </a:rPr>
              <a:t> </a:t>
            </a:r>
            <a:r>
              <a:rPr sz="3240" b="1" spc="77" dirty="0">
                <a:cs typeface="Trebuchet MS"/>
              </a:rPr>
              <a:t>this</a:t>
            </a:r>
            <a:r>
              <a:rPr sz="3240" b="1" spc="99" dirty="0">
                <a:cs typeface="Trebuchet MS"/>
              </a:rPr>
              <a:t> </a:t>
            </a:r>
            <a:r>
              <a:rPr sz="3240" b="1" spc="-9" dirty="0">
                <a:cs typeface="Trebuchet MS"/>
              </a:rPr>
              <a:t>valid?</a:t>
            </a:r>
            <a:endParaRPr sz="3240" b="1" dirty="0"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33400" y="1990307"/>
            <a:ext cx="7186308" cy="1781000"/>
          </a:xfrm>
          <a:prstGeom prst="rect">
            <a:avLst/>
          </a:prstGeom>
        </p:spPr>
        <p:txBody>
          <a:bodyPr vert="horz" wrap="square" lIns="0" tIns="41148" rIns="0" bIns="0" rtlCol="0">
            <a:spAutoFit/>
          </a:bodyPr>
          <a:lstStyle/>
          <a:p>
            <a:pPr marL="11430" marR="4572">
              <a:lnSpc>
                <a:spcPts val="3420"/>
              </a:lnSpc>
              <a:spcBef>
                <a:spcPts val="324"/>
              </a:spcBef>
            </a:pPr>
            <a:r>
              <a:rPr sz="2970" dirty="0">
                <a:latin typeface="+mj-lt"/>
                <a:cs typeface="Microsoft Sans Serif"/>
              </a:rPr>
              <a:t>If</a:t>
            </a:r>
            <a:r>
              <a:rPr sz="2970" spc="-36" dirty="0">
                <a:latin typeface="+mj-lt"/>
                <a:cs typeface="Microsoft Sans Serif"/>
              </a:rPr>
              <a:t> </a:t>
            </a:r>
            <a:r>
              <a:rPr sz="2970" dirty="0">
                <a:latin typeface="+mj-lt"/>
                <a:cs typeface="Microsoft Sans Serif"/>
              </a:rPr>
              <a:t>Susan</a:t>
            </a:r>
            <a:r>
              <a:rPr sz="2970" spc="-18" dirty="0">
                <a:latin typeface="+mj-lt"/>
                <a:cs typeface="Microsoft Sans Serif"/>
              </a:rPr>
              <a:t> </a:t>
            </a:r>
            <a:r>
              <a:rPr sz="2970" dirty="0">
                <a:latin typeface="+mj-lt"/>
                <a:cs typeface="Microsoft Sans Serif"/>
              </a:rPr>
              <a:t>is</a:t>
            </a:r>
            <a:r>
              <a:rPr sz="2970" spc="-14" dirty="0">
                <a:latin typeface="+mj-lt"/>
                <a:cs typeface="Microsoft Sans Serif"/>
              </a:rPr>
              <a:t> </a:t>
            </a:r>
            <a:r>
              <a:rPr sz="2970" spc="-72" dirty="0">
                <a:latin typeface="+mj-lt"/>
                <a:cs typeface="Microsoft Sans Serif"/>
              </a:rPr>
              <a:t>angry,</a:t>
            </a:r>
            <a:r>
              <a:rPr sz="2970" spc="-99" dirty="0">
                <a:latin typeface="+mj-lt"/>
                <a:cs typeface="Microsoft Sans Serif"/>
              </a:rPr>
              <a:t> </a:t>
            </a:r>
            <a:r>
              <a:rPr sz="2970" dirty="0">
                <a:latin typeface="+mj-lt"/>
                <a:cs typeface="Microsoft Sans Serif"/>
              </a:rPr>
              <a:t>then</a:t>
            </a:r>
            <a:r>
              <a:rPr sz="2970" spc="-36" dirty="0">
                <a:latin typeface="+mj-lt"/>
                <a:cs typeface="Microsoft Sans Serif"/>
              </a:rPr>
              <a:t> </a:t>
            </a:r>
            <a:r>
              <a:rPr sz="2970" dirty="0">
                <a:latin typeface="+mj-lt"/>
                <a:cs typeface="Microsoft Sans Serif"/>
              </a:rPr>
              <a:t>I</a:t>
            </a:r>
            <a:r>
              <a:rPr sz="2970" spc="-18" dirty="0">
                <a:latin typeface="+mj-lt"/>
                <a:cs typeface="Microsoft Sans Serif"/>
              </a:rPr>
              <a:t> </a:t>
            </a:r>
            <a:r>
              <a:rPr sz="2970" dirty="0">
                <a:latin typeface="+mj-lt"/>
                <a:cs typeface="Microsoft Sans Serif"/>
              </a:rPr>
              <a:t>will</a:t>
            </a:r>
            <a:r>
              <a:rPr sz="2970" spc="-9" dirty="0">
                <a:latin typeface="+mj-lt"/>
                <a:cs typeface="Microsoft Sans Serif"/>
              </a:rPr>
              <a:t> </a:t>
            </a:r>
            <a:r>
              <a:rPr sz="2970" dirty="0">
                <a:latin typeface="+mj-lt"/>
                <a:cs typeface="Microsoft Sans Serif"/>
              </a:rPr>
              <a:t>be</a:t>
            </a:r>
            <a:r>
              <a:rPr sz="2970" spc="-14" dirty="0">
                <a:latin typeface="+mj-lt"/>
                <a:cs typeface="Microsoft Sans Serif"/>
              </a:rPr>
              <a:t> </a:t>
            </a:r>
            <a:r>
              <a:rPr sz="2970" spc="-9" dirty="0">
                <a:latin typeface="+mj-lt"/>
                <a:cs typeface="Microsoft Sans Serif"/>
              </a:rPr>
              <a:t>upset </a:t>
            </a:r>
            <a:r>
              <a:rPr sz="2970" dirty="0">
                <a:latin typeface="+mj-lt"/>
                <a:cs typeface="Microsoft Sans Serif"/>
              </a:rPr>
              <a:t>I</a:t>
            </a:r>
            <a:r>
              <a:rPr sz="2970" spc="-9" dirty="0">
                <a:latin typeface="+mj-lt"/>
                <a:cs typeface="Microsoft Sans Serif"/>
              </a:rPr>
              <a:t> </a:t>
            </a:r>
            <a:r>
              <a:rPr sz="2970" dirty="0">
                <a:latin typeface="+mj-lt"/>
                <a:cs typeface="Microsoft Sans Serif"/>
              </a:rPr>
              <a:t>am</a:t>
            </a:r>
            <a:r>
              <a:rPr sz="2970" spc="5" dirty="0">
                <a:latin typeface="+mj-lt"/>
                <a:cs typeface="Microsoft Sans Serif"/>
              </a:rPr>
              <a:t> </a:t>
            </a:r>
            <a:r>
              <a:rPr sz="2970" spc="-9" dirty="0">
                <a:latin typeface="+mj-lt"/>
                <a:cs typeface="Microsoft Sans Serif"/>
              </a:rPr>
              <a:t>upset</a:t>
            </a:r>
            <a:endParaRPr sz="2970" dirty="0">
              <a:latin typeface="+mj-lt"/>
              <a:cs typeface="Microsoft Sans Serif"/>
            </a:endParaRPr>
          </a:p>
          <a:p>
            <a:pPr marL="11430">
              <a:spcBef>
                <a:spcPts val="3209"/>
              </a:spcBef>
            </a:pPr>
            <a:r>
              <a:rPr sz="2970" dirty="0">
                <a:latin typeface="+mj-lt"/>
                <a:cs typeface="Microsoft Sans Serif"/>
              </a:rPr>
              <a:t>Therefore,</a:t>
            </a:r>
            <a:r>
              <a:rPr sz="2970" spc="-126" dirty="0">
                <a:latin typeface="+mj-lt"/>
                <a:cs typeface="Microsoft Sans Serif"/>
              </a:rPr>
              <a:t> </a:t>
            </a:r>
            <a:r>
              <a:rPr sz="2970" dirty="0">
                <a:latin typeface="+mj-lt"/>
                <a:cs typeface="Microsoft Sans Serif"/>
              </a:rPr>
              <a:t>Susan</a:t>
            </a:r>
            <a:r>
              <a:rPr sz="2970" spc="-63" dirty="0">
                <a:latin typeface="+mj-lt"/>
                <a:cs typeface="Microsoft Sans Serif"/>
              </a:rPr>
              <a:t> </a:t>
            </a:r>
            <a:r>
              <a:rPr sz="2970" dirty="0">
                <a:latin typeface="+mj-lt"/>
                <a:cs typeface="Microsoft Sans Serif"/>
              </a:rPr>
              <a:t>is</a:t>
            </a:r>
            <a:r>
              <a:rPr sz="2970" spc="-68" dirty="0">
                <a:latin typeface="+mj-lt"/>
                <a:cs typeface="Microsoft Sans Serif"/>
              </a:rPr>
              <a:t> </a:t>
            </a:r>
            <a:r>
              <a:rPr sz="2970" spc="-9" dirty="0">
                <a:latin typeface="+mj-lt"/>
                <a:cs typeface="Microsoft Sans Serif"/>
              </a:rPr>
              <a:t>angry</a:t>
            </a:r>
            <a:endParaRPr sz="2970" dirty="0">
              <a:latin typeface="+mj-lt"/>
              <a:cs typeface="Microsoft Sans Serif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8348" y="897460"/>
            <a:ext cx="8232252" cy="454740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0"/>
              </a:spcBef>
              <a:tabLst>
                <a:tab pos="1931670" algn="l"/>
              </a:tabLst>
            </a:pPr>
            <a:r>
              <a:rPr sz="2880" b="1" spc="41" dirty="0">
                <a:latin typeface="+mn-lt"/>
                <a:cs typeface="Trebuchet MS"/>
              </a:rPr>
              <a:t>Fallacy</a:t>
            </a:r>
            <a:r>
              <a:rPr sz="2880" b="1" spc="77" dirty="0">
                <a:latin typeface="+mn-lt"/>
                <a:cs typeface="Trebuchet MS"/>
              </a:rPr>
              <a:t> </a:t>
            </a:r>
            <a:r>
              <a:rPr sz="2880" b="1" spc="-23" dirty="0">
                <a:latin typeface="+mn-lt"/>
                <a:cs typeface="Trebuchet MS"/>
              </a:rPr>
              <a:t>1:</a:t>
            </a:r>
            <a:r>
              <a:rPr sz="2880" b="1" dirty="0">
                <a:latin typeface="+mn-lt"/>
                <a:cs typeface="Trebuchet MS"/>
              </a:rPr>
              <a:t>	</a:t>
            </a:r>
            <a:r>
              <a:rPr sz="2880" b="1" spc="135" dirty="0">
                <a:latin typeface="+mn-lt"/>
                <a:cs typeface="Trebuchet MS"/>
              </a:rPr>
              <a:t>Affirmation</a:t>
            </a:r>
            <a:r>
              <a:rPr sz="2880" b="1" spc="194" dirty="0">
                <a:latin typeface="+mn-lt"/>
                <a:cs typeface="Trebuchet MS"/>
              </a:rPr>
              <a:t> </a:t>
            </a:r>
            <a:r>
              <a:rPr sz="2880" b="1" dirty="0">
                <a:latin typeface="+mn-lt"/>
                <a:cs typeface="Trebuchet MS"/>
              </a:rPr>
              <a:t>of</a:t>
            </a:r>
            <a:r>
              <a:rPr sz="2880" b="1" spc="171" dirty="0">
                <a:latin typeface="+mn-lt"/>
                <a:cs typeface="Trebuchet MS"/>
              </a:rPr>
              <a:t> </a:t>
            </a:r>
            <a:r>
              <a:rPr sz="2880" b="1" spc="72" dirty="0">
                <a:latin typeface="+mn-lt"/>
                <a:cs typeface="Trebuchet MS"/>
              </a:rPr>
              <a:t>the</a:t>
            </a:r>
            <a:r>
              <a:rPr sz="2880" b="1" spc="144" dirty="0">
                <a:latin typeface="+mn-lt"/>
                <a:cs typeface="Trebuchet MS"/>
              </a:rPr>
              <a:t> </a:t>
            </a:r>
            <a:r>
              <a:rPr sz="2880" b="1" spc="122" dirty="0">
                <a:latin typeface="+mn-lt"/>
                <a:cs typeface="Trebuchet MS"/>
              </a:rPr>
              <a:t>Consequent</a:t>
            </a:r>
            <a:endParaRPr sz="2880" b="1" dirty="0">
              <a:latin typeface="+mn-lt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0" y="1712711"/>
            <a:ext cx="3810000" cy="1398653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68009" marR="4572">
              <a:lnSpc>
                <a:spcPts val="3240"/>
              </a:lnSpc>
              <a:spcBef>
                <a:spcPts val="383"/>
              </a:spcBef>
            </a:pPr>
            <a:r>
              <a:rPr sz="2880" spc="-32" dirty="0">
                <a:cs typeface="Microsoft Sans Serif"/>
              </a:rPr>
              <a:t>If</a:t>
            </a:r>
            <a:r>
              <a:rPr sz="2880" spc="-158" dirty="0">
                <a:cs typeface="Microsoft Sans Serif"/>
              </a:rPr>
              <a:t> </a:t>
            </a:r>
            <a:r>
              <a:rPr sz="2880" i="1" dirty="0">
                <a:cs typeface="Arial"/>
              </a:rPr>
              <a:t>p</a:t>
            </a:r>
            <a:r>
              <a:rPr sz="2880" i="1" spc="-203" dirty="0">
                <a:cs typeface="Arial"/>
              </a:rPr>
              <a:t> </a:t>
            </a:r>
            <a:r>
              <a:rPr sz="2880" spc="-77" dirty="0">
                <a:cs typeface="Microsoft Sans Serif"/>
              </a:rPr>
              <a:t>then</a:t>
            </a:r>
            <a:r>
              <a:rPr sz="2880" spc="-103" dirty="0">
                <a:cs typeface="Microsoft Sans Serif"/>
              </a:rPr>
              <a:t> </a:t>
            </a:r>
            <a:r>
              <a:rPr sz="2880" i="1" spc="-45" dirty="0" smtClean="0">
                <a:cs typeface="Arial"/>
              </a:rPr>
              <a:t>q</a:t>
            </a:r>
            <a:endParaRPr lang="en-IN" sz="2880" i="1" spc="-45" dirty="0" smtClean="0">
              <a:cs typeface="Arial"/>
            </a:endParaRPr>
          </a:p>
          <a:p>
            <a:pPr marL="68009" marR="4572">
              <a:lnSpc>
                <a:spcPts val="3240"/>
              </a:lnSpc>
              <a:spcBef>
                <a:spcPts val="383"/>
              </a:spcBef>
            </a:pPr>
            <a:r>
              <a:rPr sz="2880" i="1" spc="-45" dirty="0" smtClean="0">
                <a:cs typeface="Arial"/>
              </a:rPr>
              <a:t>q</a:t>
            </a:r>
            <a:endParaRPr sz="2880" dirty="0">
              <a:cs typeface="Arial"/>
            </a:endParaRPr>
          </a:p>
          <a:p>
            <a:pPr marL="11430">
              <a:spcBef>
                <a:spcPts val="743"/>
              </a:spcBef>
            </a:pPr>
            <a:r>
              <a:rPr sz="2520" spc="-9" dirty="0">
                <a:cs typeface="Microsoft Sans Serif"/>
              </a:rPr>
              <a:t>therefore:</a:t>
            </a:r>
            <a:r>
              <a:rPr sz="2520" i="1" spc="-9" dirty="0">
                <a:cs typeface="Arial"/>
              </a:rPr>
              <a:t>p</a:t>
            </a:r>
            <a:endParaRPr sz="2520" dirty="0"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50639" y="3124200"/>
            <a:ext cx="8610600" cy="3136243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3434" marR="2273427">
              <a:lnSpc>
                <a:spcPct val="107100"/>
              </a:lnSpc>
              <a:spcBef>
                <a:spcPts val="90"/>
              </a:spcBef>
              <a:tabLst>
                <a:tab pos="1376744" algn="l"/>
              </a:tabLst>
            </a:pPr>
            <a:r>
              <a:rPr sz="2520" dirty="0">
                <a:cs typeface="Microsoft Sans Serif"/>
              </a:rPr>
              <a:t>*If</a:t>
            </a:r>
            <a:r>
              <a:rPr sz="2520" spc="-171" dirty="0">
                <a:cs typeface="Microsoft Sans Serif"/>
              </a:rPr>
              <a:t> </a:t>
            </a:r>
            <a:r>
              <a:rPr sz="2520" dirty="0">
                <a:cs typeface="Microsoft Sans Serif"/>
              </a:rPr>
              <a:t>I</a:t>
            </a:r>
            <a:r>
              <a:rPr sz="2520" spc="-167" dirty="0">
                <a:cs typeface="Microsoft Sans Serif"/>
              </a:rPr>
              <a:t> </a:t>
            </a:r>
            <a:r>
              <a:rPr sz="2520" dirty="0">
                <a:cs typeface="Microsoft Sans Serif"/>
              </a:rPr>
              <a:t>do</a:t>
            </a:r>
            <a:r>
              <a:rPr sz="2520" spc="-135" dirty="0">
                <a:cs typeface="Microsoft Sans Serif"/>
              </a:rPr>
              <a:t> </a:t>
            </a:r>
            <a:r>
              <a:rPr sz="2520" spc="-68" dirty="0">
                <a:cs typeface="Microsoft Sans Serif"/>
              </a:rPr>
              <a:t>well</a:t>
            </a:r>
            <a:r>
              <a:rPr sz="2520" spc="-59" dirty="0">
                <a:cs typeface="Microsoft Sans Serif"/>
              </a:rPr>
              <a:t> </a:t>
            </a:r>
            <a:r>
              <a:rPr sz="2520" dirty="0">
                <a:cs typeface="Microsoft Sans Serif"/>
              </a:rPr>
              <a:t>on</a:t>
            </a:r>
            <a:r>
              <a:rPr sz="2520" spc="-171" dirty="0">
                <a:cs typeface="Microsoft Sans Serif"/>
              </a:rPr>
              <a:t> </a:t>
            </a:r>
            <a:r>
              <a:rPr sz="2520" spc="-41" dirty="0">
                <a:cs typeface="Microsoft Sans Serif"/>
              </a:rPr>
              <a:t>the</a:t>
            </a:r>
            <a:r>
              <a:rPr sz="2520" spc="-126" dirty="0">
                <a:cs typeface="Microsoft Sans Serif"/>
              </a:rPr>
              <a:t> </a:t>
            </a:r>
            <a:r>
              <a:rPr sz="2520" spc="-95" dirty="0">
                <a:cs typeface="Microsoft Sans Serif"/>
              </a:rPr>
              <a:t>test,</a:t>
            </a:r>
            <a:r>
              <a:rPr sz="2520" spc="-270" dirty="0">
                <a:cs typeface="Microsoft Sans Serif"/>
              </a:rPr>
              <a:t> </a:t>
            </a:r>
            <a:r>
              <a:rPr sz="2520" dirty="0">
                <a:cs typeface="Microsoft Sans Serif"/>
              </a:rPr>
              <a:t>I</a:t>
            </a:r>
            <a:r>
              <a:rPr sz="2520" spc="-135" dirty="0">
                <a:cs typeface="Microsoft Sans Serif"/>
              </a:rPr>
              <a:t> </a:t>
            </a:r>
            <a:r>
              <a:rPr sz="2520" dirty="0">
                <a:cs typeface="Microsoft Sans Serif"/>
              </a:rPr>
              <a:t>will</a:t>
            </a:r>
            <a:r>
              <a:rPr sz="2520" spc="-68" dirty="0">
                <a:cs typeface="Microsoft Sans Serif"/>
              </a:rPr>
              <a:t> </a:t>
            </a:r>
            <a:r>
              <a:rPr sz="2520" spc="-144" dirty="0">
                <a:cs typeface="Microsoft Sans Serif"/>
              </a:rPr>
              <a:t>get</a:t>
            </a:r>
            <a:r>
              <a:rPr sz="2520" spc="-27" dirty="0">
                <a:cs typeface="Microsoft Sans Serif"/>
              </a:rPr>
              <a:t> </a:t>
            </a:r>
            <a:r>
              <a:rPr sz="2520" spc="-54" dirty="0">
                <a:cs typeface="Microsoft Sans Serif"/>
              </a:rPr>
              <a:t>drunk</a:t>
            </a:r>
            <a:r>
              <a:rPr sz="2520" spc="-95" dirty="0">
                <a:cs typeface="Microsoft Sans Serif"/>
              </a:rPr>
              <a:t> </a:t>
            </a:r>
            <a:r>
              <a:rPr sz="2520" spc="-50" dirty="0">
                <a:cs typeface="Microsoft Sans Serif"/>
              </a:rPr>
              <a:t>at</a:t>
            </a:r>
            <a:r>
              <a:rPr sz="2520" spc="86" dirty="0">
                <a:cs typeface="Microsoft Sans Serif"/>
              </a:rPr>
              <a:t> </a:t>
            </a:r>
            <a:r>
              <a:rPr sz="2520" spc="-23" dirty="0">
                <a:cs typeface="Microsoft Sans Serif"/>
              </a:rPr>
              <a:t>the </a:t>
            </a:r>
            <a:r>
              <a:rPr sz="2520" spc="-9" dirty="0" smtClean="0">
                <a:cs typeface="Microsoft Sans Serif"/>
              </a:rPr>
              <a:t>weekend</a:t>
            </a:r>
            <a:r>
              <a:rPr sz="2520" dirty="0">
                <a:cs typeface="Microsoft Sans Serif"/>
              </a:rPr>
              <a:t>	</a:t>
            </a:r>
            <a:r>
              <a:rPr sz="2520" spc="-162" dirty="0">
                <a:cs typeface="Microsoft Sans Serif"/>
              </a:rPr>
              <a:t>(Don’t</a:t>
            </a:r>
            <a:r>
              <a:rPr sz="2520" spc="-261" dirty="0">
                <a:cs typeface="Microsoft Sans Serif"/>
              </a:rPr>
              <a:t> </a:t>
            </a:r>
            <a:r>
              <a:rPr sz="2520" spc="-108" dirty="0">
                <a:cs typeface="Microsoft Sans Serif"/>
              </a:rPr>
              <a:t>do</a:t>
            </a:r>
            <a:r>
              <a:rPr sz="2520" spc="-279" dirty="0">
                <a:cs typeface="Microsoft Sans Serif"/>
              </a:rPr>
              <a:t> </a:t>
            </a:r>
            <a:r>
              <a:rPr sz="2520" spc="-45" dirty="0">
                <a:cs typeface="Microsoft Sans Serif"/>
              </a:rPr>
              <a:t>)</a:t>
            </a:r>
            <a:endParaRPr sz="2520" dirty="0">
              <a:cs typeface="Microsoft Sans Serif"/>
            </a:endParaRPr>
          </a:p>
          <a:p>
            <a:pPr marL="43434">
              <a:spcBef>
                <a:spcPts val="86"/>
              </a:spcBef>
              <a:tabLst>
                <a:tab pos="297180" algn="l"/>
              </a:tabLst>
            </a:pPr>
            <a:r>
              <a:rPr sz="2520" spc="-45" dirty="0">
                <a:cs typeface="Microsoft Sans Serif"/>
              </a:rPr>
              <a:t>*</a:t>
            </a:r>
            <a:r>
              <a:rPr sz="2520" dirty="0">
                <a:cs typeface="Microsoft Sans Serif"/>
              </a:rPr>
              <a:t>	I</a:t>
            </a:r>
            <a:r>
              <a:rPr sz="2520" spc="-122" dirty="0">
                <a:cs typeface="Microsoft Sans Serif"/>
              </a:rPr>
              <a:t> </a:t>
            </a:r>
            <a:r>
              <a:rPr sz="2520" spc="-59" dirty="0">
                <a:cs typeface="Microsoft Sans Serif"/>
              </a:rPr>
              <a:t>got</a:t>
            </a:r>
            <a:r>
              <a:rPr sz="2520" spc="-99" dirty="0">
                <a:cs typeface="Microsoft Sans Serif"/>
              </a:rPr>
              <a:t> </a:t>
            </a:r>
            <a:r>
              <a:rPr sz="2520" spc="-54" dirty="0">
                <a:cs typeface="Microsoft Sans Serif"/>
              </a:rPr>
              <a:t>drunk</a:t>
            </a:r>
            <a:r>
              <a:rPr sz="2520" spc="-81" dirty="0">
                <a:cs typeface="Microsoft Sans Serif"/>
              </a:rPr>
              <a:t> </a:t>
            </a:r>
            <a:r>
              <a:rPr sz="2520" spc="-68" dirty="0">
                <a:cs typeface="Microsoft Sans Serif"/>
              </a:rPr>
              <a:t>at</a:t>
            </a:r>
            <a:r>
              <a:rPr sz="2520" spc="-99" dirty="0">
                <a:cs typeface="Microsoft Sans Serif"/>
              </a:rPr>
              <a:t> </a:t>
            </a:r>
            <a:r>
              <a:rPr sz="2520" spc="-45" dirty="0">
                <a:cs typeface="Microsoft Sans Serif"/>
              </a:rPr>
              <a:t>the</a:t>
            </a:r>
            <a:r>
              <a:rPr sz="2520" spc="-95" dirty="0">
                <a:cs typeface="Microsoft Sans Serif"/>
              </a:rPr>
              <a:t> </a:t>
            </a:r>
            <a:r>
              <a:rPr sz="2520" spc="-23" dirty="0">
                <a:cs typeface="Microsoft Sans Serif"/>
              </a:rPr>
              <a:t>weekend</a:t>
            </a:r>
            <a:endParaRPr sz="2520" dirty="0">
              <a:cs typeface="Microsoft Sans Serif"/>
            </a:endParaRPr>
          </a:p>
          <a:p>
            <a:pPr marL="43434" marR="1403604">
              <a:lnSpc>
                <a:spcPct val="107100"/>
              </a:lnSpc>
              <a:spcBef>
                <a:spcPts val="135"/>
              </a:spcBef>
            </a:pPr>
            <a:r>
              <a:rPr sz="2520" spc="-81" dirty="0">
                <a:cs typeface="Microsoft Sans Serif"/>
              </a:rPr>
              <a:t>*Therefore:</a:t>
            </a:r>
            <a:r>
              <a:rPr sz="2520" spc="-441" dirty="0">
                <a:cs typeface="Microsoft Sans Serif"/>
              </a:rPr>
              <a:t> </a:t>
            </a:r>
            <a:r>
              <a:rPr sz="2520" dirty="0">
                <a:cs typeface="Microsoft Sans Serif"/>
              </a:rPr>
              <a:t>I</a:t>
            </a:r>
            <a:r>
              <a:rPr sz="2520" spc="-171" dirty="0">
                <a:cs typeface="Microsoft Sans Serif"/>
              </a:rPr>
              <a:t> </a:t>
            </a:r>
            <a:r>
              <a:rPr sz="2520" spc="-144" dirty="0">
                <a:cs typeface="Microsoft Sans Serif"/>
              </a:rPr>
              <a:t>must</a:t>
            </a:r>
            <a:r>
              <a:rPr sz="2520" spc="-9" dirty="0">
                <a:cs typeface="Microsoft Sans Serif"/>
              </a:rPr>
              <a:t> </a:t>
            </a:r>
            <a:r>
              <a:rPr sz="2520" spc="-176" dirty="0">
                <a:cs typeface="Microsoft Sans Serif"/>
              </a:rPr>
              <a:t>h</a:t>
            </a:r>
            <a:r>
              <a:rPr sz="2520" spc="-495" dirty="0">
                <a:cs typeface="Microsoft Sans Serif"/>
              </a:rPr>
              <a:t>a</a:t>
            </a:r>
            <a:r>
              <a:rPr sz="2520" spc="-252" dirty="0">
                <a:cs typeface="Microsoft Sans Serif"/>
              </a:rPr>
              <a:t>v</a:t>
            </a:r>
            <a:r>
              <a:rPr sz="2520" spc="-14" dirty="0">
                <a:cs typeface="Microsoft Sans Serif"/>
              </a:rPr>
              <a:t>e</a:t>
            </a:r>
            <a:r>
              <a:rPr sz="2520" spc="-194" dirty="0">
                <a:cs typeface="Microsoft Sans Serif"/>
              </a:rPr>
              <a:t> </a:t>
            </a:r>
            <a:r>
              <a:rPr sz="2520" spc="-103" dirty="0">
                <a:cs typeface="Microsoft Sans Serif"/>
              </a:rPr>
              <a:t>done</a:t>
            </a:r>
            <a:r>
              <a:rPr sz="2520" spc="-171" dirty="0">
                <a:cs typeface="Microsoft Sans Serif"/>
              </a:rPr>
              <a:t> </a:t>
            </a:r>
            <a:r>
              <a:rPr sz="2520" spc="-63" dirty="0">
                <a:cs typeface="Microsoft Sans Serif"/>
              </a:rPr>
              <a:t>well</a:t>
            </a:r>
            <a:r>
              <a:rPr sz="2520" spc="-36" dirty="0">
                <a:cs typeface="Microsoft Sans Serif"/>
              </a:rPr>
              <a:t> </a:t>
            </a:r>
            <a:r>
              <a:rPr sz="2520" spc="-9" dirty="0">
                <a:cs typeface="Microsoft Sans Serif"/>
              </a:rPr>
              <a:t>on</a:t>
            </a:r>
            <a:r>
              <a:rPr sz="2520" spc="-162" dirty="0">
                <a:cs typeface="Microsoft Sans Serif"/>
              </a:rPr>
              <a:t> </a:t>
            </a:r>
            <a:r>
              <a:rPr sz="2520" spc="-36" dirty="0">
                <a:cs typeface="Microsoft Sans Serif"/>
              </a:rPr>
              <a:t>the</a:t>
            </a:r>
            <a:r>
              <a:rPr sz="2520" spc="-108" dirty="0">
                <a:cs typeface="Microsoft Sans Serif"/>
              </a:rPr>
              <a:t> </a:t>
            </a:r>
            <a:r>
              <a:rPr sz="2520" spc="-41" dirty="0">
                <a:cs typeface="Microsoft Sans Serif"/>
              </a:rPr>
              <a:t>test</a:t>
            </a:r>
            <a:r>
              <a:rPr sz="2520" spc="90" dirty="0">
                <a:cs typeface="Microsoft Sans Serif"/>
              </a:rPr>
              <a:t> </a:t>
            </a:r>
            <a:r>
              <a:rPr sz="2520" dirty="0">
                <a:cs typeface="Microsoft Sans Serif"/>
              </a:rPr>
              <a:t>(I</a:t>
            </a:r>
            <a:r>
              <a:rPr sz="2520" spc="-122" dirty="0">
                <a:cs typeface="Microsoft Sans Serif"/>
              </a:rPr>
              <a:t> can’t </a:t>
            </a:r>
            <a:r>
              <a:rPr sz="2520" spc="-103" dirty="0">
                <a:cs typeface="Microsoft Sans Serif"/>
              </a:rPr>
              <a:t>remember)</a:t>
            </a:r>
            <a:r>
              <a:rPr sz="2520" spc="-126" dirty="0">
                <a:cs typeface="Microsoft Sans Serif"/>
              </a:rPr>
              <a:t> </a:t>
            </a:r>
            <a:r>
              <a:rPr sz="2520" spc="-108" dirty="0">
                <a:cs typeface="Microsoft Sans Serif"/>
              </a:rPr>
              <a:t>(Disciplinary</a:t>
            </a:r>
            <a:r>
              <a:rPr sz="2520" spc="-158" dirty="0">
                <a:cs typeface="Microsoft Sans Serif"/>
              </a:rPr>
              <a:t> </a:t>
            </a:r>
            <a:r>
              <a:rPr sz="2520" spc="-108" dirty="0">
                <a:cs typeface="Microsoft Sans Serif"/>
              </a:rPr>
              <a:t>Committee</a:t>
            </a:r>
            <a:r>
              <a:rPr sz="2520" spc="-131" dirty="0">
                <a:cs typeface="Microsoft Sans Serif"/>
              </a:rPr>
              <a:t> </a:t>
            </a:r>
            <a:r>
              <a:rPr sz="2520" spc="-45" dirty="0">
                <a:cs typeface="Microsoft Sans Serif"/>
              </a:rPr>
              <a:t>)</a:t>
            </a:r>
            <a:endParaRPr sz="2520" dirty="0">
              <a:cs typeface="Microsoft Sans Serif"/>
            </a:endParaRPr>
          </a:p>
          <a:p>
            <a:pPr marL="11430" marR="4572">
              <a:lnSpc>
                <a:spcPts val="3240"/>
              </a:lnSpc>
              <a:spcBef>
                <a:spcPts val="1832"/>
              </a:spcBef>
            </a:pPr>
            <a:r>
              <a:rPr sz="2880" dirty="0">
                <a:cs typeface="Microsoft Sans Serif"/>
              </a:rPr>
              <a:t>Note</a:t>
            </a:r>
            <a:r>
              <a:rPr sz="2880" spc="-41" dirty="0">
                <a:cs typeface="Microsoft Sans Serif"/>
              </a:rPr>
              <a:t> </a:t>
            </a:r>
            <a:r>
              <a:rPr sz="2880" spc="-18" dirty="0">
                <a:cs typeface="Microsoft Sans Serif"/>
              </a:rPr>
              <a:t>that</a:t>
            </a:r>
            <a:r>
              <a:rPr sz="2880" spc="-77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I</a:t>
            </a:r>
            <a:r>
              <a:rPr sz="2880" spc="-77" dirty="0">
                <a:cs typeface="Microsoft Sans Serif"/>
              </a:rPr>
              <a:t> </a:t>
            </a:r>
            <a:r>
              <a:rPr sz="2880" spc="-198" dirty="0">
                <a:cs typeface="Microsoft Sans Serif"/>
              </a:rPr>
              <a:t>may</a:t>
            </a:r>
            <a:r>
              <a:rPr sz="2880" spc="-257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or</a:t>
            </a:r>
            <a:r>
              <a:rPr sz="2880" spc="81" dirty="0">
                <a:cs typeface="Microsoft Sans Serif"/>
              </a:rPr>
              <a:t> </a:t>
            </a:r>
            <a:r>
              <a:rPr sz="2880" spc="-198" dirty="0">
                <a:cs typeface="Microsoft Sans Serif"/>
              </a:rPr>
              <a:t>may</a:t>
            </a:r>
            <a:r>
              <a:rPr sz="2880" spc="-266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not</a:t>
            </a:r>
            <a:r>
              <a:rPr sz="2880" spc="-5" dirty="0">
                <a:cs typeface="Microsoft Sans Serif"/>
              </a:rPr>
              <a:t> </a:t>
            </a:r>
            <a:r>
              <a:rPr sz="2880" spc="-212" dirty="0">
                <a:cs typeface="Microsoft Sans Serif"/>
              </a:rPr>
              <a:t>have</a:t>
            </a:r>
            <a:r>
              <a:rPr sz="2880" spc="-279" dirty="0">
                <a:cs typeface="Microsoft Sans Serif"/>
              </a:rPr>
              <a:t> </a:t>
            </a:r>
            <a:r>
              <a:rPr sz="2880" spc="-117" dirty="0">
                <a:cs typeface="Microsoft Sans Serif"/>
              </a:rPr>
              <a:t>done</a:t>
            </a:r>
            <a:r>
              <a:rPr sz="2880" spc="-103" dirty="0">
                <a:cs typeface="Microsoft Sans Serif"/>
              </a:rPr>
              <a:t> </a:t>
            </a:r>
            <a:r>
              <a:rPr sz="2880" spc="-50" dirty="0">
                <a:cs typeface="Microsoft Sans Serif"/>
              </a:rPr>
              <a:t>well</a:t>
            </a:r>
            <a:r>
              <a:rPr sz="2880" spc="-68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on</a:t>
            </a:r>
            <a:r>
              <a:rPr sz="2880" spc="-81" dirty="0">
                <a:cs typeface="Microsoft Sans Serif"/>
              </a:rPr>
              <a:t> </a:t>
            </a:r>
            <a:r>
              <a:rPr sz="2880" spc="-23" dirty="0">
                <a:cs typeface="Microsoft Sans Serif"/>
              </a:rPr>
              <a:t>the</a:t>
            </a:r>
            <a:r>
              <a:rPr sz="2880" spc="-68" dirty="0">
                <a:cs typeface="Microsoft Sans Serif"/>
              </a:rPr>
              <a:t> </a:t>
            </a:r>
            <a:r>
              <a:rPr sz="2880" spc="-32" dirty="0">
                <a:cs typeface="Microsoft Sans Serif"/>
              </a:rPr>
              <a:t>test. </a:t>
            </a:r>
            <a:r>
              <a:rPr sz="2880" spc="-103" dirty="0">
                <a:cs typeface="Microsoft Sans Serif"/>
              </a:rPr>
              <a:t>The</a:t>
            </a:r>
            <a:r>
              <a:rPr sz="2880" spc="-108" dirty="0">
                <a:cs typeface="Microsoft Sans Serif"/>
              </a:rPr>
              <a:t> </a:t>
            </a:r>
            <a:r>
              <a:rPr sz="2880" spc="-131" dirty="0">
                <a:cs typeface="Microsoft Sans Serif"/>
              </a:rPr>
              <a:t>argument</a:t>
            </a:r>
            <a:r>
              <a:rPr sz="2880" spc="-140" dirty="0">
                <a:cs typeface="Microsoft Sans Serif"/>
              </a:rPr>
              <a:t> </a:t>
            </a:r>
            <a:r>
              <a:rPr sz="2880" spc="-108" dirty="0">
                <a:cs typeface="Microsoft Sans Serif"/>
              </a:rPr>
              <a:t>is</a:t>
            </a:r>
            <a:r>
              <a:rPr sz="2880" spc="-140" dirty="0">
                <a:cs typeface="Microsoft Sans Serif"/>
              </a:rPr>
              <a:t> </a:t>
            </a:r>
            <a:r>
              <a:rPr sz="2880" spc="-144" dirty="0">
                <a:cs typeface="Microsoft Sans Serif"/>
              </a:rPr>
              <a:t>flawed.</a:t>
            </a:r>
            <a:r>
              <a:rPr sz="2880" dirty="0">
                <a:cs typeface="Microsoft Sans Serif"/>
              </a:rPr>
              <a:t> </a:t>
            </a:r>
            <a:r>
              <a:rPr sz="2880" spc="-153" dirty="0">
                <a:cs typeface="Microsoft Sans Serif"/>
              </a:rPr>
              <a:t>That’s </a:t>
            </a:r>
            <a:r>
              <a:rPr lang="en-IN" sz="2880" dirty="0" smtClean="0">
                <a:cs typeface="Microsoft Sans Serif"/>
              </a:rPr>
              <a:t>all</a:t>
            </a:r>
            <a:r>
              <a:rPr sz="2880" spc="-23" dirty="0" smtClean="0">
                <a:cs typeface="Microsoft Sans Serif"/>
              </a:rPr>
              <a:t>.</a:t>
            </a:r>
            <a:endParaRPr sz="2880" dirty="0"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295289" y="2351609"/>
            <a:ext cx="3675475" cy="4553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80" spc="-949" dirty="0">
                <a:solidFill>
                  <a:srgbClr val="FF2500"/>
                </a:solidFill>
                <a:cs typeface="Microsoft Sans Serif"/>
              </a:rPr>
              <a:t>F</a:t>
            </a:r>
            <a:r>
              <a:rPr sz="2880" spc="-184" dirty="0">
                <a:solidFill>
                  <a:srgbClr val="FF2500"/>
                </a:solidFill>
                <a:cs typeface="Microsoft Sans Serif"/>
              </a:rPr>
              <a:t>A</a:t>
            </a:r>
            <a:r>
              <a:rPr sz="2880" spc="-189" dirty="0">
                <a:solidFill>
                  <a:srgbClr val="FF2500"/>
                </a:solidFill>
                <a:cs typeface="Microsoft Sans Serif"/>
              </a:rPr>
              <a:t>L</a:t>
            </a:r>
            <a:r>
              <a:rPr sz="2880" spc="-351" dirty="0">
                <a:solidFill>
                  <a:srgbClr val="FF2500"/>
                </a:solidFill>
                <a:cs typeface="Microsoft Sans Serif"/>
              </a:rPr>
              <a:t>L</a:t>
            </a:r>
            <a:r>
              <a:rPr sz="2880" spc="-221" dirty="0">
                <a:solidFill>
                  <a:srgbClr val="FF2500"/>
                </a:solidFill>
                <a:cs typeface="Microsoft Sans Serif"/>
              </a:rPr>
              <a:t>A</a:t>
            </a:r>
            <a:r>
              <a:rPr sz="2880" spc="-158" dirty="0">
                <a:solidFill>
                  <a:srgbClr val="FF2500"/>
                </a:solidFill>
                <a:cs typeface="Microsoft Sans Serif"/>
              </a:rPr>
              <a:t>C</a:t>
            </a:r>
            <a:r>
              <a:rPr sz="2880" spc="-167" dirty="0">
                <a:solidFill>
                  <a:srgbClr val="FF2500"/>
                </a:solidFill>
                <a:cs typeface="Microsoft Sans Serif"/>
              </a:rPr>
              <a:t>Y</a:t>
            </a:r>
            <a:r>
              <a:rPr sz="2880" spc="-18" dirty="0">
                <a:solidFill>
                  <a:srgbClr val="FF2500"/>
                </a:solidFill>
                <a:cs typeface="Microsoft Sans Serif"/>
              </a:rPr>
              <a:t>!</a:t>
            </a:r>
            <a:endParaRPr sz="2880">
              <a:cs typeface="Microsoft Sans Serif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13892" y="515035"/>
            <a:ext cx="8172908" cy="45474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80" b="1" spc="41" dirty="0">
                <a:solidFill>
                  <a:srgbClr val="404040"/>
                </a:solidFill>
                <a:cs typeface="Trebuchet MS"/>
              </a:rPr>
              <a:t>Fallacy</a:t>
            </a:r>
            <a:r>
              <a:rPr sz="2880" b="1" spc="45" dirty="0">
                <a:solidFill>
                  <a:srgbClr val="404040"/>
                </a:solidFill>
                <a:cs typeface="Trebuchet MS"/>
              </a:rPr>
              <a:t> </a:t>
            </a:r>
            <a:r>
              <a:rPr sz="2880" b="1" spc="-54" dirty="0">
                <a:solidFill>
                  <a:srgbClr val="404040"/>
                </a:solidFill>
                <a:cs typeface="Trebuchet MS"/>
              </a:rPr>
              <a:t>2:</a:t>
            </a:r>
            <a:r>
              <a:rPr sz="2880" b="1" spc="-135" dirty="0">
                <a:solidFill>
                  <a:srgbClr val="404040"/>
                </a:solidFill>
                <a:cs typeface="Trebuchet MS"/>
              </a:rPr>
              <a:t> </a:t>
            </a:r>
            <a:r>
              <a:rPr sz="2880" b="1" spc="126" dirty="0">
                <a:solidFill>
                  <a:srgbClr val="404040"/>
                </a:solidFill>
                <a:cs typeface="Trebuchet MS"/>
              </a:rPr>
              <a:t>Denying</a:t>
            </a:r>
            <a:r>
              <a:rPr sz="2880" b="1" spc="167" dirty="0">
                <a:solidFill>
                  <a:srgbClr val="404040"/>
                </a:solidFill>
                <a:cs typeface="Trebuchet MS"/>
              </a:rPr>
              <a:t> </a:t>
            </a:r>
            <a:r>
              <a:rPr sz="2880" b="1" spc="72" dirty="0">
                <a:solidFill>
                  <a:srgbClr val="404040"/>
                </a:solidFill>
                <a:cs typeface="Trebuchet MS"/>
              </a:rPr>
              <a:t>the</a:t>
            </a:r>
            <a:r>
              <a:rPr sz="2880" b="1" spc="-50" dirty="0">
                <a:solidFill>
                  <a:srgbClr val="404040"/>
                </a:solidFill>
                <a:cs typeface="Trebuchet MS"/>
              </a:rPr>
              <a:t> </a:t>
            </a:r>
            <a:r>
              <a:rPr sz="2880" b="1" spc="126" dirty="0">
                <a:solidFill>
                  <a:srgbClr val="404040"/>
                </a:solidFill>
                <a:cs typeface="Trebuchet MS"/>
              </a:rPr>
              <a:t>Antecedent</a:t>
            </a:r>
            <a:endParaRPr sz="2880" dirty="0"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02604" y="1864436"/>
            <a:ext cx="2069196" cy="455317"/>
          </a:xfrm>
          <a:prstGeom prst="rect">
            <a:avLst/>
          </a:prstGeom>
        </p:spPr>
        <p:txBody>
          <a:bodyPr vert="horz" wrap="square" lIns="0" tIns="12002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5"/>
              </a:spcBef>
            </a:pPr>
            <a:r>
              <a:rPr sz="2880" spc="-41" dirty="0">
                <a:solidFill>
                  <a:srgbClr val="000000"/>
                </a:solidFill>
                <a:latin typeface="+mn-lt"/>
                <a:cs typeface="Microsoft Sans Serif"/>
              </a:rPr>
              <a:t>If</a:t>
            </a:r>
            <a:r>
              <a:rPr sz="2880" spc="-149" dirty="0">
                <a:solidFill>
                  <a:srgbClr val="000000"/>
                </a:solidFill>
                <a:latin typeface="+mn-lt"/>
                <a:cs typeface="Microsoft Sans Serif"/>
              </a:rPr>
              <a:t> </a:t>
            </a:r>
            <a:r>
              <a:rPr sz="2880" i="1" dirty="0">
                <a:solidFill>
                  <a:srgbClr val="000000"/>
                </a:solidFill>
                <a:latin typeface="+mn-lt"/>
                <a:cs typeface="Arial"/>
              </a:rPr>
              <a:t>p</a:t>
            </a:r>
            <a:r>
              <a:rPr sz="2880" i="1" spc="-203" dirty="0">
                <a:solidFill>
                  <a:srgbClr val="000000"/>
                </a:solidFill>
                <a:latin typeface="+mn-lt"/>
                <a:cs typeface="Arial"/>
              </a:rPr>
              <a:t> </a:t>
            </a:r>
            <a:r>
              <a:rPr sz="2880" spc="-77" dirty="0">
                <a:solidFill>
                  <a:srgbClr val="000000"/>
                </a:solidFill>
                <a:latin typeface="+mn-lt"/>
                <a:cs typeface="Microsoft Sans Serif"/>
              </a:rPr>
              <a:t>then</a:t>
            </a:r>
            <a:r>
              <a:rPr sz="2880" spc="-99" dirty="0">
                <a:solidFill>
                  <a:srgbClr val="000000"/>
                </a:solidFill>
                <a:latin typeface="+mn-lt"/>
                <a:cs typeface="Microsoft Sans Serif"/>
              </a:rPr>
              <a:t> </a:t>
            </a:r>
            <a:r>
              <a:rPr sz="2880" i="1" spc="-45" dirty="0">
                <a:solidFill>
                  <a:srgbClr val="000000"/>
                </a:solidFill>
                <a:latin typeface="+mn-lt"/>
                <a:cs typeface="Arial"/>
              </a:rPr>
              <a:t>q</a:t>
            </a:r>
            <a:endParaRPr sz="2880" dirty="0">
              <a:latin typeface="+mn-lt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2604" y="2279907"/>
            <a:ext cx="1110638" cy="4553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80" dirty="0">
                <a:cs typeface="Microsoft Sans Serif"/>
              </a:rPr>
              <a:t>not</a:t>
            </a:r>
            <a:r>
              <a:rPr sz="2880" spc="-59" dirty="0">
                <a:cs typeface="Microsoft Sans Serif"/>
              </a:rPr>
              <a:t> </a:t>
            </a:r>
            <a:r>
              <a:rPr sz="2880" i="1" spc="-45" dirty="0">
                <a:cs typeface="Arial"/>
              </a:rPr>
              <a:t>p</a:t>
            </a:r>
            <a:endParaRPr sz="2880" dirty="0"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902604" y="2721369"/>
            <a:ext cx="8178476" cy="3080139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80" spc="-81" smtClean="0">
                <a:cs typeface="Microsoft Sans Serif"/>
              </a:rPr>
              <a:t>Therefore</a:t>
            </a:r>
            <a:r>
              <a:rPr sz="2880" spc="-77" smtClean="0">
                <a:cs typeface="Microsoft Sans Serif"/>
              </a:rPr>
              <a:t> </a:t>
            </a:r>
            <a:r>
              <a:rPr sz="2880" smtClean="0">
                <a:cs typeface="Microsoft Sans Serif"/>
              </a:rPr>
              <a:t>not</a:t>
            </a:r>
            <a:r>
              <a:rPr sz="2880" spc="-23" smtClean="0">
                <a:cs typeface="Microsoft Sans Serif"/>
              </a:rPr>
              <a:t> </a:t>
            </a:r>
            <a:r>
              <a:rPr sz="2880" i="1" spc="-45" smtClean="0">
                <a:cs typeface="Arial"/>
              </a:rPr>
              <a:t>q</a:t>
            </a:r>
            <a:endParaRPr lang="en-IN" sz="2880" smtClean="0">
              <a:cs typeface="Arial"/>
            </a:endParaRPr>
          </a:p>
          <a:p>
            <a:pPr marL="11430">
              <a:spcBef>
                <a:spcPts val="95"/>
              </a:spcBef>
            </a:pPr>
            <a:endParaRPr lang="en-IN" sz="2880" smtClean="0">
              <a:cs typeface="Arial"/>
            </a:endParaRPr>
          </a:p>
          <a:p>
            <a:pPr marL="11430">
              <a:spcBef>
                <a:spcPts val="95"/>
              </a:spcBef>
            </a:pPr>
            <a:endParaRPr sz="2880" smtClean="0">
              <a:cs typeface="Arial"/>
            </a:endParaRPr>
          </a:p>
          <a:p>
            <a:pPr marL="551498" indent="-254889">
              <a:lnSpc>
                <a:spcPts val="3393"/>
              </a:lnSpc>
              <a:spcBef>
                <a:spcPts val="5"/>
              </a:spcBef>
              <a:buChar char="*"/>
              <a:tabLst>
                <a:tab pos="551498" algn="l"/>
              </a:tabLst>
            </a:pPr>
            <a:r>
              <a:rPr sz="2880" smtClean="0">
                <a:cs typeface="Microsoft Sans Serif"/>
              </a:rPr>
              <a:t>If</a:t>
            </a:r>
            <a:r>
              <a:rPr sz="2880" spc="-194" smtClean="0">
                <a:cs typeface="Microsoft Sans Serif"/>
              </a:rPr>
              <a:t> </a:t>
            </a:r>
            <a:r>
              <a:rPr sz="2880" smtClean="0">
                <a:cs typeface="Microsoft Sans Serif"/>
              </a:rPr>
              <a:t>I</a:t>
            </a:r>
            <a:r>
              <a:rPr sz="2880" spc="-122" smtClean="0">
                <a:cs typeface="Microsoft Sans Serif"/>
              </a:rPr>
              <a:t> </a:t>
            </a:r>
            <a:r>
              <a:rPr sz="2880" smtClean="0">
                <a:cs typeface="Microsoft Sans Serif"/>
              </a:rPr>
              <a:t>do</a:t>
            </a:r>
            <a:r>
              <a:rPr sz="2880" spc="-54" smtClean="0">
                <a:cs typeface="Microsoft Sans Serif"/>
              </a:rPr>
              <a:t> </a:t>
            </a:r>
            <a:r>
              <a:rPr sz="2880" spc="-50" smtClean="0">
                <a:cs typeface="Microsoft Sans Serif"/>
              </a:rPr>
              <a:t>well</a:t>
            </a:r>
            <a:r>
              <a:rPr sz="2880" spc="-41" smtClean="0">
                <a:cs typeface="Microsoft Sans Serif"/>
              </a:rPr>
              <a:t> </a:t>
            </a:r>
            <a:r>
              <a:rPr sz="2880" smtClean="0">
                <a:cs typeface="Microsoft Sans Serif"/>
              </a:rPr>
              <a:t>in</a:t>
            </a:r>
            <a:r>
              <a:rPr sz="2880" spc="-194" smtClean="0">
                <a:cs typeface="Microsoft Sans Serif"/>
              </a:rPr>
              <a:t> </a:t>
            </a:r>
            <a:r>
              <a:rPr sz="2880" spc="-18" smtClean="0">
                <a:cs typeface="Microsoft Sans Serif"/>
              </a:rPr>
              <a:t>the</a:t>
            </a:r>
            <a:r>
              <a:rPr sz="2880" spc="-122" smtClean="0">
                <a:cs typeface="Microsoft Sans Serif"/>
              </a:rPr>
              <a:t> </a:t>
            </a:r>
            <a:r>
              <a:rPr sz="2880" spc="-95" smtClean="0">
                <a:cs typeface="Microsoft Sans Serif"/>
              </a:rPr>
              <a:t>test,</a:t>
            </a:r>
            <a:r>
              <a:rPr sz="2880" spc="-270" smtClean="0">
                <a:cs typeface="Microsoft Sans Serif"/>
              </a:rPr>
              <a:t> </a:t>
            </a:r>
            <a:r>
              <a:rPr sz="2880" smtClean="0">
                <a:cs typeface="Microsoft Sans Serif"/>
              </a:rPr>
              <a:t>I</a:t>
            </a:r>
            <a:r>
              <a:rPr sz="2880" spc="-122" smtClean="0">
                <a:cs typeface="Microsoft Sans Serif"/>
              </a:rPr>
              <a:t> </a:t>
            </a:r>
            <a:r>
              <a:rPr sz="2880" smtClean="0">
                <a:cs typeface="Microsoft Sans Serif"/>
              </a:rPr>
              <a:t>will</a:t>
            </a:r>
            <a:r>
              <a:rPr sz="2880" spc="-54" smtClean="0">
                <a:cs typeface="Microsoft Sans Serif"/>
              </a:rPr>
              <a:t> </a:t>
            </a:r>
            <a:r>
              <a:rPr sz="2880" spc="-126" smtClean="0">
                <a:cs typeface="Microsoft Sans Serif"/>
              </a:rPr>
              <a:t>get</a:t>
            </a:r>
            <a:r>
              <a:rPr sz="2880" spc="-63" smtClean="0">
                <a:cs typeface="Microsoft Sans Serif"/>
              </a:rPr>
              <a:t> </a:t>
            </a:r>
            <a:r>
              <a:rPr sz="2880" spc="-18" smtClean="0">
                <a:cs typeface="Microsoft Sans Serif"/>
              </a:rPr>
              <a:t>drunk</a:t>
            </a:r>
            <a:endParaRPr sz="2880" smtClean="0">
              <a:cs typeface="Microsoft Sans Serif"/>
            </a:endParaRPr>
          </a:p>
          <a:p>
            <a:pPr marL="551498" indent="-254889">
              <a:lnSpc>
                <a:spcPts val="3393"/>
              </a:lnSpc>
              <a:buChar char="*"/>
              <a:tabLst>
                <a:tab pos="551498" algn="l"/>
              </a:tabLst>
            </a:pPr>
            <a:r>
              <a:rPr sz="2880" smtClean="0">
                <a:cs typeface="Microsoft Sans Serif"/>
              </a:rPr>
              <a:t>I</a:t>
            </a:r>
            <a:r>
              <a:rPr sz="2880" spc="-99" smtClean="0">
                <a:cs typeface="Microsoft Sans Serif"/>
              </a:rPr>
              <a:t> </a:t>
            </a:r>
            <a:r>
              <a:rPr sz="2880" spc="-135" smtClean="0">
                <a:cs typeface="Microsoft Sans Serif"/>
              </a:rPr>
              <a:t>failed</a:t>
            </a:r>
            <a:r>
              <a:rPr sz="2880" spc="-144" smtClean="0">
                <a:cs typeface="Microsoft Sans Serif"/>
              </a:rPr>
              <a:t> </a:t>
            </a:r>
            <a:r>
              <a:rPr sz="2880" spc="-32" smtClean="0">
                <a:cs typeface="Microsoft Sans Serif"/>
              </a:rPr>
              <a:t>the</a:t>
            </a:r>
            <a:r>
              <a:rPr sz="2880" spc="-68" smtClean="0">
                <a:cs typeface="Microsoft Sans Serif"/>
              </a:rPr>
              <a:t> </a:t>
            </a:r>
            <a:r>
              <a:rPr sz="2880" spc="-18" smtClean="0">
                <a:cs typeface="Microsoft Sans Serif"/>
              </a:rPr>
              <a:t>test</a:t>
            </a:r>
            <a:endParaRPr sz="2880" smtClean="0">
              <a:cs typeface="Microsoft Sans Serif"/>
            </a:endParaRPr>
          </a:p>
          <a:p>
            <a:pPr marL="504635" indent="-208026">
              <a:spcBef>
                <a:spcPts val="3131"/>
              </a:spcBef>
              <a:buChar char="*"/>
              <a:tabLst>
                <a:tab pos="504635" algn="l"/>
              </a:tabLst>
            </a:pPr>
            <a:r>
              <a:rPr sz="2880" spc="-86" smtClean="0">
                <a:cs typeface="Microsoft Sans Serif"/>
              </a:rPr>
              <a:t>Therefore:</a:t>
            </a:r>
            <a:r>
              <a:rPr sz="2880" spc="-464" smtClean="0">
                <a:cs typeface="Microsoft Sans Serif"/>
              </a:rPr>
              <a:t> </a:t>
            </a:r>
            <a:r>
              <a:rPr sz="2880" smtClean="0">
                <a:cs typeface="Microsoft Sans Serif"/>
              </a:rPr>
              <a:t>I</a:t>
            </a:r>
            <a:r>
              <a:rPr sz="2880" spc="-140" smtClean="0">
                <a:cs typeface="Microsoft Sans Serif"/>
              </a:rPr>
              <a:t> </a:t>
            </a:r>
            <a:r>
              <a:rPr sz="2880" smtClean="0">
                <a:cs typeface="Microsoft Sans Serif"/>
              </a:rPr>
              <a:t>will</a:t>
            </a:r>
            <a:r>
              <a:rPr sz="2880" spc="-36" smtClean="0">
                <a:cs typeface="Microsoft Sans Serif"/>
              </a:rPr>
              <a:t> </a:t>
            </a:r>
            <a:r>
              <a:rPr sz="2880" smtClean="0">
                <a:cs typeface="Microsoft Sans Serif"/>
              </a:rPr>
              <a:t>not</a:t>
            </a:r>
            <a:r>
              <a:rPr sz="2880" spc="108" smtClean="0">
                <a:cs typeface="Microsoft Sans Serif"/>
              </a:rPr>
              <a:t> </a:t>
            </a:r>
            <a:r>
              <a:rPr sz="2880" spc="-126" smtClean="0">
                <a:cs typeface="Microsoft Sans Serif"/>
              </a:rPr>
              <a:t>get</a:t>
            </a:r>
            <a:r>
              <a:rPr sz="2880" spc="-63" smtClean="0">
                <a:cs typeface="Microsoft Sans Serif"/>
              </a:rPr>
              <a:t> </a:t>
            </a:r>
            <a:r>
              <a:rPr sz="2880" spc="-9" smtClean="0">
                <a:cs typeface="Microsoft Sans Serif"/>
              </a:rPr>
              <a:t>drunk</a:t>
            </a:r>
            <a:endParaRPr sz="2880" dirty="0"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452050" y="2011069"/>
            <a:ext cx="1706499" cy="4424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1430">
              <a:spcBef>
                <a:spcPts val="90"/>
              </a:spcBef>
            </a:pPr>
            <a:r>
              <a:rPr sz="2800" spc="-963" dirty="0">
                <a:solidFill>
                  <a:srgbClr val="FF2500"/>
                </a:solidFill>
                <a:cs typeface="Microsoft Sans Serif"/>
              </a:rPr>
              <a:t>F</a:t>
            </a:r>
            <a:r>
              <a:rPr sz="2800" spc="-180" dirty="0">
                <a:solidFill>
                  <a:srgbClr val="FF2500"/>
                </a:solidFill>
                <a:cs typeface="Microsoft Sans Serif"/>
              </a:rPr>
              <a:t>A</a:t>
            </a:r>
            <a:r>
              <a:rPr sz="2800" spc="-176" dirty="0">
                <a:solidFill>
                  <a:srgbClr val="FF2500"/>
                </a:solidFill>
                <a:cs typeface="Microsoft Sans Serif"/>
              </a:rPr>
              <a:t>L</a:t>
            </a:r>
            <a:r>
              <a:rPr sz="2800" spc="-338" dirty="0">
                <a:solidFill>
                  <a:srgbClr val="FF2500"/>
                </a:solidFill>
                <a:cs typeface="Microsoft Sans Serif"/>
              </a:rPr>
              <a:t>L</a:t>
            </a:r>
            <a:r>
              <a:rPr sz="2800" spc="-212" dirty="0">
                <a:solidFill>
                  <a:srgbClr val="FF2500"/>
                </a:solidFill>
                <a:cs typeface="Microsoft Sans Serif"/>
              </a:rPr>
              <a:t>A</a:t>
            </a:r>
            <a:r>
              <a:rPr sz="2800" spc="-158" dirty="0">
                <a:solidFill>
                  <a:srgbClr val="FF2500"/>
                </a:solidFill>
                <a:cs typeface="Microsoft Sans Serif"/>
              </a:rPr>
              <a:t>CY</a:t>
            </a:r>
            <a:r>
              <a:rPr sz="2800" spc="-14" dirty="0">
                <a:solidFill>
                  <a:srgbClr val="FF2500"/>
                </a:solidFill>
                <a:cs typeface="Microsoft Sans Serif"/>
              </a:rPr>
              <a:t>!</a:t>
            </a:r>
            <a:endParaRPr sz="2800" dirty="0">
              <a:cs typeface="Microsoft Sans Serif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953000" y="2141325"/>
            <a:ext cx="476369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If it rains, the ground will be wet.</a:t>
            </a:r>
            <a:br>
              <a:rPr lang="en-US" sz="2000" dirty="0"/>
            </a:br>
            <a:r>
              <a:rPr lang="en-US" sz="2000" dirty="0"/>
              <a:t>It is </a:t>
            </a:r>
            <a:r>
              <a:rPr lang="en-US" sz="2000" b="1" dirty="0"/>
              <a:t>not raining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dirty="0"/>
              <a:t>❌ Therefore, the ground is </a:t>
            </a:r>
            <a:r>
              <a:rPr lang="en-US" sz="2000" b="1" dirty="0"/>
              <a:t>not wet</a:t>
            </a:r>
            <a:r>
              <a:rPr lang="en-US" sz="2000" dirty="0"/>
              <a:t>.</a:t>
            </a:r>
            <a:endParaRPr lang="en-IN" sz="20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6948" y="510295"/>
            <a:ext cx="1718652" cy="454740"/>
          </a:xfrm>
          <a:prstGeom prst="rect">
            <a:avLst/>
          </a:prstGeom>
        </p:spPr>
        <p:txBody>
          <a:bodyPr vert="horz" wrap="square" lIns="0" tIns="11430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0"/>
              </a:spcBef>
            </a:pPr>
            <a:r>
              <a:rPr sz="2880" spc="-158" dirty="0">
                <a:latin typeface="+mn-lt"/>
                <a:cs typeface="Calibri Light"/>
              </a:rPr>
              <a:t>antecedent</a:t>
            </a:r>
            <a:endParaRPr sz="2880">
              <a:latin typeface="+mn-lt"/>
              <a:cs typeface="Calibri Ligh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846777" y="503217"/>
            <a:ext cx="1968910" cy="4553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80" spc="-144" dirty="0">
                <a:cs typeface="Microsoft Sans Serif"/>
              </a:rPr>
              <a:t>consequent</a:t>
            </a:r>
            <a:endParaRPr sz="2880">
              <a:cs typeface="Microsoft Sans Serif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223052" y="1035557"/>
            <a:ext cx="293160" cy="370332"/>
            <a:chOff x="5803391" y="1150619"/>
            <a:chExt cx="286385" cy="411480"/>
          </a:xfrm>
        </p:grpSpPr>
        <p:sp>
          <p:nvSpPr>
            <p:cNvPr id="5" name="object 5"/>
            <p:cNvSpPr/>
            <p:nvPr/>
          </p:nvSpPr>
          <p:spPr>
            <a:xfrm>
              <a:off x="5865113" y="1169669"/>
              <a:ext cx="205740" cy="304800"/>
            </a:xfrm>
            <a:custGeom>
              <a:avLst/>
              <a:gdLst/>
              <a:ahLst/>
              <a:cxnLst/>
              <a:rect l="l" t="t" r="r" b="b"/>
              <a:pathLst>
                <a:path w="205739" h="304800">
                  <a:moveTo>
                    <a:pt x="0" y="304800"/>
                  </a:moveTo>
                  <a:lnTo>
                    <a:pt x="10668" y="289051"/>
                  </a:lnTo>
                  <a:lnTo>
                    <a:pt x="205612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6" name="object 6"/>
            <p:cNvSpPr/>
            <p:nvPr/>
          </p:nvSpPr>
          <p:spPr>
            <a:xfrm>
              <a:off x="5803391" y="1376171"/>
              <a:ext cx="164465" cy="186055"/>
            </a:xfrm>
            <a:custGeom>
              <a:avLst/>
              <a:gdLst/>
              <a:ahLst/>
              <a:cxnLst/>
              <a:rect l="l" t="t" r="r" b="b"/>
              <a:pathLst>
                <a:path w="164464" h="186055">
                  <a:moveTo>
                    <a:pt x="24765" y="0"/>
                  </a:moveTo>
                  <a:lnTo>
                    <a:pt x="0" y="185674"/>
                  </a:lnTo>
                  <a:lnTo>
                    <a:pt x="164211" y="93979"/>
                  </a:lnTo>
                  <a:lnTo>
                    <a:pt x="70866" y="81661"/>
                  </a:lnTo>
                  <a:lnTo>
                    <a:pt x="2476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589579" y="1023213"/>
            <a:ext cx="291209" cy="382334"/>
            <a:chOff x="2877311" y="1136903"/>
            <a:chExt cx="284480" cy="424815"/>
          </a:xfrm>
        </p:grpSpPr>
        <p:sp>
          <p:nvSpPr>
            <p:cNvPr id="8" name="object 8"/>
            <p:cNvSpPr/>
            <p:nvPr/>
          </p:nvSpPr>
          <p:spPr>
            <a:xfrm>
              <a:off x="2896361" y="1155953"/>
              <a:ext cx="208915" cy="318770"/>
            </a:xfrm>
            <a:custGeom>
              <a:avLst/>
              <a:gdLst/>
              <a:ahLst/>
              <a:cxnLst/>
              <a:rect l="l" t="t" r="r" b="b"/>
              <a:pathLst>
                <a:path w="208914" h="318769">
                  <a:moveTo>
                    <a:pt x="208661" y="318262"/>
                  </a:moveTo>
                  <a:lnTo>
                    <a:pt x="198246" y="302260"/>
                  </a:lnTo>
                  <a:lnTo>
                    <a:pt x="0" y="0"/>
                  </a:lnTo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sz="1620"/>
            </a:p>
          </p:txBody>
        </p:sp>
        <p:sp>
          <p:nvSpPr>
            <p:cNvPr id="9" name="object 9"/>
            <p:cNvSpPr/>
            <p:nvPr/>
          </p:nvSpPr>
          <p:spPr>
            <a:xfrm>
              <a:off x="3000755" y="1376171"/>
              <a:ext cx="161290" cy="185420"/>
            </a:xfrm>
            <a:custGeom>
              <a:avLst/>
              <a:gdLst/>
              <a:ahLst/>
              <a:cxnLst/>
              <a:rect l="l" t="t" r="r" b="b"/>
              <a:pathLst>
                <a:path w="161289" h="185419">
                  <a:moveTo>
                    <a:pt x="139319" y="0"/>
                  </a:moveTo>
                  <a:lnTo>
                    <a:pt x="92456" y="80644"/>
                  </a:lnTo>
                  <a:lnTo>
                    <a:pt x="0" y="91566"/>
                  </a:lnTo>
                  <a:lnTo>
                    <a:pt x="161036" y="185419"/>
                  </a:lnTo>
                  <a:lnTo>
                    <a:pt x="139319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620"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88255" y="1360969"/>
            <a:ext cx="8603346" cy="4936544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2480310">
              <a:spcBef>
                <a:spcPts val="95"/>
              </a:spcBef>
              <a:tabLst>
                <a:tab pos="2855214" algn="l"/>
                <a:tab pos="3503867" algn="l"/>
                <a:tab pos="4573715" algn="l"/>
              </a:tabLst>
            </a:pPr>
            <a:r>
              <a:rPr sz="2880" spc="-23" dirty="0">
                <a:cs typeface="Microsoft Sans Serif"/>
              </a:rPr>
              <a:t>if</a:t>
            </a:r>
            <a:r>
              <a:rPr sz="2880" dirty="0">
                <a:cs typeface="Microsoft Sans Serif"/>
              </a:rPr>
              <a:t>	</a:t>
            </a:r>
            <a:r>
              <a:rPr sz="2880" b="1" i="1" spc="-45" dirty="0">
                <a:cs typeface="Trebuchet MS"/>
              </a:rPr>
              <a:t>A</a:t>
            </a:r>
            <a:r>
              <a:rPr sz="2880" b="1" i="1" dirty="0">
                <a:cs typeface="Trebuchet MS"/>
              </a:rPr>
              <a:t>	</a:t>
            </a:r>
            <a:r>
              <a:rPr sz="2880" spc="-18" dirty="0">
                <a:cs typeface="Microsoft Sans Serif"/>
              </a:rPr>
              <a:t>then</a:t>
            </a:r>
            <a:r>
              <a:rPr sz="2880" dirty="0">
                <a:cs typeface="Microsoft Sans Serif"/>
              </a:rPr>
              <a:t>	</a:t>
            </a:r>
            <a:r>
              <a:rPr sz="2880" b="1" i="1" spc="-45" dirty="0">
                <a:cs typeface="Trebuchet MS"/>
              </a:rPr>
              <a:t>B</a:t>
            </a:r>
            <a:endParaRPr sz="2880" dirty="0">
              <a:cs typeface="Trebuchet MS"/>
            </a:endParaRPr>
          </a:p>
          <a:p>
            <a:pPr marL="662940" marR="1046417">
              <a:lnSpc>
                <a:spcPct val="193100"/>
              </a:lnSpc>
              <a:spcBef>
                <a:spcPts val="1472"/>
              </a:spcBef>
              <a:tabLst>
                <a:tab pos="3576446" algn="l"/>
                <a:tab pos="4687443" algn="l"/>
                <a:tab pos="4786313" algn="l"/>
                <a:tab pos="4908614" algn="l"/>
                <a:tab pos="5290947" algn="l"/>
              </a:tabLst>
            </a:pPr>
            <a:r>
              <a:rPr sz="2250" spc="-54" dirty="0">
                <a:cs typeface="Microsoft Sans Serif"/>
              </a:rPr>
              <a:t>Affirming</a:t>
            </a:r>
            <a:r>
              <a:rPr sz="2250" spc="-72" dirty="0">
                <a:cs typeface="Microsoft Sans Serif"/>
              </a:rPr>
              <a:t> </a:t>
            </a:r>
            <a:r>
              <a:rPr sz="2250" spc="-9" dirty="0">
                <a:cs typeface="Microsoft Sans Serif"/>
              </a:rPr>
              <a:t>the</a:t>
            </a:r>
            <a:r>
              <a:rPr sz="2250" spc="-68" dirty="0">
                <a:cs typeface="Microsoft Sans Serif"/>
              </a:rPr>
              <a:t> </a:t>
            </a:r>
            <a:r>
              <a:rPr sz="2250" spc="-108" dirty="0">
                <a:cs typeface="Microsoft Sans Serif"/>
              </a:rPr>
              <a:t>antecedent</a:t>
            </a:r>
            <a:r>
              <a:rPr sz="2250" spc="-77" dirty="0">
                <a:cs typeface="Microsoft Sans Serif"/>
              </a:rPr>
              <a:t> </a:t>
            </a:r>
            <a:r>
              <a:rPr sz="2250" spc="-9" dirty="0">
                <a:cs typeface="Microsoft Sans Serif"/>
              </a:rPr>
              <a:t>(correct):</a:t>
            </a:r>
            <a:r>
              <a:rPr sz="2250" dirty="0">
                <a:cs typeface="Microsoft Sans Serif"/>
              </a:rPr>
              <a:t>		</a:t>
            </a:r>
            <a:r>
              <a:rPr sz="2250" spc="-23" dirty="0">
                <a:cs typeface="Microsoft Sans Serif"/>
              </a:rPr>
              <a:t>A,</a:t>
            </a:r>
            <a:r>
              <a:rPr sz="2250" dirty="0">
                <a:cs typeface="Microsoft Sans Serif"/>
              </a:rPr>
              <a:t>	</a:t>
            </a:r>
            <a:r>
              <a:rPr sz="2250" spc="-41" dirty="0">
                <a:cs typeface="Microsoft Sans Serif"/>
              </a:rPr>
              <a:t>therefore</a:t>
            </a:r>
            <a:r>
              <a:rPr sz="2250" spc="-86" dirty="0">
                <a:cs typeface="Microsoft Sans Serif"/>
              </a:rPr>
              <a:t> </a:t>
            </a:r>
            <a:r>
              <a:rPr sz="2250" spc="-45" dirty="0">
                <a:cs typeface="Microsoft Sans Serif"/>
              </a:rPr>
              <a:t>B </a:t>
            </a:r>
            <a:r>
              <a:rPr sz="2250" spc="-108" dirty="0">
                <a:cs typeface="Microsoft Sans Serif"/>
              </a:rPr>
              <a:t>Denying</a:t>
            </a:r>
            <a:r>
              <a:rPr sz="2250" spc="-194" dirty="0">
                <a:cs typeface="Microsoft Sans Serif"/>
              </a:rPr>
              <a:t> </a:t>
            </a:r>
            <a:r>
              <a:rPr sz="2250" spc="-18" dirty="0">
                <a:cs typeface="Microsoft Sans Serif"/>
              </a:rPr>
              <a:t>the</a:t>
            </a:r>
            <a:r>
              <a:rPr sz="2250" spc="-32" dirty="0">
                <a:cs typeface="Microsoft Sans Serif"/>
              </a:rPr>
              <a:t> </a:t>
            </a:r>
            <a:r>
              <a:rPr sz="2250" spc="-113" dirty="0">
                <a:cs typeface="Microsoft Sans Serif"/>
              </a:rPr>
              <a:t>consequent</a:t>
            </a:r>
            <a:r>
              <a:rPr sz="2250" spc="-90" dirty="0">
                <a:cs typeface="Microsoft Sans Serif"/>
              </a:rPr>
              <a:t> </a:t>
            </a:r>
            <a:r>
              <a:rPr sz="2250" spc="-9" dirty="0">
                <a:cs typeface="Microsoft Sans Serif"/>
              </a:rPr>
              <a:t>(correct):</a:t>
            </a:r>
            <a:r>
              <a:rPr sz="2250" dirty="0">
                <a:cs typeface="Microsoft Sans Serif"/>
              </a:rPr>
              <a:t>		not</a:t>
            </a:r>
            <a:r>
              <a:rPr sz="2250" spc="86" dirty="0">
                <a:cs typeface="Microsoft Sans Serif"/>
              </a:rPr>
              <a:t> </a:t>
            </a:r>
            <a:r>
              <a:rPr sz="2250" spc="-108" dirty="0">
                <a:cs typeface="Microsoft Sans Serif"/>
              </a:rPr>
              <a:t>B,</a:t>
            </a:r>
            <a:r>
              <a:rPr sz="2250" spc="-383" dirty="0">
                <a:cs typeface="Microsoft Sans Serif"/>
              </a:rPr>
              <a:t> </a:t>
            </a:r>
            <a:r>
              <a:rPr sz="2250" spc="-41" dirty="0">
                <a:cs typeface="Microsoft Sans Serif"/>
              </a:rPr>
              <a:t>therefore</a:t>
            </a:r>
            <a:r>
              <a:rPr sz="2250" spc="-153" dirty="0">
                <a:cs typeface="Microsoft Sans Serif"/>
              </a:rPr>
              <a:t> </a:t>
            </a:r>
            <a:r>
              <a:rPr sz="2250" spc="-59" dirty="0">
                <a:cs typeface="Microsoft Sans Serif"/>
              </a:rPr>
              <a:t>not</a:t>
            </a:r>
            <a:r>
              <a:rPr sz="2250" spc="-198" dirty="0">
                <a:cs typeface="Microsoft Sans Serif"/>
              </a:rPr>
              <a:t> </a:t>
            </a:r>
            <a:r>
              <a:rPr sz="2250" spc="-45" dirty="0">
                <a:cs typeface="Microsoft Sans Serif"/>
              </a:rPr>
              <a:t>A </a:t>
            </a:r>
            <a:r>
              <a:rPr sz="2250" spc="-54" dirty="0">
                <a:cs typeface="Microsoft Sans Serif"/>
              </a:rPr>
              <a:t>Affirming</a:t>
            </a:r>
            <a:r>
              <a:rPr sz="2250" spc="-189" dirty="0">
                <a:cs typeface="Microsoft Sans Serif"/>
              </a:rPr>
              <a:t> </a:t>
            </a:r>
            <a:r>
              <a:rPr sz="2250" spc="-18" dirty="0">
                <a:cs typeface="Microsoft Sans Serif"/>
              </a:rPr>
              <a:t>the</a:t>
            </a:r>
            <a:r>
              <a:rPr sz="2250" spc="-45" dirty="0">
                <a:cs typeface="Microsoft Sans Serif"/>
              </a:rPr>
              <a:t> </a:t>
            </a:r>
            <a:r>
              <a:rPr sz="2250" spc="-113" dirty="0">
                <a:cs typeface="Microsoft Sans Serif"/>
              </a:rPr>
              <a:t>consequent</a:t>
            </a:r>
            <a:r>
              <a:rPr sz="2250" spc="-103" dirty="0">
                <a:cs typeface="Microsoft Sans Serif"/>
              </a:rPr>
              <a:t> </a:t>
            </a:r>
            <a:r>
              <a:rPr sz="2250" spc="-9" dirty="0">
                <a:cs typeface="Microsoft Sans Serif"/>
              </a:rPr>
              <a:t>(wrong):</a:t>
            </a:r>
            <a:r>
              <a:rPr sz="2250" dirty="0">
                <a:cs typeface="Microsoft Sans Serif"/>
              </a:rPr>
              <a:t>		</a:t>
            </a:r>
            <a:r>
              <a:rPr sz="2250" spc="-585" dirty="0">
                <a:cs typeface="Microsoft Sans Serif"/>
              </a:rPr>
              <a:t> </a:t>
            </a:r>
            <a:r>
              <a:rPr sz="2250" spc="-108" dirty="0">
                <a:cs typeface="Microsoft Sans Serif"/>
              </a:rPr>
              <a:t>B,</a:t>
            </a:r>
            <a:r>
              <a:rPr sz="2250" spc="-374" dirty="0">
                <a:cs typeface="Microsoft Sans Serif"/>
              </a:rPr>
              <a:t> </a:t>
            </a:r>
            <a:r>
              <a:rPr sz="2250" spc="-9" dirty="0" smtClean="0">
                <a:cs typeface="Microsoft Sans Serif"/>
              </a:rPr>
              <a:t>therefore</a:t>
            </a:r>
            <a:r>
              <a:rPr lang="en-IN" sz="2250" spc="-9" dirty="0" smtClean="0">
                <a:cs typeface="Microsoft Sans Serif"/>
              </a:rPr>
              <a:t> </a:t>
            </a:r>
            <a:r>
              <a:rPr sz="2250" spc="-9" dirty="0" smtClean="0">
                <a:cs typeface="Microsoft Sans Serif"/>
              </a:rPr>
              <a:t>A </a:t>
            </a:r>
            <a:r>
              <a:rPr sz="2250" spc="-108" dirty="0">
                <a:cs typeface="Microsoft Sans Serif"/>
              </a:rPr>
              <a:t>Denying</a:t>
            </a:r>
            <a:r>
              <a:rPr sz="2250" spc="-198" dirty="0">
                <a:cs typeface="Microsoft Sans Serif"/>
              </a:rPr>
              <a:t> </a:t>
            </a:r>
            <a:r>
              <a:rPr sz="2250" spc="-18" dirty="0">
                <a:cs typeface="Microsoft Sans Serif"/>
              </a:rPr>
              <a:t>the</a:t>
            </a:r>
            <a:r>
              <a:rPr sz="2250" spc="-54" dirty="0">
                <a:cs typeface="Microsoft Sans Serif"/>
              </a:rPr>
              <a:t> </a:t>
            </a:r>
            <a:r>
              <a:rPr sz="2250" spc="-9" dirty="0">
                <a:cs typeface="Microsoft Sans Serif"/>
              </a:rPr>
              <a:t>antecedent</a:t>
            </a:r>
            <a:r>
              <a:rPr sz="2250" dirty="0">
                <a:cs typeface="Microsoft Sans Serif"/>
              </a:rPr>
              <a:t>	</a:t>
            </a:r>
            <a:r>
              <a:rPr sz="2250" spc="-9" dirty="0">
                <a:cs typeface="Microsoft Sans Serif"/>
              </a:rPr>
              <a:t>(wrong):</a:t>
            </a:r>
            <a:r>
              <a:rPr sz="2250" dirty="0">
                <a:cs typeface="Microsoft Sans Serif"/>
              </a:rPr>
              <a:t>	</a:t>
            </a:r>
            <a:r>
              <a:rPr sz="2250" spc="-59" dirty="0">
                <a:cs typeface="Microsoft Sans Serif"/>
              </a:rPr>
              <a:t>not</a:t>
            </a:r>
            <a:r>
              <a:rPr sz="2250" spc="-198" dirty="0">
                <a:cs typeface="Microsoft Sans Serif"/>
              </a:rPr>
              <a:t> </a:t>
            </a:r>
            <a:r>
              <a:rPr sz="2250" spc="-50" dirty="0">
                <a:cs typeface="Microsoft Sans Serif"/>
              </a:rPr>
              <a:t>A,</a:t>
            </a:r>
            <a:r>
              <a:rPr sz="2250" spc="-261" dirty="0">
                <a:cs typeface="Microsoft Sans Serif"/>
              </a:rPr>
              <a:t> </a:t>
            </a:r>
            <a:r>
              <a:rPr sz="2250" spc="-41" dirty="0">
                <a:cs typeface="Microsoft Sans Serif"/>
              </a:rPr>
              <a:t>therefore</a:t>
            </a:r>
            <a:r>
              <a:rPr sz="2250" spc="-167" dirty="0">
                <a:cs typeface="Microsoft Sans Serif"/>
              </a:rPr>
              <a:t> </a:t>
            </a:r>
            <a:r>
              <a:rPr sz="2250" dirty="0">
                <a:cs typeface="Microsoft Sans Serif"/>
              </a:rPr>
              <a:t>not</a:t>
            </a:r>
            <a:r>
              <a:rPr sz="2250" spc="90" dirty="0">
                <a:cs typeface="Microsoft Sans Serif"/>
              </a:rPr>
              <a:t> </a:t>
            </a:r>
            <a:r>
              <a:rPr sz="2250" spc="-45" dirty="0">
                <a:cs typeface="Microsoft Sans Serif"/>
              </a:rPr>
              <a:t>B</a:t>
            </a:r>
            <a:endParaRPr sz="2250" dirty="0">
              <a:cs typeface="Microsoft Sans Serif"/>
            </a:endParaRPr>
          </a:p>
          <a:p>
            <a:pPr>
              <a:lnSpc>
                <a:spcPct val="100000"/>
              </a:lnSpc>
            </a:pPr>
            <a:endParaRPr sz="2250" dirty="0">
              <a:cs typeface="Microsoft Sans Serif"/>
            </a:endParaRPr>
          </a:p>
          <a:p>
            <a:pPr>
              <a:spcBef>
                <a:spcPts val="756"/>
              </a:spcBef>
            </a:pPr>
            <a:endParaRPr sz="2250" dirty="0">
              <a:cs typeface="Microsoft Sans Serif"/>
            </a:endParaRPr>
          </a:p>
          <a:p>
            <a:pPr marL="11430" marR="4572">
              <a:lnSpc>
                <a:spcPts val="3240"/>
              </a:lnSpc>
            </a:pPr>
            <a:r>
              <a:rPr sz="2880" spc="-297" dirty="0">
                <a:cs typeface="Microsoft Sans Serif"/>
              </a:rPr>
              <a:t>E</a:t>
            </a:r>
            <a:r>
              <a:rPr sz="2880" spc="-288" dirty="0">
                <a:cs typeface="Microsoft Sans Serif"/>
              </a:rPr>
              <a:t>v</a:t>
            </a:r>
            <a:r>
              <a:rPr sz="2880" spc="-297" dirty="0">
                <a:cs typeface="Microsoft Sans Serif"/>
              </a:rPr>
              <a:t>e</a:t>
            </a:r>
            <a:r>
              <a:rPr sz="2880" spc="225" dirty="0">
                <a:cs typeface="Microsoft Sans Serif"/>
              </a:rPr>
              <a:t>n</a:t>
            </a:r>
            <a:r>
              <a:rPr sz="2880" spc="-72" dirty="0">
                <a:cs typeface="Microsoft Sans Serif"/>
              </a:rPr>
              <a:t>i</a:t>
            </a:r>
            <a:r>
              <a:rPr sz="2880" spc="-9" dirty="0">
                <a:cs typeface="Microsoft Sans Serif"/>
              </a:rPr>
              <a:t>f</a:t>
            </a:r>
            <a:r>
              <a:rPr sz="2880" spc="-216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A</a:t>
            </a:r>
            <a:r>
              <a:rPr sz="2880" spc="-189" dirty="0">
                <a:cs typeface="Microsoft Sans Serif"/>
              </a:rPr>
              <a:t> </a:t>
            </a:r>
            <a:r>
              <a:rPr sz="2880" spc="-162" dirty="0">
                <a:cs typeface="Microsoft Sans Serif"/>
              </a:rPr>
              <a:t>and</a:t>
            </a:r>
            <a:r>
              <a:rPr sz="2880" spc="-428" dirty="0">
                <a:cs typeface="Microsoft Sans Serif"/>
              </a:rPr>
              <a:t> </a:t>
            </a:r>
            <a:r>
              <a:rPr sz="2880" spc="-45" dirty="0" smtClean="0">
                <a:cs typeface="Microsoft Sans Serif"/>
              </a:rPr>
              <a:t>B</a:t>
            </a:r>
            <a:r>
              <a:rPr lang="en-IN" sz="2880" spc="-45" dirty="0">
                <a:cs typeface="Microsoft Sans Serif"/>
              </a:rPr>
              <a:t> </a:t>
            </a:r>
            <a:r>
              <a:rPr sz="2880" spc="-45" dirty="0" smtClean="0">
                <a:cs typeface="Microsoft Sans Serif"/>
              </a:rPr>
              <a:t>are</a:t>
            </a:r>
            <a:r>
              <a:rPr sz="2880" spc="-284" dirty="0" smtClean="0">
                <a:cs typeface="Microsoft Sans Serif"/>
              </a:rPr>
              <a:t> </a:t>
            </a:r>
            <a:r>
              <a:rPr sz="2880" spc="-18" dirty="0">
                <a:cs typeface="Microsoft Sans Serif"/>
              </a:rPr>
              <a:t>both</a:t>
            </a:r>
            <a:r>
              <a:rPr sz="2880" spc="-81" dirty="0">
                <a:cs typeface="Microsoft Sans Serif"/>
              </a:rPr>
              <a:t> </a:t>
            </a:r>
            <a:r>
              <a:rPr sz="2880" spc="-9" dirty="0">
                <a:cs typeface="Microsoft Sans Serif"/>
              </a:rPr>
              <a:t>true,</a:t>
            </a:r>
            <a:r>
              <a:rPr sz="2880" spc="-86" dirty="0">
                <a:cs typeface="Microsoft Sans Serif"/>
              </a:rPr>
              <a:t> </a:t>
            </a:r>
            <a:r>
              <a:rPr sz="2880" spc="-59" dirty="0">
                <a:cs typeface="Microsoft Sans Serif"/>
              </a:rPr>
              <a:t>the</a:t>
            </a:r>
            <a:r>
              <a:rPr sz="2880" spc="-131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first</a:t>
            </a:r>
            <a:r>
              <a:rPr sz="2880" spc="-5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two</a:t>
            </a:r>
            <a:r>
              <a:rPr sz="2880" spc="54" dirty="0">
                <a:cs typeface="Microsoft Sans Serif"/>
              </a:rPr>
              <a:t> </a:t>
            </a:r>
            <a:r>
              <a:rPr sz="2880" spc="-203" dirty="0">
                <a:cs typeface="Microsoft Sans Serif"/>
              </a:rPr>
              <a:t>ways</a:t>
            </a:r>
            <a:r>
              <a:rPr sz="2880" spc="-491" dirty="0">
                <a:cs typeface="Microsoft Sans Serif"/>
              </a:rPr>
              <a:t> </a:t>
            </a:r>
            <a:r>
              <a:rPr lang="en-IN" sz="2880" spc="-491" dirty="0" smtClean="0">
                <a:cs typeface="Microsoft Sans Serif"/>
              </a:rPr>
              <a:t> </a:t>
            </a:r>
            <a:r>
              <a:rPr sz="2880" spc="-23" dirty="0" smtClean="0">
                <a:cs typeface="Microsoft Sans Serif"/>
              </a:rPr>
              <a:t>of </a:t>
            </a:r>
            <a:r>
              <a:rPr sz="2880" spc="-162" dirty="0">
                <a:cs typeface="Microsoft Sans Serif"/>
              </a:rPr>
              <a:t>reasoning</a:t>
            </a:r>
            <a:r>
              <a:rPr sz="2880" spc="-131" dirty="0">
                <a:cs typeface="Microsoft Sans Serif"/>
              </a:rPr>
              <a:t> </a:t>
            </a:r>
            <a:r>
              <a:rPr sz="2880" spc="-117" dirty="0">
                <a:cs typeface="Microsoft Sans Serif"/>
              </a:rPr>
              <a:t>are</a:t>
            </a:r>
            <a:r>
              <a:rPr sz="2880" spc="-126" dirty="0">
                <a:cs typeface="Microsoft Sans Serif"/>
              </a:rPr>
              <a:t> </a:t>
            </a:r>
            <a:r>
              <a:rPr sz="2880" spc="-45" dirty="0">
                <a:cs typeface="Microsoft Sans Serif"/>
              </a:rPr>
              <a:t>correct,</a:t>
            </a:r>
            <a:r>
              <a:rPr sz="2880" spc="-324" dirty="0">
                <a:cs typeface="Microsoft Sans Serif"/>
              </a:rPr>
              <a:t> </a:t>
            </a:r>
            <a:r>
              <a:rPr sz="2880" spc="-162" dirty="0">
                <a:cs typeface="Microsoft Sans Serif"/>
              </a:rPr>
              <a:t>and</a:t>
            </a:r>
            <a:r>
              <a:rPr sz="2880" spc="-194" dirty="0">
                <a:cs typeface="Microsoft Sans Serif"/>
              </a:rPr>
              <a:t> </a:t>
            </a:r>
            <a:r>
              <a:rPr sz="2880" spc="-27" dirty="0">
                <a:cs typeface="Microsoft Sans Serif"/>
              </a:rPr>
              <a:t>the</a:t>
            </a:r>
            <a:r>
              <a:rPr sz="2880" spc="-36" dirty="0">
                <a:cs typeface="Microsoft Sans Serif"/>
              </a:rPr>
              <a:t> </a:t>
            </a:r>
            <a:r>
              <a:rPr sz="2880" spc="-153" dirty="0">
                <a:cs typeface="Microsoft Sans Serif"/>
              </a:rPr>
              <a:t>second</a:t>
            </a:r>
            <a:r>
              <a:rPr sz="2880" spc="-167" dirty="0">
                <a:cs typeface="Microsoft Sans Serif"/>
              </a:rPr>
              <a:t> </a:t>
            </a:r>
            <a:r>
              <a:rPr sz="2880" dirty="0">
                <a:cs typeface="Microsoft Sans Serif"/>
              </a:rPr>
              <a:t>two</a:t>
            </a:r>
            <a:r>
              <a:rPr sz="2880" spc="54" dirty="0">
                <a:cs typeface="Microsoft Sans Serif"/>
              </a:rPr>
              <a:t> </a:t>
            </a:r>
            <a:r>
              <a:rPr sz="2880" spc="-117" dirty="0">
                <a:cs typeface="Microsoft Sans Serif"/>
              </a:rPr>
              <a:t>are</a:t>
            </a:r>
            <a:r>
              <a:rPr sz="2880" spc="-108" dirty="0">
                <a:cs typeface="Microsoft Sans Serif"/>
              </a:rPr>
              <a:t> </a:t>
            </a:r>
            <a:r>
              <a:rPr sz="2880" spc="-32" dirty="0">
                <a:cs typeface="Microsoft Sans Serif"/>
              </a:rPr>
              <a:t>incorrect.</a:t>
            </a:r>
            <a:endParaRPr sz="2880" dirty="0">
              <a:cs typeface="Microsoft Sans Serif"/>
            </a:endParaRP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3932" y="4389120"/>
            <a:ext cx="7315200" cy="2103120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19674" y="-22486"/>
            <a:ext cx="8008430" cy="3899337"/>
          </a:xfrm>
          <a:prstGeom prst="rect">
            <a:avLst/>
          </a:prstGeom>
        </p:spPr>
        <p:txBody>
          <a:bodyPr vert="horz" wrap="square" lIns="0" tIns="258890" rIns="0" bIns="0" rtlCol="0">
            <a:spAutoFit/>
          </a:bodyPr>
          <a:lstStyle/>
          <a:p>
            <a:pPr marL="11430">
              <a:spcBef>
                <a:spcPts val="2039"/>
              </a:spcBef>
            </a:pPr>
            <a:r>
              <a:rPr sz="2880" b="1" spc="131" dirty="0">
                <a:latin typeface="Trebuchet MS"/>
                <a:cs typeface="Trebuchet MS"/>
              </a:rPr>
              <a:t>The</a:t>
            </a:r>
            <a:r>
              <a:rPr sz="2880" b="1" spc="194" dirty="0">
                <a:latin typeface="Trebuchet MS"/>
                <a:cs typeface="Trebuchet MS"/>
              </a:rPr>
              <a:t> </a:t>
            </a:r>
            <a:r>
              <a:rPr sz="2880" b="1" spc="198" dirty="0">
                <a:latin typeface="Trebuchet MS"/>
                <a:cs typeface="Trebuchet MS"/>
              </a:rPr>
              <a:t>Wason</a:t>
            </a:r>
            <a:r>
              <a:rPr sz="2880" b="1" spc="238" dirty="0">
                <a:latin typeface="Trebuchet MS"/>
                <a:cs typeface="Trebuchet MS"/>
              </a:rPr>
              <a:t> </a:t>
            </a:r>
            <a:r>
              <a:rPr sz="2880" b="1" spc="86" dirty="0">
                <a:latin typeface="Trebuchet MS"/>
                <a:cs typeface="Trebuchet MS"/>
              </a:rPr>
              <a:t>Selection </a:t>
            </a:r>
            <a:r>
              <a:rPr sz="2880" b="1" spc="45" dirty="0">
                <a:latin typeface="Trebuchet MS"/>
                <a:cs typeface="Trebuchet MS"/>
              </a:rPr>
              <a:t>Task</a:t>
            </a:r>
            <a:endParaRPr sz="2880">
              <a:latin typeface="Trebuchet MS"/>
              <a:cs typeface="Trebuchet MS"/>
            </a:endParaRPr>
          </a:p>
          <a:p>
            <a:pPr marL="57722" marR="708660">
              <a:lnSpc>
                <a:spcPts val="3240"/>
              </a:lnSpc>
              <a:spcBef>
                <a:spcPts val="2232"/>
              </a:spcBef>
            </a:pPr>
            <a:r>
              <a:rPr sz="2880" spc="-189" dirty="0">
                <a:latin typeface="Microsoft Sans Serif"/>
                <a:cs typeface="Microsoft Sans Serif"/>
              </a:rPr>
              <a:t>Assume:</a:t>
            </a:r>
            <a:r>
              <a:rPr sz="2880" spc="-450" dirty="0">
                <a:latin typeface="Microsoft Sans Serif"/>
                <a:cs typeface="Microsoft Sans Serif"/>
              </a:rPr>
              <a:t> </a:t>
            </a:r>
            <a:r>
              <a:rPr sz="2880" spc="-482" dirty="0">
                <a:latin typeface="Microsoft Sans Serif"/>
                <a:cs typeface="Microsoft Sans Serif"/>
              </a:rPr>
              <a:t>E</a:t>
            </a:r>
            <a:r>
              <a:rPr sz="2880" spc="-410" dirty="0">
                <a:latin typeface="Microsoft Sans Serif"/>
                <a:cs typeface="Microsoft Sans Serif"/>
              </a:rPr>
              <a:t>a</a:t>
            </a:r>
            <a:r>
              <a:rPr sz="2880" spc="-176" dirty="0">
                <a:latin typeface="Microsoft Sans Serif"/>
                <a:cs typeface="Microsoft Sans Serif"/>
              </a:rPr>
              <a:t>c</a:t>
            </a:r>
            <a:r>
              <a:rPr sz="2880" spc="-5" dirty="0">
                <a:latin typeface="Microsoft Sans Serif"/>
                <a:cs typeface="Microsoft Sans Serif"/>
              </a:rPr>
              <a:t>h</a:t>
            </a:r>
            <a:r>
              <a:rPr sz="2880" spc="-131" dirty="0">
                <a:latin typeface="Microsoft Sans Serif"/>
                <a:cs typeface="Microsoft Sans Serif"/>
              </a:rPr>
              <a:t> </a:t>
            </a:r>
            <a:r>
              <a:rPr sz="2880" spc="-257" dirty="0">
                <a:latin typeface="Microsoft Sans Serif"/>
                <a:cs typeface="Microsoft Sans Serif"/>
              </a:rPr>
              <a:t>c</a:t>
            </a:r>
            <a:r>
              <a:rPr sz="2880" spc="-311" dirty="0">
                <a:latin typeface="Microsoft Sans Serif"/>
                <a:cs typeface="Microsoft Sans Serif"/>
              </a:rPr>
              <a:t>a</a:t>
            </a:r>
            <a:r>
              <a:rPr sz="2880" spc="140" dirty="0">
                <a:latin typeface="Microsoft Sans Serif"/>
                <a:cs typeface="Microsoft Sans Serif"/>
              </a:rPr>
              <a:t>r</a:t>
            </a:r>
            <a:r>
              <a:rPr sz="2880" dirty="0">
                <a:latin typeface="Microsoft Sans Serif"/>
                <a:cs typeface="Microsoft Sans Serif"/>
              </a:rPr>
              <a:t>d</a:t>
            </a:r>
            <a:r>
              <a:rPr sz="2880" spc="-108" dirty="0">
                <a:latin typeface="Microsoft Sans Serif"/>
                <a:cs typeface="Microsoft Sans Serif"/>
              </a:rPr>
              <a:t> </a:t>
            </a:r>
            <a:r>
              <a:rPr sz="2880" spc="-194" dirty="0">
                <a:latin typeface="Microsoft Sans Serif"/>
                <a:cs typeface="Microsoft Sans Serif"/>
              </a:rPr>
              <a:t>has</a:t>
            </a:r>
            <a:r>
              <a:rPr sz="2880" spc="-297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a</a:t>
            </a:r>
            <a:r>
              <a:rPr sz="2880" spc="-342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letter</a:t>
            </a:r>
            <a:r>
              <a:rPr sz="2880" spc="45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on</a:t>
            </a:r>
            <a:r>
              <a:rPr sz="2880" spc="-131" dirty="0">
                <a:latin typeface="Microsoft Sans Serif"/>
                <a:cs typeface="Microsoft Sans Serif"/>
              </a:rPr>
              <a:t> </a:t>
            </a:r>
            <a:r>
              <a:rPr sz="2880" spc="-77" dirty="0">
                <a:latin typeface="Microsoft Sans Serif"/>
                <a:cs typeface="Microsoft Sans Serif"/>
              </a:rPr>
              <a:t>one</a:t>
            </a:r>
            <a:r>
              <a:rPr sz="2880" spc="-167" dirty="0">
                <a:latin typeface="Microsoft Sans Serif"/>
                <a:cs typeface="Microsoft Sans Serif"/>
              </a:rPr>
              <a:t> </a:t>
            </a:r>
            <a:r>
              <a:rPr sz="2880" spc="-135" dirty="0">
                <a:latin typeface="Microsoft Sans Serif"/>
                <a:cs typeface="Microsoft Sans Serif"/>
              </a:rPr>
              <a:t>side</a:t>
            </a:r>
            <a:r>
              <a:rPr sz="2880" spc="-189" dirty="0">
                <a:latin typeface="Microsoft Sans Serif"/>
                <a:cs typeface="Microsoft Sans Serif"/>
              </a:rPr>
              <a:t> and</a:t>
            </a:r>
            <a:r>
              <a:rPr sz="2880" spc="-113" dirty="0">
                <a:latin typeface="Microsoft Sans Serif"/>
                <a:cs typeface="Microsoft Sans Serif"/>
              </a:rPr>
              <a:t> </a:t>
            </a:r>
            <a:r>
              <a:rPr sz="2880" spc="-45" dirty="0">
                <a:latin typeface="Microsoft Sans Serif"/>
                <a:cs typeface="Microsoft Sans Serif"/>
              </a:rPr>
              <a:t>a </a:t>
            </a:r>
            <a:r>
              <a:rPr sz="2880" spc="-113" dirty="0">
                <a:latin typeface="Microsoft Sans Serif"/>
                <a:cs typeface="Microsoft Sans Serif"/>
              </a:rPr>
              <a:t>number</a:t>
            </a:r>
            <a:r>
              <a:rPr sz="2880" spc="-99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on</a:t>
            </a:r>
            <a:r>
              <a:rPr sz="2880" spc="-194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the</a:t>
            </a:r>
            <a:r>
              <a:rPr sz="2880" spc="-140" dirty="0">
                <a:latin typeface="Microsoft Sans Serif"/>
                <a:cs typeface="Microsoft Sans Serif"/>
              </a:rPr>
              <a:t> </a:t>
            </a:r>
            <a:r>
              <a:rPr sz="2880" spc="-9" dirty="0">
                <a:latin typeface="Microsoft Sans Serif"/>
                <a:cs typeface="Microsoft Sans Serif"/>
              </a:rPr>
              <a:t>other</a:t>
            </a:r>
            <a:endParaRPr sz="2880">
              <a:latin typeface="Microsoft Sans Serif"/>
              <a:cs typeface="Microsoft Sans Serif"/>
            </a:endParaRPr>
          </a:p>
          <a:p>
            <a:pPr>
              <a:spcBef>
                <a:spcPts val="90"/>
              </a:spcBef>
            </a:pPr>
            <a:endParaRPr sz="2880">
              <a:latin typeface="Microsoft Sans Serif"/>
              <a:cs typeface="Microsoft Sans Serif"/>
            </a:endParaRPr>
          </a:p>
          <a:p>
            <a:pPr marL="57722" marR="297752">
              <a:lnSpc>
                <a:spcPts val="3240"/>
              </a:lnSpc>
            </a:pPr>
            <a:r>
              <a:rPr sz="2880" spc="-158" dirty="0">
                <a:latin typeface="Microsoft Sans Serif"/>
                <a:cs typeface="Microsoft Sans Serif"/>
              </a:rPr>
              <a:t>Rule:</a:t>
            </a:r>
            <a:r>
              <a:rPr sz="2880" spc="-455" dirty="0">
                <a:latin typeface="Microsoft Sans Serif"/>
                <a:cs typeface="Microsoft Sans Serif"/>
              </a:rPr>
              <a:t> </a:t>
            </a:r>
            <a:r>
              <a:rPr sz="2880" i="1" dirty="0">
                <a:latin typeface="Arial"/>
                <a:cs typeface="Arial"/>
              </a:rPr>
              <a:t>If</a:t>
            </a:r>
            <a:r>
              <a:rPr sz="2880" i="1" spc="-171" dirty="0">
                <a:latin typeface="Arial"/>
                <a:cs typeface="Arial"/>
              </a:rPr>
              <a:t> </a:t>
            </a:r>
            <a:r>
              <a:rPr sz="2880" spc="-45" dirty="0">
                <a:latin typeface="Microsoft Sans Serif"/>
                <a:cs typeface="Microsoft Sans Serif"/>
              </a:rPr>
              <a:t>there</a:t>
            </a:r>
            <a:r>
              <a:rPr sz="2880" spc="-77" dirty="0">
                <a:latin typeface="Microsoft Sans Serif"/>
                <a:cs typeface="Microsoft Sans Serif"/>
              </a:rPr>
              <a:t> </a:t>
            </a:r>
            <a:r>
              <a:rPr sz="2880" spc="-103" dirty="0">
                <a:latin typeface="Microsoft Sans Serif"/>
                <a:cs typeface="Microsoft Sans Serif"/>
              </a:rPr>
              <a:t>is</a:t>
            </a:r>
            <a:r>
              <a:rPr sz="2880" spc="-149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a</a:t>
            </a:r>
            <a:r>
              <a:rPr sz="2880" spc="-342" dirty="0">
                <a:latin typeface="Microsoft Sans Serif"/>
                <a:cs typeface="Microsoft Sans Serif"/>
              </a:rPr>
              <a:t> </a:t>
            </a:r>
            <a:r>
              <a:rPr sz="2880" spc="-103" dirty="0">
                <a:latin typeface="Microsoft Sans Serif"/>
                <a:cs typeface="Microsoft Sans Serif"/>
              </a:rPr>
              <a:t>vowel</a:t>
            </a:r>
            <a:r>
              <a:rPr sz="2880" spc="-95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on</a:t>
            </a:r>
            <a:r>
              <a:rPr sz="2880" spc="-86" dirty="0">
                <a:latin typeface="Microsoft Sans Serif"/>
                <a:cs typeface="Microsoft Sans Serif"/>
              </a:rPr>
              <a:t> </a:t>
            </a:r>
            <a:r>
              <a:rPr sz="2880" spc="-99" dirty="0">
                <a:latin typeface="Microsoft Sans Serif"/>
                <a:cs typeface="Microsoft Sans Serif"/>
              </a:rPr>
              <a:t>one</a:t>
            </a:r>
            <a:r>
              <a:rPr sz="2880" spc="-103" dirty="0">
                <a:latin typeface="Microsoft Sans Serif"/>
                <a:cs typeface="Microsoft Sans Serif"/>
              </a:rPr>
              <a:t> </a:t>
            </a:r>
            <a:r>
              <a:rPr sz="2880" spc="-144" dirty="0">
                <a:latin typeface="Microsoft Sans Serif"/>
                <a:cs typeface="Microsoft Sans Serif"/>
              </a:rPr>
              <a:t>side,</a:t>
            </a:r>
            <a:r>
              <a:rPr sz="2880" spc="-446" dirty="0">
                <a:latin typeface="Microsoft Sans Serif"/>
                <a:cs typeface="Microsoft Sans Serif"/>
              </a:rPr>
              <a:t> </a:t>
            </a:r>
            <a:r>
              <a:rPr sz="2880" i="1" spc="-176" dirty="0">
                <a:latin typeface="Arial"/>
                <a:cs typeface="Arial"/>
              </a:rPr>
              <a:t>then</a:t>
            </a:r>
            <a:r>
              <a:rPr sz="2880" i="1" spc="-212" dirty="0">
                <a:latin typeface="Arial"/>
                <a:cs typeface="Arial"/>
              </a:rPr>
              <a:t> </a:t>
            </a:r>
            <a:r>
              <a:rPr sz="2880" spc="-45" dirty="0">
                <a:latin typeface="Microsoft Sans Serif"/>
                <a:cs typeface="Microsoft Sans Serif"/>
              </a:rPr>
              <a:t>there</a:t>
            </a:r>
            <a:r>
              <a:rPr sz="2880" spc="-72" dirty="0">
                <a:latin typeface="Microsoft Sans Serif"/>
                <a:cs typeface="Microsoft Sans Serif"/>
              </a:rPr>
              <a:t> </a:t>
            </a:r>
            <a:r>
              <a:rPr sz="2880" spc="-103" dirty="0">
                <a:latin typeface="Microsoft Sans Serif"/>
                <a:cs typeface="Microsoft Sans Serif"/>
              </a:rPr>
              <a:t>is</a:t>
            </a:r>
            <a:r>
              <a:rPr sz="2880" spc="-149" dirty="0">
                <a:latin typeface="Microsoft Sans Serif"/>
                <a:cs typeface="Microsoft Sans Serif"/>
              </a:rPr>
              <a:t> </a:t>
            </a:r>
            <a:r>
              <a:rPr sz="2880" spc="-302" dirty="0">
                <a:latin typeface="Microsoft Sans Serif"/>
                <a:cs typeface="Microsoft Sans Serif"/>
              </a:rPr>
              <a:t>an </a:t>
            </a:r>
            <a:r>
              <a:rPr sz="2880" spc="-77" dirty="0">
                <a:latin typeface="Microsoft Sans Serif"/>
                <a:cs typeface="Microsoft Sans Serif"/>
              </a:rPr>
              <a:t>odd</a:t>
            </a:r>
            <a:r>
              <a:rPr sz="2880" spc="-126" dirty="0">
                <a:latin typeface="Microsoft Sans Serif"/>
                <a:cs typeface="Microsoft Sans Serif"/>
              </a:rPr>
              <a:t> </a:t>
            </a:r>
            <a:r>
              <a:rPr sz="2880" spc="-117" dirty="0">
                <a:latin typeface="Microsoft Sans Serif"/>
                <a:cs typeface="Microsoft Sans Serif"/>
              </a:rPr>
              <a:t>number</a:t>
            </a:r>
            <a:r>
              <a:rPr sz="2880" spc="-86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on</a:t>
            </a:r>
            <a:r>
              <a:rPr sz="2880" spc="-171" dirty="0">
                <a:latin typeface="Microsoft Sans Serif"/>
                <a:cs typeface="Microsoft Sans Serif"/>
              </a:rPr>
              <a:t> </a:t>
            </a:r>
            <a:r>
              <a:rPr sz="2880" spc="-32" dirty="0">
                <a:latin typeface="Microsoft Sans Serif"/>
                <a:cs typeface="Microsoft Sans Serif"/>
              </a:rPr>
              <a:t>the</a:t>
            </a:r>
            <a:r>
              <a:rPr sz="2880" spc="-95" dirty="0">
                <a:latin typeface="Microsoft Sans Serif"/>
                <a:cs typeface="Microsoft Sans Serif"/>
              </a:rPr>
              <a:t> </a:t>
            </a:r>
            <a:r>
              <a:rPr sz="2880" spc="-9" dirty="0">
                <a:latin typeface="Microsoft Sans Serif"/>
                <a:cs typeface="Microsoft Sans Serif"/>
              </a:rPr>
              <a:t>other.</a:t>
            </a:r>
            <a:endParaRPr sz="2880">
              <a:latin typeface="Microsoft Sans Serif"/>
              <a:cs typeface="Microsoft Sans Serif"/>
            </a:endParaRPr>
          </a:p>
          <a:p>
            <a:pPr marL="57722">
              <a:spcBef>
                <a:spcPts val="2903"/>
              </a:spcBef>
            </a:pPr>
            <a:r>
              <a:rPr sz="2880" dirty="0">
                <a:latin typeface="Microsoft Sans Serif"/>
                <a:cs typeface="Microsoft Sans Serif"/>
              </a:rPr>
              <a:t>Q:Which</a:t>
            </a:r>
            <a:r>
              <a:rPr sz="2880" spc="-117" dirty="0">
                <a:latin typeface="Microsoft Sans Serif"/>
                <a:cs typeface="Microsoft Sans Serif"/>
              </a:rPr>
              <a:t> </a:t>
            </a:r>
            <a:r>
              <a:rPr sz="2880" spc="-131" dirty="0">
                <a:latin typeface="Microsoft Sans Serif"/>
                <a:cs typeface="Microsoft Sans Serif"/>
              </a:rPr>
              <a:t>card(s)</a:t>
            </a:r>
            <a:r>
              <a:rPr sz="2880" spc="-140" dirty="0">
                <a:latin typeface="Microsoft Sans Serif"/>
                <a:cs typeface="Microsoft Sans Serif"/>
              </a:rPr>
              <a:t> </a:t>
            </a:r>
            <a:r>
              <a:rPr sz="2880" spc="-117" dirty="0">
                <a:latin typeface="Microsoft Sans Serif"/>
                <a:cs typeface="Microsoft Sans Serif"/>
              </a:rPr>
              <a:t>must</a:t>
            </a:r>
            <a:r>
              <a:rPr sz="2880" spc="-122" dirty="0">
                <a:latin typeface="Microsoft Sans Serif"/>
                <a:cs typeface="Microsoft Sans Serif"/>
              </a:rPr>
              <a:t> </a:t>
            </a:r>
            <a:r>
              <a:rPr sz="2880" spc="-103" dirty="0">
                <a:latin typeface="Microsoft Sans Serif"/>
                <a:cs typeface="Microsoft Sans Serif"/>
              </a:rPr>
              <a:t>you</a:t>
            </a:r>
            <a:r>
              <a:rPr sz="2880" spc="-126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turn</a:t>
            </a:r>
            <a:r>
              <a:rPr sz="2880" spc="-41" dirty="0">
                <a:latin typeface="Microsoft Sans Serif"/>
                <a:cs typeface="Microsoft Sans Serif"/>
              </a:rPr>
              <a:t> </a:t>
            </a:r>
            <a:r>
              <a:rPr sz="2880" spc="-45" dirty="0">
                <a:latin typeface="Microsoft Sans Serif"/>
                <a:cs typeface="Microsoft Sans Serif"/>
              </a:rPr>
              <a:t>over</a:t>
            </a:r>
            <a:r>
              <a:rPr sz="2880" spc="-77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to</a:t>
            </a:r>
            <a:r>
              <a:rPr sz="2880" spc="45" dirty="0">
                <a:latin typeface="Microsoft Sans Serif"/>
                <a:cs typeface="Microsoft Sans Serif"/>
              </a:rPr>
              <a:t> </a:t>
            </a:r>
            <a:r>
              <a:rPr sz="2880" spc="-18" dirty="0">
                <a:latin typeface="Microsoft Sans Serif"/>
                <a:cs typeface="Microsoft Sans Serif"/>
              </a:rPr>
              <a:t>test</a:t>
            </a:r>
            <a:r>
              <a:rPr sz="2880" spc="-77" dirty="0">
                <a:latin typeface="Microsoft Sans Serif"/>
                <a:cs typeface="Microsoft Sans Serif"/>
              </a:rPr>
              <a:t> </a:t>
            </a:r>
            <a:r>
              <a:rPr sz="2880" spc="-32" dirty="0">
                <a:latin typeface="Microsoft Sans Serif"/>
                <a:cs typeface="Microsoft Sans Serif"/>
              </a:rPr>
              <a:t>the</a:t>
            </a:r>
            <a:r>
              <a:rPr sz="2880" spc="-90" dirty="0">
                <a:latin typeface="Microsoft Sans Serif"/>
                <a:cs typeface="Microsoft Sans Serif"/>
              </a:rPr>
              <a:t> </a:t>
            </a:r>
            <a:r>
              <a:rPr sz="2880" spc="-81" dirty="0">
                <a:latin typeface="Microsoft Sans Serif"/>
                <a:cs typeface="Microsoft Sans Serif"/>
              </a:rPr>
              <a:t>rule?</a:t>
            </a:r>
            <a:endParaRPr sz="288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14486" y="647976"/>
            <a:ext cx="1945958" cy="455317"/>
          </a:xfrm>
          <a:prstGeom prst="rect">
            <a:avLst/>
          </a:prstGeom>
        </p:spPr>
        <p:txBody>
          <a:bodyPr vert="horz" wrap="square" lIns="0" tIns="12002" rIns="0" bIns="0" rtlCol="0" anchor="b">
            <a:spAutoFit/>
          </a:bodyPr>
          <a:lstStyle/>
          <a:p>
            <a:pPr marL="11430">
              <a:lnSpc>
                <a:spcPct val="100000"/>
              </a:lnSpc>
              <a:spcBef>
                <a:spcPts val="95"/>
              </a:spcBef>
              <a:tabLst>
                <a:tab pos="512064" algn="l"/>
              </a:tabLst>
            </a:pPr>
            <a:r>
              <a:rPr sz="2880" spc="45" dirty="0">
                <a:latin typeface="Trebuchet MS"/>
                <a:cs typeface="Trebuchet MS"/>
              </a:rPr>
              <a:t>If</a:t>
            </a:r>
            <a:r>
              <a:rPr sz="2880" dirty="0">
                <a:latin typeface="Trebuchet MS"/>
                <a:cs typeface="Trebuchet MS"/>
              </a:rPr>
              <a:t>	V</a:t>
            </a:r>
            <a:r>
              <a:rPr sz="2880" spc="-472" dirty="0">
                <a:latin typeface="Trebuchet MS"/>
                <a:cs typeface="Trebuchet MS"/>
              </a:rPr>
              <a:t> </a:t>
            </a:r>
            <a:r>
              <a:rPr sz="2880" dirty="0">
                <a:latin typeface="Trebuchet MS"/>
                <a:cs typeface="Trebuchet MS"/>
              </a:rPr>
              <a:t>O</a:t>
            </a:r>
            <a:r>
              <a:rPr sz="2880" spc="-472" dirty="0">
                <a:latin typeface="Trebuchet MS"/>
                <a:cs typeface="Trebuchet MS"/>
              </a:rPr>
              <a:t> </a:t>
            </a:r>
            <a:r>
              <a:rPr sz="2880" dirty="0">
                <a:latin typeface="Trebuchet MS"/>
                <a:cs typeface="Trebuchet MS"/>
              </a:rPr>
              <a:t>W</a:t>
            </a:r>
            <a:r>
              <a:rPr sz="2880" spc="-468" dirty="0">
                <a:latin typeface="Trebuchet MS"/>
                <a:cs typeface="Trebuchet MS"/>
              </a:rPr>
              <a:t> </a:t>
            </a:r>
            <a:r>
              <a:rPr sz="2880" spc="-23" dirty="0">
                <a:latin typeface="Trebuchet MS"/>
                <a:cs typeface="Trebuchet MS"/>
              </a:rPr>
              <a:t>E</a:t>
            </a:r>
            <a:r>
              <a:rPr sz="2880" spc="-472" dirty="0">
                <a:latin typeface="Trebuchet MS"/>
                <a:cs typeface="Trebuchet MS"/>
              </a:rPr>
              <a:t> </a:t>
            </a:r>
            <a:r>
              <a:rPr sz="2880" spc="-45" dirty="0">
                <a:latin typeface="Trebuchet MS"/>
                <a:cs typeface="Trebuchet MS"/>
              </a:rPr>
              <a:t>L</a:t>
            </a:r>
            <a:endParaRPr sz="288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708246" y="640377"/>
            <a:ext cx="1827657" cy="455317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80" b="1" spc="86" dirty="0">
                <a:solidFill>
                  <a:srgbClr val="404040"/>
                </a:solidFill>
                <a:latin typeface="Trebuchet MS"/>
                <a:cs typeface="Trebuchet MS"/>
              </a:rPr>
              <a:t>then</a:t>
            </a:r>
            <a:r>
              <a:rPr sz="2880" b="1" spc="45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80" b="1" dirty="0">
                <a:solidFill>
                  <a:srgbClr val="404040"/>
                </a:solidFill>
                <a:latin typeface="Trebuchet MS"/>
                <a:cs typeface="Trebuchet MS"/>
              </a:rPr>
              <a:t>O</a:t>
            </a:r>
            <a:r>
              <a:rPr sz="2880" b="1" spc="-378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80" b="1" spc="-27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r>
              <a:rPr sz="2880" b="1" spc="-374" dirty="0">
                <a:solidFill>
                  <a:srgbClr val="404040"/>
                </a:solidFill>
                <a:latin typeface="Trebuchet MS"/>
                <a:cs typeface="Trebuchet MS"/>
              </a:rPr>
              <a:t> </a:t>
            </a:r>
            <a:r>
              <a:rPr sz="2880" b="1" spc="-45" dirty="0">
                <a:solidFill>
                  <a:srgbClr val="404040"/>
                </a:solidFill>
                <a:latin typeface="Trebuchet MS"/>
                <a:cs typeface="Trebuchet MS"/>
              </a:rPr>
              <a:t>D</a:t>
            </a:r>
            <a:endParaRPr sz="288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6947" y="1822399"/>
            <a:ext cx="6681406" cy="2204001"/>
          </a:xfrm>
          <a:prstGeom prst="rect">
            <a:avLst/>
          </a:prstGeom>
        </p:spPr>
        <p:txBody>
          <a:bodyPr vert="horz" wrap="square" lIns="0" tIns="10859" rIns="0" bIns="0" rtlCol="0">
            <a:spAutoFit/>
          </a:bodyPr>
          <a:lstStyle/>
          <a:p>
            <a:pPr marL="11430">
              <a:spcBef>
                <a:spcPts val="86"/>
              </a:spcBef>
              <a:tabLst>
                <a:tab pos="4257104" algn="l"/>
                <a:tab pos="4639437" algn="l"/>
              </a:tabLst>
            </a:pPr>
            <a:r>
              <a:rPr sz="2250" spc="-63" dirty="0">
                <a:latin typeface="Microsoft Sans Serif"/>
                <a:cs typeface="Microsoft Sans Serif"/>
              </a:rPr>
              <a:t>Affirming</a:t>
            </a:r>
            <a:r>
              <a:rPr sz="2250" spc="-32" dirty="0">
                <a:latin typeface="Microsoft Sans Serif"/>
                <a:cs typeface="Microsoft Sans Serif"/>
              </a:rPr>
              <a:t> </a:t>
            </a:r>
            <a:r>
              <a:rPr sz="2250" spc="-9" dirty="0">
                <a:latin typeface="Microsoft Sans Serif"/>
                <a:cs typeface="Microsoft Sans Serif"/>
              </a:rPr>
              <a:t>the</a:t>
            </a:r>
            <a:r>
              <a:rPr sz="2250" spc="-32" dirty="0">
                <a:latin typeface="Microsoft Sans Serif"/>
                <a:cs typeface="Microsoft Sans Serif"/>
              </a:rPr>
              <a:t> </a:t>
            </a:r>
            <a:r>
              <a:rPr sz="2250" spc="-108" dirty="0">
                <a:latin typeface="Microsoft Sans Serif"/>
                <a:cs typeface="Microsoft Sans Serif"/>
              </a:rPr>
              <a:t>antecedent</a:t>
            </a:r>
            <a:r>
              <a:rPr sz="2250" spc="-95" dirty="0">
                <a:latin typeface="Microsoft Sans Serif"/>
                <a:cs typeface="Microsoft Sans Serif"/>
              </a:rPr>
              <a:t> </a:t>
            </a:r>
            <a:r>
              <a:rPr sz="2250" spc="-9" dirty="0">
                <a:latin typeface="Microsoft Sans Serif"/>
                <a:cs typeface="Microsoft Sans Serif"/>
              </a:rPr>
              <a:t>(correct):</a:t>
            </a:r>
            <a:r>
              <a:rPr sz="2250" dirty="0">
                <a:latin typeface="Microsoft Sans Serif"/>
                <a:cs typeface="Microsoft Sans Serif"/>
              </a:rPr>
              <a:t>	</a:t>
            </a:r>
            <a:r>
              <a:rPr sz="2250" spc="-23" dirty="0">
                <a:latin typeface="Microsoft Sans Serif"/>
                <a:cs typeface="Microsoft Sans Serif"/>
              </a:rPr>
              <a:t>A,</a:t>
            </a:r>
            <a:r>
              <a:rPr sz="2250" dirty="0">
                <a:latin typeface="Microsoft Sans Serif"/>
                <a:cs typeface="Microsoft Sans Serif"/>
              </a:rPr>
              <a:t>	</a:t>
            </a:r>
            <a:r>
              <a:rPr sz="2250" spc="-45" dirty="0">
                <a:latin typeface="Microsoft Sans Serif"/>
                <a:cs typeface="Microsoft Sans Serif"/>
              </a:rPr>
              <a:t>therefore</a:t>
            </a:r>
            <a:r>
              <a:rPr sz="2250" spc="-72" dirty="0">
                <a:latin typeface="Microsoft Sans Serif"/>
                <a:cs typeface="Microsoft Sans Serif"/>
              </a:rPr>
              <a:t> </a:t>
            </a:r>
            <a:r>
              <a:rPr sz="2250" spc="-45" dirty="0">
                <a:latin typeface="Microsoft Sans Serif"/>
                <a:cs typeface="Microsoft Sans Serif"/>
              </a:rPr>
              <a:t>B</a:t>
            </a:r>
            <a:endParaRPr sz="2250">
              <a:latin typeface="Microsoft Sans Serif"/>
              <a:cs typeface="Microsoft Sans Serif"/>
            </a:endParaRPr>
          </a:p>
          <a:p>
            <a:pPr marL="11430">
              <a:spcBef>
                <a:spcPts val="1719"/>
              </a:spcBef>
              <a:tabLst>
                <a:tab pos="4134803" algn="l"/>
              </a:tabLst>
            </a:pPr>
            <a:r>
              <a:rPr sz="2250" spc="-108" dirty="0">
                <a:latin typeface="Microsoft Sans Serif"/>
                <a:cs typeface="Microsoft Sans Serif"/>
              </a:rPr>
              <a:t>Denying</a:t>
            </a:r>
            <a:r>
              <a:rPr sz="2250" spc="-194" dirty="0">
                <a:latin typeface="Microsoft Sans Serif"/>
                <a:cs typeface="Microsoft Sans Serif"/>
              </a:rPr>
              <a:t> </a:t>
            </a:r>
            <a:r>
              <a:rPr sz="2250" spc="-18" dirty="0">
                <a:latin typeface="Microsoft Sans Serif"/>
                <a:cs typeface="Microsoft Sans Serif"/>
              </a:rPr>
              <a:t>the</a:t>
            </a:r>
            <a:r>
              <a:rPr sz="2250" spc="-32" dirty="0">
                <a:latin typeface="Microsoft Sans Serif"/>
                <a:cs typeface="Microsoft Sans Serif"/>
              </a:rPr>
              <a:t> </a:t>
            </a:r>
            <a:r>
              <a:rPr sz="2250" spc="-113" dirty="0">
                <a:latin typeface="Microsoft Sans Serif"/>
                <a:cs typeface="Microsoft Sans Serif"/>
              </a:rPr>
              <a:t>consequent</a:t>
            </a:r>
            <a:r>
              <a:rPr sz="2250" spc="-90" dirty="0">
                <a:latin typeface="Microsoft Sans Serif"/>
                <a:cs typeface="Microsoft Sans Serif"/>
              </a:rPr>
              <a:t> </a:t>
            </a:r>
            <a:r>
              <a:rPr sz="2250" spc="-9" dirty="0">
                <a:latin typeface="Microsoft Sans Serif"/>
                <a:cs typeface="Microsoft Sans Serif"/>
              </a:rPr>
              <a:t>(correct):</a:t>
            </a:r>
            <a:r>
              <a:rPr sz="2250" dirty="0">
                <a:latin typeface="Microsoft Sans Serif"/>
                <a:cs typeface="Microsoft Sans Serif"/>
              </a:rPr>
              <a:t>	not</a:t>
            </a:r>
            <a:r>
              <a:rPr sz="2250" spc="86" dirty="0">
                <a:latin typeface="Microsoft Sans Serif"/>
                <a:cs typeface="Microsoft Sans Serif"/>
              </a:rPr>
              <a:t> </a:t>
            </a:r>
            <a:r>
              <a:rPr sz="2250" spc="-108" dirty="0">
                <a:latin typeface="Microsoft Sans Serif"/>
                <a:cs typeface="Microsoft Sans Serif"/>
              </a:rPr>
              <a:t>B,</a:t>
            </a:r>
            <a:r>
              <a:rPr sz="2250" spc="-383" dirty="0">
                <a:latin typeface="Microsoft Sans Serif"/>
                <a:cs typeface="Microsoft Sans Serif"/>
              </a:rPr>
              <a:t> </a:t>
            </a:r>
            <a:r>
              <a:rPr sz="2250" spc="-41" dirty="0">
                <a:latin typeface="Microsoft Sans Serif"/>
                <a:cs typeface="Microsoft Sans Serif"/>
              </a:rPr>
              <a:t>therefore</a:t>
            </a:r>
            <a:r>
              <a:rPr sz="2250" spc="-153" dirty="0">
                <a:latin typeface="Microsoft Sans Serif"/>
                <a:cs typeface="Microsoft Sans Serif"/>
              </a:rPr>
              <a:t> </a:t>
            </a:r>
            <a:r>
              <a:rPr sz="2250" spc="-59" dirty="0">
                <a:latin typeface="Microsoft Sans Serif"/>
                <a:cs typeface="Microsoft Sans Serif"/>
              </a:rPr>
              <a:t>not</a:t>
            </a:r>
            <a:r>
              <a:rPr sz="2250" spc="-198" dirty="0">
                <a:latin typeface="Microsoft Sans Serif"/>
                <a:cs typeface="Microsoft Sans Serif"/>
              </a:rPr>
              <a:t> </a:t>
            </a:r>
            <a:r>
              <a:rPr sz="2250" spc="-45" dirty="0">
                <a:latin typeface="Microsoft Sans Serif"/>
                <a:cs typeface="Microsoft Sans Serif"/>
              </a:rPr>
              <a:t>A</a:t>
            </a:r>
            <a:endParaRPr sz="2250">
              <a:latin typeface="Microsoft Sans Serif"/>
              <a:cs typeface="Microsoft Sans Serif"/>
            </a:endParaRPr>
          </a:p>
          <a:p>
            <a:pPr marL="11430" marR="74295">
              <a:lnSpc>
                <a:spcPts val="5220"/>
              </a:lnSpc>
              <a:spcBef>
                <a:spcPts val="401"/>
              </a:spcBef>
              <a:tabLst>
                <a:tab pos="2924937" algn="l"/>
                <a:tab pos="4035933" algn="l"/>
                <a:tab pos="4136517" algn="l"/>
              </a:tabLst>
            </a:pPr>
            <a:r>
              <a:rPr sz="2250" spc="-54" dirty="0">
                <a:latin typeface="Microsoft Sans Serif"/>
                <a:cs typeface="Microsoft Sans Serif"/>
              </a:rPr>
              <a:t>Affirming</a:t>
            </a:r>
            <a:r>
              <a:rPr sz="2250" spc="-180" dirty="0">
                <a:latin typeface="Microsoft Sans Serif"/>
                <a:cs typeface="Microsoft Sans Serif"/>
              </a:rPr>
              <a:t> </a:t>
            </a:r>
            <a:r>
              <a:rPr sz="2250" spc="-18" dirty="0">
                <a:latin typeface="Microsoft Sans Serif"/>
                <a:cs typeface="Microsoft Sans Serif"/>
              </a:rPr>
              <a:t>the</a:t>
            </a:r>
            <a:r>
              <a:rPr sz="2250" spc="-32" dirty="0">
                <a:latin typeface="Microsoft Sans Serif"/>
                <a:cs typeface="Microsoft Sans Serif"/>
              </a:rPr>
              <a:t> </a:t>
            </a:r>
            <a:r>
              <a:rPr sz="2250" spc="-113" dirty="0">
                <a:latin typeface="Microsoft Sans Serif"/>
                <a:cs typeface="Microsoft Sans Serif"/>
              </a:rPr>
              <a:t>consequent</a:t>
            </a:r>
            <a:r>
              <a:rPr sz="2250" spc="-90" dirty="0">
                <a:latin typeface="Microsoft Sans Serif"/>
                <a:cs typeface="Microsoft Sans Serif"/>
              </a:rPr>
              <a:t> </a:t>
            </a:r>
            <a:r>
              <a:rPr sz="2250" spc="-9" dirty="0">
                <a:latin typeface="Microsoft Sans Serif"/>
                <a:cs typeface="Microsoft Sans Serif"/>
              </a:rPr>
              <a:t>(wrong):</a:t>
            </a:r>
            <a:r>
              <a:rPr sz="2250" dirty="0">
                <a:latin typeface="Microsoft Sans Serif"/>
                <a:cs typeface="Microsoft Sans Serif"/>
              </a:rPr>
              <a:t>		</a:t>
            </a:r>
            <a:r>
              <a:rPr sz="2250" spc="-108" dirty="0">
                <a:latin typeface="Microsoft Sans Serif"/>
                <a:cs typeface="Microsoft Sans Serif"/>
              </a:rPr>
              <a:t>B,</a:t>
            </a:r>
            <a:r>
              <a:rPr sz="2250" spc="-374" dirty="0">
                <a:latin typeface="Microsoft Sans Serif"/>
                <a:cs typeface="Microsoft Sans Serif"/>
              </a:rPr>
              <a:t> </a:t>
            </a:r>
            <a:r>
              <a:rPr sz="2250" spc="-9" dirty="0">
                <a:latin typeface="Microsoft Sans Serif"/>
                <a:cs typeface="Microsoft Sans Serif"/>
              </a:rPr>
              <a:t>thereforeA </a:t>
            </a:r>
            <a:r>
              <a:rPr sz="2250" spc="-108" dirty="0">
                <a:latin typeface="Microsoft Sans Serif"/>
                <a:cs typeface="Microsoft Sans Serif"/>
              </a:rPr>
              <a:t>Denying</a:t>
            </a:r>
            <a:r>
              <a:rPr sz="2250" spc="-198" dirty="0">
                <a:latin typeface="Microsoft Sans Serif"/>
                <a:cs typeface="Microsoft Sans Serif"/>
              </a:rPr>
              <a:t> </a:t>
            </a:r>
            <a:r>
              <a:rPr sz="2250" spc="-18" dirty="0">
                <a:latin typeface="Microsoft Sans Serif"/>
                <a:cs typeface="Microsoft Sans Serif"/>
              </a:rPr>
              <a:t>the</a:t>
            </a:r>
            <a:r>
              <a:rPr sz="2250" spc="-54" dirty="0">
                <a:latin typeface="Microsoft Sans Serif"/>
                <a:cs typeface="Microsoft Sans Serif"/>
              </a:rPr>
              <a:t> </a:t>
            </a:r>
            <a:r>
              <a:rPr sz="2250" spc="-9" dirty="0">
                <a:latin typeface="Microsoft Sans Serif"/>
                <a:cs typeface="Microsoft Sans Serif"/>
              </a:rPr>
              <a:t>antecedent</a:t>
            </a:r>
            <a:r>
              <a:rPr sz="2250" dirty="0">
                <a:latin typeface="Microsoft Sans Serif"/>
                <a:cs typeface="Microsoft Sans Serif"/>
              </a:rPr>
              <a:t>	</a:t>
            </a:r>
            <a:r>
              <a:rPr sz="2250" spc="-9" dirty="0">
                <a:latin typeface="Microsoft Sans Serif"/>
                <a:cs typeface="Microsoft Sans Serif"/>
              </a:rPr>
              <a:t>(wrong):</a:t>
            </a:r>
            <a:r>
              <a:rPr sz="2250" dirty="0">
                <a:latin typeface="Microsoft Sans Serif"/>
                <a:cs typeface="Microsoft Sans Serif"/>
              </a:rPr>
              <a:t>	</a:t>
            </a:r>
            <a:r>
              <a:rPr sz="2250" spc="-59" dirty="0">
                <a:latin typeface="Microsoft Sans Serif"/>
                <a:cs typeface="Microsoft Sans Serif"/>
              </a:rPr>
              <a:t>not</a:t>
            </a:r>
            <a:r>
              <a:rPr sz="2250" spc="-198" dirty="0">
                <a:latin typeface="Microsoft Sans Serif"/>
                <a:cs typeface="Microsoft Sans Serif"/>
              </a:rPr>
              <a:t> </a:t>
            </a:r>
            <a:r>
              <a:rPr sz="2250" spc="-50" dirty="0">
                <a:latin typeface="Microsoft Sans Serif"/>
                <a:cs typeface="Microsoft Sans Serif"/>
              </a:rPr>
              <a:t>A,</a:t>
            </a:r>
            <a:r>
              <a:rPr sz="2250" spc="-261" dirty="0">
                <a:latin typeface="Microsoft Sans Serif"/>
                <a:cs typeface="Microsoft Sans Serif"/>
              </a:rPr>
              <a:t> </a:t>
            </a:r>
            <a:r>
              <a:rPr sz="2250" spc="-41" dirty="0">
                <a:latin typeface="Microsoft Sans Serif"/>
                <a:cs typeface="Microsoft Sans Serif"/>
              </a:rPr>
              <a:t>therefore</a:t>
            </a:r>
            <a:r>
              <a:rPr sz="2250" spc="-167" dirty="0">
                <a:latin typeface="Microsoft Sans Serif"/>
                <a:cs typeface="Microsoft Sans Serif"/>
              </a:rPr>
              <a:t> </a:t>
            </a:r>
            <a:r>
              <a:rPr sz="2250" dirty="0">
                <a:latin typeface="Microsoft Sans Serif"/>
                <a:cs typeface="Microsoft Sans Serif"/>
              </a:rPr>
              <a:t>not</a:t>
            </a:r>
            <a:r>
              <a:rPr sz="2250" spc="90" dirty="0">
                <a:latin typeface="Microsoft Sans Serif"/>
                <a:cs typeface="Microsoft Sans Serif"/>
              </a:rPr>
              <a:t> </a:t>
            </a:r>
            <a:r>
              <a:rPr sz="2250" spc="-45" dirty="0">
                <a:latin typeface="Microsoft Sans Serif"/>
                <a:cs typeface="Microsoft Sans Serif"/>
              </a:rPr>
              <a:t>B</a:t>
            </a:r>
            <a:endParaRPr sz="2250"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908810" y="2844812"/>
            <a:ext cx="5863590" cy="2122184"/>
          </a:xfrm>
          <a:prstGeom prst="rect">
            <a:avLst/>
          </a:prstGeom>
        </p:spPr>
        <p:txBody>
          <a:bodyPr vert="horz" wrap="square" lIns="0" tIns="38862" rIns="0" bIns="0" rtlCol="0">
            <a:spAutoFit/>
          </a:bodyPr>
          <a:lstStyle/>
          <a:p>
            <a:pPr marL="320040" marR="4572" indent="-308610">
              <a:lnSpc>
                <a:spcPct val="93800"/>
              </a:lnSpc>
              <a:spcBef>
                <a:spcPts val="306"/>
              </a:spcBef>
              <a:buChar char="•"/>
              <a:tabLst>
                <a:tab pos="320040" algn="l"/>
              </a:tabLst>
            </a:pPr>
            <a:r>
              <a:rPr sz="2880" spc="-171" dirty="0">
                <a:latin typeface="Microsoft Sans Serif"/>
                <a:cs typeface="Microsoft Sans Serif"/>
              </a:rPr>
              <a:t>Selecting</a:t>
            </a:r>
            <a:r>
              <a:rPr sz="2880" spc="-229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the</a:t>
            </a:r>
            <a:r>
              <a:rPr sz="2880" spc="-167" dirty="0">
                <a:latin typeface="Microsoft Sans Serif"/>
                <a:cs typeface="Microsoft Sans Serif"/>
              </a:rPr>
              <a:t> </a:t>
            </a:r>
            <a:r>
              <a:rPr sz="2880" spc="-257" dirty="0">
                <a:latin typeface="Microsoft Sans Serif"/>
                <a:cs typeface="Microsoft Sans Serif"/>
              </a:rPr>
              <a:t>c</a:t>
            </a:r>
            <a:r>
              <a:rPr sz="2880" spc="-311" dirty="0">
                <a:latin typeface="Microsoft Sans Serif"/>
                <a:cs typeface="Microsoft Sans Serif"/>
              </a:rPr>
              <a:t>a</a:t>
            </a:r>
            <a:r>
              <a:rPr sz="2880" spc="140" dirty="0">
                <a:latin typeface="Microsoft Sans Serif"/>
                <a:cs typeface="Microsoft Sans Serif"/>
              </a:rPr>
              <a:t>r</a:t>
            </a:r>
            <a:r>
              <a:rPr sz="2880" dirty="0">
                <a:latin typeface="Microsoft Sans Serif"/>
                <a:cs typeface="Microsoft Sans Serif"/>
              </a:rPr>
              <a:t>d</a:t>
            </a:r>
            <a:r>
              <a:rPr sz="2880" spc="-126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with</a:t>
            </a:r>
            <a:r>
              <a:rPr sz="2880" spc="-14" dirty="0">
                <a:latin typeface="Microsoft Sans Serif"/>
                <a:cs typeface="Microsoft Sans Serif"/>
              </a:rPr>
              <a:t> </a:t>
            </a:r>
            <a:r>
              <a:rPr sz="2880" spc="-18" dirty="0">
                <a:latin typeface="Microsoft Sans Serif"/>
                <a:cs typeface="Microsoft Sans Serif"/>
              </a:rPr>
              <a:t>the</a:t>
            </a:r>
            <a:r>
              <a:rPr sz="2880" spc="-90" dirty="0">
                <a:latin typeface="Microsoft Sans Serif"/>
                <a:cs typeface="Microsoft Sans Serif"/>
              </a:rPr>
              <a:t> </a:t>
            </a:r>
            <a:r>
              <a:rPr sz="2880" spc="-9" dirty="0">
                <a:latin typeface="Microsoft Sans Serif"/>
                <a:cs typeface="Microsoft Sans Serif"/>
              </a:rPr>
              <a:t>letter</a:t>
            </a:r>
            <a:r>
              <a:rPr sz="2880" spc="-423" dirty="0">
                <a:latin typeface="Microsoft Sans Serif"/>
                <a:cs typeface="Microsoft Sans Serif"/>
              </a:rPr>
              <a:t> </a:t>
            </a:r>
            <a:r>
              <a:rPr sz="2880" spc="-45" dirty="0">
                <a:latin typeface="Microsoft Sans Serif"/>
                <a:cs typeface="Microsoft Sans Serif"/>
              </a:rPr>
              <a:t>A </a:t>
            </a:r>
            <a:r>
              <a:rPr sz="2880" spc="-153" dirty="0">
                <a:latin typeface="Microsoft Sans Serif"/>
                <a:cs typeface="Microsoft Sans Serif"/>
              </a:rPr>
              <a:t>resembles</a:t>
            </a:r>
            <a:r>
              <a:rPr sz="2880" spc="-275" dirty="0">
                <a:latin typeface="Microsoft Sans Serif"/>
                <a:cs typeface="Microsoft Sans Serif"/>
              </a:rPr>
              <a:t> </a:t>
            </a:r>
            <a:r>
              <a:rPr sz="2880" spc="-167" dirty="0">
                <a:latin typeface="Microsoft Sans Serif"/>
                <a:cs typeface="Microsoft Sans Serif"/>
              </a:rPr>
              <a:t>use</a:t>
            </a:r>
            <a:r>
              <a:rPr sz="2880" spc="-221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of</a:t>
            </a:r>
            <a:r>
              <a:rPr sz="2880" spc="-103" dirty="0">
                <a:latin typeface="Microsoft Sans Serif"/>
                <a:cs typeface="Microsoft Sans Serif"/>
              </a:rPr>
              <a:t> </a:t>
            </a:r>
            <a:r>
              <a:rPr sz="2880" spc="-18" dirty="0">
                <a:latin typeface="Microsoft Sans Serif"/>
                <a:cs typeface="Microsoft Sans Serif"/>
              </a:rPr>
              <a:t>the</a:t>
            </a:r>
            <a:r>
              <a:rPr sz="2880" spc="-72" dirty="0">
                <a:latin typeface="Microsoft Sans Serif"/>
                <a:cs typeface="Microsoft Sans Serif"/>
              </a:rPr>
              <a:t> </a:t>
            </a:r>
            <a:r>
              <a:rPr sz="2880" i="1" spc="-229" dirty="0">
                <a:latin typeface="Arial"/>
                <a:cs typeface="Arial"/>
              </a:rPr>
              <a:t>modus</a:t>
            </a:r>
            <a:r>
              <a:rPr sz="2880" i="1" spc="-432" dirty="0">
                <a:latin typeface="Arial"/>
                <a:cs typeface="Arial"/>
              </a:rPr>
              <a:t> </a:t>
            </a:r>
            <a:r>
              <a:rPr sz="2880" i="1" spc="-248" dirty="0">
                <a:latin typeface="Arial"/>
                <a:cs typeface="Arial"/>
              </a:rPr>
              <a:t>ponens </a:t>
            </a:r>
            <a:r>
              <a:rPr sz="2880" spc="-149" dirty="0">
                <a:latin typeface="Microsoft Sans Serif"/>
                <a:cs typeface="Microsoft Sans Serif"/>
              </a:rPr>
              <a:t>argument:</a:t>
            </a:r>
            <a:r>
              <a:rPr sz="2880" spc="-374" dirty="0">
                <a:latin typeface="Microsoft Sans Serif"/>
                <a:cs typeface="Microsoft Sans Serif"/>
              </a:rPr>
              <a:t> </a:t>
            </a:r>
            <a:r>
              <a:rPr sz="2880" spc="-32" dirty="0">
                <a:latin typeface="Microsoft Sans Serif"/>
                <a:cs typeface="Microsoft Sans Serif"/>
              </a:rPr>
              <a:t>we</a:t>
            </a:r>
            <a:r>
              <a:rPr sz="2880" spc="-212" dirty="0">
                <a:latin typeface="Microsoft Sans Serif"/>
                <a:cs typeface="Microsoft Sans Serif"/>
              </a:rPr>
              <a:t> </a:t>
            </a:r>
            <a:r>
              <a:rPr sz="2880" spc="-158" dirty="0">
                <a:latin typeface="Microsoft Sans Serif"/>
                <a:cs typeface="Microsoft Sans Serif"/>
              </a:rPr>
              <a:t>need</a:t>
            </a:r>
            <a:r>
              <a:rPr sz="2880" spc="-149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to</a:t>
            </a:r>
            <a:r>
              <a:rPr sz="2880" spc="-23" dirty="0">
                <a:latin typeface="Microsoft Sans Serif"/>
                <a:cs typeface="Microsoft Sans Serif"/>
              </a:rPr>
              <a:t> </a:t>
            </a:r>
            <a:r>
              <a:rPr sz="2880" spc="-140" dirty="0">
                <a:latin typeface="Microsoft Sans Serif"/>
                <a:cs typeface="Microsoft Sans Serif"/>
              </a:rPr>
              <a:t>check</a:t>
            </a:r>
            <a:r>
              <a:rPr sz="2880" spc="-149" dirty="0">
                <a:latin typeface="Microsoft Sans Serif"/>
                <a:cs typeface="Microsoft Sans Serif"/>
              </a:rPr>
              <a:t> </a:t>
            </a:r>
            <a:r>
              <a:rPr sz="2880" spc="-27" dirty="0">
                <a:latin typeface="Microsoft Sans Serif"/>
                <a:cs typeface="Microsoft Sans Serif"/>
              </a:rPr>
              <a:t>that</a:t>
            </a:r>
            <a:r>
              <a:rPr sz="2880" spc="167" dirty="0">
                <a:latin typeface="Microsoft Sans Serif"/>
                <a:cs typeface="Microsoft Sans Serif"/>
              </a:rPr>
              <a:t> </a:t>
            </a:r>
            <a:r>
              <a:rPr sz="2880" spc="-45" dirty="0">
                <a:latin typeface="Microsoft Sans Serif"/>
                <a:cs typeface="Microsoft Sans Serif"/>
              </a:rPr>
              <a:t>a </a:t>
            </a:r>
            <a:r>
              <a:rPr sz="2880" spc="-103" dirty="0">
                <a:latin typeface="Microsoft Sans Serif"/>
                <a:cs typeface="Microsoft Sans Serif"/>
              </a:rPr>
              <a:t>vowel</a:t>
            </a:r>
            <a:r>
              <a:rPr sz="2880" spc="-77" dirty="0">
                <a:latin typeface="Microsoft Sans Serif"/>
                <a:cs typeface="Microsoft Sans Serif"/>
              </a:rPr>
              <a:t> </a:t>
            </a:r>
            <a:r>
              <a:rPr sz="2880" spc="-396" dirty="0">
                <a:latin typeface="Microsoft Sans Serif"/>
                <a:cs typeface="Microsoft Sans Serif"/>
              </a:rPr>
              <a:t>a</a:t>
            </a:r>
            <a:r>
              <a:rPr sz="2880" spc="-63" dirty="0">
                <a:latin typeface="Microsoft Sans Serif"/>
                <a:cs typeface="Microsoft Sans Serif"/>
              </a:rPr>
              <a:t>l</a:t>
            </a:r>
            <a:r>
              <a:rPr sz="2880" spc="-18" dirty="0">
                <a:latin typeface="Microsoft Sans Serif"/>
                <a:cs typeface="Microsoft Sans Serif"/>
              </a:rPr>
              <a:t>w</a:t>
            </a:r>
            <a:r>
              <a:rPr sz="2880" spc="-504" dirty="0">
                <a:latin typeface="Microsoft Sans Serif"/>
                <a:cs typeface="Microsoft Sans Serif"/>
              </a:rPr>
              <a:t>a</a:t>
            </a:r>
            <a:r>
              <a:rPr sz="2880" spc="-266" dirty="0">
                <a:latin typeface="Microsoft Sans Serif"/>
                <a:cs typeface="Microsoft Sans Serif"/>
              </a:rPr>
              <a:t>y</a:t>
            </a:r>
            <a:r>
              <a:rPr sz="2880" spc="-9" dirty="0">
                <a:latin typeface="Microsoft Sans Serif"/>
                <a:cs typeface="Microsoft Sans Serif"/>
              </a:rPr>
              <a:t>s</a:t>
            </a:r>
            <a:r>
              <a:rPr sz="2880" spc="-206" dirty="0">
                <a:latin typeface="Microsoft Sans Serif"/>
                <a:cs typeface="Microsoft Sans Serif"/>
              </a:rPr>
              <a:t> </a:t>
            </a:r>
            <a:r>
              <a:rPr sz="2880" spc="-167" dirty="0">
                <a:latin typeface="Microsoft Sans Serif"/>
                <a:cs typeface="Microsoft Sans Serif"/>
              </a:rPr>
              <a:t>leads</a:t>
            </a:r>
            <a:r>
              <a:rPr sz="2880" spc="-288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to</a:t>
            </a:r>
            <a:r>
              <a:rPr sz="2880" spc="135" dirty="0">
                <a:latin typeface="Microsoft Sans Serif"/>
                <a:cs typeface="Microsoft Sans Serif"/>
              </a:rPr>
              <a:t> </a:t>
            </a:r>
            <a:r>
              <a:rPr sz="2880" spc="-194" dirty="0">
                <a:latin typeface="Microsoft Sans Serif"/>
                <a:cs typeface="Microsoft Sans Serif"/>
              </a:rPr>
              <a:t>an</a:t>
            </a:r>
            <a:r>
              <a:rPr sz="2880" spc="-108" dirty="0">
                <a:latin typeface="Microsoft Sans Serif"/>
                <a:cs typeface="Microsoft Sans Serif"/>
              </a:rPr>
              <a:t> </a:t>
            </a:r>
            <a:r>
              <a:rPr sz="2880" spc="-63" dirty="0">
                <a:latin typeface="Microsoft Sans Serif"/>
                <a:cs typeface="Microsoft Sans Serif"/>
              </a:rPr>
              <a:t>odd</a:t>
            </a:r>
            <a:r>
              <a:rPr sz="2880" spc="-95" dirty="0">
                <a:latin typeface="Microsoft Sans Serif"/>
                <a:cs typeface="Microsoft Sans Serif"/>
              </a:rPr>
              <a:t> </a:t>
            </a:r>
            <a:r>
              <a:rPr sz="2880" spc="-81" dirty="0">
                <a:latin typeface="Microsoft Sans Serif"/>
                <a:cs typeface="Microsoft Sans Serif"/>
              </a:rPr>
              <a:t>number </a:t>
            </a:r>
            <a:r>
              <a:rPr sz="2880" dirty="0">
                <a:latin typeface="Microsoft Sans Serif"/>
                <a:cs typeface="Microsoft Sans Serif"/>
              </a:rPr>
              <a:t>to</a:t>
            </a:r>
            <a:r>
              <a:rPr sz="2880" spc="50" dirty="0">
                <a:latin typeface="Microsoft Sans Serif"/>
                <a:cs typeface="Microsoft Sans Serif"/>
              </a:rPr>
              <a:t> </a:t>
            </a:r>
            <a:r>
              <a:rPr sz="2880" spc="-81" dirty="0">
                <a:latin typeface="Microsoft Sans Serif"/>
                <a:cs typeface="Microsoft Sans Serif"/>
              </a:rPr>
              <a:t>verify</a:t>
            </a:r>
            <a:r>
              <a:rPr sz="2880" spc="-86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the</a:t>
            </a:r>
            <a:r>
              <a:rPr sz="2880" spc="-72" dirty="0">
                <a:latin typeface="Microsoft Sans Serif"/>
                <a:cs typeface="Microsoft Sans Serif"/>
              </a:rPr>
              <a:t> </a:t>
            </a:r>
            <a:r>
              <a:rPr sz="2880" spc="-18" dirty="0">
                <a:latin typeface="Microsoft Sans Serif"/>
                <a:cs typeface="Microsoft Sans Serif"/>
              </a:rPr>
              <a:t>rule.</a:t>
            </a:r>
            <a:endParaRPr sz="288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3570" y="5321808"/>
            <a:ext cx="1636319" cy="107259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12869" y="391591"/>
            <a:ext cx="1725930" cy="1347485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93789" rIns="0" bIns="0" rtlCol="0">
            <a:spAutoFit/>
          </a:bodyPr>
          <a:lstStyle/>
          <a:p>
            <a:pPr algn="ctr">
              <a:spcBef>
                <a:spcPts val="4676"/>
              </a:spcBef>
            </a:pPr>
            <a:r>
              <a:rPr sz="4860" spc="-45" dirty="0">
                <a:latin typeface="Times New Roman"/>
                <a:cs typeface="Times New Roman"/>
              </a:rPr>
              <a:t>4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13663" y="401192"/>
            <a:ext cx="1747647" cy="2042290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41211" rIns="0" bIns="0" rtlCol="0">
            <a:spAutoFit/>
          </a:bodyPr>
          <a:lstStyle/>
          <a:p>
            <a:pPr>
              <a:spcBef>
                <a:spcPts val="4262"/>
              </a:spcBef>
            </a:pPr>
            <a:endParaRPr sz="4860">
              <a:latin typeface="Times New Roman"/>
              <a:cs typeface="Times New Roman"/>
            </a:endParaRPr>
          </a:p>
          <a:p>
            <a:pPr marL="8573" algn="ctr"/>
            <a:r>
              <a:rPr sz="4860" spc="-4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067273" y="399821"/>
            <a:ext cx="1716215" cy="1338828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85216" rIns="0" bIns="0" rtlCol="0">
            <a:spAutoFit/>
          </a:bodyPr>
          <a:lstStyle/>
          <a:p>
            <a:pPr marL="572" algn="ctr">
              <a:spcBef>
                <a:spcPts val="4608"/>
              </a:spcBef>
            </a:pPr>
            <a:r>
              <a:rPr sz="4860" spc="-45" dirty="0">
                <a:latin typeface="Times New Roman"/>
                <a:cs typeface="Times New Roman"/>
              </a:rPr>
              <a:t>7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435275" y="1088165"/>
            <a:ext cx="1654493" cy="1332481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78930" rIns="0" bIns="0" rtlCol="0" anchor="b">
            <a:spAutoFit/>
          </a:bodyPr>
          <a:lstStyle/>
          <a:p>
            <a:pPr marL="572" algn="ctr">
              <a:lnSpc>
                <a:spcPct val="100000"/>
              </a:lnSpc>
              <a:spcBef>
                <a:spcPts val="4559"/>
              </a:spcBef>
            </a:pPr>
            <a:r>
              <a:rPr sz="4860" spc="-4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endParaRPr sz="486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228621" y="2810522"/>
            <a:ext cx="6437948" cy="1705595"/>
          </a:xfrm>
          <a:prstGeom prst="rect">
            <a:avLst/>
          </a:prstGeom>
        </p:spPr>
        <p:txBody>
          <a:bodyPr vert="horz" wrap="square" lIns="0" tIns="38862" rIns="0" bIns="0" rtlCol="0">
            <a:spAutoFit/>
          </a:bodyPr>
          <a:lstStyle/>
          <a:p>
            <a:pPr marL="320040" marR="4572" indent="-309182">
              <a:lnSpc>
                <a:spcPct val="93800"/>
              </a:lnSpc>
              <a:spcBef>
                <a:spcPts val="306"/>
              </a:spcBef>
            </a:pPr>
            <a:r>
              <a:rPr sz="2880" spc="-99" dirty="0">
                <a:latin typeface="Microsoft Sans Serif"/>
                <a:cs typeface="Microsoft Sans Serif"/>
              </a:rPr>
              <a:t>The</a:t>
            </a:r>
            <a:r>
              <a:rPr sz="2880" spc="-117" dirty="0">
                <a:latin typeface="Microsoft Sans Serif"/>
                <a:cs typeface="Microsoft Sans Serif"/>
              </a:rPr>
              <a:t> </a:t>
            </a:r>
            <a:r>
              <a:rPr sz="2880" spc="-108" dirty="0">
                <a:latin typeface="Microsoft Sans Serif"/>
                <a:cs typeface="Microsoft Sans Serif"/>
              </a:rPr>
              <a:t>selection</a:t>
            </a:r>
            <a:r>
              <a:rPr sz="2880" spc="-135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of</a:t>
            </a:r>
            <a:r>
              <a:rPr sz="2880" spc="-103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the</a:t>
            </a:r>
            <a:r>
              <a:rPr sz="2880" spc="-81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4</a:t>
            </a:r>
            <a:r>
              <a:rPr sz="2880" spc="-144" dirty="0">
                <a:latin typeface="Microsoft Sans Serif"/>
                <a:cs typeface="Microsoft Sans Serif"/>
              </a:rPr>
              <a:t> </a:t>
            </a:r>
            <a:r>
              <a:rPr sz="2880" spc="-153" dirty="0">
                <a:latin typeface="Microsoft Sans Serif"/>
                <a:cs typeface="Microsoft Sans Serif"/>
              </a:rPr>
              <a:t>resembles</a:t>
            </a:r>
            <a:r>
              <a:rPr sz="2880" spc="-275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the</a:t>
            </a:r>
            <a:r>
              <a:rPr sz="2880" spc="-81" dirty="0">
                <a:latin typeface="Microsoft Sans Serif"/>
                <a:cs typeface="Microsoft Sans Serif"/>
              </a:rPr>
              <a:t> </a:t>
            </a:r>
            <a:r>
              <a:rPr sz="2880" spc="-167" dirty="0">
                <a:latin typeface="Microsoft Sans Serif"/>
                <a:cs typeface="Microsoft Sans Serif"/>
              </a:rPr>
              <a:t>use</a:t>
            </a:r>
            <a:r>
              <a:rPr sz="2880" spc="-212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of </a:t>
            </a:r>
            <a:r>
              <a:rPr sz="2880" spc="-68" dirty="0">
                <a:latin typeface="Microsoft Sans Serif"/>
                <a:cs typeface="Microsoft Sans Serif"/>
              </a:rPr>
              <a:t>the</a:t>
            </a:r>
            <a:r>
              <a:rPr sz="2880" spc="-77" dirty="0">
                <a:latin typeface="Microsoft Sans Serif"/>
                <a:cs typeface="Microsoft Sans Serif"/>
              </a:rPr>
              <a:t> </a:t>
            </a:r>
            <a:r>
              <a:rPr sz="2880" i="1" spc="-329" dirty="0">
                <a:latin typeface="Arial"/>
                <a:cs typeface="Arial"/>
              </a:rPr>
              <a:t>modu</a:t>
            </a:r>
            <a:r>
              <a:rPr sz="2880" i="1" spc="149" dirty="0">
                <a:latin typeface="Arial"/>
                <a:cs typeface="Arial"/>
              </a:rPr>
              <a:t>s</a:t>
            </a:r>
            <a:r>
              <a:rPr sz="2880" i="1" spc="-238" dirty="0">
                <a:latin typeface="Arial"/>
                <a:cs typeface="Arial"/>
              </a:rPr>
              <a:t>t</a:t>
            </a:r>
            <a:r>
              <a:rPr sz="2880" i="1" spc="180" dirty="0">
                <a:latin typeface="Arial"/>
                <a:cs typeface="Arial"/>
              </a:rPr>
              <a:t>o</a:t>
            </a:r>
            <a:r>
              <a:rPr sz="2880" b="1" i="1" spc="-297" dirty="0">
                <a:latin typeface="Arial"/>
                <a:cs typeface="Arial"/>
              </a:rPr>
              <a:t>l</a:t>
            </a:r>
            <a:r>
              <a:rPr sz="2880" i="1" spc="-243" dirty="0">
                <a:latin typeface="Arial"/>
                <a:cs typeface="Arial"/>
              </a:rPr>
              <a:t>en</a:t>
            </a:r>
            <a:r>
              <a:rPr sz="2880" i="1" spc="-18" dirty="0">
                <a:latin typeface="Arial"/>
                <a:cs typeface="Arial"/>
              </a:rPr>
              <a:t>s</a:t>
            </a:r>
            <a:r>
              <a:rPr sz="2880" i="1" spc="-436" dirty="0">
                <a:latin typeface="Arial"/>
                <a:cs typeface="Arial"/>
              </a:rPr>
              <a:t> </a:t>
            </a:r>
            <a:r>
              <a:rPr sz="2880" spc="-149" dirty="0">
                <a:latin typeface="Microsoft Sans Serif"/>
                <a:cs typeface="Microsoft Sans Serif"/>
              </a:rPr>
              <a:t>argument:</a:t>
            </a:r>
            <a:r>
              <a:rPr sz="2880" spc="-221" dirty="0">
                <a:latin typeface="Microsoft Sans Serif"/>
                <a:cs typeface="Microsoft Sans Serif"/>
              </a:rPr>
              <a:t> </a:t>
            </a:r>
            <a:r>
              <a:rPr sz="2880" spc="-77" dirty="0">
                <a:latin typeface="Microsoft Sans Serif"/>
                <a:cs typeface="Microsoft Sans Serif"/>
              </a:rPr>
              <a:t>we</a:t>
            </a:r>
            <a:r>
              <a:rPr sz="2880" spc="-216" dirty="0">
                <a:latin typeface="Microsoft Sans Serif"/>
                <a:cs typeface="Microsoft Sans Serif"/>
              </a:rPr>
              <a:t> </a:t>
            </a:r>
            <a:r>
              <a:rPr sz="2880" spc="-158" dirty="0">
                <a:latin typeface="Microsoft Sans Serif"/>
                <a:cs typeface="Microsoft Sans Serif"/>
              </a:rPr>
              <a:t>need</a:t>
            </a:r>
            <a:r>
              <a:rPr sz="2880" spc="-302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to </a:t>
            </a:r>
            <a:r>
              <a:rPr sz="2880" spc="-140" dirty="0">
                <a:latin typeface="Microsoft Sans Serif"/>
                <a:cs typeface="Microsoft Sans Serif"/>
              </a:rPr>
              <a:t>check</a:t>
            </a:r>
            <a:r>
              <a:rPr sz="2880" spc="-158" dirty="0">
                <a:latin typeface="Microsoft Sans Serif"/>
                <a:cs typeface="Microsoft Sans Serif"/>
              </a:rPr>
              <a:t> </a:t>
            </a:r>
            <a:r>
              <a:rPr sz="2880" spc="-18" dirty="0">
                <a:latin typeface="Microsoft Sans Serif"/>
                <a:cs typeface="Microsoft Sans Serif"/>
              </a:rPr>
              <a:t>that</a:t>
            </a:r>
            <a:r>
              <a:rPr sz="2880" spc="-113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not</a:t>
            </a:r>
            <a:r>
              <a:rPr sz="2880" spc="5" dirty="0">
                <a:latin typeface="Microsoft Sans Serif"/>
                <a:cs typeface="Microsoft Sans Serif"/>
              </a:rPr>
              <a:t> </a:t>
            </a:r>
            <a:r>
              <a:rPr sz="2880" spc="-63" dirty="0">
                <a:latin typeface="Microsoft Sans Serif"/>
                <a:cs typeface="Microsoft Sans Serif"/>
              </a:rPr>
              <a:t>odd</a:t>
            </a:r>
            <a:r>
              <a:rPr sz="2880" spc="-95" dirty="0">
                <a:latin typeface="Microsoft Sans Serif"/>
                <a:cs typeface="Microsoft Sans Serif"/>
              </a:rPr>
              <a:t> </a:t>
            </a:r>
            <a:r>
              <a:rPr sz="2880" spc="-90" dirty="0">
                <a:latin typeface="Microsoft Sans Serif"/>
                <a:cs typeface="Microsoft Sans Serif"/>
              </a:rPr>
              <a:t>rea</a:t>
            </a:r>
            <a:r>
              <a:rPr sz="2880" spc="-374" dirty="0">
                <a:latin typeface="Microsoft Sans Serif"/>
                <a:cs typeface="Microsoft Sans Serif"/>
              </a:rPr>
              <a:t> </a:t>
            </a:r>
            <a:r>
              <a:rPr sz="2880" b="1" spc="-149" dirty="0">
                <a:latin typeface="Arial"/>
                <a:cs typeface="Arial"/>
              </a:rPr>
              <a:t>l</a:t>
            </a:r>
            <a:r>
              <a:rPr sz="2880" spc="-149" dirty="0">
                <a:latin typeface="Microsoft Sans Serif"/>
                <a:cs typeface="Microsoft Sans Serif"/>
              </a:rPr>
              <a:t>y</a:t>
            </a:r>
            <a:r>
              <a:rPr sz="2880" spc="-113" dirty="0">
                <a:latin typeface="Microsoft Sans Serif"/>
                <a:cs typeface="Microsoft Sans Serif"/>
              </a:rPr>
              <a:t> </a:t>
            </a:r>
            <a:r>
              <a:rPr sz="2880" spc="-135" dirty="0">
                <a:latin typeface="Microsoft Sans Serif"/>
                <a:cs typeface="Microsoft Sans Serif"/>
              </a:rPr>
              <a:t>does</a:t>
            </a:r>
            <a:r>
              <a:rPr sz="2880" spc="-158" dirty="0">
                <a:latin typeface="Microsoft Sans Serif"/>
                <a:cs typeface="Microsoft Sans Serif"/>
              </a:rPr>
              <a:t> </a:t>
            </a:r>
            <a:r>
              <a:rPr sz="2880" spc="-108" dirty="0">
                <a:latin typeface="Microsoft Sans Serif"/>
                <a:cs typeface="Microsoft Sans Serif"/>
              </a:rPr>
              <a:t>imply</a:t>
            </a:r>
            <a:r>
              <a:rPr sz="2880" spc="-86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not </a:t>
            </a:r>
            <a:r>
              <a:rPr sz="2880" dirty="0">
                <a:latin typeface="Microsoft Sans Serif"/>
                <a:cs typeface="Microsoft Sans Serif"/>
              </a:rPr>
              <a:t>a</a:t>
            </a:r>
            <a:r>
              <a:rPr sz="2880" spc="-351" dirty="0">
                <a:latin typeface="Microsoft Sans Serif"/>
                <a:cs typeface="Microsoft Sans Serif"/>
              </a:rPr>
              <a:t> </a:t>
            </a:r>
            <a:r>
              <a:rPr sz="2880" spc="-103" dirty="0">
                <a:latin typeface="Microsoft Sans Serif"/>
                <a:cs typeface="Microsoft Sans Serif"/>
              </a:rPr>
              <a:t>vowel </a:t>
            </a:r>
            <a:r>
              <a:rPr sz="2880" dirty="0">
                <a:latin typeface="Microsoft Sans Serif"/>
                <a:cs typeface="Microsoft Sans Serif"/>
              </a:rPr>
              <a:t>to</a:t>
            </a:r>
            <a:r>
              <a:rPr sz="2880" spc="86" dirty="0">
                <a:latin typeface="Microsoft Sans Serif"/>
                <a:cs typeface="Microsoft Sans Serif"/>
              </a:rPr>
              <a:t> </a:t>
            </a:r>
            <a:r>
              <a:rPr sz="2880" spc="-77" dirty="0">
                <a:latin typeface="Microsoft Sans Serif"/>
                <a:cs typeface="Microsoft Sans Serif"/>
              </a:rPr>
              <a:t>verify</a:t>
            </a:r>
            <a:r>
              <a:rPr sz="2880" spc="-108" dirty="0">
                <a:latin typeface="Microsoft Sans Serif"/>
                <a:cs typeface="Microsoft Sans Serif"/>
              </a:rPr>
              <a:t> </a:t>
            </a:r>
            <a:r>
              <a:rPr sz="2880" spc="-18" dirty="0">
                <a:latin typeface="Microsoft Sans Serif"/>
                <a:cs typeface="Microsoft Sans Serif"/>
              </a:rPr>
              <a:t>the</a:t>
            </a:r>
            <a:r>
              <a:rPr sz="2880" spc="-59" dirty="0">
                <a:latin typeface="Microsoft Sans Serif"/>
                <a:cs typeface="Microsoft Sans Serif"/>
              </a:rPr>
              <a:t> </a:t>
            </a:r>
            <a:r>
              <a:rPr sz="2880" spc="-9" dirty="0">
                <a:latin typeface="Microsoft Sans Serif"/>
                <a:cs typeface="Microsoft Sans Serif"/>
              </a:rPr>
              <a:t>rule.</a:t>
            </a:r>
            <a:endParaRPr sz="2880">
              <a:latin typeface="Microsoft Sans Serif"/>
              <a:cs typeface="Microsoft Sans Serif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5322" y="5107839"/>
            <a:ext cx="2176729" cy="107944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4292422" y="391591"/>
            <a:ext cx="1727073" cy="1347485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93789" rIns="0" bIns="0" rtlCol="0">
            <a:spAutoFit/>
          </a:bodyPr>
          <a:lstStyle/>
          <a:p>
            <a:pPr marL="9144" algn="ctr">
              <a:spcBef>
                <a:spcPts val="4676"/>
              </a:spcBef>
            </a:pPr>
            <a:r>
              <a:rPr sz="4860" spc="-45" dirty="0">
                <a:latin typeface="Times New Roman"/>
                <a:cs typeface="Times New Roman"/>
              </a:rPr>
              <a:t>4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3217" y="401192"/>
            <a:ext cx="1747647" cy="2042290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41211" rIns="0" bIns="0" rtlCol="0">
            <a:spAutoFit/>
          </a:bodyPr>
          <a:lstStyle/>
          <a:p>
            <a:pPr>
              <a:spcBef>
                <a:spcPts val="4262"/>
              </a:spcBef>
            </a:pPr>
            <a:endParaRPr sz="4860">
              <a:latin typeface="Times New Roman"/>
              <a:cs typeface="Times New Roman"/>
            </a:endParaRPr>
          </a:p>
          <a:p>
            <a:pPr marL="9716" algn="ctr"/>
            <a:r>
              <a:rPr sz="4860" spc="-4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146826" y="399821"/>
            <a:ext cx="1717358" cy="1338828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85216" rIns="0" bIns="0" rtlCol="0">
            <a:spAutoFit/>
          </a:bodyPr>
          <a:lstStyle/>
          <a:p>
            <a:pPr algn="ctr">
              <a:spcBef>
                <a:spcPts val="4608"/>
              </a:spcBef>
            </a:pPr>
            <a:r>
              <a:rPr sz="4860" spc="-45" dirty="0">
                <a:latin typeface="Times New Roman"/>
                <a:cs typeface="Times New Roman"/>
              </a:rPr>
              <a:t>7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514829" y="1088165"/>
            <a:ext cx="1655636" cy="1332481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78930" rIns="0" bIns="0" rtlCol="0" anchor="b">
            <a:spAutoFit/>
          </a:bodyPr>
          <a:lstStyle/>
          <a:p>
            <a:pPr marL="572" algn="ctr">
              <a:lnSpc>
                <a:spcPct val="100000"/>
              </a:lnSpc>
              <a:spcBef>
                <a:spcPts val="4559"/>
              </a:spcBef>
            </a:pPr>
            <a:r>
              <a:rPr sz="4860" spc="-4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endParaRPr sz="486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3217" y="401192"/>
            <a:ext cx="1747647" cy="2042290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41211" rIns="0" bIns="0" rtlCol="0">
            <a:spAutoFit/>
          </a:bodyPr>
          <a:lstStyle/>
          <a:p>
            <a:pPr>
              <a:spcBef>
                <a:spcPts val="4262"/>
              </a:spcBef>
            </a:pPr>
            <a:endParaRPr sz="4860">
              <a:latin typeface="Times New Roman"/>
              <a:cs typeface="Times New Roman"/>
            </a:endParaRPr>
          </a:p>
          <a:p>
            <a:pPr marL="9716" algn="ctr"/>
            <a:r>
              <a:rPr sz="4860" spc="-4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93994" y="2673362"/>
            <a:ext cx="6025325" cy="3545907"/>
          </a:xfrm>
          <a:prstGeom prst="rect">
            <a:avLst/>
          </a:prstGeom>
        </p:spPr>
        <p:txBody>
          <a:bodyPr vert="horz" wrap="square" lIns="0" tIns="48578" rIns="0" bIns="0" rtlCol="0">
            <a:spAutoFit/>
          </a:bodyPr>
          <a:lstStyle/>
          <a:p>
            <a:pPr marL="320040" marR="4572" indent="-308610">
              <a:lnSpc>
                <a:spcPts val="3240"/>
              </a:lnSpc>
              <a:spcBef>
                <a:spcPts val="383"/>
              </a:spcBef>
            </a:pPr>
            <a:r>
              <a:rPr sz="2880" spc="-50" dirty="0">
                <a:latin typeface="Microsoft Sans Serif"/>
                <a:cs typeface="Microsoft Sans Serif"/>
              </a:rPr>
              <a:t>Incorrectly</a:t>
            </a:r>
            <a:r>
              <a:rPr sz="2880" spc="-122" dirty="0">
                <a:latin typeface="Microsoft Sans Serif"/>
                <a:cs typeface="Microsoft Sans Serif"/>
              </a:rPr>
              <a:t> </a:t>
            </a:r>
            <a:r>
              <a:rPr sz="2880" spc="-144" dirty="0">
                <a:latin typeface="Microsoft Sans Serif"/>
                <a:cs typeface="Microsoft Sans Serif"/>
              </a:rPr>
              <a:t>selecting</a:t>
            </a:r>
            <a:r>
              <a:rPr sz="2880" spc="-158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the</a:t>
            </a:r>
            <a:r>
              <a:rPr sz="2880" spc="-68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7</a:t>
            </a:r>
            <a:r>
              <a:rPr sz="2880" spc="-162" dirty="0">
                <a:latin typeface="Microsoft Sans Serif"/>
                <a:cs typeface="Microsoft Sans Serif"/>
              </a:rPr>
              <a:t> </a:t>
            </a:r>
            <a:r>
              <a:rPr sz="2880" spc="-167" dirty="0">
                <a:latin typeface="Microsoft Sans Serif"/>
                <a:cs typeface="Microsoft Sans Serif"/>
              </a:rPr>
              <a:t>resembles</a:t>
            </a:r>
            <a:r>
              <a:rPr sz="2880" spc="-198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the </a:t>
            </a:r>
            <a:r>
              <a:rPr sz="2880" spc="-90" dirty="0">
                <a:latin typeface="Microsoft Sans Serif"/>
                <a:cs typeface="Microsoft Sans Serif"/>
              </a:rPr>
              <a:t>affirmation</a:t>
            </a:r>
            <a:r>
              <a:rPr sz="2880" spc="-95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of</a:t>
            </a:r>
            <a:r>
              <a:rPr sz="2880" spc="-68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the</a:t>
            </a:r>
            <a:r>
              <a:rPr sz="2880" spc="-95" dirty="0">
                <a:latin typeface="Microsoft Sans Serif"/>
                <a:cs typeface="Microsoft Sans Serif"/>
              </a:rPr>
              <a:t> </a:t>
            </a:r>
            <a:r>
              <a:rPr sz="2880" spc="-144" dirty="0">
                <a:latin typeface="Microsoft Sans Serif"/>
                <a:cs typeface="Microsoft Sans Serif"/>
              </a:rPr>
              <a:t>consequent</a:t>
            </a:r>
            <a:r>
              <a:rPr sz="2880" spc="-122" dirty="0">
                <a:latin typeface="Microsoft Sans Serif"/>
                <a:cs typeface="Microsoft Sans Serif"/>
              </a:rPr>
              <a:t> </a:t>
            </a:r>
            <a:r>
              <a:rPr sz="2880" spc="-86" dirty="0">
                <a:latin typeface="Microsoft Sans Serif"/>
                <a:cs typeface="Microsoft Sans Serif"/>
              </a:rPr>
              <a:t>f</a:t>
            </a:r>
            <a:r>
              <a:rPr sz="2880" spc="347" dirty="0">
                <a:latin typeface="Microsoft Sans Serif"/>
                <a:cs typeface="Microsoft Sans Serif"/>
              </a:rPr>
              <a:t>a</a:t>
            </a:r>
            <a:r>
              <a:rPr sz="2880" b="1" spc="-140" dirty="0">
                <a:latin typeface="Arial"/>
                <a:cs typeface="Arial"/>
              </a:rPr>
              <a:t>l</a:t>
            </a:r>
            <a:r>
              <a:rPr sz="2880" spc="-86" dirty="0">
                <a:latin typeface="Microsoft Sans Serif"/>
                <a:cs typeface="Microsoft Sans Serif"/>
              </a:rPr>
              <a:t>a</a:t>
            </a:r>
            <a:r>
              <a:rPr sz="2880" spc="-77" dirty="0">
                <a:latin typeface="Microsoft Sans Serif"/>
                <a:cs typeface="Microsoft Sans Serif"/>
              </a:rPr>
              <a:t>c</a:t>
            </a:r>
            <a:r>
              <a:rPr sz="2880" spc="-293" dirty="0">
                <a:latin typeface="Microsoft Sans Serif"/>
                <a:cs typeface="Microsoft Sans Serif"/>
              </a:rPr>
              <a:t>y</a:t>
            </a:r>
            <a:r>
              <a:rPr sz="2880" spc="126" dirty="0">
                <a:latin typeface="Microsoft Sans Serif"/>
                <a:cs typeface="Microsoft Sans Serif"/>
              </a:rPr>
              <a:t>.</a:t>
            </a:r>
            <a:endParaRPr sz="2880">
              <a:latin typeface="Microsoft Sans Serif"/>
              <a:cs typeface="Microsoft Sans Serif"/>
            </a:endParaRPr>
          </a:p>
          <a:p>
            <a:pPr>
              <a:lnSpc>
                <a:spcPct val="100000"/>
              </a:lnSpc>
            </a:pPr>
            <a:endParaRPr sz="2880">
              <a:latin typeface="Microsoft Sans Serif"/>
              <a:cs typeface="Microsoft Sans Serif"/>
            </a:endParaRPr>
          </a:p>
          <a:p>
            <a:pPr>
              <a:spcBef>
                <a:spcPts val="1148"/>
              </a:spcBef>
            </a:pPr>
            <a:endParaRPr sz="2880">
              <a:latin typeface="Microsoft Sans Serif"/>
              <a:cs typeface="Microsoft Sans Serif"/>
            </a:endParaRPr>
          </a:p>
          <a:p>
            <a:pPr marL="263462" marR="4237101">
              <a:lnSpc>
                <a:spcPts val="3240"/>
              </a:lnSpc>
            </a:pPr>
            <a:r>
              <a:rPr sz="2880" spc="-41" dirty="0">
                <a:latin typeface="Microsoft Sans Serif"/>
                <a:cs typeface="Microsoft Sans Serif"/>
              </a:rPr>
              <a:t>If</a:t>
            </a:r>
            <a:r>
              <a:rPr sz="2880" spc="-149" dirty="0">
                <a:latin typeface="Microsoft Sans Serif"/>
                <a:cs typeface="Microsoft Sans Serif"/>
              </a:rPr>
              <a:t> </a:t>
            </a:r>
            <a:r>
              <a:rPr sz="2880" i="1" dirty="0">
                <a:latin typeface="Arial"/>
                <a:cs typeface="Arial"/>
              </a:rPr>
              <a:t>p</a:t>
            </a:r>
            <a:r>
              <a:rPr sz="2880" i="1" spc="-203" dirty="0">
                <a:latin typeface="Arial"/>
                <a:cs typeface="Arial"/>
              </a:rPr>
              <a:t> </a:t>
            </a:r>
            <a:r>
              <a:rPr sz="2880" spc="-77" dirty="0">
                <a:latin typeface="Microsoft Sans Serif"/>
                <a:cs typeface="Microsoft Sans Serif"/>
              </a:rPr>
              <a:t>then</a:t>
            </a:r>
            <a:r>
              <a:rPr sz="2880" spc="-99" dirty="0">
                <a:latin typeface="Microsoft Sans Serif"/>
                <a:cs typeface="Microsoft Sans Serif"/>
              </a:rPr>
              <a:t> </a:t>
            </a:r>
            <a:r>
              <a:rPr sz="2880" i="1" spc="-45" dirty="0">
                <a:latin typeface="Arial"/>
                <a:cs typeface="Arial"/>
              </a:rPr>
              <a:t>q q</a:t>
            </a:r>
            <a:endParaRPr sz="2880">
              <a:latin typeface="Arial"/>
              <a:cs typeface="Arial"/>
            </a:endParaRPr>
          </a:p>
          <a:p>
            <a:pPr marL="263462">
              <a:spcBef>
                <a:spcPts val="3010"/>
              </a:spcBef>
            </a:pPr>
            <a:r>
              <a:rPr sz="2880" spc="-63" dirty="0">
                <a:latin typeface="Microsoft Sans Serif"/>
                <a:cs typeface="Microsoft Sans Serif"/>
              </a:rPr>
              <a:t>therefore:</a:t>
            </a:r>
            <a:r>
              <a:rPr sz="2880" spc="-428" dirty="0">
                <a:latin typeface="Microsoft Sans Serif"/>
                <a:cs typeface="Microsoft Sans Serif"/>
              </a:rPr>
              <a:t> </a:t>
            </a:r>
            <a:r>
              <a:rPr sz="2880" i="1" spc="-45" dirty="0">
                <a:latin typeface="Arial"/>
                <a:cs typeface="Arial"/>
              </a:rPr>
              <a:t>p</a:t>
            </a:r>
            <a:endParaRPr sz="288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92422" y="391591"/>
            <a:ext cx="1727073" cy="1347485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93789" rIns="0" bIns="0" rtlCol="0">
            <a:spAutoFit/>
          </a:bodyPr>
          <a:lstStyle/>
          <a:p>
            <a:pPr marL="9144" algn="ctr">
              <a:spcBef>
                <a:spcPts val="4676"/>
              </a:spcBef>
            </a:pPr>
            <a:r>
              <a:rPr sz="4860" spc="-45" dirty="0">
                <a:latin typeface="Times New Roman"/>
                <a:cs typeface="Times New Roman"/>
              </a:rPr>
              <a:t>4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46826" y="399821"/>
            <a:ext cx="1717358" cy="1338828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85216" rIns="0" bIns="0" rtlCol="0">
            <a:spAutoFit/>
          </a:bodyPr>
          <a:lstStyle/>
          <a:p>
            <a:pPr algn="ctr">
              <a:spcBef>
                <a:spcPts val="4608"/>
              </a:spcBef>
            </a:pPr>
            <a:r>
              <a:rPr sz="4860" spc="-45" dirty="0">
                <a:latin typeface="Times New Roman"/>
                <a:cs typeface="Times New Roman"/>
              </a:rPr>
              <a:t>7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14829" y="1088165"/>
            <a:ext cx="1655636" cy="1332481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78930" rIns="0" bIns="0" rtlCol="0" anchor="b">
            <a:spAutoFit/>
          </a:bodyPr>
          <a:lstStyle/>
          <a:p>
            <a:pPr marL="572" algn="ctr">
              <a:lnSpc>
                <a:spcPct val="100000"/>
              </a:lnSpc>
              <a:spcBef>
                <a:spcPts val="4559"/>
              </a:spcBef>
            </a:pPr>
            <a:r>
              <a:rPr sz="4860" spc="-4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endParaRPr sz="486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05561" y="652196"/>
            <a:ext cx="1747647" cy="2042867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41782" rIns="0" bIns="0" rtlCol="0">
            <a:spAutoFit/>
          </a:bodyPr>
          <a:lstStyle/>
          <a:p>
            <a:pPr>
              <a:spcBef>
                <a:spcPts val="4266"/>
              </a:spcBef>
            </a:pPr>
            <a:endParaRPr sz="4860">
              <a:latin typeface="Times New Roman"/>
              <a:cs typeface="Times New Roman"/>
            </a:endParaRPr>
          </a:p>
          <a:p>
            <a:pPr marL="8001" algn="ctr"/>
            <a:r>
              <a:rPr sz="4860" spc="-45" dirty="0">
                <a:solidFill>
                  <a:srgbClr val="404040"/>
                </a:solidFill>
                <a:latin typeface="Times New Roman"/>
                <a:cs typeface="Times New Roman"/>
              </a:rPr>
              <a:t>A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77682" y="3098284"/>
            <a:ext cx="4734306" cy="1712072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11430">
              <a:spcBef>
                <a:spcPts val="95"/>
              </a:spcBef>
            </a:pPr>
            <a:r>
              <a:rPr sz="2880" spc="-54" dirty="0">
                <a:latin typeface="Microsoft Sans Serif"/>
                <a:cs typeface="Microsoft Sans Serif"/>
              </a:rPr>
              <a:t>Incorrectly</a:t>
            </a:r>
            <a:r>
              <a:rPr sz="2880" spc="-81" dirty="0">
                <a:latin typeface="Microsoft Sans Serif"/>
                <a:cs typeface="Microsoft Sans Serif"/>
              </a:rPr>
              <a:t> </a:t>
            </a:r>
            <a:r>
              <a:rPr sz="2880" spc="-144" dirty="0">
                <a:latin typeface="Microsoft Sans Serif"/>
                <a:cs typeface="Microsoft Sans Serif"/>
              </a:rPr>
              <a:t>selecting</a:t>
            </a:r>
            <a:r>
              <a:rPr sz="2880" spc="-162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D</a:t>
            </a:r>
            <a:r>
              <a:rPr sz="2880" spc="95" dirty="0">
                <a:latin typeface="Microsoft Sans Serif"/>
                <a:cs typeface="Microsoft Sans Serif"/>
              </a:rPr>
              <a:t> </a:t>
            </a:r>
            <a:r>
              <a:rPr sz="2880" spc="108" dirty="0">
                <a:latin typeface="Microsoft Sans Serif"/>
                <a:cs typeface="Microsoft Sans Serif"/>
              </a:rPr>
              <a:t>is…..</a:t>
            </a:r>
            <a:endParaRPr sz="2880">
              <a:latin typeface="Microsoft Sans Serif"/>
              <a:cs typeface="Microsoft Sans Serif"/>
            </a:endParaRPr>
          </a:p>
          <a:p>
            <a:pPr marL="11430">
              <a:lnSpc>
                <a:spcPts val="3393"/>
              </a:lnSpc>
              <a:spcBef>
                <a:spcPts val="3015"/>
              </a:spcBef>
              <a:tabLst>
                <a:tab pos="724091" algn="l"/>
              </a:tabLst>
            </a:pPr>
            <a:r>
              <a:rPr sz="2880" spc="549" dirty="0">
                <a:latin typeface="Microsoft Sans Serif"/>
                <a:cs typeface="Microsoft Sans Serif"/>
              </a:rPr>
              <a:t>….</a:t>
            </a:r>
            <a:r>
              <a:rPr sz="2880" dirty="0">
                <a:latin typeface="Microsoft Sans Serif"/>
                <a:cs typeface="Microsoft Sans Serif"/>
              </a:rPr>
              <a:t>	</a:t>
            </a:r>
            <a:r>
              <a:rPr sz="2880" spc="-113" dirty="0">
                <a:latin typeface="Microsoft Sans Serif"/>
                <a:cs typeface="Microsoft Sans Serif"/>
              </a:rPr>
              <a:t>Denial</a:t>
            </a:r>
            <a:r>
              <a:rPr sz="2880" spc="-99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of</a:t>
            </a:r>
            <a:r>
              <a:rPr sz="2880" spc="-117" dirty="0">
                <a:latin typeface="Microsoft Sans Serif"/>
                <a:cs typeface="Microsoft Sans Serif"/>
              </a:rPr>
              <a:t> </a:t>
            </a:r>
            <a:r>
              <a:rPr sz="2880" spc="-32" dirty="0">
                <a:latin typeface="Microsoft Sans Serif"/>
                <a:cs typeface="Microsoft Sans Serif"/>
              </a:rPr>
              <a:t>the</a:t>
            </a:r>
            <a:r>
              <a:rPr sz="2880" spc="-99" dirty="0">
                <a:latin typeface="Microsoft Sans Serif"/>
                <a:cs typeface="Microsoft Sans Serif"/>
              </a:rPr>
              <a:t> </a:t>
            </a:r>
            <a:r>
              <a:rPr sz="2880" spc="-54" dirty="0">
                <a:latin typeface="Microsoft Sans Serif"/>
                <a:cs typeface="Microsoft Sans Serif"/>
              </a:rPr>
              <a:t>antecedent.</a:t>
            </a:r>
            <a:endParaRPr sz="2880">
              <a:latin typeface="Microsoft Sans Serif"/>
              <a:cs typeface="Microsoft Sans Serif"/>
            </a:endParaRPr>
          </a:p>
          <a:p>
            <a:pPr marL="638366" algn="ctr">
              <a:lnSpc>
                <a:spcPts val="3393"/>
              </a:lnSpc>
            </a:pPr>
            <a:r>
              <a:rPr sz="2880" dirty="0">
                <a:latin typeface="Microsoft Sans Serif"/>
                <a:cs typeface="Microsoft Sans Serif"/>
              </a:rPr>
              <a:t>W</a:t>
            </a:r>
            <a:r>
              <a:rPr sz="2880" spc="-491" dirty="0">
                <a:latin typeface="Microsoft Sans Serif"/>
                <a:cs typeface="Microsoft Sans Serif"/>
              </a:rPr>
              <a:t> </a:t>
            </a:r>
            <a:r>
              <a:rPr sz="2880" spc="-229" dirty="0">
                <a:latin typeface="Microsoft Sans Serif"/>
                <a:cs typeface="Microsoft Sans Serif"/>
              </a:rPr>
              <a:t>hy?</a:t>
            </a:r>
            <a:r>
              <a:rPr sz="2880" spc="68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W</a:t>
            </a:r>
            <a:r>
              <a:rPr sz="2880" spc="-491" dirty="0">
                <a:latin typeface="Microsoft Sans Serif"/>
                <a:cs typeface="Microsoft Sans Serif"/>
              </a:rPr>
              <a:t> </a:t>
            </a:r>
            <a:r>
              <a:rPr sz="2880" spc="-140" dirty="0">
                <a:latin typeface="Microsoft Sans Serif"/>
                <a:cs typeface="Microsoft Sans Serif"/>
              </a:rPr>
              <a:t>hy</a:t>
            </a:r>
            <a:r>
              <a:rPr sz="2880" spc="-149" dirty="0">
                <a:latin typeface="Microsoft Sans Serif"/>
                <a:cs typeface="Microsoft Sans Serif"/>
              </a:rPr>
              <a:t> </a:t>
            </a:r>
            <a:r>
              <a:rPr sz="2880" spc="-23" dirty="0">
                <a:latin typeface="Microsoft Sans Serif"/>
                <a:cs typeface="Microsoft Sans Serif"/>
              </a:rPr>
              <a:t>is</a:t>
            </a:r>
            <a:r>
              <a:rPr sz="2880" spc="-306" dirty="0">
                <a:latin typeface="Microsoft Sans Serif"/>
                <a:cs typeface="Microsoft Sans Serif"/>
              </a:rPr>
              <a:t> </a:t>
            </a:r>
            <a:r>
              <a:rPr sz="2880" spc="-9" dirty="0">
                <a:latin typeface="Microsoft Sans Serif"/>
                <a:cs typeface="Microsoft Sans Serif"/>
              </a:rPr>
              <a:t>this</a:t>
            </a:r>
            <a:r>
              <a:rPr sz="2880" spc="-311" dirty="0">
                <a:latin typeface="Microsoft Sans Serif"/>
                <a:cs typeface="Microsoft Sans Serif"/>
              </a:rPr>
              <a:t> </a:t>
            </a:r>
            <a:r>
              <a:rPr sz="2880" dirty="0">
                <a:latin typeface="Microsoft Sans Serif"/>
                <a:cs typeface="Microsoft Sans Serif"/>
              </a:rPr>
              <a:t>a</a:t>
            </a:r>
            <a:r>
              <a:rPr sz="2880" spc="-347" dirty="0">
                <a:latin typeface="Microsoft Sans Serif"/>
                <a:cs typeface="Microsoft Sans Serif"/>
              </a:rPr>
              <a:t> </a:t>
            </a:r>
            <a:r>
              <a:rPr sz="2880" spc="-252" dirty="0">
                <a:latin typeface="Microsoft Sans Serif"/>
                <a:cs typeface="Microsoft Sans Serif"/>
              </a:rPr>
              <a:t>fallacy?</a:t>
            </a:r>
            <a:endParaRPr sz="2880">
              <a:latin typeface="Microsoft Sans Serif"/>
              <a:cs typeface="Microsoft Sans Serif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04766" y="643966"/>
            <a:ext cx="1725930" cy="1346907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93217" rIns="0" bIns="0" rtlCol="0">
            <a:spAutoFit/>
          </a:bodyPr>
          <a:lstStyle/>
          <a:p>
            <a:pPr algn="ctr">
              <a:spcBef>
                <a:spcPts val="4671"/>
              </a:spcBef>
            </a:pPr>
            <a:r>
              <a:rPr sz="4860" spc="-45" dirty="0">
                <a:latin typeface="Times New Roman"/>
                <a:cs typeface="Times New Roman"/>
              </a:rPr>
              <a:t>4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159169" y="650823"/>
            <a:ext cx="1716215" cy="1339406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85788" rIns="0" bIns="0" rtlCol="0">
            <a:spAutoFit/>
          </a:bodyPr>
          <a:lstStyle/>
          <a:p>
            <a:pPr algn="ctr">
              <a:spcBef>
                <a:spcPts val="4613"/>
              </a:spcBef>
            </a:pPr>
            <a:r>
              <a:rPr sz="4860" spc="-45" dirty="0">
                <a:latin typeface="Times New Roman"/>
                <a:cs typeface="Times New Roman"/>
              </a:rPr>
              <a:t>7</a:t>
            </a:r>
            <a:endParaRPr sz="486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527173" y="1338592"/>
            <a:ext cx="1654493" cy="1333057"/>
          </a:xfrm>
          <a:prstGeom prst="rect">
            <a:avLst/>
          </a:prstGeom>
          <a:solidFill>
            <a:srgbClr val="FFACD5"/>
          </a:solidFill>
          <a:ln w="38100">
            <a:solidFill>
              <a:srgbClr val="000000"/>
            </a:solidFill>
          </a:ln>
        </p:spPr>
        <p:txBody>
          <a:bodyPr vert="horz" wrap="square" lIns="0" tIns="579501" rIns="0" bIns="0" rtlCol="0" anchor="b">
            <a:spAutoFit/>
          </a:bodyPr>
          <a:lstStyle/>
          <a:p>
            <a:pPr algn="ctr">
              <a:lnSpc>
                <a:spcPct val="100000"/>
              </a:lnSpc>
              <a:spcBef>
                <a:spcPts val="4563"/>
              </a:spcBef>
            </a:pPr>
            <a:r>
              <a:rPr sz="4860" spc="-45" dirty="0">
                <a:solidFill>
                  <a:srgbClr val="000000"/>
                </a:solidFill>
                <a:latin typeface="Times New Roman"/>
                <a:cs typeface="Times New Roman"/>
              </a:rPr>
              <a:t>D</a:t>
            </a:r>
            <a:endParaRPr sz="486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3519" y="842905"/>
            <a:ext cx="7472933" cy="4978908"/>
          </a:xfrm>
          <a:custGeom>
            <a:avLst/>
            <a:gdLst/>
            <a:ahLst/>
            <a:cxnLst/>
            <a:rect l="l" t="t" r="r" b="b"/>
            <a:pathLst>
              <a:path w="8303259" h="5532120">
                <a:moveTo>
                  <a:pt x="0" y="5531739"/>
                </a:moveTo>
                <a:lnTo>
                  <a:pt x="8302752" y="5531739"/>
                </a:lnTo>
                <a:lnTo>
                  <a:pt x="8302752" y="0"/>
                </a:lnTo>
                <a:lnTo>
                  <a:pt x="0" y="0"/>
                </a:lnTo>
                <a:lnTo>
                  <a:pt x="0" y="5531739"/>
                </a:lnTo>
                <a:close/>
              </a:path>
            </a:pathLst>
          </a:custGeom>
          <a:ln w="38100">
            <a:solidFill>
              <a:srgbClr val="D5A80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822960" y="352828"/>
            <a:ext cx="7543800" cy="1384533"/>
          </a:xfrm>
          <a:prstGeom prst="rect">
            <a:avLst/>
          </a:prstGeom>
        </p:spPr>
        <p:txBody>
          <a:bodyPr vert="horz" wrap="square" lIns="0" tIns="639623" rIns="0" bIns="0" rtlCol="0" anchor="b">
            <a:spAutoFit/>
          </a:bodyPr>
          <a:lstStyle/>
          <a:p>
            <a:pPr marL="720090">
              <a:lnSpc>
                <a:spcPct val="100000"/>
              </a:lnSpc>
              <a:spcBef>
                <a:spcPts val="90"/>
              </a:spcBef>
            </a:pPr>
            <a:r>
              <a:rPr dirty="0"/>
              <a:t>Syllogistic</a:t>
            </a:r>
            <a:r>
              <a:rPr spc="-140" dirty="0"/>
              <a:t> </a:t>
            </a:r>
            <a:r>
              <a:rPr spc="-9" dirty="0"/>
              <a:t>reasoning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99921" y="1337722"/>
            <a:ext cx="6613398" cy="821379"/>
          </a:xfrm>
          <a:prstGeom prst="rect">
            <a:avLst/>
          </a:prstGeom>
        </p:spPr>
        <p:txBody>
          <a:bodyPr vert="horz" wrap="square" lIns="0" tIns="23431" rIns="0" bIns="0" rtlCol="0">
            <a:spAutoFit/>
          </a:bodyPr>
          <a:lstStyle/>
          <a:p>
            <a:pPr marL="319469" marR="4572" indent="-308610">
              <a:lnSpc>
                <a:spcPct val="95800"/>
              </a:lnSpc>
              <a:spcBef>
                <a:spcPts val="184"/>
              </a:spcBef>
              <a:buChar char="•"/>
              <a:tabLst>
                <a:tab pos="319469" algn="l"/>
              </a:tabLst>
            </a:pP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19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syllogism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is a</a:t>
            </a:r>
            <a:r>
              <a:rPr spc="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piece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spc="-23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deductive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reasoning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that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consists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spc="-45" dirty="0">
                <a:latin typeface="Microsoft Sans Serif"/>
                <a:cs typeface="Microsoft Sans Serif"/>
              </a:rPr>
              <a:t>a </a:t>
            </a:r>
            <a:r>
              <a:rPr dirty="0">
                <a:latin typeface="Microsoft Sans Serif"/>
                <a:cs typeface="Microsoft Sans Serif"/>
              </a:rPr>
              <a:t>major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premise,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minor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premise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conclusion.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Syllogisms </a:t>
            </a:r>
            <a:r>
              <a:rPr dirty="0">
                <a:latin typeface="Microsoft Sans Serif"/>
                <a:cs typeface="Microsoft Sans Serif"/>
              </a:rPr>
              <a:t>have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23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following</a:t>
            </a:r>
            <a:r>
              <a:rPr spc="-41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general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from:</a:t>
            </a:r>
            <a:endParaRPr>
              <a:latin typeface="Microsoft Sans Serif"/>
              <a:cs typeface="Microsoft Sans Serif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79825" y="2252236"/>
            <a:ext cx="3707891" cy="821379"/>
          </a:xfrm>
          <a:prstGeom prst="rect">
            <a:avLst/>
          </a:prstGeom>
        </p:spPr>
        <p:txBody>
          <a:bodyPr vert="horz" wrap="square" lIns="0" tIns="23431" rIns="0" bIns="0" rtlCol="0">
            <a:spAutoFit/>
          </a:bodyPr>
          <a:lstStyle/>
          <a:p>
            <a:pPr marL="11430" marR="37148">
              <a:lnSpc>
                <a:spcPct val="95800"/>
              </a:lnSpc>
              <a:spcBef>
                <a:spcPts val="184"/>
              </a:spcBef>
            </a:pPr>
            <a:r>
              <a:rPr dirty="0">
                <a:latin typeface="Microsoft Sans Serif"/>
                <a:cs typeface="Microsoft Sans Serif"/>
              </a:rPr>
              <a:t>All/Some/No</a:t>
            </a:r>
            <a:r>
              <a:rPr spc="-5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[not]</a:t>
            </a:r>
            <a:r>
              <a:rPr spc="-54" dirty="0">
                <a:latin typeface="Microsoft Sans Serif"/>
                <a:cs typeface="Microsoft Sans Serif"/>
              </a:rPr>
              <a:t> </a:t>
            </a:r>
            <a:r>
              <a:rPr spc="-23" dirty="0">
                <a:latin typeface="Microsoft Sans Serif"/>
                <a:cs typeface="Microsoft Sans Serif"/>
              </a:rPr>
              <a:t>P. </a:t>
            </a:r>
            <a:r>
              <a:rPr dirty="0">
                <a:latin typeface="Microsoft Sans Serif"/>
                <a:cs typeface="Microsoft Sans Serif"/>
              </a:rPr>
              <a:t>All/Some/No</a:t>
            </a:r>
            <a:r>
              <a:rPr spc="-5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[not]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spc="-23" dirty="0">
                <a:latin typeface="Microsoft Sans Serif"/>
                <a:cs typeface="Microsoft Sans Serif"/>
              </a:rPr>
              <a:t>M. </a:t>
            </a:r>
            <a:r>
              <a:rPr spc="-9" dirty="0">
                <a:latin typeface="Microsoft Sans Serif"/>
                <a:cs typeface="Microsoft Sans Serif"/>
              </a:rPr>
              <a:t>Therefore,</a:t>
            </a:r>
            <a:r>
              <a:rPr spc="-22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All/Some/No</a:t>
            </a:r>
            <a:r>
              <a:rPr spc="-41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[not]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-374" dirty="0">
                <a:latin typeface="Microsoft Sans Serif"/>
                <a:cs typeface="Microsoft Sans Serif"/>
              </a:rPr>
              <a:t>P.</a:t>
            </a:r>
            <a:endParaRPr>
              <a:latin typeface="Microsoft Sans Serif"/>
              <a:cs typeface="Microsoft Sans Serif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9922" y="2252236"/>
            <a:ext cx="2262569" cy="1200970"/>
          </a:xfrm>
          <a:prstGeom prst="rect">
            <a:avLst/>
          </a:prstGeom>
        </p:spPr>
        <p:txBody>
          <a:bodyPr vert="horz" wrap="square" lIns="0" tIns="23431" rIns="0" bIns="0" rtlCol="0">
            <a:spAutoFit/>
          </a:bodyPr>
          <a:lstStyle/>
          <a:p>
            <a:pPr marL="730949" marR="4572" algn="just">
              <a:lnSpc>
                <a:spcPct val="95800"/>
              </a:lnSpc>
              <a:spcBef>
                <a:spcPts val="184"/>
              </a:spcBef>
            </a:pPr>
            <a:r>
              <a:rPr dirty="0">
                <a:latin typeface="Microsoft Sans Serif"/>
                <a:cs typeface="Microsoft Sans Serif"/>
              </a:rPr>
              <a:t>Major</a:t>
            </a:r>
            <a:r>
              <a:rPr spc="72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premise: </a:t>
            </a:r>
            <a:r>
              <a:rPr dirty="0">
                <a:latin typeface="Microsoft Sans Serif"/>
                <a:cs typeface="Microsoft Sans Serif"/>
              </a:rPr>
              <a:t>Minor</a:t>
            </a:r>
            <a:r>
              <a:rPr spc="77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premise: Conclusion:</a:t>
            </a:r>
            <a:endParaRPr>
              <a:latin typeface="Microsoft Sans Serif"/>
              <a:cs typeface="Microsoft Sans Serif"/>
            </a:endParaRPr>
          </a:p>
          <a:p>
            <a:pPr marL="322326" indent="-310896" algn="just">
              <a:spcBef>
                <a:spcPts val="810"/>
              </a:spcBef>
              <a:buChar char="•"/>
              <a:tabLst>
                <a:tab pos="322326" algn="l"/>
              </a:tabLst>
            </a:pPr>
            <a:r>
              <a:rPr spc="-9" dirty="0">
                <a:latin typeface="Microsoft Sans Serif"/>
                <a:cs typeface="Microsoft Sans Serif"/>
              </a:rPr>
              <a:t>Example:</a:t>
            </a:r>
            <a:endParaRPr>
              <a:latin typeface="Microsoft Sans Serif"/>
              <a:cs typeface="Microsoft Sans Serif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99921" y="3548672"/>
            <a:ext cx="6818566" cy="1753686"/>
          </a:xfrm>
          <a:prstGeom prst="rect">
            <a:avLst/>
          </a:prstGeom>
        </p:spPr>
        <p:txBody>
          <a:bodyPr vert="horz" wrap="square" lIns="0" tIns="12002" rIns="0" bIns="0" rtlCol="0">
            <a:spAutoFit/>
          </a:bodyPr>
          <a:lstStyle/>
          <a:p>
            <a:pPr marL="730949">
              <a:spcBef>
                <a:spcPts val="95"/>
              </a:spcBef>
            </a:pPr>
            <a:r>
              <a:rPr dirty="0">
                <a:latin typeface="Microsoft Sans Serif"/>
                <a:cs typeface="Microsoft Sans Serif"/>
              </a:rPr>
              <a:t>All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Frenchmen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9" dirty="0">
                <a:latin typeface="Microsoft Sans Serif"/>
                <a:cs typeface="Microsoft Sans Serif"/>
              </a:rPr>
              <a:t> cheese-eaters</a:t>
            </a:r>
            <a:endParaRPr>
              <a:latin typeface="Microsoft Sans Serif"/>
              <a:cs typeface="Microsoft Sans Serif"/>
            </a:endParaRPr>
          </a:p>
          <a:p>
            <a:pPr marL="730949" marR="1100138">
              <a:lnSpc>
                <a:spcPts val="2070"/>
              </a:lnSpc>
              <a:spcBef>
                <a:spcPts val="140"/>
              </a:spcBef>
            </a:pPr>
            <a:r>
              <a:rPr dirty="0">
                <a:latin typeface="Microsoft Sans Serif"/>
                <a:cs typeface="Microsoft Sans Serif"/>
              </a:rPr>
              <a:t>All</a:t>
            </a:r>
            <a:r>
              <a:rPr spc="32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cheese-</a:t>
            </a:r>
            <a:r>
              <a:rPr dirty="0">
                <a:latin typeface="Microsoft Sans Serif"/>
                <a:cs typeface="Microsoft Sans Serif"/>
              </a:rPr>
              <a:t>eaters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surrender-monkeys </a:t>
            </a:r>
            <a:r>
              <a:rPr dirty="0">
                <a:latin typeface="Microsoft Sans Serif"/>
                <a:cs typeface="Microsoft Sans Serif"/>
              </a:rPr>
              <a:t>Therefore,</a:t>
            </a:r>
            <a:r>
              <a:rPr spc="-63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all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Frenchmen</a:t>
            </a:r>
            <a:r>
              <a:rPr spc="-5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surrender-</a:t>
            </a:r>
            <a:r>
              <a:rPr spc="-9" dirty="0">
                <a:latin typeface="Microsoft Sans Serif"/>
                <a:cs typeface="Microsoft Sans Serif"/>
              </a:rPr>
              <a:t>monkeys</a:t>
            </a:r>
            <a:endParaRPr>
              <a:latin typeface="Microsoft Sans Serif"/>
              <a:cs typeface="Microsoft Sans Serif"/>
            </a:endParaRPr>
          </a:p>
          <a:p>
            <a:pPr marL="319469" marR="4572" indent="-308610">
              <a:lnSpc>
                <a:spcPct val="95800"/>
              </a:lnSpc>
              <a:spcBef>
                <a:spcPts val="940"/>
              </a:spcBef>
              <a:buChar char="•"/>
              <a:tabLst>
                <a:tab pos="319469" algn="l"/>
              </a:tabLst>
            </a:pP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above</a:t>
            </a:r>
            <a:r>
              <a:rPr spc="-23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syllogism</a:t>
            </a:r>
            <a:r>
              <a:rPr spc="-23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is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logically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valid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(even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if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conclusion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-23" dirty="0">
                <a:latin typeface="Microsoft Sans Serif"/>
                <a:cs typeface="Microsoft Sans Serif"/>
              </a:rPr>
              <a:t>is </a:t>
            </a:r>
            <a:r>
              <a:rPr dirty="0">
                <a:latin typeface="Microsoft Sans Serif"/>
                <a:cs typeface="Microsoft Sans Serif"/>
              </a:rPr>
              <a:t>untrue).</a:t>
            </a:r>
            <a:r>
              <a:rPr spc="-7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truth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 a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conclusion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depends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both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on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validity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spc="-23" dirty="0">
                <a:latin typeface="Microsoft Sans Serif"/>
                <a:cs typeface="Microsoft Sans Serif"/>
              </a:rPr>
              <a:t>of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argument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 the</a:t>
            </a:r>
            <a:r>
              <a:rPr spc="-23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truth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9" dirty="0">
                <a:latin typeface="Microsoft Sans Serif"/>
                <a:cs typeface="Microsoft Sans Serif"/>
              </a:rPr>
              <a:t> premises.</a:t>
            </a:r>
            <a:endParaRPr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26390" y="785298"/>
            <a:ext cx="7472933" cy="4978908"/>
          </a:xfrm>
          <a:custGeom>
            <a:avLst/>
            <a:gdLst/>
            <a:ahLst/>
            <a:cxnLst/>
            <a:rect l="l" t="t" r="r" b="b"/>
            <a:pathLst>
              <a:path w="8303259" h="5532120">
                <a:moveTo>
                  <a:pt x="0" y="5531738"/>
                </a:moveTo>
                <a:lnTo>
                  <a:pt x="8302752" y="5531738"/>
                </a:lnTo>
                <a:lnTo>
                  <a:pt x="8302752" y="0"/>
                </a:lnTo>
                <a:lnTo>
                  <a:pt x="0" y="0"/>
                </a:lnTo>
                <a:lnTo>
                  <a:pt x="0" y="5531738"/>
                </a:lnTo>
                <a:close/>
              </a:path>
            </a:pathLst>
          </a:custGeom>
          <a:ln w="38100">
            <a:solidFill>
              <a:srgbClr val="D5A800"/>
            </a:solidFill>
          </a:ln>
        </p:spPr>
        <p:txBody>
          <a:bodyPr wrap="square" lIns="0" tIns="0" rIns="0" bIns="0" rtlCol="0"/>
          <a:lstStyle/>
          <a:p>
            <a:endParaRPr sz="1620"/>
          </a:p>
        </p:txBody>
      </p:sp>
      <p:sp>
        <p:nvSpPr>
          <p:cNvPr id="3" name="object 3"/>
          <p:cNvSpPr txBox="1"/>
          <p:nvPr/>
        </p:nvSpPr>
        <p:spPr>
          <a:xfrm>
            <a:off x="891356" y="835076"/>
            <a:ext cx="7287196" cy="4640436"/>
          </a:xfrm>
          <a:prstGeom prst="rect">
            <a:avLst/>
          </a:prstGeom>
        </p:spPr>
        <p:txBody>
          <a:bodyPr vert="horz" wrap="square" lIns="0" tIns="23431" rIns="0" bIns="0" rtlCol="0">
            <a:spAutoFit/>
          </a:bodyPr>
          <a:lstStyle/>
          <a:p>
            <a:pPr marL="319469" marR="126873" indent="-308610">
              <a:lnSpc>
                <a:spcPct val="95700"/>
              </a:lnSpc>
              <a:spcBef>
                <a:spcPts val="184"/>
              </a:spcBef>
              <a:buChar char="•"/>
              <a:tabLst>
                <a:tab pos="319469" algn="l"/>
              </a:tabLst>
            </a:pPr>
            <a:r>
              <a:rPr dirty="0">
                <a:latin typeface="Microsoft Sans Serif"/>
                <a:cs typeface="Microsoft Sans Serif"/>
              </a:rPr>
              <a:t>There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512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ways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 combining the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i="1" dirty="0">
                <a:latin typeface="Arial"/>
                <a:cs typeface="Arial"/>
              </a:rPr>
              <a:t>All</a:t>
            </a:r>
            <a:r>
              <a:rPr dirty="0">
                <a:latin typeface="Microsoft Sans Serif"/>
                <a:cs typeface="Microsoft Sans Serif"/>
              </a:rPr>
              <a:t>,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i="1" dirty="0">
                <a:latin typeface="Arial"/>
                <a:cs typeface="Arial"/>
              </a:rPr>
              <a:t>Some</a:t>
            </a:r>
            <a:r>
              <a:rPr dirty="0">
                <a:latin typeface="Microsoft Sans Serif"/>
                <a:cs typeface="Microsoft Sans Serif"/>
              </a:rPr>
              <a:t>,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i="1" dirty="0">
                <a:latin typeface="Arial"/>
                <a:cs typeface="Arial"/>
              </a:rPr>
              <a:t>No</a:t>
            </a:r>
            <a:r>
              <a:rPr i="1" spc="-23" dirty="0">
                <a:latin typeface="Arial"/>
                <a:cs typeface="Arial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i="1" spc="-23" dirty="0">
                <a:latin typeface="Arial"/>
                <a:cs typeface="Arial"/>
              </a:rPr>
              <a:t>Not </a:t>
            </a:r>
            <a:r>
              <a:rPr dirty="0">
                <a:latin typeface="Microsoft Sans Serif"/>
                <a:cs typeface="Microsoft Sans Serif"/>
              </a:rPr>
              <a:t>quantifiers,</a:t>
            </a:r>
            <a:r>
              <a:rPr spc="-5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producing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512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possible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syllogisms.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Most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these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do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spc="-23" dirty="0">
                <a:latin typeface="Microsoft Sans Serif"/>
                <a:cs typeface="Microsoft Sans Serif"/>
              </a:rPr>
              <a:t>not </a:t>
            </a:r>
            <a:r>
              <a:rPr dirty="0">
                <a:latin typeface="Microsoft Sans Serif"/>
                <a:cs typeface="Microsoft Sans Serif"/>
              </a:rPr>
              <a:t>produce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logical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arguments.</a:t>
            </a:r>
            <a:endParaRPr>
              <a:latin typeface="Microsoft Sans Serif"/>
              <a:cs typeface="Microsoft Sans Serif"/>
            </a:endParaRPr>
          </a:p>
          <a:p>
            <a:pPr marL="319469" indent="-308039">
              <a:lnSpc>
                <a:spcPts val="2120"/>
              </a:lnSpc>
              <a:spcBef>
                <a:spcPts val="895"/>
              </a:spcBef>
              <a:buChar char="•"/>
              <a:tabLst>
                <a:tab pos="319469" algn="l"/>
              </a:tabLst>
            </a:pPr>
            <a:r>
              <a:rPr dirty="0">
                <a:latin typeface="Microsoft Sans Serif"/>
                <a:cs typeface="Microsoft Sans Serif"/>
              </a:rPr>
              <a:t>As</a:t>
            </a:r>
            <a:r>
              <a:rPr spc="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we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saw for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conditional</a:t>
            </a:r>
            <a:r>
              <a:rPr spc="-5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reasoning,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people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often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make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errors</a:t>
            </a:r>
            <a:r>
              <a:rPr spc="-23" dirty="0">
                <a:latin typeface="Microsoft Sans Serif"/>
                <a:cs typeface="Microsoft Sans Serif"/>
              </a:rPr>
              <a:t> </a:t>
            </a:r>
            <a:r>
              <a:rPr spc="-18" dirty="0">
                <a:latin typeface="Microsoft Sans Serif"/>
                <a:cs typeface="Microsoft Sans Serif"/>
              </a:rPr>
              <a:t>when</a:t>
            </a:r>
            <a:endParaRPr>
              <a:latin typeface="Microsoft Sans Serif"/>
              <a:cs typeface="Microsoft Sans Serif"/>
            </a:endParaRPr>
          </a:p>
          <a:p>
            <a:pPr marL="319469">
              <a:lnSpc>
                <a:spcPts val="2120"/>
              </a:lnSpc>
            </a:pPr>
            <a:r>
              <a:rPr dirty="0">
                <a:latin typeface="Microsoft Sans Serif"/>
                <a:cs typeface="Microsoft Sans Serif"/>
              </a:rPr>
              <a:t>making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judgments</a:t>
            </a:r>
            <a:r>
              <a:rPr spc="-6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about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arguments</a:t>
            </a:r>
            <a:r>
              <a:rPr spc="-6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involving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syllogistic</a:t>
            </a:r>
            <a:r>
              <a:rPr spc="-68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reasoning.</a:t>
            </a:r>
            <a:endParaRPr>
              <a:latin typeface="Microsoft Sans Serif"/>
              <a:cs typeface="Microsoft Sans Serif"/>
            </a:endParaRPr>
          </a:p>
          <a:p>
            <a:pPr marL="319469" indent="-308039">
              <a:spcBef>
                <a:spcPts val="810"/>
              </a:spcBef>
              <a:buChar char="•"/>
              <a:tabLst>
                <a:tab pos="319469" algn="l"/>
              </a:tabLst>
            </a:pPr>
            <a:r>
              <a:rPr dirty="0">
                <a:latin typeface="Microsoft Sans Serif"/>
                <a:cs typeface="Microsoft Sans Serif"/>
              </a:rPr>
              <a:t>For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example,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consider:</a:t>
            </a:r>
            <a:endParaRPr>
              <a:latin typeface="Microsoft Sans Serif"/>
              <a:cs typeface="Microsoft Sans Serif"/>
            </a:endParaRPr>
          </a:p>
          <a:p>
            <a:pPr marL="1142429" marR="2691765">
              <a:lnSpc>
                <a:spcPts val="2061"/>
              </a:lnSpc>
              <a:spcBef>
                <a:spcPts val="1148"/>
              </a:spcBef>
            </a:pPr>
            <a:r>
              <a:rPr dirty="0">
                <a:latin typeface="Microsoft Sans Serif"/>
                <a:cs typeface="Microsoft Sans Serif"/>
              </a:rPr>
              <a:t>All</a:t>
            </a:r>
            <a:r>
              <a:rPr spc="27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French-</a:t>
            </a:r>
            <a:r>
              <a:rPr dirty="0">
                <a:latin typeface="Microsoft Sans Serif"/>
                <a:cs typeface="Microsoft Sans Serif"/>
              </a:rPr>
              <a:t>men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5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cheese-eaters </a:t>
            </a:r>
            <a:r>
              <a:rPr dirty="0">
                <a:latin typeface="Microsoft Sans Serif"/>
                <a:cs typeface="Microsoft Sans Serif"/>
              </a:rPr>
              <a:t>Some</a:t>
            </a:r>
            <a:r>
              <a:rPr spc="-23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cheese-</a:t>
            </a:r>
            <a:r>
              <a:rPr dirty="0">
                <a:latin typeface="Microsoft Sans Serif"/>
                <a:cs typeface="Microsoft Sans Serif"/>
              </a:rPr>
              <a:t>eaters</a:t>
            </a:r>
            <a:r>
              <a:rPr spc="-41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farmers</a:t>
            </a:r>
            <a:endParaRPr>
              <a:latin typeface="Microsoft Sans Serif"/>
              <a:cs typeface="Microsoft Sans Serif"/>
            </a:endParaRPr>
          </a:p>
          <a:p>
            <a:pPr marL="1142429">
              <a:lnSpc>
                <a:spcPts val="1935"/>
              </a:lnSpc>
            </a:pPr>
            <a:r>
              <a:rPr dirty="0">
                <a:latin typeface="Microsoft Sans Serif"/>
                <a:cs typeface="Microsoft Sans Serif"/>
              </a:rPr>
              <a:t>Therefore,</a:t>
            </a:r>
            <a:r>
              <a:rPr spc="-6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some</a:t>
            </a:r>
            <a:r>
              <a:rPr spc="-41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Frenchmen</a:t>
            </a:r>
            <a:r>
              <a:rPr spc="-63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are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farmers</a:t>
            </a:r>
            <a:endParaRPr>
              <a:latin typeface="Microsoft Sans Serif"/>
              <a:cs typeface="Microsoft Sans Serif"/>
            </a:endParaRPr>
          </a:p>
          <a:p>
            <a:pPr marL="319469" marR="4572" indent="-308610">
              <a:lnSpc>
                <a:spcPts val="2070"/>
              </a:lnSpc>
              <a:spcBef>
                <a:spcPts val="1130"/>
              </a:spcBef>
              <a:buChar char="•"/>
              <a:tabLst>
                <a:tab pos="319469" algn="l"/>
              </a:tabLst>
            </a:pP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41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conclusion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does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not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follow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logically from</a:t>
            </a:r>
            <a:r>
              <a:rPr spc="-50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premises.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However, </a:t>
            </a:r>
            <a:r>
              <a:rPr dirty="0">
                <a:latin typeface="Microsoft Sans Serif"/>
                <a:cs typeface="Microsoft Sans Serif"/>
              </a:rPr>
              <a:t>people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often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judge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the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argument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to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valid</a:t>
            </a:r>
            <a:r>
              <a:rPr spc="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one.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(Johnson-</a:t>
            </a:r>
            <a:r>
              <a:rPr spc="-9" dirty="0">
                <a:latin typeface="Microsoft Sans Serif"/>
                <a:cs typeface="Microsoft Sans Serif"/>
              </a:rPr>
              <a:t>Laird, 1990)</a:t>
            </a:r>
            <a:endParaRPr>
              <a:latin typeface="Microsoft Sans Serif"/>
              <a:cs typeface="Microsoft Sans Serif"/>
            </a:endParaRPr>
          </a:p>
          <a:p>
            <a:pPr marL="319469" marR="78867" indent="-308610">
              <a:lnSpc>
                <a:spcPct val="95800"/>
              </a:lnSpc>
              <a:spcBef>
                <a:spcPts val="936"/>
              </a:spcBef>
              <a:buChar char="•"/>
              <a:tabLst>
                <a:tab pos="319469" algn="l"/>
                <a:tab pos="968693" algn="l"/>
              </a:tabLst>
            </a:pPr>
            <a:r>
              <a:rPr spc="-18" dirty="0">
                <a:latin typeface="Microsoft Sans Serif"/>
                <a:cs typeface="Microsoft Sans Serif"/>
              </a:rPr>
              <a:t>Such</a:t>
            </a:r>
            <a:r>
              <a:rPr dirty="0">
                <a:latin typeface="Microsoft Sans Serif"/>
                <a:cs typeface="Microsoft Sans Serif"/>
              </a:rPr>
              <a:t>	findings</a:t>
            </a:r>
            <a:r>
              <a:rPr spc="-4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can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 explained by</a:t>
            </a:r>
            <a:r>
              <a:rPr spc="9" dirty="0">
                <a:latin typeface="Microsoft Sans Serif"/>
                <a:cs typeface="Microsoft Sans Serif"/>
              </a:rPr>
              <a:t> </a:t>
            </a:r>
            <a:r>
              <a:rPr b="1" dirty="0">
                <a:latin typeface="Arial"/>
                <a:cs typeface="Arial"/>
              </a:rPr>
              <a:t>belief</a:t>
            </a:r>
            <a:r>
              <a:rPr b="1" spc="-54" dirty="0">
                <a:latin typeface="Arial"/>
                <a:cs typeface="Arial"/>
              </a:rPr>
              <a:t> </a:t>
            </a:r>
            <a:r>
              <a:rPr b="1" dirty="0">
                <a:latin typeface="Arial"/>
                <a:cs typeface="Arial"/>
              </a:rPr>
              <a:t>biases</a:t>
            </a:r>
            <a:r>
              <a:rPr b="1" spc="-54" dirty="0">
                <a:latin typeface="Arial"/>
                <a:cs typeface="Arial"/>
              </a:rPr>
              <a:t> </a:t>
            </a:r>
            <a:r>
              <a:rPr spc="468" dirty="0">
                <a:latin typeface="Microsoft Sans Serif"/>
                <a:cs typeface="Microsoft Sans Serif"/>
              </a:rPr>
              <a:t>–</a:t>
            </a:r>
            <a:r>
              <a:rPr spc="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people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spc="-18" dirty="0">
                <a:latin typeface="Microsoft Sans Serif"/>
                <a:cs typeface="Microsoft Sans Serif"/>
              </a:rPr>
              <a:t>make </a:t>
            </a:r>
            <a:r>
              <a:rPr dirty="0">
                <a:latin typeface="Microsoft Sans Serif"/>
                <a:cs typeface="Microsoft Sans Serif"/>
              </a:rPr>
              <a:t>judgements</a:t>
            </a:r>
            <a:r>
              <a:rPr spc="-32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based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on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prior</a:t>
            </a:r>
            <a:r>
              <a:rPr spc="-18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beliefs</a:t>
            </a:r>
            <a:r>
              <a:rPr spc="-41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and</a:t>
            </a:r>
            <a:r>
              <a:rPr spc="-5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knowledge</a:t>
            </a:r>
            <a:r>
              <a:rPr spc="-9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rather</a:t>
            </a:r>
            <a:r>
              <a:rPr spc="-36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than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on </a:t>
            </a:r>
            <a:r>
              <a:rPr spc="-23" dirty="0">
                <a:latin typeface="Microsoft Sans Serif"/>
                <a:cs typeface="Microsoft Sans Serif"/>
              </a:rPr>
              <a:t>the </a:t>
            </a:r>
            <a:r>
              <a:rPr dirty="0">
                <a:latin typeface="Microsoft Sans Serif"/>
                <a:cs typeface="Microsoft Sans Serif"/>
              </a:rPr>
              <a:t>rules</a:t>
            </a:r>
            <a:r>
              <a:rPr spc="-27" dirty="0">
                <a:latin typeface="Microsoft Sans Serif"/>
                <a:cs typeface="Microsoft Sans Serif"/>
              </a:rPr>
              <a:t> </a:t>
            </a:r>
            <a:r>
              <a:rPr dirty="0">
                <a:latin typeface="Microsoft Sans Serif"/>
                <a:cs typeface="Microsoft Sans Serif"/>
              </a:rPr>
              <a:t>of</a:t>
            </a:r>
            <a:r>
              <a:rPr spc="-14" dirty="0">
                <a:latin typeface="Microsoft Sans Serif"/>
                <a:cs typeface="Microsoft Sans Serif"/>
              </a:rPr>
              <a:t> </a:t>
            </a:r>
            <a:r>
              <a:rPr spc="-9" dirty="0">
                <a:latin typeface="Microsoft Sans Serif"/>
                <a:cs typeface="Microsoft Sans Serif"/>
              </a:rPr>
              <a:t>logic</a:t>
            </a:r>
            <a:endParaRPr>
              <a:latin typeface="Microsoft Sans Serif"/>
              <a:cs typeface="Microsoft Sans Serif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Custom 21">
      <a:majorFont>
        <a:latin typeface="Georgia"/>
        <a:ea typeface=""/>
        <a:cs typeface=""/>
      </a:majorFont>
      <a:minorFont>
        <a:latin typeface="Georgia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173</TotalTime>
  <Words>3696</Words>
  <Application>Microsoft Office PowerPoint</Application>
  <PresentationFormat>On-screen Show (4:3)</PresentationFormat>
  <Paragraphs>562</Paragraphs>
  <Slides>75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75</vt:i4>
      </vt:variant>
    </vt:vector>
  </HeadingPairs>
  <TitlesOfParts>
    <vt:vector size="86" baseType="lpstr">
      <vt:lpstr>Arial</vt:lpstr>
      <vt:lpstr>Calibri</vt:lpstr>
      <vt:lpstr>Calibri Light</vt:lpstr>
      <vt:lpstr>Georgia</vt:lpstr>
      <vt:lpstr>Microsoft Sans Serif</vt:lpstr>
      <vt:lpstr>Symbol</vt:lpstr>
      <vt:lpstr>Tahoma</vt:lpstr>
      <vt:lpstr>Times New Roman</vt:lpstr>
      <vt:lpstr>Trebuchet MS</vt:lpstr>
      <vt:lpstr>Wingdings</vt:lpstr>
      <vt:lpstr>Retrospect</vt:lpstr>
      <vt:lpstr>Cognitive Modelling</vt:lpstr>
      <vt:lpstr>Cognitive Modelling</vt:lpstr>
      <vt:lpstr>Computational Modelling</vt:lpstr>
      <vt:lpstr>What are Formal Models</vt:lpstr>
      <vt:lpstr>What are Formal Models</vt:lpstr>
      <vt:lpstr>Advantages of Computational Modeling</vt:lpstr>
      <vt:lpstr>Is cognition information processing?</vt:lpstr>
      <vt:lpstr>We keep talking about what “machines” can do</vt:lpstr>
      <vt:lpstr>What is an “Algorithm” or “Effective Method”?</vt:lpstr>
      <vt:lpstr>Algorithm → Church–Turing Thesis → Universal Turing Machine → Cognition as Computation ?</vt:lpstr>
      <vt:lpstr>PowerPoint Presentation</vt:lpstr>
      <vt:lpstr>Turing machines</vt:lpstr>
      <vt:lpstr>What is a Turing Machine?</vt:lpstr>
      <vt:lpstr>Components:</vt:lpstr>
      <vt:lpstr>How it works</vt:lpstr>
      <vt:lpstr>A Turing Machine</vt:lpstr>
      <vt:lpstr>Turing Machines: more detail</vt:lpstr>
      <vt:lpstr>TMs can be identified with sets of quadruples</vt:lpstr>
      <vt:lpstr>Example: an Adder</vt:lpstr>
      <vt:lpstr>A Turing machine for adding two numbers: 2 steps</vt:lpstr>
      <vt:lpstr>State Diagram for the Solution</vt:lpstr>
      <vt:lpstr>PowerPoint Presentation</vt:lpstr>
      <vt:lpstr>So what?</vt:lpstr>
      <vt:lpstr>Artificial Intelligence</vt:lpstr>
      <vt:lpstr>PowerPoint Presentation</vt:lpstr>
      <vt:lpstr>AI and Cognitive Science</vt:lpstr>
      <vt:lpstr>Types of AI Research: Goals</vt:lpstr>
      <vt:lpstr>Reasoning </vt:lpstr>
      <vt:lpstr>PowerPoint Presentation</vt:lpstr>
      <vt:lpstr>Rational Thinking</vt:lpstr>
      <vt:lpstr>Are you a creature of reason?</vt:lpstr>
      <vt:lpstr>Syllogism</vt:lpstr>
      <vt:lpstr>Reasoning does not help us in identifying goals or in identifying problems.</vt:lpstr>
      <vt:lpstr>PowerPoint Presentation</vt:lpstr>
      <vt:lpstr>Types of Reasoning:</vt:lpstr>
      <vt:lpstr>PowerPoint Presentation</vt:lpstr>
      <vt:lpstr>Inductive reasoning</vt:lpstr>
      <vt:lpstr>I have been fed every day up until today (21 Aug)</vt:lpstr>
      <vt:lpstr>Example</vt:lpstr>
      <vt:lpstr>PowerPoint Presentation</vt:lpstr>
      <vt:lpstr>PowerPoint Presentation</vt:lpstr>
      <vt:lpstr>Abductive reasoning</vt:lpstr>
      <vt:lpstr>Deductive Reasoning</vt:lpstr>
      <vt:lpstr>Deductive Reasoning</vt:lpstr>
      <vt:lpstr>PowerPoint Presentation</vt:lpstr>
      <vt:lpstr>You are a good student. You get all A’s Therefore your friends must get all A’s too</vt:lpstr>
      <vt:lpstr>All oranges are fruits. All fruits grow on trees</vt:lpstr>
      <vt:lpstr>Mikhail hails from Russia and Russians are tall, therefore Mikhail is tall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Mathematics</vt:lpstr>
      <vt:lpstr>Inductive reasoning-More examples</vt:lpstr>
      <vt:lpstr>If I turn on the light switch, the light will come on.</vt:lpstr>
      <vt:lpstr>Many of us, a lot of the time, will tend to look for evidence that supports our hypothesis (only).</vt:lpstr>
      <vt:lpstr>PowerPoint Presentation</vt:lpstr>
      <vt:lpstr>PowerPoint Presentation</vt:lpstr>
      <vt:lpstr>A proposition is a special kind of sentence.It makes an assertion.  E.g. The cat ison the mat</vt:lpstr>
      <vt:lpstr>Modus Ponens</vt:lpstr>
      <vt:lpstr>Modus Tollens</vt:lpstr>
      <vt:lpstr>Modus Ponens</vt:lpstr>
      <vt:lpstr>Is this valid?</vt:lpstr>
      <vt:lpstr>Fallacy 1: Affirmation of the Consequent</vt:lpstr>
      <vt:lpstr>If p then q</vt:lpstr>
      <vt:lpstr>antecedent</vt:lpstr>
      <vt:lpstr>PowerPoint Presentation</vt:lpstr>
      <vt:lpstr>If V O W E L</vt:lpstr>
      <vt:lpstr>D</vt:lpstr>
      <vt:lpstr>D</vt:lpstr>
      <vt:lpstr>D</vt:lpstr>
      <vt:lpstr>D</vt:lpstr>
      <vt:lpstr>Syllogistic reasoning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Overview and History of Cognitive Science</dc:title>
  <dc:creator>IIIT KOTTAYAM</dc:creator>
  <cp:lastModifiedBy>IIIT Kottayam</cp:lastModifiedBy>
  <cp:revision>17</cp:revision>
  <dcterms:created xsi:type="dcterms:W3CDTF">2025-08-21T04:56:38Z</dcterms:created>
  <dcterms:modified xsi:type="dcterms:W3CDTF">2025-08-22T01:34:19Z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2024-08-21T00:00:00Z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2025-08-21T00:00:00Z</vt:filetime>
  </property>
  <property fmtid="{D5CDD505-2E9C-101B-9397-08002B2CF9AE}" pid="5" name="Producer">
    <vt:lpwstr>Microsoft® PowerPoint® 2013</vt:lpwstr>
  </property>
</Properties>
</file>
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9"/>
  </p:notesMasterIdLst>
  <p:sldIdLst>
    <p:sldId id="256" r:id="rId2"/>
    <p:sldId id="257" r:id="rId3"/>
    <p:sldId id="267" r:id="rId4"/>
    <p:sldId id="281" r:id="rId5"/>
    <p:sldId id="284" r:id="rId6"/>
    <p:sldId id="285" r:id="rId7"/>
    <p:sldId id="286" r:id="rId8"/>
    <p:sldId id="270" r:id="rId9"/>
    <p:sldId id="272" r:id="rId10"/>
    <p:sldId id="273" r:id="rId11"/>
    <p:sldId id="280" r:id="rId12"/>
    <p:sldId id="274" r:id="rId13"/>
    <p:sldId id="275" r:id="rId14"/>
    <p:sldId id="276" r:id="rId15"/>
    <p:sldId id="277" r:id="rId16"/>
    <p:sldId id="288" r:id="rId17"/>
    <p:sldId id="278" r:id="rId18"/>
    <p:sldId id="279" r:id="rId19"/>
    <p:sldId id="266" r:id="rId20"/>
    <p:sldId id="289" r:id="rId21"/>
    <p:sldId id="297" r:id="rId22"/>
    <p:sldId id="299" r:id="rId23"/>
    <p:sldId id="300" r:id="rId24"/>
    <p:sldId id="320" r:id="rId25"/>
    <p:sldId id="301" r:id="rId26"/>
    <p:sldId id="321" r:id="rId27"/>
    <p:sldId id="302" r:id="rId28"/>
    <p:sldId id="303" r:id="rId29"/>
    <p:sldId id="304" r:id="rId30"/>
    <p:sldId id="305" r:id="rId31"/>
    <p:sldId id="306" r:id="rId32"/>
    <p:sldId id="307" r:id="rId33"/>
    <p:sldId id="308" r:id="rId34"/>
    <p:sldId id="309" r:id="rId35"/>
    <p:sldId id="298" r:id="rId36"/>
    <p:sldId id="310" r:id="rId37"/>
    <p:sldId id="311" r:id="rId38"/>
    <p:sldId id="312" r:id="rId39"/>
    <p:sldId id="313" r:id="rId40"/>
    <p:sldId id="314" r:id="rId41"/>
    <p:sldId id="315" r:id="rId42"/>
    <p:sldId id="316" r:id="rId43"/>
    <p:sldId id="317" r:id="rId44"/>
    <p:sldId id="318" r:id="rId45"/>
    <p:sldId id="319" r:id="rId46"/>
    <p:sldId id="268" r:id="rId47"/>
    <p:sldId id="323" r:id="rId48"/>
    <p:sldId id="322"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 id="341" r:id="rId67"/>
    <p:sldId id="342" r:id="rId68"/>
  </p:sldIdLst>
  <p:sldSz cx="9144000" cy="6858000" type="screen4x3"/>
  <p:notesSz cx="6669088" cy="9926638"/>
  <p:embeddedFontLst>
    <p:embeddedFont>
      <p:font typeface="Georgia" panose="02040502050405020303" pitchFamily="18" charset="0"/>
      <p:regular r:id="rId70"/>
      <p:bold r:id="rId71"/>
      <p:italic r:id="rId72"/>
      <p:boldItalic r:id="rId73"/>
    </p:embeddedFont>
    <p:embeddedFont>
      <p:font typeface="Tahoma" panose="020B0604030504040204" pitchFamily="34" charset="0"/>
      <p:regular r:id="rId74"/>
      <p:bold r:id="rId75"/>
    </p:embeddedFont>
    <p:embeddedFont>
      <p:font typeface="Calibri" panose="020F0502020204030204" pitchFamily="34" charset="0"/>
      <p:regular r:id="rId76"/>
      <p:bold r:id="rId77"/>
      <p:italic r:id="rId78"/>
      <p:boldItalic r:id="rId79"/>
    </p:embeddedFont>
    <p:embeddedFont>
      <p:font typeface="Bell MT" panose="02020503060305020303" pitchFamily="18" charset="0"/>
      <p:regular r:id="rId80"/>
      <p:bold r:id="rId81"/>
      <p: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ip11N/fwS+prnzVL1ec0I8QG65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D2AD0C-4D7A-4011-B2AF-17366F60A13C}">
  <a:tblStyle styleId="{C5D2AD0C-4D7A-4011-B2AF-17366F60A13C}"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26"/>
        <p:guide pos="210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7.fntdata"/><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5.fntdata"/><Relationship Id="rId79" Type="http://schemas.openxmlformats.org/officeDocument/2006/relationships/font" Target="fonts/font10.fntdata"/><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13.fntdata"/><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889250" cy="4968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779838" y="0"/>
            <a:ext cx="2889250" cy="4968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852488" y="744538"/>
            <a:ext cx="4964112"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889000" y="4714875"/>
            <a:ext cx="4891088" cy="44672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889250" cy="4968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779838" y="9429750"/>
            <a:ext cx="2889250" cy="496888"/>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extLst>
      <p:ext uri="{BB962C8B-B14F-4D97-AF65-F5344CB8AC3E}">
        <p14:creationId xmlns:p14="http://schemas.microsoft.com/office/powerpoint/2010/main" val="12661419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889000" y="4714875"/>
            <a:ext cx="4891088"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 name="Google Shape;89;p1:notes"/>
          <p:cNvSpPr>
            <a:spLocks noGrp="1" noRot="1" noChangeAspect="1"/>
          </p:cNvSpPr>
          <p:nvPr>
            <p:ph type="sldImg" idx="2"/>
          </p:nvPr>
        </p:nvSpPr>
        <p:spPr>
          <a:xfrm>
            <a:off x="852488" y="744538"/>
            <a:ext cx="4964112"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1523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889000" y="4714875"/>
            <a:ext cx="4891088" cy="4467225"/>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852488" y="744538"/>
            <a:ext cx="4964112"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3036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sldNum" idx="12"/>
          </p:nvPr>
        </p:nvSpPr>
        <p:spPr>
          <a:xfrm>
            <a:off x="3779838" y="9429750"/>
            <a:ext cx="288925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19</a:t>
            </a:fld>
            <a:endParaRPr sz="1200" b="0" i="0" u="none" strike="noStrike" cap="none">
              <a:solidFill>
                <a:schemeClr val="dk1"/>
              </a:solidFill>
              <a:latin typeface="Tahoma"/>
              <a:ea typeface="Tahoma"/>
              <a:cs typeface="Tahoma"/>
              <a:sym typeface="Tahoma"/>
            </a:endParaRPr>
          </a:p>
        </p:txBody>
      </p:sp>
      <p:sp>
        <p:nvSpPr>
          <p:cNvPr id="158" name="Google Shape;158;p10:notes"/>
          <p:cNvSpPr>
            <a:spLocks noGrp="1" noRot="1" noChangeAspect="1"/>
          </p:cNvSpPr>
          <p:nvPr>
            <p:ph type="sldImg" idx="2"/>
          </p:nvPr>
        </p:nvSpPr>
        <p:spPr>
          <a:xfrm>
            <a:off x="862013" y="750888"/>
            <a:ext cx="4946650" cy="3709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round/>
            <a:headEnd type="none" w="sm" len="sm"/>
            <a:tailEnd type="none" w="sm" len="sm"/>
          </a:ln>
        </p:spPr>
      </p:sp>
      <p:sp>
        <p:nvSpPr>
          <p:cNvPr id="159" name="Google Shape;159;p10:notes"/>
          <p:cNvSpPr txBox="1">
            <a:spLocks noGrp="1"/>
          </p:cNvSpPr>
          <p:nvPr>
            <p:ph type="body" idx="1"/>
          </p:nvPr>
        </p:nvSpPr>
        <p:spPr>
          <a:xfrm>
            <a:off x="889000" y="4714875"/>
            <a:ext cx="4891088" cy="4467225"/>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9038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
        <p:nvSpPr>
          <p:cNvPr id="17" name="Google Shape;17;p12"/>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1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cxnSp>
        <p:nvCxnSpPr>
          <p:cNvPr id="23" name="Google Shape;23;p13"/>
          <p:cNvCxnSpPr/>
          <p:nvPr/>
        </p:nvCxnSpPr>
        <p:spPr>
          <a:xfrm>
            <a:off x="0" y="6248400"/>
            <a:ext cx="9144000" cy="0"/>
          </a:xfrm>
          <a:prstGeom prst="straightConnector1">
            <a:avLst/>
          </a:prstGeom>
          <a:noFill/>
          <a:ln w="38100" cap="flat" cmpd="sng">
            <a:solidFill>
              <a:schemeClr val="accent1"/>
            </a:solidFill>
            <a:prstDash val="solid"/>
            <a:miter lim="800000"/>
            <a:headEnd type="none" w="sm" len="sm"/>
            <a:tailEnd type="none" w="sm" len="sm"/>
          </a:ln>
        </p:spPr>
      </p:cxnSp>
      <p:cxnSp>
        <p:nvCxnSpPr>
          <p:cNvPr id="24" name="Google Shape;24;p13"/>
          <p:cNvCxnSpPr/>
          <p:nvPr/>
        </p:nvCxnSpPr>
        <p:spPr>
          <a:xfrm>
            <a:off x="0" y="1219200"/>
            <a:ext cx="9144000" cy="0"/>
          </a:xfrm>
          <a:prstGeom prst="straightConnector1">
            <a:avLst/>
          </a:prstGeom>
          <a:noFill/>
          <a:ln w="38100" cap="flat" cmpd="sng">
            <a:solidFill>
              <a:schemeClr val="accent1"/>
            </a:solidFill>
            <a:prstDash val="solid"/>
            <a:miter lim="800000"/>
            <a:headEnd type="none" w="sm" len="sm"/>
            <a:tailEnd type="none" w="sm" len="sm"/>
          </a:ln>
        </p:spPr>
      </p:cxnSp>
      <p:sp>
        <p:nvSpPr>
          <p:cNvPr id="25" name="Google Shape;25;p13"/>
          <p:cNvSpPr txBox="1">
            <a:spLocks noGrp="1"/>
          </p:cNvSpPr>
          <p:nvPr>
            <p:ph type="title"/>
          </p:nvPr>
        </p:nvSpPr>
        <p:spPr>
          <a:xfrm>
            <a:off x="225425" y="304801"/>
            <a:ext cx="8080375" cy="99059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4400">
                <a:solidFill>
                  <a:srgbClr val="C00000"/>
                </a:solidFill>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 name="Google Shape;26;p13"/>
          <p:cNvSpPr txBox="1">
            <a:spLocks noGrp="1"/>
          </p:cNvSpPr>
          <p:nvPr>
            <p:ph type="body" idx="1"/>
          </p:nvPr>
        </p:nvSpPr>
        <p:spPr>
          <a:xfrm>
            <a:off x="495300" y="1516062"/>
            <a:ext cx="7886700" cy="4351338"/>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600">
                <a:solidFill>
                  <a:srgbClr val="FF0000"/>
                </a:solidFill>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1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400"/>
              <a:buNone/>
              <a:defRPr sz="2400">
                <a:solidFill>
                  <a:schemeClr val="dk1"/>
                </a:solidFill>
                <a:latin typeface="Bell MT"/>
                <a:ea typeface="Bell MT"/>
                <a:cs typeface="Bell MT"/>
                <a:sym typeface="Bell MT"/>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1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600">
                <a:solidFill>
                  <a:srgbClr val="FF0000"/>
                </a:solidFill>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15"/>
          <p:cNvSpPr txBox="1">
            <a:spLocks noGrp="1"/>
          </p:cNvSpPr>
          <p:nvPr>
            <p:ph type="title"/>
          </p:nvPr>
        </p:nvSpPr>
        <p:spPr>
          <a:xfrm>
            <a:off x="228600" y="4864"/>
            <a:ext cx="7566025" cy="151288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 name="Google Shape;38;p1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1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1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 name="Google Shape;45;p1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atin typeface="Bell MT"/>
                <a:ea typeface="Bell MT"/>
                <a:cs typeface="Bell MT"/>
                <a:sym typeface="Bell MT"/>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atin typeface="Bell MT"/>
                <a:ea typeface="Bell MT"/>
                <a:cs typeface="Bell MT"/>
                <a:sym typeface="Bell MT"/>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1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17"/>
          <p:cNvSpPr txBox="1">
            <a:spLocks noGrp="1"/>
          </p:cNvSpPr>
          <p:nvPr>
            <p:ph type="title"/>
          </p:nvPr>
        </p:nvSpPr>
        <p:spPr>
          <a:xfrm>
            <a:off x="417513" y="258763"/>
            <a:ext cx="8308975" cy="12080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4" name="Google Shape;54;p1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3" name="Google Shape;63;p1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atin typeface="Bell MT"/>
                <a:ea typeface="Bell MT"/>
                <a:cs typeface="Bell MT"/>
                <a:sym typeface="Bell MT"/>
              </a:defRPr>
            </a:lvl1pPr>
            <a:lvl2pPr marL="914400" lvl="1" indent="-406400" algn="l">
              <a:lnSpc>
                <a:spcPct val="90000"/>
              </a:lnSpc>
              <a:spcBef>
                <a:spcPts val="500"/>
              </a:spcBef>
              <a:spcAft>
                <a:spcPts val="0"/>
              </a:spcAft>
              <a:buClr>
                <a:schemeClr val="dk1"/>
              </a:buClr>
              <a:buSzPts val="2800"/>
              <a:buChar char="•"/>
              <a:defRPr sz="2800">
                <a:latin typeface="Bell MT"/>
                <a:ea typeface="Bell MT"/>
                <a:cs typeface="Bell MT"/>
                <a:sym typeface="Bell MT"/>
              </a:defRPr>
            </a:lvl2pPr>
            <a:lvl3pPr marL="1371600" lvl="2" indent="-381000" algn="l">
              <a:lnSpc>
                <a:spcPct val="90000"/>
              </a:lnSpc>
              <a:spcBef>
                <a:spcPts val="500"/>
              </a:spcBef>
              <a:spcAft>
                <a:spcPts val="0"/>
              </a:spcAft>
              <a:buClr>
                <a:schemeClr val="dk1"/>
              </a:buClr>
              <a:buSzPts val="2400"/>
              <a:buChar char="•"/>
              <a:defRPr sz="2400">
                <a:latin typeface="Bell MT"/>
                <a:ea typeface="Bell MT"/>
                <a:cs typeface="Bell MT"/>
                <a:sym typeface="Bell MT"/>
              </a:defRPr>
            </a:lvl3pPr>
            <a:lvl4pPr marL="1828800" lvl="3" indent="-355600" algn="l">
              <a:lnSpc>
                <a:spcPct val="90000"/>
              </a:lnSpc>
              <a:spcBef>
                <a:spcPts val="500"/>
              </a:spcBef>
              <a:spcAft>
                <a:spcPts val="0"/>
              </a:spcAft>
              <a:buClr>
                <a:schemeClr val="dk1"/>
              </a:buClr>
              <a:buSzPts val="2000"/>
              <a:buChar char="•"/>
              <a:defRPr sz="2000">
                <a:latin typeface="Bell MT"/>
                <a:ea typeface="Bell MT"/>
                <a:cs typeface="Bell MT"/>
                <a:sym typeface="Bell MT"/>
              </a:defRPr>
            </a:lvl4pPr>
            <a:lvl5pPr marL="2286000" lvl="4" indent="-355600" algn="l">
              <a:lnSpc>
                <a:spcPct val="90000"/>
              </a:lnSpc>
              <a:spcBef>
                <a:spcPts val="500"/>
              </a:spcBef>
              <a:spcAft>
                <a:spcPts val="0"/>
              </a:spcAft>
              <a:buClr>
                <a:schemeClr val="dk1"/>
              </a:buClr>
              <a:buSzPts val="2000"/>
              <a:buChar char="•"/>
              <a:defRPr sz="2000">
                <a:latin typeface="Bell MT"/>
                <a:ea typeface="Bell MT"/>
                <a:cs typeface="Bell MT"/>
                <a:sym typeface="Bell MT"/>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Bell MT"/>
                <a:ea typeface="Bell MT"/>
                <a:cs typeface="Bell MT"/>
                <a:sym typeface="Bell MT"/>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20"/>
          <p:cNvSpPr>
            <a:spLocks noGrp="1"/>
          </p:cNvSpPr>
          <p:nvPr>
            <p:ph type="pic" idx="2"/>
          </p:nvPr>
        </p:nvSpPr>
        <p:spPr>
          <a:xfrm>
            <a:off x="3887391" y="987426"/>
            <a:ext cx="4629150" cy="4873625"/>
          </a:xfrm>
          <a:prstGeom prst="rect">
            <a:avLst/>
          </a:prstGeom>
          <a:noFill/>
          <a:ln>
            <a:noFill/>
          </a:ln>
        </p:spPr>
      </p:sp>
      <p:sp>
        <p:nvSpPr>
          <p:cNvPr id="71" name="Google Shape;71;p2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Bell MT"/>
                <a:ea typeface="Bell MT"/>
                <a:cs typeface="Bell MT"/>
                <a:sym typeface="Bell MT"/>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2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1"/>
          <p:cNvSpPr txBox="1">
            <a:spLocks noGrp="1"/>
          </p:cNvSpPr>
          <p:nvPr>
            <p:ph type="title"/>
          </p:nvPr>
        </p:nvSpPr>
        <p:spPr>
          <a:xfrm>
            <a:off x="417513" y="258763"/>
            <a:ext cx="8308975" cy="12080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7" name="Google Shape;77;p2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atin typeface="Bell MT"/>
                <a:ea typeface="Bell MT"/>
                <a:cs typeface="Bell MT"/>
                <a:sym typeface="Bell M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3" name="Google Shape;83;p22"/>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a:latin typeface="Bell MT"/>
                <a:ea typeface="Bell MT"/>
                <a:cs typeface="Bell MT"/>
                <a:sym typeface="Bell MT"/>
              </a:defRPr>
            </a:lvl1pPr>
            <a:lvl2pPr marL="914400" lvl="1" indent="-381000" algn="l">
              <a:lnSpc>
                <a:spcPct val="90000"/>
              </a:lnSpc>
              <a:spcBef>
                <a:spcPts val="500"/>
              </a:spcBef>
              <a:spcAft>
                <a:spcPts val="0"/>
              </a:spcAft>
              <a:buClr>
                <a:schemeClr val="dk1"/>
              </a:buClr>
              <a:buSzPts val="2400"/>
              <a:buChar char="•"/>
              <a:defRPr>
                <a:latin typeface="Bell MT"/>
                <a:ea typeface="Bell MT"/>
                <a:cs typeface="Bell MT"/>
                <a:sym typeface="Bell MT"/>
              </a:defRPr>
            </a:lvl2pPr>
            <a:lvl3pPr marL="1371600" lvl="2" indent="-355600" algn="l">
              <a:lnSpc>
                <a:spcPct val="90000"/>
              </a:lnSpc>
              <a:spcBef>
                <a:spcPts val="500"/>
              </a:spcBef>
              <a:spcAft>
                <a:spcPts val="0"/>
              </a:spcAft>
              <a:buClr>
                <a:schemeClr val="dk1"/>
              </a:buClr>
              <a:buSzPts val="2000"/>
              <a:buChar char="•"/>
              <a:defRPr>
                <a:latin typeface="Bell MT"/>
                <a:ea typeface="Bell MT"/>
                <a:cs typeface="Bell MT"/>
                <a:sym typeface="Bell MT"/>
              </a:defRPr>
            </a:lvl3pPr>
            <a:lvl4pPr marL="1828800" lvl="3" indent="-342900" algn="l">
              <a:lnSpc>
                <a:spcPct val="90000"/>
              </a:lnSpc>
              <a:spcBef>
                <a:spcPts val="500"/>
              </a:spcBef>
              <a:spcAft>
                <a:spcPts val="0"/>
              </a:spcAft>
              <a:buClr>
                <a:schemeClr val="dk1"/>
              </a:buClr>
              <a:buSzPts val="1800"/>
              <a:buChar char="•"/>
              <a:defRPr>
                <a:latin typeface="Bell MT"/>
                <a:ea typeface="Bell MT"/>
                <a:cs typeface="Bell MT"/>
                <a:sym typeface="Bell MT"/>
              </a:defRPr>
            </a:lvl4pPr>
            <a:lvl5pPr marL="2286000" lvl="4" indent="-342900" algn="l">
              <a:lnSpc>
                <a:spcPct val="90000"/>
              </a:lnSpc>
              <a:spcBef>
                <a:spcPts val="500"/>
              </a:spcBef>
              <a:spcAft>
                <a:spcPts val="0"/>
              </a:spcAft>
              <a:buClr>
                <a:schemeClr val="dk1"/>
              </a:buClr>
              <a:buSzPts val="1800"/>
              <a:buChar char="•"/>
              <a:defRPr>
                <a:latin typeface="Bell MT"/>
                <a:ea typeface="Bell MT"/>
                <a:cs typeface="Bell MT"/>
                <a:sym typeface="Bell M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Bell MT"/>
                <a:ea typeface="Bell MT"/>
                <a:cs typeface="Bell MT"/>
                <a:sym typeface="Bell M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417513" y="258763"/>
            <a:ext cx="8308975" cy="120808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Bell MT"/>
                <a:ea typeface="Bell MT"/>
                <a:cs typeface="Bell MT"/>
                <a:sym typeface="Bell M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Bell MT"/>
                <a:ea typeface="Bell MT"/>
                <a:cs typeface="Bell MT"/>
                <a:sym typeface="Bell M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Bell MT"/>
                <a:ea typeface="Bell MT"/>
                <a:cs typeface="Bell MT"/>
                <a:sym typeface="Bell M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ell MT"/>
                <a:ea typeface="Bell MT"/>
                <a:cs typeface="Bell MT"/>
                <a:sym typeface="Bell M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ell MT"/>
                <a:ea typeface="Bell MT"/>
                <a:cs typeface="Bell MT"/>
                <a:sym typeface="Bell M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3" name="Google Shape;13;p1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FF0000"/>
                </a:solidFill>
                <a:latin typeface="Bell MT"/>
                <a:ea typeface="Bell MT"/>
                <a:cs typeface="Bell MT"/>
                <a:sym typeface="Bell MT"/>
              </a:defRPr>
            </a:lvl1pPr>
            <a:lvl2pPr marR="0" lvl="1" algn="l" rtl="0">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4" name="Google Shape;14;p1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600" b="0" i="0" u="none" strike="noStrike" cap="none">
                <a:solidFill>
                  <a:srgbClr val="FF0000"/>
                </a:solidFill>
                <a:latin typeface="Bell MT"/>
                <a:ea typeface="Bell MT"/>
                <a:cs typeface="Bell MT"/>
                <a:sym typeface="Bell MT"/>
              </a:defRPr>
            </a:lvl1pPr>
            <a:lvl2pPr marL="0" marR="0" lvl="1" indent="0" algn="r" rtl="0">
              <a:spcBef>
                <a:spcPts val="0"/>
              </a:spcBef>
              <a:spcAft>
                <a:spcPts val="0"/>
              </a:spcAft>
              <a:buNone/>
              <a:defRPr sz="1600" b="0" i="0" u="none" strike="noStrike" cap="none">
                <a:solidFill>
                  <a:srgbClr val="FF0000"/>
                </a:solidFill>
                <a:latin typeface="Bell MT"/>
                <a:ea typeface="Bell MT"/>
                <a:cs typeface="Bell MT"/>
                <a:sym typeface="Bell MT"/>
              </a:defRPr>
            </a:lvl2pPr>
            <a:lvl3pPr marL="0" marR="0" lvl="2" indent="0" algn="r" rtl="0">
              <a:spcBef>
                <a:spcPts val="0"/>
              </a:spcBef>
              <a:spcAft>
                <a:spcPts val="0"/>
              </a:spcAft>
              <a:buNone/>
              <a:defRPr sz="1600" b="0" i="0" u="none" strike="noStrike" cap="none">
                <a:solidFill>
                  <a:srgbClr val="FF0000"/>
                </a:solidFill>
                <a:latin typeface="Bell MT"/>
                <a:ea typeface="Bell MT"/>
                <a:cs typeface="Bell MT"/>
                <a:sym typeface="Bell MT"/>
              </a:defRPr>
            </a:lvl3pPr>
            <a:lvl4pPr marL="0" marR="0" lvl="3" indent="0" algn="r" rtl="0">
              <a:spcBef>
                <a:spcPts val="0"/>
              </a:spcBef>
              <a:spcAft>
                <a:spcPts val="0"/>
              </a:spcAft>
              <a:buNone/>
              <a:defRPr sz="1600" b="0" i="0" u="none" strike="noStrike" cap="none">
                <a:solidFill>
                  <a:srgbClr val="FF0000"/>
                </a:solidFill>
                <a:latin typeface="Bell MT"/>
                <a:ea typeface="Bell MT"/>
                <a:cs typeface="Bell MT"/>
                <a:sym typeface="Bell MT"/>
              </a:defRPr>
            </a:lvl4pPr>
            <a:lvl5pPr marL="0" marR="0" lvl="4" indent="0" algn="r" rtl="0">
              <a:spcBef>
                <a:spcPts val="0"/>
              </a:spcBef>
              <a:spcAft>
                <a:spcPts val="0"/>
              </a:spcAft>
              <a:buNone/>
              <a:defRPr sz="1600" b="0" i="0" u="none" strike="noStrike" cap="none">
                <a:solidFill>
                  <a:srgbClr val="FF0000"/>
                </a:solidFill>
                <a:latin typeface="Bell MT"/>
                <a:ea typeface="Bell MT"/>
                <a:cs typeface="Bell MT"/>
                <a:sym typeface="Bell MT"/>
              </a:defRPr>
            </a:lvl5pPr>
            <a:lvl6pPr marL="0" marR="0" lvl="5" indent="0" algn="r" rtl="0">
              <a:spcBef>
                <a:spcPts val="0"/>
              </a:spcBef>
              <a:spcAft>
                <a:spcPts val="0"/>
              </a:spcAft>
              <a:buNone/>
              <a:defRPr sz="1600" b="0" i="0" u="none" strike="noStrike" cap="none">
                <a:solidFill>
                  <a:srgbClr val="FF0000"/>
                </a:solidFill>
                <a:latin typeface="Bell MT"/>
                <a:ea typeface="Bell MT"/>
                <a:cs typeface="Bell MT"/>
                <a:sym typeface="Bell MT"/>
              </a:defRPr>
            </a:lvl6pPr>
            <a:lvl7pPr marL="0" marR="0" lvl="6" indent="0" algn="r" rtl="0">
              <a:spcBef>
                <a:spcPts val="0"/>
              </a:spcBef>
              <a:spcAft>
                <a:spcPts val="0"/>
              </a:spcAft>
              <a:buNone/>
              <a:defRPr sz="1600" b="0" i="0" u="none" strike="noStrike" cap="none">
                <a:solidFill>
                  <a:srgbClr val="FF0000"/>
                </a:solidFill>
                <a:latin typeface="Bell MT"/>
                <a:ea typeface="Bell MT"/>
                <a:cs typeface="Bell MT"/>
                <a:sym typeface="Bell MT"/>
              </a:defRPr>
            </a:lvl7pPr>
            <a:lvl8pPr marL="0" marR="0" lvl="7" indent="0" algn="r" rtl="0">
              <a:spcBef>
                <a:spcPts val="0"/>
              </a:spcBef>
              <a:spcAft>
                <a:spcPts val="0"/>
              </a:spcAft>
              <a:buNone/>
              <a:defRPr sz="1600" b="0" i="0" u="none" strike="noStrike" cap="none">
                <a:solidFill>
                  <a:srgbClr val="FF0000"/>
                </a:solidFill>
                <a:latin typeface="Bell MT"/>
                <a:ea typeface="Bell MT"/>
                <a:cs typeface="Bell MT"/>
                <a:sym typeface="Bell MT"/>
              </a:defRPr>
            </a:lvl8pPr>
            <a:lvl9pPr marL="0" marR="0" lvl="8" indent="0" algn="r" rtl="0">
              <a:spcBef>
                <a:spcPts val="0"/>
              </a:spcBef>
              <a:spcAft>
                <a:spcPts val="0"/>
              </a:spcAft>
              <a:buNone/>
              <a:defRPr sz="1600" b="0" i="0" u="none" strike="noStrike" cap="none">
                <a:solidFill>
                  <a:srgbClr val="FF0000"/>
                </a:solidFill>
                <a:latin typeface="Bell MT"/>
                <a:ea typeface="Bell MT"/>
                <a:cs typeface="Bell MT"/>
                <a:sym typeface="Bell MT"/>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1" descr="IIIT Kottayam Logo"/>
          <p:cNvPicPr preferRelativeResize="0"/>
          <p:nvPr/>
        </p:nvPicPr>
        <p:blipFill rotWithShape="1">
          <a:blip r:embed="rId13">
            <a:alphaModFix/>
          </a:blip>
          <a:srcRect/>
          <a:stretch/>
        </p:blipFill>
        <p:spPr>
          <a:xfrm>
            <a:off x="7129463" y="9525"/>
            <a:ext cx="2014537" cy="109696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d"/>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oogle.com/search?cs=0&amp;sca_esv=2ac96987daa6f6a8&amp;sxsrf=AE3TifOHVRuzgWKLc62TIu7SI01Cbli9lw:1754546431926&amp;q=Physical+Symbol+System+Hypothesis+(PSSH)&amp;sa=X&amp;ved=2ahUKEwjMk__lgviOAxWxW2wGHbPXD3UQxccNegQIBBAB&amp;mstk=AUtExfAkwiJgj76z27q8PUJyusLmYLYgiLxzE0WTpuGlr7eeL4kCFuwNO40sQbUKlW86osB50rVwh5CyX75rAFpFH2X_78tiOyPhP_YZfbbGQiPe-wSLFlCCgRDTUoYgdVe40_IoNGcqORUacp-PO-v3RcDdhpU81pZuJI3i1p8iJ69wg2E8dcifiJgNOsgqw8DqIyeY0NzkvFgbsVjT5mOi2b6rPkXv5jWd_k-k3DJiJhzXntdyrkUN_PY1Vn5XhepwjEkUZWYFf6TPtcsrFLXCaWz1hZJz9SvubIRrvOAtfI-u4nrWldRFL4H9NxhX3710DayMP85mhddxNDAJ_ya-lU1YBg9dsQTqvzy7yogbM24gIFLA-sBeviP-G68lrnAfd3_PL5FZpi-upQ7H4ch53Q&amp;csui=3"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41688" y="2286000"/>
            <a:ext cx="8153400" cy="1143000"/>
          </a:xfrm>
          <a:prstGeom prst="rect">
            <a:avLst/>
          </a:prstGeom>
          <a:noFill/>
          <a:ln>
            <a:noFill/>
          </a:ln>
        </p:spPr>
        <p:txBody>
          <a:bodyPr spcFirstLastPara="1" wrap="square" lIns="91425" tIns="45700" rIns="91425" bIns="45700" anchor="b" anchorCtr="0">
            <a:normAutofit fontScale="90000"/>
          </a:bodyPr>
          <a:lstStyle/>
          <a:p>
            <a:pPr lvl="0"/>
            <a:r>
              <a:rPr lang="en-US" sz="4800" dirty="0">
                <a:solidFill>
                  <a:srgbClr val="000099"/>
                </a:solidFill>
                <a:latin typeface="Times New Roman"/>
                <a:ea typeface="Times New Roman"/>
                <a:cs typeface="Times New Roman"/>
                <a:sym typeface="Times New Roman"/>
              </a:rPr>
              <a:t> ISC213 Introduction to Cognitive Science [2-0-0-2]</a:t>
            </a:r>
            <a:br>
              <a:rPr lang="en-US" sz="4800" dirty="0">
                <a:solidFill>
                  <a:srgbClr val="000099"/>
                </a:solidFill>
                <a:latin typeface="Times New Roman"/>
                <a:ea typeface="Times New Roman"/>
                <a:cs typeface="Times New Roman"/>
                <a:sym typeface="Times New Roman"/>
              </a:rPr>
            </a:br>
            <a:r>
              <a:rPr lang="en-US" sz="4800" i="1" dirty="0">
                <a:latin typeface="Bell MT"/>
                <a:ea typeface="Bell MT"/>
                <a:cs typeface="Bell MT"/>
                <a:sym typeface="Bell MT"/>
              </a:rPr>
              <a:t/>
            </a:r>
            <a:br>
              <a:rPr lang="en-US" sz="4800" i="1" dirty="0">
                <a:latin typeface="Bell MT"/>
                <a:ea typeface="Bell MT"/>
                <a:cs typeface="Bell MT"/>
                <a:sym typeface="Bell MT"/>
              </a:rPr>
            </a:br>
            <a:r>
              <a:rPr lang="en-US" sz="4800" i="1" dirty="0" smtClean="0">
                <a:solidFill>
                  <a:srgbClr val="FF0000"/>
                </a:solidFill>
                <a:latin typeface="Bell MT"/>
                <a:ea typeface="Bell MT"/>
                <a:cs typeface="Bell MT"/>
                <a:sym typeface="Bell MT"/>
              </a:rPr>
              <a:t>Chapter 1</a:t>
            </a:r>
            <a:endParaRPr sz="4800" dirty="0">
              <a:solidFill>
                <a:srgbClr val="FF0000"/>
              </a:solidFill>
              <a:latin typeface="Bell MT"/>
              <a:ea typeface="Bell MT"/>
              <a:cs typeface="Bell MT"/>
              <a:sym typeface="Bell MT"/>
            </a:endParaRPr>
          </a:p>
        </p:txBody>
      </p:sp>
      <p:sp>
        <p:nvSpPr>
          <p:cNvPr id="92" name="Google Shape;92;p1"/>
          <p:cNvSpPr txBox="1"/>
          <p:nvPr/>
        </p:nvSpPr>
        <p:spPr>
          <a:xfrm>
            <a:off x="5353050" y="4194175"/>
            <a:ext cx="3429000" cy="1570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99"/>
              </a:buClr>
              <a:buSzPts val="2400"/>
              <a:buFont typeface="Arial"/>
              <a:buNone/>
            </a:pPr>
            <a:r>
              <a:rPr lang="en-US" sz="2400" b="1" i="1" u="none" strike="noStrike" cap="none">
                <a:solidFill>
                  <a:srgbClr val="000099"/>
                </a:solidFill>
                <a:latin typeface="Bell MT"/>
                <a:ea typeface="Bell MT"/>
                <a:cs typeface="Bell MT"/>
                <a:sym typeface="Bell MT"/>
              </a:rPr>
              <a:t>Presented by</a:t>
            </a:r>
            <a:endParaRPr/>
          </a:p>
          <a:p>
            <a:pPr marL="0" marR="0" lvl="0" indent="0" algn="ctr" rtl="0">
              <a:lnSpc>
                <a:spcPct val="100000"/>
              </a:lnSpc>
              <a:spcBef>
                <a:spcPts val="0"/>
              </a:spcBef>
              <a:spcAft>
                <a:spcPts val="0"/>
              </a:spcAft>
              <a:buClr>
                <a:srgbClr val="000099"/>
              </a:buClr>
              <a:buSzPts val="2400"/>
              <a:buFont typeface="Arial"/>
              <a:buNone/>
            </a:pPr>
            <a:r>
              <a:rPr lang="en-US" sz="2400" b="1" i="0" u="none" strike="noStrike" cap="none">
                <a:solidFill>
                  <a:srgbClr val="000099"/>
                </a:solidFill>
                <a:latin typeface="Bell MT"/>
                <a:ea typeface="Bell MT"/>
                <a:cs typeface="Bell MT"/>
                <a:sym typeface="Bell MT"/>
              </a:rPr>
              <a:t>Dr. Selvi C</a:t>
            </a:r>
            <a:endParaRPr/>
          </a:p>
          <a:p>
            <a:pPr marL="0" marR="0" lvl="0" indent="0" algn="ctr" rtl="0">
              <a:lnSpc>
                <a:spcPct val="100000"/>
              </a:lnSpc>
              <a:spcBef>
                <a:spcPts val="0"/>
              </a:spcBef>
              <a:spcAft>
                <a:spcPts val="0"/>
              </a:spcAft>
              <a:buClr>
                <a:srgbClr val="000099"/>
              </a:buClr>
              <a:buSzPts val="2400"/>
              <a:buFont typeface="Arial"/>
              <a:buNone/>
            </a:pPr>
            <a:r>
              <a:rPr lang="en-US" sz="2400" b="1" i="0" u="none" strike="noStrike" cap="none">
                <a:solidFill>
                  <a:srgbClr val="000099"/>
                </a:solidFill>
                <a:latin typeface="Bell MT"/>
                <a:ea typeface="Bell MT"/>
                <a:cs typeface="Bell MT"/>
                <a:sym typeface="Bell MT"/>
              </a:rPr>
              <a:t>Assistant Professor</a:t>
            </a:r>
            <a:endParaRPr/>
          </a:p>
          <a:p>
            <a:pPr marL="0" marR="0" lvl="0" indent="0" algn="ctr" rtl="0">
              <a:lnSpc>
                <a:spcPct val="100000"/>
              </a:lnSpc>
              <a:spcBef>
                <a:spcPts val="0"/>
              </a:spcBef>
              <a:spcAft>
                <a:spcPts val="0"/>
              </a:spcAft>
              <a:buClr>
                <a:srgbClr val="000099"/>
              </a:buClr>
              <a:buSzPts val="2400"/>
              <a:buFont typeface="Arial"/>
              <a:buNone/>
            </a:pPr>
            <a:r>
              <a:rPr lang="en-US" sz="2400" b="1" i="0" u="none" strike="noStrike" cap="none">
                <a:solidFill>
                  <a:srgbClr val="000099"/>
                </a:solidFill>
                <a:latin typeface="Bell MT"/>
                <a:ea typeface="Bell MT"/>
                <a:cs typeface="Bell MT"/>
                <a:sym typeface="Bell MT"/>
              </a:rPr>
              <a:t>IIIT Kottayam</a:t>
            </a:r>
            <a:endParaRPr/>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152400" y="304800"/>
            <a:ext cx="6248400" cy="457200"/>
          </a:xfrm>
          <a:prstGeom prst="rect">
            <a:avLst/>
          </a:prstGeom>
          <a:noFill/>
          <a:ln>
            <a:noFill/>
          </a:ln>
        </p:spPr>
        <p:txBody>
          <a:bodyPr spcFirstLastPara="1" wrap="square" lIns="91425" tIns="45700" rIns="91425" bIns="45700" anchor="ctr" anchorCtr="0">
            <a:normAutofit fontScale="90000"/>
          </a:bodyPr>
          <a:lstStyle/>
          <a:p>
            <a:pPr lvl="0"/>
            <a:r>
              <a:rPr lang="en-US" sz="4000" b="1" dirty="0">
                <a:latin typeface="Times New Roman"/>
                <a:ea typeface="Times New Roman"/>
                <a:cs typeface="Times New Roman"/>
                <a:sym typeface="Times New Roman"/>
              </a:rPr>
              <a:t>Introduction</a:t>
            </a:r>
            <a:endParaRPr dirty="0"/>
          </a:p>
        </p:txBody>
      </p:sp>
      <p:sp>
        <p:nvSpPr>
          <p:cNvPr id="98" name="Google Shape;98;p2"/>
          <p:cNvSpPr txBox="1">
            <a:spLocks noGrp="1"/>
          </p:cNvSpPr>
          <p:nvPr>
            <p:ph type="body" idx="1"/>
          </p:nvPr>
        </p:nvSpPr>
        <p:spPr>
          <a:xfrm>
            <a:off x="130175" y="1421833"/>
            <a:ext cx="8833716" cy="4604894"/>
          </a:xfrm>
          <a:prstGeom prst="rect">
            <a:avLst/>
          </a:prstGeom>
          <a:noFill/>
          <a:ln>
            <a:noFill/>
          </a:ln>
        </p:spPr>
        <p:txBody>
          <a:bodyPr spcFirstLastPara="1" wrap="square" lIns="91425" tIns="45700" rIns="91425" bIns="45700" anchor="ctr" anchorCtr="0">
            <a:normAutofit/>
          </a:bodyPr>
          <a:lstStyle/>
          <a:p>
            <a:pPr marL="428625" indent="-257175" algn="just">
              <a:spcBef>
                <a:spcPts val="0"/>
              </a:spcBef>
            </a:pPr>
            <a:r>
              <a:rPr lang="en-US" sz="2400" dirty="0">
                <a:latin typeface="Georgia" panose="02040502050405020303" pitchFamily="18" charset="0"/>
              </a:rPr>
              <a:t>Physics revealed </a:t>
            </a:r>
            <a:endParaRPr lang="en-US" sz="2400" dirty="0" smtClean="0">
              <a:latin typeface="Georgia" panose="02040502050405020303" pitchFamily="18" charset="0"/>
            </a:endParaRPr>
          </a:p>
          <a:p>
            <a:pPr marL="885825" lvl="1" indent="-257175" algn="just">
              <a:spcBef>
                <a:spcPts val="0"/>
              </a:spcBef>
            </a:pPr>
            <a:r>
              <a:rPr lang="en-US" dirty="0">
                <a:solidFill>
                  <a:schemeClr val="accent1">
                    <a:lumMod val="75000"/>
                  </a:schemeClr>
                </a:solidFill>
                <a:latin typeface="Georgia" panose="02040502050405020303" pitchFamily="18" charset="0"/>
              </a:rPr>
              <a:t>T</a:t>
            </a:r>
            <a:r>
              <a:rPr lang="en-US" dirty="0" smtClean="0">
                <a:solidFill>
                  <a:schemeClr val="accent1">
                    <a:lumMod val="75000"/>
                  </a:schemeClr>
                </a:solidFill>
                <a:latin typeface="Georgia" panose="02040502050405020303" pitchFamily="18" charset="0"/>
              </a:rPr>
              <a:t>he </a:t>
            </a:r>
            <a:r>
              <a:rPr lang="en-US" dirty="0">
                <a:solidFill>
                  <a:schemeClr val="accent1">
                    <a:lumMod val="75000"/>
                  </a:schemeClr>
                </a:solidFill>
                <a:latin typeface="Georgia" panose="02040502050405020303" pitchFamily="18" charset="0"/>
              </a:rPr>
              <a:t>motion of the </a:t>
            </a:r>
            <a:r>
              <a:rPr lang="en-US" dirty="0" smtClean="0">
                <a:solidFill>
                  <a:schemeClr val="accent1">
                    <a:lumMod val="75000"/>
                  </a:schemeClr>
                </a:solidFill>
                <a:latin typeface="Georgia" panose="02040502050405020303" pitchFamily="18" charset="0"/>
              </a:rPr>
              <a:t>planets</a:t>
            </a:r>
          </a:p>
          <a:p>
            <a:pPr marL="428625" indent="-257175" algn="just">
              <a:spcBef>
                <a:spcPts val="0"/>
              </a:spcBef>
            </a:pPr>
            <a:r>
              <a:rPr lang="en-US" sz="2400" dirty="0">
                <a:latin typeface="Georgia" panose="02040502050405020303" pitchFamily="18" charset="0"/>
              </a:rPr>
              <a:t>C</a:t>
            </a:r>
            <a:r>
              <a:rPr lang="en-US" sz="2400" dirty="0" smtClean="0">
                <a:latin typeface="Georgia" panose="02040502050405020303" pitchFamily="18" charset="0"/>
              </a:rPr>
              <a:t>hemistry </a:t>
            </a:r>
            <a:r>
              <a:rPr lang="en-US" sz="2400" dirty="0">
                <a:latin typeface="Georgia" panose="02040502050405020303" pitchFamily="18" charset="0"/>
              </a:rPr>
              <a:t>discovered </a:t>
            </a:r>
            <a:endParaRPr lang="en-US" sz="2400" dirty="0" smtClean="0">
              <a:latin typeface="Georgia" panose="02040502050405020303" pitchFamily="18" charset="0"/>
            </a:endParaRPr>
          </a:p>
          <a:p>
            <a:pPr marL="885825" lvl="1" indent="-257175" algn="just">
              <a:spcBef>
                <a:spcPts val="0"/>
              </a:spcBef>
            </a:pPr>
            <a:r>
              <a:rPr lang="en-US" dirty="0">
                <a:solidFill>
                  <a:schemeClr val="accent1">
                    <a:lumMod val="75000"/>
                  </a:schemeClr>
                </a:solidFill>
                <a:latin typeface="Georgia" panose="02040502050405020303" pitchFamily="18" charset="0"/>
              </a:rPr>
              <a:t>T</a:t>
            </a:r>
            <a:r>
              <a:rPr lang="en-US" dirty="0" smtClean="0">
                <a:solidFill>
                  <a:schemeClr val="accent1">
                    <a:lumMod val="75000"/>
                  </a:schemeClr>
                </a:solidFill>
                <a:latin typeface="Georgia" panose="02040502050405020303" pitchFamily="18" charset="0"/>
              </a:rPr>
              <a:t>he </a:t>
            </a:r>
            <a:r>
              <a:rPr lang="en-US" dirty="0">
                <a:solidFill>
                  <a:schemeClr val="accent1">
                    <a:lumMod val="75000"/>
                  </a:schemeClr>
                </a:solidFill>
                <a:latin typeface="Georgia" panose="02040502050405020303" pitchFamily="18" charset="0"/>
              </a:rPr>
              <a:t>fundamental elements of </a:t>
            </a:r>
            <a:r>
              <a:rPr lang="en-US" dirty="0" smtClean="0">
                <a:solidFill>
                  <a:schemeClr val="accent1">
                    <a:lumMod val="75000"/>
                  </a:schemeClr>
                </a:solidFill>
                <a:latin typeface="Georgia" panose="02040502050405020303" pitchFamily="18" charset="0"/>
              </a:rPr>
              <a:t>matter</a:t>
            </a:r>
          </a:p>
          <a:p>
            <a:pPr marL="428625" indent="-257175" algn="just">
              <a:spcBef>
                <a:spcPts val="0"/>
              </a:spcBef>
            </a:pPr>
            <a:r>
              <a:rPr lang="en-US" sz="2400" dirty="0">
                <a:latin typeface="Georgia" panose="02040502050405020303" pitchFamily="18" charset="0"/>
              </a:rPr>
              <a:t>B</a:t>
            </a:r>
            <a:r>
              <a:rPr lang="en-US" sz="2400" dirty="0" smtClean="0">
                <a:latin typeface="Georgia" panose="02040502050405020303" pitchFamily="18" charset="0"/>
              </a:rPr>
              <a:t>iology </a:t>
            </a:r>
            <a:r>
              <a:rPr lang="en-US" sz="2400" dirty="0">
                <a:latin typeface="Georgia" panose="02040502050405020303" pitchFamily="18" charset="0"/>
              </a:rPr>
              <a:t>has told us </a:t>
            </a:r>
            <a:endParaRPr lang="en-US" sz="2400" dirty="0" smtClean="0">
              <a:latin typeface="Georgia" panose="02040502050405020303" pitchFamily="18" charset="0"/>
            </a:endParaRPr>
          </a:p>
          <a:p>
            <a:pPr marL="885825" lvl="1" indent="-257175" algn="just">
              <a:spcBef>
                <a:spcPts val="0"/>
              </a:spcBef>
            </a:pPr>
            <a:r>
              <a:rPr lang="en-US" dirty="0" smtClean="0">
                <a:solidFill>
                  <a:schemeClr val="accent1">
                    <a:lumMod val="75000"/>
                  </a:schemeClr>
                </a:solidFill>
                <a:latin typeface="Georgia" panose="02040502050405020303" pitchFamily="18" charset="0"/>
              </a:rPr>
              <a:t>How </a:t>
            </a:r>
            <a:r>
              <a:rPr lang="en-US" dirty="0">
                <a:solidFill>
                  <a:schemeClr val="accent1">
                    <a:lumMod val="75000"/>
                  </a:schemeClr>
                </a:solidFill>
                <a:latin typeface="Georgia" panose="02040502050405020303" pitchFamily="18" charset="0"/>
              </a:rPr>
              <a:t>to understand and treat </a:t>
            </a:r>
            <a:r>
              <a:rPr lang="en-US" dirty="0" smtClean="0">
                <a:solidFill>
                  <a:schemeClr val="accent1">
                    <a:lumMod val="75000"/>
                  </a:schemeClr>
                </a:solidFill>
                <a:latin typeface="Georgia" panose="02040502050405020303" pitchFamily="18" charset="0"/>
              </a:rPr>
              <a:t>disease </a:t>
            </a:r>
          </a:p>
          <a:p>
            <a:pPr marL="428625" indent="-257175" algn="just">
              <a:spcBef>
                <a:spcPts val="0"/>
              </a:spcBef>
            </a:pPr>
            <a:r>
              <a:rPr lang="en-US" sz="2400" dirty="0" smtClean="0">
                <a:latin typeface="Georgia" panose="02040502050405020303" pitchFamily="18" charset="0"/>
              </a:rPr>
              <a:t>But </a:t>
            </a:r>
            <a:r>
              <a:rPr lang="en-US" sz="2400" dirty="0">
                <a:latin typeface="Georgia" panose="02040502050405020303" pitchFamily="18" charset="0"/>
              </a:rPr>
              <a:t>during much of this time, there were still many unanswered questions about something perhaps even more important to us. </a:t>
            </a:r>
            <a:endParaRPr lang="en-US" sz="2400" dirty="0" smtClean="0">
              <a:latin typeface="Georgia" panose="02040502050405020303" pitchFamily="18" charset="0"/>
            </a:endParaRPr>
          </a:p>
          <a:p>
            <a:pPr marL="885825" lvl="1" indent="-257175" algn="just">
              <a:spcBef>
                <a:spcPts val="0"/>
              </a:spcBef>
            </a:pPr>
            <a:r>
              <a:rPr lang="en-US" dirty="0">
                <a:latin typeface="Georgia" panose="02040502050405020303" pitchFamily="18" charset="0"/>
              </a:rPr>
              <a:t>That something is </a:t>
            </a:r>
            <a:r>
              <a:rPr lang="en-US" dirty="0">
                <a:solidFill>
                  <a:schemeClr val="accent1">
                    <a:lumMod val="75000"/>
                  </a:schemeClr>
                </a:solidFill>
                <a:latin typeface="Georgia" panose="02040502050405020303" pitchFamily="18" charset="0"/>
              </a:rPr>
              <a:t>the human mind</a:t>
            </a:r>
          </a:p>
          <a:p>
            <a:pPr marL="428625" indent="-257175" algn="just">
              <a:spcBef>
                <a:spcPts val="0"/>
              </a:spcBef>
            </a:pPr>
            <a:r>
              <a:rPr lang="en-US" sz="2400" dirty="0">
                <a:latin typeface="Georgia" panose="02040502050405020303" pitchFamily="18" charset="0"/>
              </a:rPr>
              <a:t>The mind is the most complex entity in the known universe</a:t>
            </a:r>
          </a:p>
          <a:p>
            <a:pPr marL="885825" lvl="1" indent="-257175" algn="just">
              <a:spcBef>
                <a:spcPts val="0"/>
              </a:spcBef>
            </a:pPr>
            <a:r>
              <a:rPr lang="en-US" dirty="0">
                <a:latin typeface="Georgia" panose="02040502050405020303" pitchFamily="18" charset="0"/>
              </a:rPr>
              <a:t>I</a:t>
            </a:r>
            <a:r>
              <a:rPr lang="en-US" dirty="0" smtClean="0">
                <a:latin typeface="Georgia" panose="02040502050405020303" pitchFamily="18" charset="0"/>
              </a:rPr>
              <a:t>t </a:t>
            </a:r>
            <a:r>
              <a:rPr lang="en-US" dirty="0">
                <a:solidFill>
                  <a:schemeClr val="accent1">
                    <a:lumMod val="75000"/>
                  </a:schemeClr>
                </a:solidFill>
                <a:latin typeface="Georgia" panose="02040502050405020303" pitchFamily="18" charset="0"/>
              </a:rPr>
              <a:t>is not something we can easily observe, measure, or manipulate</a:t>
            </a:r>
          </a:p>
          <a:p>
            <a:pPr marL="428625" lvl="0" indent="-257175" algn="just">
              <a:spcBef>
                <a:spcPts val="0"/>
              </a:spcBef>
            </a:pPr>
            <a:endParaRPr sz="2400" dirty="0">
              <a:latin typeface="Georgia" panose="02040502050405020303" pitchFamily="18"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98856"/>
            <a:ext cx="7107382" cy="990599"/>
          </a:xfrm>
        </p:spPr>
        <p:txBody>
          <a:bodyPr/>
          <a:lstStyle/>
          <a:p>
            <a:pPr algn="r"/>
            <a:r>
              <a:rPr lang="en-IN" dirty="0" err="1" smtClean="0"/>
              <a:t>Contd</a:t>
            </a:r>
            <a:r>
              <a:rPr lang="en-IN" dirty="0" smtClean="0"/>
              <a:t>…</a:t>
            </a:r>
            <a:endParaRPr lang="en-IN" dirty="0"/>
          </a:p>
        </p:txBody>
      </p:sp>
      <p:sp>
        <p:nvSpPr>
          <p:cNvPr id="3" name="Text Placeholder 2"/>
          <p:cNvSpPr>
            <a:spLocks noGrp="1"/>
          </p:cNvSpPr>
          <p:nvPr>
            <p:ph type="body" idx="1"/>
          </p:nvPr>
        </p:nvSpPr>
        <p:spPr>
          <a:xfrm>
            <a:off x="495299" y="1516061"/>
            <a:ext cx="8427027" cy="4413683"/>
          </a:xfrm>
        </p:spPr>
        <p:txBody>
          <a:bodyPr/>
          <a:lstStyle/>
          <a:p>
            <a:pPr algn="just"/>
            <a:r>
              <a:rPr lang="en-US" sz="2400" dirty="0">
                <a:latin typeface="Georgia" panose="02040502050405020303" pitchFamily="18" charset="0"/>
              </a:rPr>
              <a:t>The human brain is estimated to contain </a:t>
            </a:r>
            <a:r>
              <a:rPr lang="en-US" sz="2400" dirty="0">
                <a:solidFill>
                  <a:schemeClr val="accent1">
                    <a:lumMod val="75000"/>
                  </a:schemeClr>
                </a:solidFill>
                <a:latin typeface="Georgia" panose="02040502050405020303" pitchFamily="18" charset="0"/>
              </a:rPr>
              <a:t>ten billion to one hundred billion individual nerve cells or neurons</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latin typeface="Georgia" panose="02040502050405020303" pitchFamily="18" charset="0"/>
              </a:rPr>
              <a:t>Each </a:t>
            </a:r>
            <a:r>
              <a:rPr lang="en-US" sz="2400" dirty="0">
                <a:latin typeface="Georgia" panose="02040502050405020303" pitchFamily="18" charset="0"/>
              </a:rPr>
              <a:t>of these neurons can have as many as ten thousand connections to other neurons. </a:t>
            </a:r>
            <a:endParaRPr lang="en-US" sz="2400" dirty="0" smtClean="0">
              <a:latin typeface="Georgia" panose="02040502050405020303" pitchFamily="18" charset="0"/>
            </a:endParaRPr>
          </a:p>
          <a:p>
            <a:pPr algn="just"/>
            <a:r>
              <a:rPr lang="en-US" sz="2400" dirty="0" smtClean="0">
                <a:latin typeface="Georgia" panose="02040502050405020303" pitchFamily="18" charset="0"/>
              </a:rPr>
              <a:t>This </a:t>
            </a:r>
            <a:r>
              <a:rPr lang="en-US" sz="2400" dirty="0">
                <a:latin typeface="Georgia" panose="02040502050405020303" pitchFamily="18" charset="0"/>
              </a:rPr>
              <a:t>vast web is the basis of mind, and gives rise to all of the equally amazing and difficult-to-understand mental phenomena such as perception, memory, and </a:t>
            </a:r>
            <a:r>
              <a:rPr lang="en-US" sz="2400" dirty="0" smtClean="0">
                <a:latin typeface="Georgia" panose="02040502050405020303" pitchFamily="18" charset="0"/>
              </a:rPr>
              <a:t>language</a:t>
            </a:r>
          </a:p>
          <a:p>
            <a:pPr algn="just"/>
            <a:r>
              <a:rPr lang="en-US" sz="2400" dirty="0">
                <a:latin typeface="Georgia" panose="02040502050405020303" pitchFamily="18" charset="0"/>
              </a:rPr>
              <a:t>This period of rapid discovery has coincided with an increase in the number of different disciplines—many of them entirely new—that study mind.</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020669305"/>
      </p:ext>
    </p:extLst>
  </p:cSld>
  <p:clrMapOvr>
    <a:masterClrMapping/>
  </p:clrMapOvr>
  <p:transition>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Mind, Brain and Behaviour		</a:t>
            </a:r>
            <a:endParaRPr lang="en-IN" dirty="0"/>
          </a:p>
        </p:txBody>
      </p:sp>
      <p:sp>
        <p:nvSpPr>
          <p:cNvPr id="3" name="Text Placeholder 2"/>
          <p:cNvSpPr>
            <a:spLocks noGrp="1"/>
          </p:cNvSpPr>
          <p:nvPr>
            <p:ph type="body" idx="1"/>
          </p:nvPr>
        </p:nvSpPr>
        <p:spPr>
          <a:xfrm>
            <a:off x="412172" y="1516062"/>
            <a:ext cx="8565573" cy="4351338"/>
          </a:xfrm>
        </p:spPr>
        <p:txBody>
          <a:bodyPr/>
          <a:lstStyle/>
          <a:p>
            <a:pPr algn="just"/>
            <a:r>
              <a:rPr lang="en-US" sz="2400" dirty="0">
                <a:latin typeface="Georgia" panose="02040502050405020303" pitchFamily="18" charset="0"/>
              </a:rPr>
              <a:t>In cognitive science, the terms "mind," "brain," and "behavior" are interconnected concepts that are studied to understand </a:t>
            </a:r>
            <a:r>
              <a:rPr lang="en-US" sz="2400" dirty="0">
                <a:solidFill>
                  <a:schemeClr val="accent1">
                    <a:lumMod val="75000"/>
                  </a:schemeClr>
                </a:solidFill>
                <a:latin typeface="Georgia" panose="02040502050405020303" pitchFamily="18" charset="0"/>
              </a:rPr>
              <a:t>how the mind works and how it relates to the brain and observable actions. </a:t>
            </a:r>
            <a:endParaRPr lang="en-US" sz="2400" dirty="0" smtClean="0">
              <a:solidFill>
                <a:schemeClr val="accent1">
                  <a:lumMod val="75000"/>
                </a:schemeClr>
              </a:solidFill>
              <a:latin typeface="Georgia" panose="02040502050405020303" pitchFamily="18" charset="0"/>
            </a:endParaRPr>
          </a:p>
          <a:p>
            <a:pPr algn="just"/>
            <a:r>
              <a:rPr lang="en-US" sz="2400" dirty="0" smtClean="0">
                <a:solidFill>
                  <a:schemeClr val="accent6">
                    <a:lumMod val="75000"/>
                  </a:schemeClr>
                </a:solidFill>
                <a:latin typeface="Georgia" panose="02040502050405020303" pitchFamily="18" charset="0"/>
              </a:rPr>
              <a:t>"</a:t>
            </a:r>
            <a:r>
              <a:rPr lang="en-US" sz="2400" dirty="0">
                <a:solidFill>
                  <a:schemeClr val="accent6">
                    <a:lumMod val="75000"/>
                  </a:schemeClr>
                </a:solidFill>
                <a:latin typeface="Georgia" panose="02040502050405020303" pitchFamily="18" charset="0"/>
              </a:rPr>
              <a:t>Mind" refers to the collection of mental processes like thinking, feeling, and perceiving</a:t>
            </a:r>
            <a:r>
              <a:rPr lang="en-US" sz="2400" dirty="0">
                <a:latin typeface="Georgia" panose="02040502050405020303" pitchFamily="18" charset="0"/>
              </a:rPr>
              <a:t>, </a:t>
            </a:r>
            <a:r>
              <a:rPr lang="en-US" sz="2400" dirty="0">
                <a:solidFill>
                  <a:schemeClr val="accent4">
                    <a:lumMod val="75000"/>
                  </a:schemeClr>
                </a:solidFill>
                <a:latin typeface="Georgia" panose="02040502050405020303" pitchFamily="18" charset="0"/>
              </a:rPr>
              <a:t>while "brain" is the physical organ that underlies these processes. </a:t>
            </a:r>
            <a:endParaRPr lang="en-US" sz="2400" dirty="0" smtClean="0">
              <a:solidFill>
                <a:schemeClr val="accent4">
                  <a:lumMod val="75000"/>
                </a:schemeClr>
              </a:solidFill>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a:t>
            </a:r>
            <a:r>
              <a:rPr lang="en-US" sz="2400" dirty="0">
                <a:solidFill>
                  <a:schemeClr val="accent1">
                    <a:lumMod val="75000"/>
                  </a:schemeClr>
                </a:solidFill>
                <a:latin typeface="Georgia" panose="02040502050405020303" pitchFamily="18" charset="0"/>
              </a:rPr>
              <a:t>Behavior" encompasses the observable actions and reactions of an individual</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latin typeface="Georgia" panose="02040502050405020303" pitchFamily="18" charset="0"/>
              </a:rPr>
              <a:t>Cognitive </a:t>
            </a:r>
            <a:r>
              <a:rPr lang="en-US" sz="2400" dirty="0">
                <a:latin typeface="Georgia" panose="02040502050405020303" pitchFamily="18" charset="0"/>
              </a:rPr>
              <a:t>science explores how these three elements interact to produce human intelligence and behavior. </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998768906"/>
      </p:ext>
    </p:extLst>
  </p:cSld>
  <p:clrMapOvr>
    <a:masterClrMapping/>
  </p:clrMapOvr>
  <p:transition>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Psychology</a:t>
            </a:r>
            <a:endParaRPr lang="en-IN" dirty="0"/>
          </a:p>
        </p:txBody>
      </p:sp>
      <p:sp>
        <p:nvSpPr>
          <p:cNvPr id="3" name="Text Placeholder 2"/>
          <p:cNvSpPr>
            <a:spLocks noGrp="1"/>
          </p:cNvSpPr>
          <p:nvPr>
            <p:ph type="body" idx="1"/>
          </p:nvPr>
        </p:nvSpPr>
        <p:spPr>
          <a:xfrm>
            <a:off x="225425" y="1295399"/>
            <a:ext cx="8655339" cy="4731327"/>
          </a:xfrm>
        </p:spPr>
        <p:txBody>
          <a:bodyPr/>
          <a:lstStyle/>
          <a:p>
            <a:pPr algn="just"/>
            <a:r>
              <a:rPr lang="en-US" sz="2400" dirty="0" smtClean="0">
                <a:latin typeface="Georgia" panose="02040502050405020303" pitchFamily="18" charset="0"/>
              </a:rPr>
              <a:t>Cognitive </a:t>
            </a:r>
            <a:r>
              <a:rPr lang="en-US" sz="2400" dirty="0">
                <a:latin typeface="Georgia" panose="02040502050405020303" pitchFamily="18" charset="0"/>
              </a:rPr>
              <a:t>psychology is the </a:t>
            </a:r>
            <a:r>
              <a:rPr lang="en-US" sz="2400" dirty="0">
                <a:solidFill>
                  <a:schemeClr val="accent1">
                    <a:lumMod val="75000"/>
                  </a:schemeClr>
                </a:solidFill>
                <a:latin typeface="Georgia" panose="02040502050405020303" pitchFamily="18" charset="0"/>
              </a:rPr>
              <a:t>scientific study of mental processes</a:t>
            </a:r>
            <a:r>
              <a:rPr lang="en-US" sz="2400" dirty="0">
                <a:latin typeface="Georgia" panose="02040502050405020303" pitchFamily="18" charset="0"/>
              </a:rPr>
              <a:t>, including how people </a:t>
            </a:r>
            <a:r>
              <a:rPr lang="en-US" sz="2400" dirty="0">
                <a:solidFill>
                  <a:schemeClr val="accent1">
                    <a:lumMod val="75000"/>
                  </a:schemeClr>
                </a:solidFill>
                <a:latin typeface="Georgia" panose="02040502050405020303" pitchFamily="18" charset="0"/>
              </a:rPr>
              <a:t>perceive, learn, remember, think, reason, and solve problems</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latin typeface="Georgia" panose="02040502050405020303" pitchFamily="18" charset="0"/>
              </a:rPr>
              <a:t>It </a:t>
            </a:r>
            <a:r>
              <a:rPr lang="en-US" sz="2400" dirty="0">
                <a:latin typeface="Georgia" panose="02040502050405020303" pitchFamily="18" charset="0"/>
              </a:rPr>
              <a:t>explores the internal processes of the mind that mediate between stimulus and response, </a:t>
            </a:r>
            <a:r>
              <a:rPr lang="en-US" sz="2400" dirty="0">
                <a:solidFill>
                  <a:schemeClr val="accent1">
                    <a:lumMod val="75000"/>
                  </a:schemeClr>
                </a:solidFill>
                <a:latin typeface="Georgia" panose="02040502050405020303" pitchFamily="18" charset="0"/>
              </a:rPr>
              <a:t>essentially examining how the brain works to process </a:t>
            </a:r>
            <a:r>
              <a:rPr lang="en-US" sz="2400" dirty="0" smtClean="0">
                <a:solidFill>
                  <a:schemeClr val="accent1">
                    <a:lumMod val="75000"/>
                  </a:schemeClr>
                </a:solidFill>
                <a:latin typeface="Georgia" panose="02040502050405020303" pitchFamily="18" charset="0"/>
              </a:rPr>
              <a:t>information </a:t>
            </a:r>
            <a:r>
              <a:rPr lang="en-US" sz="2400" dirty="0">
                <a:solidFill>
                  <a:schemeClr val="accent1">
                    <a:lumMod val="75000"/>
                  </a:schemeClr>
                </a:solidFill>
                <a:latin typeface="Georgia" panose="02040502050405020303" pitchFamily="18" charset="0"/>
              </a:rPr>
              <a:t>and produce behavior</a:t>
            </a:r>
            <a:r>
              <a:rPr lang="en-US" sz="2400" dirty="0">
                <a:latin typeface="Georgia" panose="02040502050405020303" pitchFamily="18" charset="0"/>
              </a:rPr>
              <a:t>. </a:t>
            </a:r>
            <a:endParaRPr lang="en-US" sz="2400" dirty="0" smtClean="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029510600"/>
      </p:ext>
    </p:extLst>
  </p:cSld>
  <p:clrMapOvr>
    <a:masterClrMapping/>
  </p:clrMapOvr>
  <p:transition>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5" y="304801"/>
            <a:ext cx="6632575" cy="990599"/>
          </a:xfrm>
        </p:spPr>
        <p:txBody>
          <a:bodyPr/>
          <a:lstStyle/>
          <a:p>
            <a:pPr algn="r"/>
            <a:r>
              <a:rPr lang="en-US" dirty="0" err="1" smtClean="0"/>
              <a:t>Contd</a:t>
            </a:r>
            <a:r>
              <a:rPr lang="en-US" dirty="0" smtClean="0"/>
              <a:t>…</a:t>
            </a:r>
            <a:endParaRPr lang="en-IN" dirty="0"/>
          </a:p>
        </p:txBody>
      </p:sp>
      <p:sp>
        <p:nvSpPr>
          <p:cNvPr id="3" name="Text Placeholder 2"/>
          <p:cNvSpPr>
            <a:spLocks noGrp="1"/>
          </p:cNvSpPr>
          <p:nvPr>
            <p:ph type="body" idx="1"/>
          </p:nvPr>
        </p:nvSpPr>
        <p:spPr>
          <a:xfrm>
            <a:off x="225425" y="1295399"/>
            <a:ext cx="8655339" cy="4731327"/>
          </a:xfrm>
        </p:spPr>
        <p:txBody>
          <a:bodyPr/>
          <a:lstStyle/>
          <a:p>
            <a:pPr marL="50800" indent="0" algn="just">
              <a:buNone/>
            </a:pPr>
            <a:r>
              <a:rPr lang="en-US" sz="2400" b="1" dirty="0" smtClean="0">
                <a:latin typeface="Georgia" panose="02040502050405020303" pitchFamily="18" charset="0"/>
              </a:rPr>
              <a:t>Cognitive </a:t>
            </a:r>
            <a:r>
              <a:rPr lang="en-US" sz="2400" b="1" dirty="0">
                <a:latin typeface="Georgia" panose="02040502050405020303" pitchFamily="18" charset="0"/>
              </a:rPr>
              <a:t>psychologists investigate a wide range of mental abilities, including:</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Attention</a:t>
            </a:r>
            <a:r>
              <a:rPr lang="en-US" sz="2400" dirty="0">
                <a:solidFill>
                  <a:schemeClr val="accent1">
                    <a:lumMod val="75000"/>
                  </a:schemeClr>
                </a:solidFill>
                <a:latin typeface="Georgia" panose="02040502050405020303" pitchFamily="18" charset="0"/>
              </a:rPr>
              <a:t>:</a:t>
            </a:r>
            <a:r>
              <a:rPr lang="en-US" sz="2400" dirty="0">
                <a:latin typeface="Georgia" panose="02040502050405020303" pitchFamily="18" charset="0"/>
              </a:rPr>
              <a:t> How we selectively focus on certain stimuli and filter out others.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Memory</a:t>
            </a:r>
            <a:r>
              <a:rPr lang="en-US" sz="2400" dirty="0">
                <a:solidFill>
                  <a:schemeClr val="accent1">
                    <a:lumMod val="75000"/>
                  </a:schemeClr>
                </a:solidFill>
                <a:latin typeface="Georgia" panose="02040502050405020303" pitchFamily="18" charset="0"/>
              </a:rPr>
              <a:t>: </a:t>
            </a:r>
            <a:r>
              <a:rPr lang="en-US" sz="2400" dirty="0">
                <a:latin typeface="Georgia" panose="02040502050405020303" pitchFamily="18" charset="0"/>
              </a:rPr>
              <a:t>How we encode, store, and retrieve information.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Language</a:t>
            </a:r>
            <a:r>
              <a:rPr lang="en-US" sz="2400" dirty="0">
                <a:solidFill>
                  <a:schemeClr val="accent1">
                    <a:lumMod val="75000"/>
                  </a:schemeClr>
                </a:solidFill>
                <a:latin typeface="Georgia" panose="02040502050405020303" pitchFamily="18" charset="0"/>
              </a:rPr>
              <a:t>: </a:t>
            </a:r>
            <a:r>
              <a:rPr lang="en-US" sz="2400" dirty="0">
                <a:latin typeface="Georgia" panose="02040502050405020303" pitchFamily="18" charset="0"/>
              </a:rPr>
              <a:t>How we understand and produce language.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Perception</a:t>
            </a:r>
            <a:r>
              <a:rPr lang="en-US" sz="2400" dirty="0">
                <a:solidFill>
                  <a:schemeClr val="accent1">
                    <a:lumMod val="75000"/>
                  </a:schemeClr>
                </a:solidFill>
                <a:latin typeface="Georgia" panose="02040502050405020303" pitchFamily="18" charset="0"/>
              </a:rPr>
              <a:t>:</a:t>
            </a:r>
            <a:r>
              <a:rPr lang="en-US" sz="2400" dirty="0">
                <a:latin typeface="Georgia" panose="02040502050405020303" pitchFamily="18" charset="0"/>
              </a:rPr>
              <a:t> How we interpret sensory information to make sense of the world.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Problem-solving</a:t>
            </a:r>
            <a:r>
              <a:rPr lang="en-US" sz="2400" dirty="0">
                <a:solidFill>
                  <a:schemeClr val="accent1">
                    <a:lumMod val="75000"/>
                  </a:schemeClr>
                </a:solidFill>
                <a:latin typeface="Georgia" panose="02040502050405020303" pitchFamily="18" charset="0"/>
              </a:rPr>
              <a:t>: </a:t>
            </a:r>
            <a:r>
              <a:rPr lang="en-US" sz="2400" dirty="0">
                <a:latin typeface="Georgia" panose="02040502050405020303" pitchFamily="18" charset="0"/>
              </a:rPr>
              <a:t>How we approach and solve challenges. </a:t>
            </a:r>
            <a:endParaRPr lang="en-US" sz="2400" dirty="0" smtClean="0">
              <a:latin typeface="Georgia" panose="02040502050405020303" pitchFamily="18" charset="0"/>
            </a:endParaRPr>
          </a:p>
          <a:p>
            <a:pPr algn="just"/>
            <a:r>
              <a:rPr lang="en-US" sz="2400" dirty="0" smtClean="0">
                <a:solidFill>
                  <a:schemeClr val="accent1">
                    <a:lumMod val="75000"/>
                  </a:schemeClr>
                </a:solidFill>
                <a:latin typeface="Georgia" panose="02040502050405020303" pitchFamily="18" charset="0"/>
              </a:rPr>
              <a:t>Reasoning</a:t>
            </a:r>
            <a:r>
              <a:rPr lang="en-US" sz="2400" dirty="0">
                <a:solidFill>
                  <a:schemeClr val="accent1">
                    <a:lumMod val="75000"/>
                  </a:schemeClr>
                </a:solidFill>
                <a:latin typeface="Georgia" panose="02040502050405020303" pitchFamily="18" charset="0"/>
              </a:rPr>
              <a:t>: </a:t>
            </a:r>
            <a:r>
              <a:rPr lang="en-US" sz="2400" dirty="0">
                <a:latin typeface="Georgia" panose="02040502050405020303" pitchFamily="18" charset="0"/>
              </a:rPr>
              <a:t>How we draw logical conclusions and make judgments. </a:t>
            </a:r>
          </a:p>
          <a:p>
            <a:pPr marL="0" lvl="0" indent="0" eaLnBrk="0" fontAlgn="base" hangingPunct="0">
              <a:lnSpc>
                <a:spcPct val="100000"/>
              </a:lnSpc>
              <a:spcBef>
                <a:spcPct val="0"/>
              </a:spcBef>
              <a:spcAft>
                <a:spcPct val="0"/>
              </a:spcAft>
              <a:buClrTx/>
              <a:buSzTx/>
              <a:buNone/>
            </a:pPr>
            <a:endParaRPr lang="en-US" sz="2400" dirty="0">
              <a:solidFill>
                <a:schemeClr val="tx1"/>
              </a:solidFill>
              <a:latin typeface="Georgia" panose="02040502050405020303" pitchFamily="18" charset="0"/>
            </a:endParaRPr>
          </a:p>
          <a:p>
            <a:pPr algn="just"/>
            <a:endParaRPr lang="en-US" sz="2400" dirty="0" smtClean="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4541828"/>
      </p:ext>
    </p:extLst>
  </p:cSld>
  <p:clrMapOvr>
    <a:masterClrMapping/>
  </p:clrMapOvr>
  <p:transition>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6" y="304801"/>
            <a:ext cx="6757266" cy="990599"/>
          </a:xfrm>
        </p:spPr>
        <p:txBody>
          <a:bodyPr/>
          <a:lstStyle/>
          <a:p>
            <a:pPr algn="r"/>
            <a:r>
              <a:rPr lang="en-US" dirty="0" err="1"/>
              <a:t>Contd</a:t>
            </a:r>
            <a:r>
              <a:rPr lang="en-US" dirty="0"/>
              <a:t>…</a:t>
            </a:r>
            <a:endParaRPr lang="en-IN" dirty="0"/>
          </a:p>
        </p:txBody>
      </p:sp>
      <p:sp>
        <p:nvSpPr>
          <p:cNvPr id="3" name="Text Placeholder 2"/>
          <p:cNvSpPr>
            <a:spLocks noGrp="1"/>
          </p:cNvSpPr>
          <p:nvPr>
            <p:ph type="body" idx="1"/>
          </p:nvPr>
        </p:nvSpPr>
        <p:spPr>
          <a:xfrm>
            <a:off x="225425" y="1295399"/>
            <a:ext cx="8655339" cy="4731327"/>
          </a:xfrm>
        </p:spPr>
        <p:txBody>
          <a:bodyPr/>
          <a:lstStyle/>
          <a:p>
            <a:pPr algn="just"/>
            <a:r>
              <a:rPr lang="en-US" sz="2400" dirty="0"/>
              <a:t>Cognitive psychology draws upon and contributes to other fields like </a:t>
            </a:r>
            <a:r>
              <a:rPr lang="en-US" sz="2400" dirty="0">
                <a:solidFill>
                  <a:schemeClr val="accent1">
                    <a:lumMod val="75000"/>
                  </a:schemeClr>
                </a:solidFill>
              </a:rPr>
              <a:t>neuroscience, computer science, linguistics, and philosophy. </a:t>
            </a:r>
            <a:endParaRPr lang="en-US" sz="2400" dirty="0" smtClean="0">
              <a:solidFill>
                <a:schemeClr val="accent1">
                  <a:lumMod val="75000"/>
                </a:schemeClr>
              </a:solidFill>
            </a:endParaRPr>
          </a:p>
          <a:p>
            <a:pPr algn="just"/>
            <a:r>
              <a:rPr lang="en-US" sz="2400" dirty="0"/>
              <a:t>C</a:t>
            </a:r>
            <a:r>
              <a:rPr lang="en-US" sz="2400" dirty="0" smtClean="0"/>
              <a:t>ognitive </a:t>
            </a:r>
            <a:r>
              <a:rPr lang="en-US" sz="2400" dirty="0"/>
              <a:t>psychology seeks to </a:t>
            </a:r>
            <a:r>
              <a:rPr lang="en-US" sz="2400" dirty="0">
                <a:solidFill>
                  <a:schemeClr val="accent1">
                    <a:lumMod val="75000"/>
                  </a:schemeClr>
                </a:solidFill>
              </a:rPr>
              <a:t>understand the "black box" of the mind, exploring the complex mechanisms that allow us to think, learn, and interact with the world around us. </a:t>
            </a:r>
            <a:endParaRPr lang="en-US" sz="2400" dirty="0" smtClean="0">
              <a:solidFill>
                <a:schemeClr val="accent1">
                  <a:lumMod val="75000"/>
                </a:schemeClr>
              </a:solidFill>
            </a:endParaRPr>
          </a:p>
          <a:p>
            <a:pPr algn="just"/>
            <a:r>
              <a:rPr lang="en-US" sz="2400" dirty="0"/>
              <a:t>There are numerous practical applications for cognitive research, such as ways to improve memory, how to increase decision-making accuracy, and how to structure educational curricula to enhance learning.</a:t>
            </a:r>
            <a:endParaRPr lang="en-US" sz="2400" dirty="0">
              <a:latin typeface="Georgia" panose="02040502050405020303" pitchFamily="18" charset="0"/>
            </a:endParaRPr>
          </a:p>
          <a:p>
            <a:pPr marL="0" lvl="0" indent="0" eaLnBrk="0" fontAlgn="base" hangingPunct="0">
              <a:lnSpc>
                <a:spcPct val="100000"/>
              </a:lnSpc>
              <a:spcBef>
                <a:spcPct val="0"/>
              </a:spcBef>
              <a:spcAft>
                <a:spcPct val="0"/>
              </a:spcAft>
              <a:buClrTx/>
              <a:buSzTx/>
              <a:buNone/>
            </a:pPr>
            <a:endParaRPr lang="en-US" sz="2400" dirty="0">
              <a:solidFill>
                <a:schemeClr val="tx1"/>
              </a:solidFill>
              <a:latin typeface="Georgia" panose="02040502050405020303" pitchFamily="18" charset="0"/>
            </a:endParaRPr>
          </a:p>
          <a:p>
            <a:pPr marL="50800" indent="0" algn="just">
              <a:buNone/>
            </a:pPr>
            <a:endParaRPr lang="en-US" sz="2400" dirty="0">
              <a:latin typeface="Georgia" panose="02040502050405020303" pitchFamily="18" charset="0"/>
            </a:endParaRPr>
          </a:p>
          <a:p>
            <a:pPr algn="just"/>
            <a:endParaRPr lang="en-IN" sz="2400" dirty="0">
              <a:solidFill>
                <a:schemeClr val="accent1">
                  <a:lumMod val="75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628386690"/>
      </p:ext>
    </p:extLst>
  </p:cSld>
  <p:clrMapOvr>
    <a:masterClrMapping/>
  </p:clrMapOvr>
  <p:transition>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Cognitive Science</a:t>
            </a:r>
            <a:endParaRPr lang="en-IN" dirty="0"/>
          </a:p>
        </p:txBody>
      </p:sp>
      <p:sp>
        <p:nvSpPr>
          <p:cNvPr id="3" name="Text Placeholder 2"/>
          <p:cNvSpPr>
            <a:spLocks noGrp="1"/>
          </p:cNvSpPr>
          <p:nvPr>
            <p:ph type="body" idx="1"/>
          </p:nvPr>
        </p:nvSpPr>
        <p:spPr>
          <a:xfrm>
            <a:off x="225425" y="1295400"/>
            <a:ext cx="8738466" cy="4572000"/>
          </a:xfrm>
        </p:spPr>
        <p:txBody>
          <a:bodyPr/>
          <a:lstStyle/>
          <a:p>
            <a:pPr algn="just"/>
            <a:r>
              <a:rPr lang="en-US" sz="2400" b="1" dirty="0" smtClean="0">
                <a:solidFill>
                  <a:schemeClr val="accent1">
                    <a:lumMod val="75000"/>
                  </a:schemeClr>
                </a:solidFill>
                <a:latin typeface="Georgia" panose="02040502050405020303" pitchFamily="18" charset="0"/>
              </a:rPr>
              <a:t>Cognitive</a:t>
            </a:r>
            <a:r>
              <a:rPr lang="en-US" sz="2400" b="1" dirty="0">
                <a:solidFill>
                  <a:schemeClr val="accent1">
                    <a:lumMod val="75000"/>
                  </a:schemeClr>
                </a:solidFill>
                <a:latin typeface="Georgia" panose="02040502050405020303" pitchFamily="18" charset="0"/>
              </a:rPr>
              <a:t>:</a:t>
            </a:r>
            <a:r>
              <a:rPr lang="en-US" sz="2400" dirty="0">
                <a:latin typeface="Georgia" panose="02040502050405020303" pitchFamily="18" charset="0"/>
              </a:rPr>
              <a:t> The earliest entries for the word "cognitive" in the OED take it to mean roughly pertaining </a:t>
            </a:r>
            <a:r>
              <a:rPr lang="en-US" sz="2400" dirty="0">
                <a:solidFill>
                  <a:schemeClr val="accent1">
                    <a:lumMod val="75000"/>
                  </a:schemeClr>
                </a:solidFill>
                <a:latin typeface="Georgia" panose="02040502050405020303" pitchFamily="18" charset="0"/>
              </a:rPr>
              <a:t>"to the action or process of knowing</a:t>
            </a:r>
            <a:r>
              <a:rPr lang="en-US" sz="2400" dirty="0" smtClean="0">
                <a:solidFill>
                  <a:schemeClr val="accent1">
                    <a:lumMod val="75000"/>
                  </a:schemeClr>
                </a:solidFill>
                <a:latin typeface="Georgia" panose="02040502050405020303" pitchFamily="18" charset="0"/>
              </a:rPr>
              <a:t>".</a:t>
            </a:r>
          </a:p>
          <a:p>
            <a:pPr algn="just"/>
            <a:r>
              <a:rPr lang="en-US" sz="2400" b="1" dirty="0">
                <a:solidFill>
                  <a:schemeClr val="accent1">
                    <a:lumMod val="75000"/>
                  </a:schemeClr>
                </a:solidFill>
                <a:latin typeface="Georgia" panose="02040502050405020303" pitchFamily="18" charset="0"/>
              </a:rPr>
              <a:t>Cognitive science </a:t>
            </a:r>
            <a:r>
              <a:rPr lang="en-US" sz="2400" dirty="0">
                <a:latin typeface="Georgia" panose="02040502050405020303" pitchFamily="18" charset="0"/>
              </a:rPr>
              <a:t>can be defined as the </a:t>
            </a:r>
            <a:r>
              <a:rPr lang="en-US" sz="2400" dirty="0">
                <a:solidFill>
                  <a:schemeClr val="accent1">
                    <a:lumMod val="75000"/>
                  </a:schemeClr>
                </a:solidFill>
                <a:latin typeface="Georgia" panose="02040502050405020303" pitchFamily="18" charset="0"/>
              </a:rPr>
              <a:t>study of mind or the study of thought. </a:t>
            </a:r>
          </a:p>
          <a:p>
            <a:pPr algn="just"/>
            <a:r>
              <a:rPr lang="en-US" sz="2400" dirty="0">
                <a:latin typeface="Georgia" panose="02040502050405020303" pitchFamily="18" charset="0"/>
              </a:rPr>
              <a:t>We can also define it as the </a:t>
            </a:r>
            <a:r>
              <a:rPr lang="en-US" sz="2400" dirty="0">
                <a:solidFill>
                  <a:schemeClr val="accent1">
                    <a:lumMod val="75000"/>
                  </a:schemeClr>
                </a:solidFill>
                <a:latin typeface="Georgia" panose="02040502050405020303" pitchFamily="18" charset="0"/>
              </a:rPr>
              <a:t>interdisciplinary study of cognition. </a:t>
            </a:r>
            <a:endParaRPr lang="en-US" sz="2400" dirty="0" smtClean="0">
              <a:solidFill>
                <a:schemeClr val="accent1">
                  <a:lumMod val="75000"/>
                </a:schemeClr>
              </a:solidFill>
              <a:latin typeface="Georgia" panose="02040502050405020303" pitchFamily="18" charset="0"/>
            </a:endParaRPr>
          </a:p>
          <a:p>
            <a:pPr algn="just"/>
            <a:r>
              <a:rPr lang="en-US" sz="2400" b="1" dirty="0" smtClean="0">
                <a:solidFill>
                  <a:schemeClr val="accent1">
                    <a:lumMod val="75000"/>
                  </a:schemeClr>
                </a:solidFill>
                <a:latin typeface="Georgia" panose="02040502050405020303" pitchFamily="18" charset="0"/>
              </a:rPr>
              <a:t>Cognition</a:t>
            </a:r>
            <a:r>
              <a:rPr lang="en-US" sz="2400" dirty="0" smtClean="0">
                <a:latin typeface="Georgia" panose="02040502050405020303" pitchFamily="18" charset="0"/>
              </a:rPr>
              <a:t> </a:t>
            </a:r>
            <a:r>
              <a:rPr lang="en-US" sz="2400" dirty="0">
                <a:latin typeface="Georgia" panose="02040502050405020303" pitchFamily="18" charset="0"/>
              </a:rPr>
              <a:t>includes </a:t>
            </a:r>
            <a:r>
              <a:rPr lang="en-US" sz="2400" dirty="0">
                <a:solidFill>
                  <a:schemeClr val="accent1">
                    <a:lumMod val="75000"/>
                  </a:schemeClr>
                </a:solidFill>
                <a:latin typeface="Georgia" panose="02040502050405020303" pitchFamily="18" charset="0"/>
              </a:rPr>
              <a:t>mental states and processes </a:t>
            </a:r>
            <a:r>
              <a:rPr lang="en-US" sz="2400" dirty="0">
                <a:latin typeface="Georgia" panose="02040502050405020303" pitchFamily="18" charset="0"/>
              </a:rPr>
              <a:t>such as </a:t>
            </a:r>
            <a:r>
              <a:rPr lang="en-US" sz="2400" dirty="0">
                <a:solidFill>
                  <a:schemeClr val="accent1">
                    <a:lumMod val="75000"/>
                  </a:schemeClr>
                </a:solidFill>
                <a:latin typeface="Georgia" panose="02040502050405020303" pitchFamily="18" charset="0"/>
              </a:rPr>
              <a:t>thinking, remembering, language understanding and generation, visual and auditory perception, learning, consciousness, emotions</a:t>
            </a:r>
            <a:r>
              <a:rPr lang="en-US" sz="2400" dirty="0">
                <a:latin typeface="Georgia" panose="02040502050405020303" pitchFamily="18" charset="0"/>
              </a:rPr>
              <a:t>, etc. </a:t>
            </a:r>
            <a:endParaRPr lang="en-US" sz="2400" dirty="0" smtClean="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4166357392"/>
      </p:ext>
    </p:extLst>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6" y="304801"/>
            <a:ext cx="6771120" cy="990599"/>
          </a:xfrm>
        </p:spPr>
        <p:txBody>
          <a:bodyPr/>
          <a:lstStyle/>
          <a:p>
            <a:pPr algn="r"/>
            <a:r>
              <a:rPr lang="en-IN" dirty="0" err="1"/>
              <a:t>Contd</a:t>
            </a:r>
            <a:r>
              <a:rPr lang="en-IN" dirty="0"/>
              <a:t>…</a:t>
            </a:r>
          </a:p>
        </p:txBody>
      </p:sp>
      <p:sp>
        <p:nvSpPr>
          <p:cNvPr id="3" name="Text Placeholder 2"/>
          <p:cNvSpPr>
            <a:spLocks noGrp="1"/>
          </p:cNvSpPr>
          <p:nvPr>
            <p:ph type="body" idx="1"/>
          </p:nvPr>
        </p:nvSpPr>
        <p:spPr>
          <a:xfrm>
            <a:off x="114590" y="1295399"/>
            <a:ext cx="8918574" cy="4675909"/>
          </a:xfrm>
        </p:spPr>
        <p:txBody>
          <a:bodyPr/>
          <a:lstStyle/>
          <a:p>
            <a:pPr algn="just"/>
            <a:r>
              <a:rPr lang="en-US" sz="2200" dirty="0" smtClean="0">
                <a:latin typeface="Georgia" panose="02040502050405020303" pitchFamily="18" charset="0"/>
              </a:rPr>
              <a:t>An interdisciplinary field that </a:t>
            </a:r>
            <a:r>
              <a:rPr lang="en-US" sz="2200" dirty="0" smtClean="0">
                <a:solidFill>
                  <a:schemeClr val="accent1">
                    <a:lumMod val="75000"/>
                  </a:schemeClr>
                </a:solidFill>
                <a:latin typeface="Georgia" panose="02040502050405020303" pitchFamily="18" charset="0"/>
              </a:rPr>
              <a:t>integrates knowledge from various disciplines (psychology, neuroscience, linguistics, philosophy, computer science, and anthropology)</a:t>
            </a:r>
            <a:r>
              <a:rPr lang="en-US" sz="2200" dirty="0" smtClean="0">
                <a:latin typeface="Georgia" panose="02040502050405020303" pitchFamily="18" charset="0"/>
              </a:rPr>
              <a:t> to </a:t>
            </a:r>
            <a:r>
              <a:rPr lang="en-US" sz="2200" b="1" dirty="0" smtClean="0">
                <a:solidFill>
                  <a:schemeClr val="accent2">
                    <a:lumMod val="75000"/>
                  </a:schemeClr>
                </a:solidFill>
                <a:latin typeface="Georgia" panose="02040502050405020303" pitchFamily="18" charset="0"/>
              </a:rPr>
              <a:t>study the mind and mental processes.</a:t>
            </a:r>
          </a:p>
          <a:p>
            <a:pPr algn="just"/>
            <a:r>
              <a:rPr lang="en-US" sz="2200" dirty="0" smtClean="0">
                <a:solidFill>
                  <a:srgbClr val="FF0000"/>
                </a:solidFill>
                <a:latin typeface="Georgia" panose="02040502050405020303" pitchFamily="18" charset="0"/>
              </a:rPr>
              <a:t>One </a:t>
            </a:r>
            <a:r>
              <a:rPr lang="en-US" sz="2200" dirty="0">
                <a:solidFill>
                  <a:srgbClr val="FF0000"/>
                </a:solidFill>
                <a:latin typeface="Georgia" panose="02040502050405020303" pitchFamily="18" charset="0"/>
              </a:rPr>
              <a:t>major goal: to show that when it comes to studying something as complex as the mind, no single perspective is adequate. Instead, intercommunication and cooperation among the practitioners of these disciplines tell us much more</a:t>
            </a:r>
            <a:r>
              <a:rPr lang="en-US" sz="2200" dirty="0" smtClean="0">
                <a:solidFill>
                  <a:srgbClr val="FF0000"/>
                </a:solidFill>
                <a:latin typeface="Georgia" panose="02040502050405020303" pitchFamily="18" charset="0"/>
              </a:rPr>
              <a:t>.</a:t>
            </a:r>
          </a:p>
          <a:p>
            <a:pPr algn="just"/>
            <a:r>
              <a:rPr lang="en-US" sz="2200" dirty="0">
                <a:latin typeface="Georgia" panose="02040502050405020303" pitchFamily="18" charset="0"/>
              </a:rPr>
              <a:t>It relies on varying scientific </a:t>
            </a:r>
            <a:r>
              <a:rPr lang="en-US" sz="2200" dirty="0" smtClean="0">
                <a:latin typeface="Georgia" panose="02040502050405020303" pitchFamily="18" charset="0"/>
              </a:rPr>
              <a:t>methodology (</a:t>
            </a:r>
            <a:r>
              <a:rPr lang="en-US" sz="2200" dirty="0" smtClean="0">
                <a:solidFill>
                  <a:schemeClr val="accent1">
                    <a:lumMod val="75000"/>
                  </a:schemeClr>
                </a:solidFill>
                <a:latin typeface="Georgia" panose="02040502050405020303" pitchFamily="18" charset="0"/>
              </a:rPr>
              <a:t>e.g. behavioral experimentation, computational simulations, </a:t>
            </a:r>
            <a:r>
              <a:rPr lang="en-US" sz="2200" dirty="0" err="1" smtClean="0">
                <a:solidFill>
                  <a:schemeClr val="accent1">
                    <a:lumMod val="75000"/>
                  </a:schemeClr>
                </a:solidFill>
                <a:latin typeface="Georgia" panose="02040502050405020303" pitchFamily="18" charset="0"/>
              </a:rPr>
              <a:t>neuro</a:t>
            </a:r>
            <a:r>
              <a:rPr lang="en-US" sz="2200" dirty="0" smtClean="0">
                <a:solidFill>
                  <a:schemeClr val="accent1">
                    <a:lumMod val="75000"/>
                  </a:schemeClr>
                </a:solidFill>
                <a:latin typeface="Georgia" panose="02040502050405020303" pitchFamily="18" charset="0"/>
              </a:rPr>
              <a:t>-imaging, statistical analyses</a:t>
            </a:r>
            <a:r>
              <a:rPr lang="en-US" sz="2200" dirty="0" smtClean="0">
                <a:latin typeface="Georgia" panose="02040502050405020303" pitchFamily="18" charset="0"/>
              </a:rPr>
              <a:t>), </a:t>
            </a:r>
            <a:r>
              <a:rPr lang="en-US" sz="2200" dirty="0">
                <a:latin typeface="Georgia" panose="02040502050405020303" pitchFamily="18" charset="0"/>
              </a:rPr>
              <a:t>and spans many levels of analysis of the mind (</a:t>
            </a:r>
            <a:r>
              <a:rPr lang="en-US" sz="2200" dirty="0">
                <a:solidFill>
                  <a:schemeClr val="accent1">
                    <a:lumMod val="75000"/>
                  </a:schemeClr>
                </a:solidFill>
                <a:latin typeface="Georgia" panose="02040502050405020303" pitchFamily="18" charset="0"/>
              </a:rPr>
              <a:t>from low-level learning and decision mechanisms to high-level logic and planning, from neural circuitry to modular brain organization, etc.</a:t>
            </a:r>
            <a:r>
              <a:rPr lang="en-US" sz="2200" dirty="0">
                <a:latin typeface="Georgia" panose="02040502050405020303" pitchFamily="18" charset="0"/>
              </a:rPr>
              <a:t>).</a:t>
            </a:r>
          </a:p>
          <a:p>
            <a:pPr marL="50800" indent="0" algn="just">
              <a:buNone/>
            </a:pPr>
            <a:endParaRPr lang="en-IN" sz="2200" dirty="0">
              <a:solidFill>
                <a:srgbClr val="FF0000"/>
              </a:solidFill>
              <a:latin typeface="Georgia" panose="02040502050405020303" pitchFamily="18" charset="0"/>
            </a:endParaRPr>
          </a:p>
          <a:p>
            <a:pPr algn="just"/>
            <a:endParaRPr lang="en-US" sz="2200" dirty="0">
              <a:solidFill>
                <a:schemeClr val="accent1">
                  <a:lumMod val="75000"/>
                </a:schemeClr>
              </a:solidFill>
              <a:latin typeface="Georgia" panose="02040502050405020303" pitchFamily="18" charset="0"/>
            </a:endParaRPr>
          </a:p>
          <a:p>
            <a:pPr algn="just"/>
            <a:endParaRPr lang="en-IN" sz="2200" dirty="0">
              <a:latin typeface="Georgia" panose="02040502050405020303" pitchFamily="18" charset="0"/>
            </a:endParaRPr>
          </a:p>
        </p:txBody>
      </p:sp>
    </p:spTree>
    <p:extLst>
      <p:ext uri="{BB962C8B-B14F-4D97-AF65-F5344CB8AC3E}">
        <p14:creationId xmlns:p14="http://schemas.microsoft.com/office/powerpoint/2010/main" val="3986302697"/>
      </p:ext>
    </p:extLst>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5" y="36513"/>
            <a:ext cx="8080375" cy="990599"/>
          </a:xfrm>
        </p:spPr>
        <p:txBody>
          <a:bodyPr/>
          <a:lstStyle/>
          <a:p>
            <a:r>
              <a:rPr lang="en-IN" dirty="0" smtClean="0"/>
              <a:t>Computation or information Processor - Mind</a:t>
            </a:r>
            <a:endParaRPr lang="en-IN" dirty="0"/>
          </a:p>
        </p:txBody>
      </p:sp>
      <p:sp>
        <p:nvSpPr>
          <p:cNvPr id="3" name="Text Placeholder 2"/>
          <p:cNvSpPr>
            <a:spLocks noGrp="1"/>
          </p:cNvSpPr>
          <p:nvPr>
            <p:ph type="body" idx="1"/>
          </p:nvPr>
        </p:nvSpPr>
        <p:spPr>
          <a:xfrm>
            <a:off x="225425" y="1516062"/>
            <a:ext cx="8641483" cy="4351338"/>
          </a:xfrm>
        </p:spPr>
        <p:txBody>
          <a:bodyPr/>
          <a:lstStyle/>
          <a:p>
            <a:pPr algn="just"/>
            <a:r>
              <a:rPr lang="en-US" sz="2400" dirty="0" smtClean="0">
                <a:latin typeface="Georgia" panose="02040502050405020303" pitchFamily="18" charset="0"/>
              </a:rPr>
              <a:t>Cognitive </a:t>
            </a:r>
            <a:r>
              <a:rPr lang="en-US" sz="2400" dirty="0">
                <a:latin typeface="Georgia" panose="02040502050405020303" pitchFamily="18" charset="0"/>
              </a:rPr>
              <a:t>scientists view the mind as an information processor. </a:t>
            </a:r>
            <a:r>
              <a:rPr lang="en-US" sz="2400" dirty="0">
                <a:solidFill>
                  <a:schemeClr val="accent1">
                    <a:lumMod val="75000"/>
                  </a:schemeClr>
                </a:solidFill>
                <a:latin typeface="Georgia" panose="02040502050405020303" pitchFamily="18" charset="0"/>
              </a:rPr>
              <a:t>Information processors must both represent and transform information</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latin typeface="Georgia" panose="02040502050405020303" pitchFamily="18" charset="0"/>
              </a:rPr>
              <a:t>That </a:t>
            </a:r>
            <a:r>
              <a:rPr lang="en-US" sz="2400" dirty="0">
                <a:latin typeface="Georgia" panose="02040502050405020303" pitchFamily="18" charset="0"/>
              </a:rPr>
              <a:t>is, a mind, according to this perspective, must incorporate some form of </a:t>
            </a:r>
            <a:r>
              <a:rPr lang="en-US" sz="2400" dirty="0">
                <a:solidFill>
                  <a:schemeClr val="accent1">
                    <a:lumMod val="75000"/>
                  </a:schemeClr>
                </a:solidFill>
                <a:latin typeface="Georgia" panose="02040502050405020303" pitchFamily="18" charset="0"/>
              </a:rPr>
              <a:t>mental representation </a:t>
            </a:r>
            <a:r>
              <a:rPr lang="en-US" sz="2400" dirty="0">
                <a:latin typeface="Georgia" panose="02040502050405020303" pitchFamily="18" charset="0"/>
              </a:rPr>
              <a:t>and </a:t>
            </a:r>
            <a:r>
              <a:rPr lang="en-US" sz="2400" dirty="0">
                <a:solidFill>
                  <a:schemeClr val="accent1">
                    <a:lumMod val="75000"/>
                  </a:schemeClr>
                </a:solidFill>
                <a:latin typeface="Georgia" panose="02040502050405020303" pitchFamily="18" charset="0"/>
              </a:rPr>
              <a:t>processes that act on </a:t>
            </a:r>
            <a:r>
              <a:rPr lang="en-US" sz="2400" dirty="0">
                <a:latin typeface="Georgia" panose="02040502050405020303" pitchFamily="18" charset="0"/>
              </a:rPr>
              <a:t>and </a:t>
            </a:r>
            <a:r>
              <a:rPr lang="en-US" sz="2400" dirty="0">
                <a:solidFill>
                  <a:schemeClr val="accent1">
                    <a:lumMod val="75000"/>
                  </a:schemeClr>
                </a:solidFill>
                <a:latin typeface="Georgia" panose="02040502050405020303" pitchFamily="18" charset="0"/>
              </a:rPr>
              <a:t>manipulate that information.</a:t>
            </a:r>
          </a:p>
          <a:p>
            <a:pPr algn="just"/>
            <a:r>
              <a:rPr lang="en-US" sz="2400" dirty="0" smtClean="0">
                <a:latin typeface="Georgia" panose="02040502050405020303" pitchFamily="18" charset="0"/>
              </a:rPr>
              <a:t>Information </a:t>
            </a:r>
            <a:r>
              <a:rPr lang="en-US" sz="2400" dirty="0">
                <a:latin typeface="Georgia" panose="02040502050405020303" pitchFamily="18" charset="0"/>
              </a:rPr>
              <a:t>is </a:t>
            </a:r>
            <a:r>
              <a:rPr lang="en-US" sz="2400" dirty="0">
                <a:solidFill>
                  <a:schemeClr val="accent3">
                    <a:lumMod val="75000"/>
                  </a:schemeClr>
                </a:solidFill>
                <a:latin typeface="Georgia" panose="02040502050405020303" pitchFamily="18" charset="0"/>
              </a:rPr>
              <a:t>“input” into our minds through perception—what we see or hear. </a:t>
            </a:r>
            <a:r>
              <a:rPr lang="en-US" sz="2400" dirty="0">
                <a:solidFill>
                  <a:schemeClr val="accent2">
                    <a:lumMod val="75000"/>
                  </a:schemeClr>
                </a:solidFill>
                <a:latin typeface="Georgia" panose="02040502050405020303" pitchFamily="18" charset="0"/>
              </a:rPr>
              <a:t>It is stored in our memories and processed in the form of thought. </a:t>
            </a:r>
            <a:r>
              <a:rPr lang="en-US" sz="2400" dirty="0">
                <a:solidFill>
                  <a:schemeClr val="accent6">
                    <a:lumMod val="75000"/>
                  </a:schemeClr>
                </a:solidFill>
                <a:latin typeface="Georgia" panose="02040502050405020303" pitchFamily="18" charset="0"/>
              </a:rPr>
              <a:t>Our thoughts can then serve as the basis of “outputs,” such as language or physical behavior.</a:t>
            </a:r>
            <a:endParaRPr lang="en-IN" sz="2400" dirty="0">
              <a:solidFill>
                <a:schemeClr val="accent6">
                  <a:lumMod val="75000"/>
                </a:schemeClr>
              </a:solidFill>
              <a:latin typeface="Georgia" panose="02040502050405020303" pitchFamily="18" charset="0"/>
            </a:endParaRPr>
          </a:p>
          <a:p>
            <a:pPr algn="just"/>
            <a:endParaRPr lang="en-IN" sz="2400" dirty="0">
              <a:latin typeface="Georgia" panose="02040502050405020303" pitchFamily="18" charset="0"/>
            </a:endParaRPr>
          </a:p>
          <a:p>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730997004"/>
      </p:ext>
    </p:extLst>
  </p:cSld>
  <p:clrMapOvr>
    <a:masterClrMapping/>
  </p:clrMapOvr>
  <p:transition>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88" y="90488"/>
            <a:ext cx="8080375" cy="990599"/>
          </a:xfrm>
        </p:spPr>
        <p:txBody>
          <a:bodyPr/>
          <a:lstStyle/>
          <a:p>
            <a:r>
              <a:rPr lang="en-IN" dirty="0"/>
              <a:t>Computation or information Processor - </a:t>
            </a:r>
            <a:r>
              <a:rPr lang="en-IN" dirty="0" smtClean="0"/>
              <a:t>Computer</a:t>
            </a:r>
            <a:endParaRPr lang="en-IN" dirty="0"/>
          </a:p>
        </p:txBody>
      </p:sp>
      <p:sp>
        <p:nvSpPr>
          <p:cNvPr id="3" name="Text Placeholder 2"/>
          <p:cNvSpPr>
            <a:spLocks noGrp="1"/>
          </p:cNvSpPr>
          <p:nvPr>
            <p:ph type="body" idx="1"/>
          </p:nvPr>
        </p:nvSpPr>
        <p:spPr>
          <a:xfrm>
            <a:off x="225425" y="1295400"/>
            <a:ext cx="8696902" cy="4351338"/>
          </a:xfrm>
        </p:spPr>
        <p:txBody>
          <a:bodyPr/>
          <a:lstStyle/>
          <a:p>
            <a:pPr algn="just"/>
            <a:r>
              <a:rPr lang="en-US" sz="2400" dirty="0">
                <a:latin typeface="Georgia" panose="02040502050405020303" pitchFamily="18" charset="0"/>
              </a:rPr>
              <a:t>Computers are of course information processors. </a:t>
            </a:r>
            <a:endParaRPr lang="en-US" sz="2400" dirty="0" smtClean="0">
              <a:latin typeface="Georgia" panose="02040502050405020303" pitchFamily="18" charset="0"/>
            </a:endParaRPr>
          </a:p>
          <a:p>
            <a:pPr algn="just"/>
            <a:r>
              <a:rPr lang="en-US" sz="2400" dirty="0" smtClean="0">
                <a:latin typeface="Georgia" panose="02040502050405020303" pitchFamily="18" charset="0"/>
              </a:rPr>
              <a:t>Personal Computer </a:t>
            </a:r>
            <a:r>
              <a:rPr lang="en-US" sz="2400" dirty="0">
                <a:latin typeface="Georgia" panose="02040502050405020303" pitchFamily="18" charset="0"/>
              </a:rPr>
              <a:t>performs a variety of </a:t>
            </a:r>
            <a:r>
              <a:rPr lang="en-US" sz="2400" dirty="0" smtClean="0">
                <a:latin typeface="Georgia" panose="02040502050405020303" pitchFamily="18" charset="0"/>
              </a:rPr>
              <a:t>information processing </a:t>
            </a:r>
            <a:r>
              <a:rPr lang="en-US" sz="2400" dirty="0">
                <a:latin typeface="Georgia" panose="02040502050405020303" pitchFamily="18" charset="0"/>
              </a:rPr>
              <a:t>tasks. </a:t>
            </a:r>
            <a:endParaRPr lang="en-US" sz="2400" dirty="0" smtClean="0">
              <a:latin typeface="Georgia" panose="02040502050405020303" pitchFamily="18" charset="0"/>
            </a:endParaRPr>
          </a:p>
          <a:p>
            <a:pPr algn="just"/>
            <a:r>
              <a:rPr lang="en-US" sz="2400" dirty="0" smtClean="0">
                <a:solidFill>
                  <a:schemeClr val="accent3">
                    <a:lumMod val="75000"/>
                  </a:schemeClr>
                </a:solidFill>
                <a:latin typeface="Georgia" panose="02040502050405020303" pitchFamily="18" charset="0"/>
              </a:rPr>
              <a:t>Information </a:t>
            </a:r>
            <a:r>
              <a:rPr lang="en-US" sz="2400" dirty="0">
                <a:solidFill>
                  <a:schemeClr val="accent3">
                    <a:lumMod val="75000"/>
                  </a:schemeClr>
                </a:solidFill>
                <a:latin typeface="Georgia" panose="02040502050405020303" pitchFamily="18" charset="0"/>
              </a:rPr>
              <a:t>gets into the computer via input devices, such as a keyboard or modem. </a:t>
            </a:r>
            <a:endParaRPr lang="en-US" sz="2400" dirty="0" smtClean="0">
              <a:solidFill>
                <a:schemeClr val="accent3">
                  <a:lumMod val="75000"/>
                </a:schemeClr>
              </a:solidFill>
              <a:latin typeface="Georgia" panose="02040502050405020303" pitchFamily="18" charset="0"/>
            </a:endParaRPr>
          </a:p>
          <a:p>
            <a:pPr algn="just"/>
            <a:r>
              <a:rPr lang="en-US" sz="2400" dirty="0" smtClean="0">
                <a:solidFill>
                  <a:schemeClr val="accent2">
                    <a:lumMod val="75000"/>
                  </a:schemeClr>
                </a:solidFill>
                <a:latin typeface="Georgia" panose="02040502050405020303" pitchFamily="18" charset="0"/>
              </a:rPr>
              <a:t>That </a:t>
            </a:r>
            <a:r>
              <a:rPr lang="en-US" sz="2400" dirty="0">
                <a:solidFill>
                  <a:schemeClr val="accent2">
                    <a:lumMod val="75000"/>
                  </a:schemeClr>
                </a:solidFill>
                <a:latin typeface="Georgia" panose="02040502050405020303" pitchFamily="18" charset="0"/>
              </a:rPr>
              <a:t>information can then be stored on the computer, for example, on a hard drive or other disk. </a:t>
            </a:r>
            <a:endParaRPr lang="en-US" sz="2400" dirty="0" smtClean="0">
              <a:solidFill>
                <a:schemeClr val="accent2">
                  <a:lumMod val="75000"/>
                </a:schemeClr>
              </a:solidFill>
              <a:latin typeface="Georgia" panose="02040502050405020303" pitchFamily="18" charset="0"/>
            </a:endParaRPr>
          </a:p>
          <a:p>
            <a:pPr algn="just"/>
            <a:r>
              <a:rPr lang="en-US" sz="2400" dirty="0" smtClean="0">
                <a:solidFill>
                  <a:schemeClr val="accent2">
                    <a:lumMod val="75000"/>
                  </a:schemeClr>
                </a:solidFill>
                <a:latin typeface="Georgia" panose="02040502050405020303" pitchFamily="18" charset="0"/>
              </a:rPr>
              <a:t>The </a:t>
            </a:r>
            <a:r>
              <a:rPr lang="en-US" sz="2400" dirty="0">
                <a:solidFill>
                  <a:schemeClr val="accent2">
                    <a:lumMod val="75000"/>
                  </a:schemeClr>
                </a:solidFill>
                <a:latin typeface="Georgia" panose="02040502050405020303" pitchFamily="18" charset="0"/>
              </a:rPr>
              <a:t>information can then be processed using software such as a text editor. </a:t>
            </a:r>
            <a:endParaRPr lang="en-US" sz="2400" dirty="0" smtClean="0">
              <a:solidFill>
                <a:schemeClr val="accent2">
                  <a:lumMod val="75000"/>
                </a:schemeClr>
              </a:solidFill>
              <a:latin typeface="Georgia" panose="02040502050405020303" pitchFamily="18" charset="0"/>
            </a:endParaRPr>
          </a:p>
          <a:p>
            <a:pPr algn="just"/>
            <a:r>
              <a:rPr lang="en-US" sz="2400" dirty="0" smtClean="0">
                <a:solidFill>
                  <a:schemeClr val="accent6">
                    <a:lumMod val="75000"/>
                  </a:schemeClr>
                </a:solidFill>
                <a:latin typeface="Georgia" panose="02040502050405020303" pitchFamily="18" charset="0"/>
              </a:rPr>
              <a:t>The </a:t>
            </a:r>
            <a:r>
              <a:rPr lang="en-US" sz="2400" dirty="0">
                <a:solidFill>
                  <a:schemeClr val="accent6">
                    <a:lumMod val="75000"/>
                  </a:schemeClr>
                </a:solidFill>
                <a:latin typeface="Georgia" panose="02040502050405020303" pitchFamily="18" charset="0"/>
              </a:rPr>
              <a:t>results of this processing may next serve as output, either to a monitor or printer. </a:t>
            </a:r>
            <a:endParaRPr lang="en-US" sz="2400" dirty="0" smtClean="0">
              <a:solidFill>
                <a:schemeClr val="accent6">
                  <a:lumMod val="75000"/>
                </a:schemeClr>
              </a:solidFill>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797595239"/>
      </p:ext>
    </p:extLst>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5" y="304801"/>
            <a:ext cx="6881957" cy="990599"/>
          </a:xfrm>
        </p:spPr>
        <p:txBody>
          <a:bodyPr/>
          <a:lstStyle/>
          <a:p>
            <a:pPr algn="r"/>
            <a:r>
              <a:rPr lang="en-IN" dirty="0" err="1" smtClean="0"/>
              <a:t>Contd</a:t>
            </a:r>
            <a:r>
              <a:rPr lang="en-IN" dirty="0" smtClean="0"/>
              <a:t>…</a:t>
            </a:r>
            <a:endParaRPr lang="en-IN" dirty="0"/>
          </a:p>
        </p:txBody>
      </p:sp>
      <p:sp>
        <p:nvSpPr>
          <p:cNvPr id="3" name="Text Placeholder 2"/>
          <p:cNvSpPr>
            <a:spLocks noGrp="1"/>
          </p:cNvSpPr>
          <p:nvPr>
            <p:ph type="body" idx="1"/>
          </p:nvPr>
        </p:nvSpPr>
        <p:spPr>
          <a:xfrm>
            <a:off x="495299" y="1516062"/>
            <a:ext cx="8274627" cy="4351338"/>
          </a:xfrm>
        </p:spPr>
        <p:txBody>
          <a:bodyPr/>
          <a:lstStyle/>
          <a:p>
            <a:pPr marL="50800" indent="0" algn="just">
              <a:buNone/>
            </a:pPr>
            <a:r>
              <a:rPr lang="en-IN" sz="2400" dirty="0">
                <a:latin typeface="Georgia" panose="02040502050405020303" pitchFamily="18" charset="0"/>
              </a:rPr>
              <a:t>Cognitive science grew out of three developments: </a:t>
            </a:r>
            <a:endParaRPr lang="en-IN" sz="2400" dirty="0" smtClean="0">
              <a:latin typeface="Georgia" panose="02040502050405020303" pitchFamily="18" charset="0"/>
            </a:endParaRPr>
          </a:p>
          <a:p>
            <a:pPr algn="just"/>
            <a:r>
              <a:rPr lang="en-IN" sz="2400" dirty="0" smtClean="0">
                <a:latin typeface="Georgia" panose="02040502050405020303" pitchFamily="18" charset="0"/>
              </a:rPr>
              <a:t>the </a:t>
            </a:r>
            <a:r>
              <a:rPr lang="en-IN" sz="2400" dirty="0">
                <a:latin typeface="Georgia" panose="02040502050405020303" pitchFamily="18" charset="0"/>
              </a:rPr>
              <a:t>invention of computers and the attempts to </a:t>
            </a:r>
            <a:r>
              <a:rPr lang="en-IN" sz="2400" dirty="0">
                <a:solidFill>
                  <a:schemeClr val="accent1">
                    <a:lumMod val="75000"/>
                  </a:schemeClr>
                </a:solidFill>
                <a:latin typeface="Georgia" panose="02040502050405020303" pitchFamily="18" charset="0"/>
              </a:rPr>
              <a:t>design programs that could do the kinds of tasks that humans do; </a:t>
            </a:r>
            <a:endParaRPr lang="en-IN" sz="2400" dirty="0" smtClean="0">
              <a:solidFill>
                <a:schemeClr val="accent1">
                  <a:lumMod val="75000"/>
                </a:schemeClr>
              </a:solidFill>
              <a:latin typeface="Georgia" panose="02040502050405020303" pitchFamily="18" charset="0"/>
            </a:endParaRPr>
          </a:p>
          <a:p>
            <a:pPr algn="just"/>
            <a:r>
              <a:rPr lang="en-IN" sz="2400" dirty="0" smtClean="0">
                <a:latin typeface="Georgia" panose="02040502050405020303" pitchFamily="18" charset="0"/>
              </a:rPr>
              <a:t>the </a:t>
            </a:r>
            <a:r>
              <a:rPr lang="en-IN" sz="2400" dirty="0">
                <a:latin typeface="Georgia" panose="02040502050405020303" pitchFamily="18" charset="0"/>
              </a:rPr>
              <a:t>development of information processing psychology where the goal was to specify the </a:t>
            </a:r>
            <a:r>
              <a:rPr lang="en-IN" sz="2400" dirty="0">
                <a:solidFill>
                  <a:schemeClr val="accent1">
                    <a:lumMod val="75000"/>
                  </a:schemeClr>
                </a:solidFill>
                <a:latin typeface="Georgia" panose="02040502050405020303" pitchFamily="18" charset="0"/>
              </a:rPr>
              <a:t>internal processing involved in perception, language, memory, and thought; </a:t>
            </a:r>
            <a:endParaRPr lang="en-IN" sz="2400" dirty="0" smtClean="0">
              <a:solidFill>
                <a:schemeClr val="accent1">
                  <a:lumMod val="75000"/>
                </a:schemeClr>
              </a:solidFill>
              <a:latin typeface="Georgia" panose="02040502050405020303" pitchFamily="18" charset="0"/>
            </a:endParaRPr>
          </a:p>
          <a:p>
            <a:pPr algn="just"/>
            <a:r>
              <a:rPr lang="en-IN" sz="2400" dirty="0" smtClean="0">
                <a:latin typeface="Georgia" panose="02040502050405020303" pitchFamily="18" charset="0"/>
              </a:rPr>
              <a:t>the </a:t>
            </a:r>
            <a:r>
              <a:rPr lang="en-IN" sz="2400" dirty="0">
                <a:latin typeface="Georgia" panose="02040502050405020303" pitchFamily="18" charset="0"/>
              </a:rPr>
              <a:t>development of the theory of </a:t>
            </a:r>
            <a:r>
              <a:rPr lang="en-IN" sz="2400" dirty="0">
                <a:solidFill>
                  <a:schemeClr val="accent1">
                    <a:lumMod val="75000"/>
                  </a:schemeClr>
                </a:solidFill>
                <a:latin typeface="Georgia" panose="02040502050405020303" pitchFamily="18" charset="0"/>
              </a:rPr>
              <a:t>generative grammar and related offshoots in linguistics.</a:t>
            </a:r>
          </a:p>
          <a:p>
            <a:pPr algn="just"/>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605032739"/>
      </p:ext>
    </p:extLst>
  </p:cSld>
  <p:clrMapOvr>
    <a:masterClrMapping/>
  </p:clrMapOvr>
  <p:transition>
    <p:wipe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5" y="304801"/>
            <a:ext cx="6840393" cy="990599"/>
          </a:xfrm>
        </p:spPr>
        <p:txBody>
          <a:bodyPr/>
          <a:lstStyle/>
          <a:p>
            <a:pPr algn="r"/>
            <a:r>
              <a:rPr lang="en-IN" dirty="0" err="1"/>
              <a:t>Contd</a:t>
            </a:r>
            <a:r>
              <a:rPr lang="en-IN" dirty="0"/>
              <a:t>…</a:t>
            </a:r>
          </a:p>
        </p:txBody>
      </p:sp>
      <p:sp>
        <p:nvSpPr>
          <p:cNvPr id="3" name="Text Placeholder 2"/>
          <p:cNvSpPr>
            <a:spLocks noGrp="1"/>
          </p:cNvSpPr>
          <p:nvPr>
            <p:ph type="body" idx="1"/>
          </p:nvPr>
        </p:nvSpPr>
        <p:spPr>
          <a:xfrm>
            <a:off x="495300" y="1516062"/>
            <a:ext cx="8551718" cy="4351338"/>
          </a:xfrm>
        </p:spPr>
        <p:txBody>
          <a:bodyPr/>
          <a:lstStyle/>
          <a:p>
            <a:pPr marL="50800" indent="0" algn="just">
              <a:buNone/>
            </a:pPr>
            <a:r>
              <a:rPr lang="en-IN" dirty="0" smtClean="0"/>
              <a:t>The </a:t>
            </a:r>
            <a:r>
              <a:rPr lang="en-IN" dirty="0"/>
              <a:t>goal of cognitive science is to understand:</a:t>
            </a:r>
          </a:p>
          <a:p>
            <a:pPr algn="just"/>
            <a:r>
              <a:rPr lang="en-IN" dirty="0" smtClean="0"/>
              <a:t>the </a:t>
            </a:r>
            <a:r>
              <a:rPr lang="en-IN" dirty="0"/>
              <a:t>representations and processes </a:t>
            </a:r>
            <a:r>
              <a:rPr lang="en-IN" dirty="0">
                <a:solidFill>
                  <a:schemeClr val="accent1">
                    <a:lumMod val="75000"/>
                  </a:schemeClr>
                </a:solidFill>
              </a:rPr>
              <a:t>in our minds </a:t>
            </a:r>
            <a:r>
              <a:rPr lang="en-IN" dirty="0"/>
              <a:t>that underwrite these capacities</a:t>
            </a:r>
            <a:r>
              <a:rPr lang="en-IN" dirty="0" smtClean="0"/>
              <a:t>,</a:t>
            </a:r>
          </a:p>
          <a:p>
            <a:pPr algn="just"/>
            <a:r>
              <a:rPr lang="en-IN" dirty="0" smtClean="0">
                <a:solidFill>
                  <a:schemeClr val="accent6">
                    <a:lumMod val="75000"/>
                  </a:schemeClr>
                </a:solidFill>
              </a:rPr>
              <a:t>how </a:t>
            </a:r>
            <a:r>
              <a:rPr lang="en-IN" dirty="0">
                <a:solidFill>
                  <a:schemeClr val="accent6">
                    <a:lumMod val="75000"/>
                  </a:schemeClr>
                </a:solidFill>
              </a:rPr>
              <a:t>they are acquired, and how they develop, and</a:t>
            </a:r>
          </a:p>
          <a:p>
            <a:pPr algn="just"/>
            <a:r>
              <a:rPr lang="en-IN" dirty="0" smtClean="0">
                <a:solidFill>
                  <a:schemeClr val="accent6">
                    <a:lumMod val="75000"/>
                  </a:schemeClr>
                </a:solidFill>
              </a:rPr>
              <a:t>how </a:t>
            </a:r>
            <a:r>
              <a:rPr lang="en-IN" dirty="0">
                <a:solidFill>
                  <a:schemeClr val="accent6">
                    <a:lumMod val="75000"/>
                  </a:schemeClr>
                </a:solidFill>
              </a:rPr>
              <a:t>they are implemented in underlying hardware</a:t>
            </a:r>
            <a:r>
              <a:rPr lang="en-IN" dirty="0"/>
              <a:t> (biological or otherwise). </a:t>
            </a:r>
            <a:endParaRPr lang="en-IN" dirty="0" smtClean="0"/>
          </a:p>
          <a:p>
            <a:pPr algn="just"/>
            <a:endParaRPr lang="en-IN" dirty="0"/>
          </a:p>
          <a:p>
            <a:pPr marL="50800" indent="0" algn="just">
              <a:buNone/>
            </a:pPr>
            <a:r>
              <a:rPr lang="en-IN" b="1" dirty="0" smtClean="0">
                <a:solidFill>
                  <a:schemeClr val="accent4">
                    <a:lumMod val="75000"/>
                  </a:schemeClr>
                </a:solidFill>
              </a:rPr>
              <a:t>Stated </a:t>
            </a:r>
            <a:r>
              <a:rPr lang="en-IN" b="1" dirty="0">
                <a:solidFill>
                  <a:schemeClr val="accent4">
                    <a:lumMod val="75000"/>
                  </a:schemeClr>
                </a:solidFill>
              </a:rPr>
              <a:t>more simply, the goal of cognitive science is to understand how the mind works.</a:t>
            </a:r>
          </a:p>
          <a:p>
            <a:pPr algn="just"/>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498729692"/>
      </p:ext>
    </p:extLst>
  </p:cSld>
  <p:clrMapOvr>
    <a:masterClrMapping/>
  </p:clrMapOvr>
  <p:transition>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Varieties of Cognitive Science</a:t>
            </a:r>
          </a:p>
        </p:txBody>
      </p:sp>
      <p:sp>
        <p:nvSpPr>
          <p:cNvPr id="3" name="Text Placeholder 2"/>
          <p:cNvSpPr>
            <a:spLocks noGrp="1"/>
          </p:cNvSpPr>
          <p:nvPr>
            <p:ph type="body" idx="1"/>
          </p:nvPr>
        </p:nvSpPr>
        <p:spPr>
          <a:xfrm>
            <a:off x="495299" y="1516062"/>
            <a:ext cx="8427027" cy="4351338"/>
          </a:xfrm>
        </p:spPr>
        <p:txBody>
          <a:bodyPr/>
          <a:lstStyle/>
          <a:p>
            <a:pPr marL="50800" indent="0" algn="just">
              <a:buNone/>
            </a:pPr>
            <a:r>
              <a:rPr lang="en-IN" sz="2400" dirty="0" smtClean="0">
                <a:latin typeface="Georgia" panose="02040502050405020303" pitchFamily="18" charset="0"/>
              </a:rPr>
              <a:t>Currently </a:t>
            </a:r>
            <a:r>
              <a:rPr lang="en-IN" sz="2400" dirty="0">
                <a:latin typeface="Georgia" panose="02040502050405020303" pitchFamily="18" charset="0"/>
              </a:rPr>
              <a:t>there are two major paradigms of computational cognitive science:</a:t>
            </a:r>
          </a:p>
          <a:p>
            <a:pPr algn="just"/>
            <a:r>
              <a:rPr lang="en-IN" sz="2400" dirty="0">
                <a:latin typeface="Georgia" panose="02040502050405020303" pitchFamily="18" charset="0"/>
              </a:rPr>
              <a:t>Symbolic computational cognitive science </a:t>
            </a:r>
            <a:endParaRPr lang="en-IN" sz="2400" dirty="0" smtClean="0">
              <a:latin typeface="Georgia" panose="02040502050405020303" pitchFamily="18" charset="0"/>
            </a:endParaRPr>
          </a:p>
          <a:p>
            <a:pPr algn="just"/>
            <a:r>
              <a:rPr lang="en-IN" sz="2400" dirty="0" smtClean="0">
                <a:latin typeface="Georgia" panose="02040502050405020303" pitchFamily="18" charset="0"/>
              </a:rPr>
              <a:t>Connectionist </a:t>
            </a:r>
            <a:r>
              <a:rPr lang="en-IN" sz="2400" dirty="0">
                <a:latin typeface="Georgia" panose="02040502050405020303" pitchFamily="18" charset="0"/>
              </a:rPr>
              <a:t>computational cognitive science</a:t>
            </a:r>
          </a:p>
          <a:p>
            <a:pPr algn="just"/>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3255724033"/>
      </p:ext>
    </p:extLst>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547"/>
            <a:ext cx="8080375" cy="990599"/>
          </a:xfrm>
        </p:spPr>
        <p:txBody>
          <a:bodyPr/>
          <a:lstStyle/>
          <a:p>
            <a:r>
              <a:rPr lang="en-IN" dirty="0"/>
              <a:t>Symbolic computational cognitive science</a:t>
            </a:r>
          </a:p>
        </p:txBody>
      </p:sp>
      <p:sp>
        <p:nvSpPr>
          <p:cNvPr id="3" name="Text Placeholder 2"/>
          <p:cNvSpPr>
            <a:spLocks noGrp="1"/>
          </p:cNvSpPr>
          <p:nvPr>
            <p:ph type="body" idx="1"/>
          </p:nvPr>
        </p:nvSpPr>
        <p:spPr>
          <a:xfrm>
            <a:off x="148937" y="1391371"/>
            <a:ext cx="8814954" cy="4351338"/>
          </a:xfrm>
        </p:spPr>
        <p:txBody>
          <a:bodyPr/>
          <a:lstStyle/>
          <a:p>
            <a:pPr algn="just"/>
            <a:r>
              <a:rPr lang="en-IN" sz="2400" dirty="0">
                <a:latin typeface="Georgia" panose="02040502050405020303" pitchFamily="18" charset="0"/>
              </a:rPr>
              <a:t>Here the concept is that the mind exists as a physically implemented "</a:t>
            </a:r>
            <a:r>
              <a:rPr lang="en-IN" sz="2400" dirty="0">
                <a:solidFill>
                  <a:schemeClr val="accent1">
                    <a:lumMod val="75000"/>
                  </a:schemeClr>
                </a:solidFill>
                <a:latin typeface="Georgia" panose="02040502050405020303" pitchFamily="18" charset="0"/>
              </a:rPr>
              <a:t>symbol system</a:t>
            </a:r>
            <a:r>
              <a:rPr lang="en-IN" sz="2400" dirty="0">
                <a:latin typeface="Georgia" panose="02040502050405020303" pitchFamily="18" charset="0"/>
              </a:rPr>
              <a:t>". </a:t>
            </a:r>
            <a:endParaRPr lang="en-IN" sz="2400" dirty="0" smtClean="0">
              <a:latin typeface="Georgia" panose="02040502050405020303" pitchFamily="18" charset="0"/>
            </a:endParaRPr>
          </a:p>
          <a:p>
            <a:pPr algn="just"/>
            <a:r>
              <a:rPr lang="en-US" sz="2400" dirty="0" smtClean="0">
                <a:latin typeface="Georgia" panose="02040502050405020303" pitchFamily="18" charset="0"/>
              </a:rPr>
              <a:t>It studies </a:t>
            </a:r>
            <a:r>
              <a:rPr lang="en-US" sz="2400" dirty="0">
                <a:latin typeface="Georgia" panose="02040502050405020303" pitchFamily="18" charset="0"/>
              </a:rPr>
              <a:t>cognitive processes by modeling them as symbol manipulation </a:t>
            </a:r>
            <a:r>
              <a:rPr lang="en-US" sz="2400" dirty="0" smtClean="0">
                <a:latin typeface="Georgia" panose="02040502050405020303" pitchFamily="18" charset="0"/>
              </a:rPr>
              <a:t>systems</a:t>
            </a:r>
          </a:p>
          <a:p>
            <a:pPr algn="just"/>
            <a:r>
              <a:rPr lang="en-US" sz="2400" dirty="0" smtClean="0">
                <a:latin typeface="Georgia" panose="02040502050405020303" pitchFamily="18" charset="0"/>
              </a:rPr>
              <a:t>It's </a:t>
            </a:r>
            <a:r>
              <a:rPr lang="en-US" sz="2400" dirty="0">
                <a:latin typeface="Georgia" panose="02040502050405020303" pitchFamily="18" charset="0"/>
              </a:rPr>
              <a:t>based on the </a:t>
            </a:r>
            <a:r>
              <a:rPr lang="en-US" sz="2400" dirty="0">
                <a:latin typeface="Georgia" panose="02040502050405020303" pitchFamily="18" charset="0"/>
                <a:hlinkClick r:id="rId2"/>
              </a:rPr>
              <a:t>Physical Symbol System Hypothesis (PSSH)</a:t>
            </a:r>
            <a:r>
              <a:rPr lang="en-US" sz="2400" dirty="0">
                <a:latin typeface="Georgia" panose="02040502050405020303" pitchFamily="18" charset="0"/>
              </a:rPr>
              <a:t>, which proposes that intelligent behavior arises from the manipulation of physical symbols. </a:t>
            </a:r>
            <a:endParaRPr lang="en-US" sz="2400" dirty="0" smtClean="0">
              <a:latin typeface="Georgia" panose="02040502050405020303" pitchFamily="18" charset="0"/>
            </a:endParaRPr>
          </a:p>
          <a:p>
            <a:pPr algn="just"/>
            <a:r>
              <a:rPr lang="en-US" sz="2400" dirty="0" smtClean="0">
                <a:latin typeface="Georgia" panose="02040502050405020303" pitchFamily="18" charset="0"/>
              </a:rPr>
              <a:t>This </a:t>
            </a:r>
            <a:r>
              <a:rPr lang="en-US" sz="2400" dirty="0">
                <a:latin typeface="Georgia" panose="02040502050405020303" pitchFamily="18" charset="0"/>
              </a:rPr>
              <a:t>approach, prominent in the early days of AI and cognitive science, views the mind as a </a:t>
            </a:r>
            <a:r>
              <a:rPr lang="en-US" sz="2400" dirty="0">
                <a:solidFill>
                  <a:schemeClr val="accent4">
                    <a:lumMod val="75000"/>
                  </a:schemeClr>
                </a:solidFill>
                <a:latin typeface="Georgia" panose="02040502050405020303" pitchFamily="18" charset="0"/>
              </a:rPr>
              <a:t>system that processes information by transforming and combining symbolic representations. </a:t>
            </a:r>
            <a:endParaRPr lang="en-US" sz="2400" dirty="0" smtClean="0">
              <a:solidFill>
                <a:schemeClr val="accent4">
                  <a:lumMod val="75000"/>
                </a:schemeClr>
              </a:solidFill>
              <a:latin typeface="Georgia" panose="02040502050405020303" pitchFamily="18" charset="0"/>
            </a:endParaRPr>
          </a:p>
          <a:p>
            <a:pPr marL="50800" indent="0" algn="just">
              <a:buNone/>
            </a:pP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974714862"/>
      </p:ext>
    </p:extLst>
  </p:cSld>
  <p:clrMapOvr>
    <a:masterClrMapping/>
  </p:clrMapOvr>
  <p:transition>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225425" y="1488353"/>
            <a:ext cx="8918575" cy="4351338"/>
          </a:xfrm>
        </p:spPr>
        <p:txBody>
          <a:bodyPr/>
          <a:lstStyle/>
          <a:p>
            <a:pPr algn="just"/>
            <a:r>
              <a:rPr lang="en-IN" sz="2000" dirty="0">
                <a:solidFill>
                  <a:schemeClr val="accent1">
                    <a:lumMod val="75000"/>
                  </a:schemeClr>
                </a:solidFill>
                <a:latin typeface="Georgia" panose="02040502050405020303" pitchFamily="18" charset="0"/>
              </a:rPr>
              <a:t>A symbol system is any effectively computable procedure, i.e., a universal machine </a:t>
            </a:r>
            <a:r>
              <a:rPr lang="en-IN" sz="2000" dirty="0">
                <a:latin typeface="Georgia" panose="02040502050405020303" pitchFamily="18" charset="0"/>
              </a:rPr>
              <a:t>(which by Church's Thesis, could be a Turing machine, a recursive function, a general-purpose digital computer, etc.)</a:t>
            </a:r>
          </a:p>
          <a:p>
            <a:pPr algn="just"/>
            <a:r>
              <a:rPr lang="en-US" sz="2000" dirty="0">
                <a:latin typeface="Georgia" panose="02040502050405020303" pitchFamily="18" charset="0"/>
              </a:rPr>
              <a:t>A Turing machine is a theoretical model of computation, invented by Alan Turing, that manipulates symbols on a tape according to a set of </a:t>
            </a:r>
            <a:r>
              <a:rPr lang="en-US" sz="2000" dirty="0" smtClean="0">
                <a:latin typeface="Georgia" panose="02040502050405020303" pitchFamily="18" charset="0"/>
              </a:rPr>
              <a:t>rules</a:t>
            </a:r>
            <a:endParaRPr lang="en-IN" sz="2000" dirty="0" smtClean="0">
              <a:solidFill>
                <a:schemeClr val="accent4">
                  <a:lumMod val="75000"/>
                </a:schemeClr>
              </a:solidFill>
              <a:latin typeface="Georgia" panose="02040502050405020303" pitchFamily="18" charset="0"/>
            </a:endParaRPr>
          </a:p>
          <a:p>
            <a:pPr algn="just"/>
            <a:r>
              <a:rPr lang="en-US" sz="2000" dirty="0" smtClean="0">
                <a:latin typeface="Georgia" panose="02040502050405020303" pitchFamily="18" charset="0"/>
              </a:rPr>
              <a:t>The </a:t>
            </a:r>
            <a:r>
              <a:rPr lang="en-US" sz="2000" dirty="0">
                <a:latin typeface="Georgia" panose="02040502050405020303" pitchFamily="18" charset="0"/>
              </a:rPr>
              <a:t>machine starts in an initial state with an input on the tape. It then follows the rules, changing the tape and its state until it reaches a designated halting state. </a:t>
            </a:r>
            <a:endParaRPr lang="en-US" sz="2000" dirty="0" smtClean="0">
              <a:latin typeface="Georgia" panose="02040502050405020303" pitchFamily="18" charset="0"/>
            </a:endParaRPr>
          </a:p>
          <a:p>
            <a:pPr algn="just"/>
            <a:r>
              <a:rPr lang="en-US" sz="2000" dirty="0" smtClean="0">
                <a:latin typeface="Georgia" panose="02040502050405020303" pitchFamily="18" charset="0"/>
              </a:rPr>
              <a:t>Turing </a:t>
            </a:r>
            <a:r>
              <a:rPr lang="en-US" sz="2000" dirty="0">
                <a:latin typeface="Georgia" panose="02040502050405020303" pitchFamily="18" charset="0"/>
              </a:rPr>
              <a:t>machines can perform any computation that a modern computer can, making them a powerful tool for theoretical analysis. They are used to explore the limits of what is computable, and to demonstrate the existence of problems that have no algorithmic solution. </a:t>
            </a:r>
          </a:p>
          <a:p>
            <a:pPr marL="0" lvl="0" indent="0" eaLnBrk="0" fontAlgn="base" hangingPunct="0">
              <a:lnSpc>
                <a:spcPct val="100000"/>
              </a:lnSpc>
              <a:spcBef>
                <a:spcPct val="0"/>
              </a:spcBef>
              <a:spcAft>
                <a:spcPct val="0"/>
              </a:spcAft>
              <a:buClrTx/>
              <a:buSzTx/>
              <a:buNone/>
            </a:pPr>
            <a:endParaRPr lang="en-US" sz="2000" dirty="0">
              <a:solidFill>
                <a:schemeClr val="tx1"/>
              </a:solidFill>
              <a:latin typeface="Georgia" panose="02040502050405020303" pitchFamily="18" charset="0"/>
            </a:endParaRPr>
          </a:p>
          <a:p>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193281507"/>
      </p:ext>
    </p:extLst>
  </p:cSld>
  <p:clrMapOvr>
    <a:masterClrMapping/>
  </p:clrMapOvr>
  <p:transition>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25" y="36513"/>
            <a:ext cx="8080375" cy="990599"/>
          </a:xfrm>
        </p:spPr>
        <p:txBody>
          <a:bodyPr/>
          <a:lstStyle/>
          <a:p>
            <a:r>
              <a:rPr lang="en-IN" dirty="0"/>
              <a:t>Connectionist computational cognitive science</a:t>
            </a:r>
          </a:p>
        </p:txBody>
      </p:sp>
      <p:sp>
        <p:nvSpPr>
          <p:cNvPr id="3" name="Text Placeholder 2"/>
          <p:cNvSpPr>
            <a:spLocks noGrp="1"/>
          </p:cNvSpPr>
          <p:nvPr>
            <p:ph type="body" idx="1"/>
          </p:nvPr>
        </p:nvSpPr>
        <p:spPr>
          <a:xfrm>
            <a:off x="225425" y="1377517"/>
            <a:ext cx="8738466" cy="4351338"/>
          </a:xfrm>
        </p:spPr>
        <p:txBody>
          <a:bodyPr/>
          <a:lstStyle/>
          <a:p>
            <a:pPr algn="just"/>
            <a:r>
              <a:rPr lang="en-US" sz="2000" dirty="0">
                <a:latin typeface="Georgia" panose="02040502050405020303" pitchFamily="18" charset="0"/>
              </a:rPr>
              <a:t>The ``connectionist'' (or ``neural network'', or ``parallel distributed processing'') approach to artificial intelligence and computational cognitive science can be seen as one way for a system to (appear to) behave intelligently without being a ``symbol system'' and yet being computational. </a:t>
            </a:r>
            <a:endParaRPr lang="en-US" sz="2000" dirty="0" smtClean="0">
              <a:latin typeface="Georgia" panose="02040502050405020303" pitchFamily="18" charset="0"/>
            </a:endParaRPr>
          </a:p>
          <a:p>
            <a:pPr algn="just"/>
            <a:r>
              <a:rPr lang="en-US" sz="2000" dirty="0" smtClean="0">
                <a:latin typeface="Georgia" panose="02040502050405020303" pitchFamily="18" charset="0"/>
              </a:rPr>
              <a:t>On </a:t>
            </a:r>
            <a:r>
              <a:rPr lang="en-US" sz="2000" dirty="0">
                <a:latin typeface="Georgia" panose="02040502050405020303" pitchFamily="18" charset="0"/>
              </a:rPr>
              <a:t>this approach, large numbers of very simple processors (``nodes'') are connected in multiple ways by communication links of varying strengths. </a:t>
            </a:r>
            <a:endParaRPr lang="en-US" sz="2000" dirty="0" smtClean="0">
              <a:latin typeface="Georgia" panose="02040502050405020303" pitchFamily="18" charset="0"/>
            </a:endParaRPr>
          </a:p>
          <a:p>
            <a:pPr algn="just"/>
            <a:r>
              <a:rPr lang="en-US" sz="2000" dirty="0" smtClean="0">
                <a:latin typeface="Georgia" panose="02040502050405020303" pitchFamily="18" charset="0"/>
              </a:rPr>
              <a:t>Input </a:t>
            </a:r>
            <a:r>
              <a:rPr lang="en-US" sz="2000" dirty="0">
                <a:latin typeface="Georgia" panose="02040502050405020303" pitchFamily="18" charset="0"/>
              </a:rPr>
              <a:t>nodes receive information from the external world. </a:t>
            </a:r>
            <a:endParaRPr lang="en-US" sz="2000" dirty="0" smtClean="0">
              <a:latin typeface="Georgia" panose="02040502050405020303" pitchFamily="18" charset="0"/>
            </a:endParaRPr>
          </a:p>
          <a:p>
            <a:pPr algn="just"/>
            <a:r>
              <a:rPr lang="en-US" sz="2000" dirty="0" smtClean="0">
                <a:latin typeface="Georgia" panose="02040502050405020303" pitchFamily="18" charset="0"/>
              </a:rPr>
              <a:t>The </a:t>
            </a:r>
            <a:r>
              <a:rPr lang="en-US" sz="2000" dirty="0">
                <a:latin typeface="Georgia" panose="02040502050405020303" pitchFamily="18" charset="0"/>
              </a:rPr>
              <a:t>information is propagated along the links to and among intermediate (or ``hidden'') nodes, finally reaching output nodes</a:t>
            </a:r>
            <a:r>
              <a:rPr lang="en-US" sz="2000" dirty="0" smtClean="0">
                <a:latin typeface="Georgia" panose="02040502050405020303" pitchFamily="18" charset="0"/>
              </a:rPr>
              <a:t>.</a:t>
            </a:r>
          </a:p>
          <a:p>
            <a:pPr algn="just"/>
            <a:r>
              <a:rPr lang="en-US" sz="2000" dirty="0" smtClean="0">
                <a:latin typeface="Georgia" panose="02040502050405020303" pitchFamily="18" charset="0"/>
              </a:rPr>
              <a:t>If </a:t>
            </a:r>
            <a:r>
              <a:rPr lang="en-US" sz="2000" dirty="0">
                <a:latin typeface="Georgia" panose="02040502050405020303" pitchFamily="18" charset="0"/>
              </a:rPr>
              <a:t>the output is not what was expected (e.g., if it does not match a ``training set'' of sample input-output pairs), the strengths of the links are adjusted (by a variety of automatic techniques, such as ``back propagation'' and ``simulated annealing''). </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612718902"/>
      </p:ext>
    </p:extLst>
  </p:cSld>
  <p:clrMapOvr>
    <a:masterClrMapping/>
  </p:clrMapOvr>
  <p:transition>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95300" y="1516062"/>
            <a:ext cx="8468591" cy="4351338"/>
          </a:xfrm>
        </p:spPr>
        <p:txBody>
          <a:bodyPr/>
          <a:lstStyle/>
          <a:p>
            <a:pPr algn="just"/>
            <a:r>
              <a:rPr lang="en-US" sz="2400" dirty="0">
                <a:latin typeface="Georgia" panose="02040502050405020303" pitchFamily="18" charset="0"/>
              </a:rPr>
              <a:t>This process is repeated until the system ``settles down'' into a stable configuration that exhibits the desired (cognitive) behavior. </a:t>
            </a:r>
            <a:endParaRPr lang="en-US" sz="2400" dirty="0" smtClean="0">
              <a:latin typeface="Georgia" panose="02040502050405020303" pitchFamily="18" charset="0"/>
            </a:endParaRPr>
          </a:p>
          <a:p>
            <a:pPr algn="just"/>
            <a:r>
              <a:rPr lang="en-US" sz="2400" dirty="0" smtClean="0">
                <a:latin typeface="Georgia" panose="02040502050405020303" pitchFamily="18" charset="0"/>
              </a:rPr>
              <a:t>Connectionist </a:t>
            </a:r>
            <a:r>
              <a:rPr lang="en-US" sz="2400" dirty="0">
                <a:latin typeface="Georgia" panose="02040502050405020303" pitchFamily="18" charset="0"/>
              </a:rPr>
              <a:t>systems and techniques have been developed for </a:t>
            </a:r>
            <a:r>
              <a:rPr lang="en-US" sz="2400" dirty="0">
                <a:solidFill>
                  <a:srgbClr val="00B050"/>
                </a:solidFill>
                <a:latin typeface="Georgia" panose="02040502050405020303" pitchFamily="18" charset="0"/>
              </a:rPr>
              <a:t>learning features of natural language</a:t>
            </a:r>
            <a:r>
              <a:rPr lang="en-US" sz="2400" dirty="0">
                <a:latin typeface="Georgia" panose="02040502050405020303" pitchFamily="18" charset="0"/>
              </a:rPr>
              <a:t>, for </a:t>
            </a:r>
            <a:r>
              <a:rPr lang="en-US" sz="2400" dirty="0">
                <a:solidFill>
                  <a:srgbClr val="00B0F0"/>
                </a:solidFill>
                <a:latin typeface="Georgia" panose="02040502050405020303" pitchFamily="18" charset="0"/>
              </a:rPr>
              <a:t>aspects of visual perception</a:t>
            </a:r>
            <a:r>
              <a:rPr lang="en-US" sz="2400" dirty="0">
                <a:latin typeface="Georgia" panose="02040502050405020303" pitchFamily="18" charset="0"/>
              </a:rPr>
              <a:t>, and </a:t>
            </a:r>
            <a:r>
              <a:rPr lang="en-US" sz="2400" dirty="0">
                <a:solidFill>
                  <a:schemeClr val="accent4">
                    <a:lumMod val="75000"/>
                  </a:schemeClr>
                </a:solidFill>
                <a:latin typeface="Georgia" panose="02040502050405020303" pitchFamily="18" charset="0"/>
              </a:rPr>
              <a:t>for a number of other cognitive (as well as non-cognitive) phenomena</a:t>
            </a:r>
            <a:r>
              <a:rPr lang="en-US" sz="2400" dirty="0">
                <a:latin typeface="Georgia" panose="02040502050405020303" pitchFamily="18" charset="0"/>
              </a:rPr>
              <a:t>. </a:t>
            </a:r>
            <a:endParaRPr lang="en-US" sz="2400" dirty="0" smtClean="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512128732"/>
      </p:ext>
    </p:extLst>
  </p:cSld>
  <p:clrMapOvr>
    <a:masterClrMapping/>
  </p:clrMapOvr>
  <p:transition>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1562100" y="3236913"/>
            <a:ext cx="6019800" cy="993775"/>
          </a:xfrm>
          <a:prstGeom prst="rect">
            <a:avLst/>
          </a:prstGeom>
          <a:noFill/>
          <a:ln>
            <a:noFill/>
          </a:ln>
        </p:spPr>
        <p:txBody>
          <a:bodyPr spcFirstLastPara="1" wrap="square" lIns="90475" tIns="44450" rIns="90475" bIns="44450" anchor="ctr" anchorCtr="0">
            <a:noAutofit/>
          </a:bodyPr>
          <a:lstStyle/>
          <a:p>
            <a:pPr marL="0" lvl="0" indent="0" algn="ctr" rtl="0">
              <a:lnSpc>
                <a:spcPct val="90000"/>
              </a:lnSpc>
              <a:spcBef>
                <a:spcPts val="0"/>
              </a:spcBef>
              <a:spcAft>
                <a:spcPts val="0"/>
              </a:spcAft>
              <a:buNone/>
            </a:pPr>
            <a:r>
              <a:rPr lang="en-US"/>
              <a:t>Thank you</a:t>
            </a:r>
            <a:endParaRPr/>
          </a:p>
        </p:txBody>
      </p:sp>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a:solidFill>
                  <a:srgbClr val="FF0000"/>
                </a:solidFill>
                <a:latin typeface="Bell MT" panose="02020503060305020303" pitchFamily="18" charset="0"/>
              </a:rPr>
              <a:t>Cognitive </a:t>
            </a:r>
            <a:r>
              <a:rPr lang="en-IN" dirty="0" smtClean="0">
                <a:solidFill>
                  <a:srgbClr val="FF0000"/>
                </a:solidFill>
                <a:latin typeface="Bell MT" panose="02020503060305020303" pitchFamily="18" charset="0"/>
              </a:rPr>
              <a:t>Science </a:t>
            </a:r>
            <a:endParaRPr lang="en-IN" dirty="0">
              <a:solidFill>
                <a:srgbClr val="FF0000"/>
              </a:solidFill>
              <a:latin typeface="Bell MT" panose="02020503060305020303" pitchFamily="18" charset="0"/>
            </a:endParaRPr>
          </a:p>
        </p:txBody>
      </p:sp>
      <p:sp>
        <p:nvSpPr>
          <p:cNvPr id="6" name="Subtitle 5"/>
          <p:cNvSpPr>
            <a:spLocks noGrp="1"/>
          </p:cNvSpPr>
          <p:nvPr>
            <p:ph type="subTitle" idx="1"/>
          </p:nvPr>
        </p:nvSpPr>
        <p:spPr/>
        <p:txBody>
          <a:bodyPr/>
          <a:lstStyle/>
          <a:p>
            <a:r>
              <a:rPr lang="en-IN" sz="4000" b="1" dirty="0">
                <a:solidFill>
                  <a:schemeClr val="accent1">
                    <a:lumMod val="75000"/>
                  </a:schemeClr>
                </a:solidFill>
              </a:rPr>
              <a:t>Representation and Computation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802244045"/>
      </p:ext>
    </p:extLst>
  </p:cSld>
  <p:clrMapOvr>
    <a:masterClrMapping/>
  </p:clrMapOvr>
  <p:transition>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Representation and Computation</a:t>
            </a:r>
            <a:endParaRPr lang="en-IN" dirty="0"/>
          </a:p>
        </p:txBody>
      </p:sp>
      <p:sp>
        <p:nvSpPr>
          <p:cNvPr id="3" name="Text Placeholder 2"/>
          <p:cNvSpPr>
            <a:spLocks noGrp="1"/>
          </p:cNvSpPr>
          <p:nvPr>
            <p:ph type="body" idx="1"/>
          </p:nvPr>
        </p:nvSpPr>
        <p:spPr/>
        <p:txBody>
          <a:bodyPr/>
          <a:lstStyle/>
          <a:p>
            <a:pPr indent="-457200" algn="just">
              <a:lnSpc>
                <a:spcPct val="100000"/>
              </a:lnSpc>
              <a:spcBef>
                <a:spcPts val="800"/>
              </a:spcBef>
              <a:buClr>
                <a:srgbClr val="9999FF"/>
              </a:buClr>
              <a:buSzPct val="1000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dirty="0">
                <a:latin typeface="Georgia" panose="02040502050405020303" pitchFamily="18" charset="0"/>
              </a:rPr>
              <a:t>Central hypothesis of cognitive science</a:t>
            </a:r>
          </a:p>
          <a:p>
            <a:pPr marL="800100" lvl="1" indent="-342900" algn="just">
              <a:lnSpc>
                <a:spcPct val="100000"/>
              </a:lnSpc>
              <a:spcBef>
                <a:spcPts val="700"/>
              </a:spcBef>
              <a:buClr>
                <a:srgbClr val="CCCCFF"/>
              </a:buClr>
              <a:buSzPct val="500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dirty="0">
                <a:latin typeface="Georgia" panose="02040502050405020303" pitchFamily="18" charset="0"/>
              </a:rPr>
              <a:t>thinking can best be understood in terms of representational structures in the mind and computational procedures that operate on those structures. </a:t>
            </a:r>
          </a:p>
          <a:p>
            <a:pPr algn="just"/>
            <a:endParaRPr lang="en-IN"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187353070"/>
      </p:ext>
    </p:extLst>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Scnario</a:t>
            </a:r>
            <a:r>
              <a:rPr lang="en-IN" dirty="0" smtClean="0"/>
              <a:t> - Representation</a:t>
            </a:r>
            <a:endParaRPr lang="en-IN" dirty="0"/>
          </a:p>
        </p:txBody>
      </p:sp>
      <p:sp>
        <p:nvSpPr>
          <p:cNvPr id="3" name="Text Placeholder 2"/>
          <p:cNvSpPr>
            <a:spLocks noGrp="1"/>
          </p:cNvSpPr>
          <p:nvPr>
            <p:ph type="body" idx="1"/>
          </p:nvPr>
        </p:nvSpPr>
        <p:spPr>
          <a:xfrm>
            <a:off x="495300" y="1516062"/>
            <a:ext cx="8496300" cy="4351338"/>
          </a:xfrm>
        </p:spPr>
        <p:txBody>
          <a:bodyPr/>
          <a:lstStyle/>
          <a:p>
            <a:pPr algn="just"/>
            <a:r>
              <a:rPr lang="en-US" sz="2400" dirty="0">
                <a:latin typeface="Georgia" panose="02040502050405020303" pitchFamily="18" charset="0"/>
              </a:rPr>
              <a:t>Our experience of the world is not direct—it's a mental construction. What we perceive as reality is actually just a representation created by our minds based on incoming information. We don’t have access to the external world itself, only to our internal interpretation of it. This mental experience is the only reality we truly know</a:t>
            </a:r>
            <a:r>
              <a:rPr lang="en-US" sz="2400" dirty="0" smtClean="0">
                <a:latin typeface="Georgia" panose="02040502050405020303" pitchFamily="18" charset="0"/>
              </a:rPr>
              <a:t>.</a:t>
            </a:r>
          </a:p>
          <a:p>
            <a:pPr algn="just"/>
            <a:r>
              <a:rPr lang="en-US" sz="2400" dirty="0">
                <a:latin typeface="Georgia" panose="02040502050405020303" pitchFamily="18" charset="0"/>
              </a:rPr>
              <a:t>Mental representations are central to cognitive science because they shape how we experience reality.</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900589139"/>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a:xfrm>
            <a:off x="439881" y="1516062"/>
            <a:ext cx="8343900" cy="4351338"/>
          </a:xfrm>
        </p:spPr>
        <p:txBody>
          <a:bodyPr/>
          <a:lstStyle/>
          <a:p>
            <a:pPr algn="just"/>
            <a:r>
              <a:rPr lang="en-US" sz="2000" dirty="0">
                <a:latin typeface="Georgia" panose="02040502050405020303" pitchFamily="18" charset="0"/>
              </a:rPr>
              <a:t>Information is crucial to understanding how the mind works, especially through mental representations. Since we can't directly take objects from the outside world into our minds, we must translate them into information our brains can process. This process of filtering and translating external stimuli into internal formats is what mental representation is all about</a:t>
            </a:r>
            <a:r>
              <a:rPr lang="en-US" sz="2000" dirty="0" smtClean="0">
                <a:latin typeface="Georgia" panose="02040502050405020303" pitchFamily="18" charset="0"/>
              </a:rPr>
              <a:t>.</a:t>
            </a:r>
          </a:p>
          <a:p>
            <a:pPr algn="just"/>
            <a:r>
              <a:rPr lang="en-US" sz="2000" dirty="0">
                <a:latin typeface="Georgia" panose="02040502050405020303" pitchFamily="18" charset="0"/>
              </a:rPr>
              <a:t>Just like computers, our minds can't access the outside world directly. Instead, we translate external information into an internal format we can understand—similar to how computers encode data into binary. This encoding allows both computers and minds to represent and interact with real-world things. Mental representations, like computer data, share common properties and are essential for processing information.</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4192859483"/>
      </p:ext>
    </p:extLst>
  </p:cSld>
  <p:clrMapOvr>
    <a:masterClrMapping/>
  </p:clrMapOvr>
  <p:transition>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180111"/>
            <a:ext cx="8080375" cy="990599"/>
          </a:xfrm>
        </p:spPr>
        <p:txBody>
          <a:bodyPr/>
          <a:lstStyle/>
          <a:p>
            <a:r>
              <a:rPr lang="en-US" b="1" dirty="0"/>
              <a:t>Mental Representations</a:t>
            </a:r>
            <a:r>
              <a:rPr lang="en-US" b="1" dirty="0" smtClean="0"/>
              <a:t>:</a:t>
            </a:r>
            <a:endParaRPr lang="en-US" b="1" dirty="0"/>
          </a:p>
        </p:txBody>
      </p:sp>
      <p:sp>
        <p:nvSpPr>
          <p:cNvPr id="3" name="Text Placeholder 2"/>
          <p:cNvSpPr>
            <a:spLocks noGrp="1"/>
          </p:cNvSpPr>
          <p:nvPr>
            <p:ph type="body" idx="1"/>
          </p:nvPr>
        </p:nvSpPr>
        <p:spPr>
          <a:xfrm>
            <a:off x="495300" y="1516062"/>
            <a:ext cx="8648700" cy="4351338"/>
          </a:xfrm>
        </p:spPr>
        <p:txBody>
          <a:bodyPr/>
          <a:lstStyle/>
          <a:p>
            <a:pPr marL="50800" indent="0">
              <a:buNone/>
            </a:pPr>
            <a:r>
              <a:rPr lang="en-US" sz="2400" b="1" dirty="0" smtClean="0">
                <a:latin typeface="Georgia" panose="02040502050405020303" pitchFamily="18" charset="0"/>
              </a:rPr>
              <a:t>4 </a:t>
            </a:r>
            <a:r>
              <a:rPr lang="en-US" sz="2400" b="1" dirty="0">
                <a:latin typeface="Georgia" panose="02040502050405020303" pitchFamily="18" charset="0"/>
              </a:rPr>
              <a:t>Key Elements:</a:t>
            </a:r>
          </a:p>
          <a:p>
            <a:r>
              <a:rPr lang="en-US" sz="2400" b="1" dirty="0">
                <a:latin typeface="Georgia" panose="02040502050405020303" pitchFamily="18" charset="0"/>
              </a:rPr>
              <a:t>Referent</a:t>
            </a:r>
            <a:r>
              <a:rPr lang="en-US" sz="2400" dirty="0">
                <a:latin typeface="Georgia" panose="02040502050405020303" pitchFamily="18" charset="0"/>
              </a:rPr>
              <a:t>: The actual thing in the world being represented.</a:t>
            </a:r>
          </a:p>
          <a:p>
            <a:r>
              <a:rPr lang="en-US" sz="2400" b="1" dirty="0">
                <a:latin typeface="Georgia" panose="02040502050405020303" pitchFamily="18" charset="0"/>
              </a:rPr>
              <a:t>Bearer</a:t>
            </a:r>
            <a:r>
              <a:rPr lang="en-US" sz="2400" dirty="0">
                <a:latin typeface="Georgia" panose="02040502050405020303" pitchFamily="18" charset="0"/>
              </a:rPr>
              <a:t>: The person who holds the mental representation (you).</a:t>
            </a:r>
          </a:p>
          <a:p>
            <a:r>
              <a:rPr lang="en-US" sz="2400" b="1" dirty="0">
                <a:latin typeface="Georgia" panose="02040502050405020303" pitchFamily="18" charset="0"/>
              </a:rPr>
              <a:t>Content</a:t>
            </a:r>
            <a:r>
              <a:rPr lang="en-US" sz="2400" dirty="0">
                <a:latin typeface="Georgia" panose="02040502050405020303" pitchFamily="18" charset="0"/>
              </a:rPr>
              <a:t>: The information encoded in your mind about the referent.</a:t>
            </a:r>
          </a:p>
          <a:p>
            <a:r>
              <a:rPr lang="en-US" sz="2400" b="1" dirty="0">
                <a:latin typeface="Georgia" panose="02040502050405020303" pitchFamily="18" charset="0"/>
              </a:rPr>
              <a:t>Intentionality</a:t>
            </a:r>
            <a:r>
              <a:rPr lang="en-US" sz="2400" dirty="0">
                <a:latin typeface="Georgia" panose="02040502050405020303" pitchFamily="18" charset="0"/>
              </a:rPr>
              <a:t>: The relationship between the content in your mind and the referent in the world.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3627755140"/>
      </p:ext>
    </p:extLst>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95299" y="1516062"/>
            <a:ext cx="8510155" cy="4351338"/>
          </a:xfrm>
        </p:spPr>
        <p:txBody>
          <a:bodyPr/>
          <a:lstStyle/>
          <a:p>
            <a:pPr marL="50800" indent="0">
              <a:buNone/>
            </a:pPr>
            <a:r>
              <a:rPr lang="en-US" sz="2400" dirty="0">
                <a:latin typeface="Georgia" panose="02040502050405020303" pitchFamily="18" charset="0"/>
              </a:rPr>
              <a:t>Mental representation involves four key elements:</a:t>
            </a:r>
          </a:p>
          <a:p>
            <a:r>
              <a:rPr lang="en-US" sz="2400" b="1" dirty="0">
                <a:latin typeface="Georgia" panose="02040502050405020303" pitchFamily="18" charset="0"/>
              </a:rPr>
              <a:t>Referent</a:t>
            </a:r>
            <a:r>
              <a:rPr lang="en-US" sz="2400" dirty="0">
                <a:latin typeface="Georgia" panose="02040502050405020303" pitchFamily="18" charset="0"/>
              </a:rPr>
              <a:t> – the actual thing in the world being observed (e.g., a cat).</a:t>
            </a:r>
          </a:p>
          <a:p>
            <a:r>
              <a:rPr lang="en-US" sz="2400" b="1" dirty="0">
                <a:latin typeface="Georgia" panose="02040502050405020303" pitchFamily="18" charset="0"/>
              </a:rPr>
              <a:t>Bearer</a:t>
            </a:r>
            <a:r>
              <a:rPr lang="en-US" sz="2400" dirty="0">
                <a:latin typeface="Georgia" panose="02040502050405020303" pitchFamily="18" charset="0"/>
              </a:rPr>
              <a:t> – the person who holds the mental representation (e.g., you).</a:t>
            </a:r>
          </a:p>
          <a:p>
            <a:r>
              <a:rPr lang="en-US" sz="2400" b="1" dirty="0">
                <a:latin typeface="Georgia" panose="02040502050405020303" pitchFamily="18" charset="0"/>
              </a:rPr>
              <a:t>Content</a:t>
            </a:r>
            <a:r>
              <a:rPr lang="en-US" sz="2400" dirty="0">
                <a:latin typeface="Georgia" panose="02040502050405020303" pitchFamily="18" charset="0"/>
              </a:rPr>
              <a:t> – the information about the referent stored in the mind.</a:t>
            </a:r>
          </a:p>
          <a:p>
            <a:r>
              <a:rPr lang="en-US" sz="2400" b="1" dirty="0">
                <a:latin typeface="Georgia" panose="02040502050405020303" pitchFamily="18" charset="0"/>
              </a:rPr>
              <a:t>Intentionality</a:t>
            </a:r>
            <a:r>
              <a:rPr lang="en-US" sz="2400" dirty="0">
                <a:latin typeface="Georgia" panose="02040502050405020303" pitchFamily="18" charset="0"/>
              </a:rPr>
              <a:t> – the relationship between the content in the mind and the real-world referent; it's what connects the mental representation to what it represents.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extLst>
      <p:ext uri="{BB962C8B-B14F-4D97-AF65-F5344CB8AC3E}">
        <p14:creationId xmlns:p14="http://schemas.microsoft.com/office/powerpoint/2010/main" val="2584352387"/>
      </p:ext>
    </p:extLst>
  </p:cSld>
  <p:clrMapOvr>
    <a:masterClrMapping/>
  </p:clrMapOvr>
  <p:transition>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36513"/>
            <a:ext cx="8080375" cy="990599"/>
          </a:xfrm>
        </p:spPr>
        <p:txBody>
          <a:bodyPr/>
          <a:lstStyle/>
          <a:p>
            <a:r>
              <a:rPr lang="en-US" b="1" dirty="0"/>
              <a:t>Mind as an Information Processor</a:t>
            </a:r>
          </a:p>
        </p:txBody>
      </p:sp>
      <p:sp>
        <p:nvSpPr>
          <p:cNvPr id="3" name="Text Placeholder 2"/>
          <p:cNvSpPr>
            <a:spLocks noGrp="1"/>
          </p:cNvSpPr>
          <p:nvPr>
            <p:ph type="body" idx="1"/>
          </p:nvPr>
        </p:nvSpPr>
        <p:spPr/>
        <p:txBody>
          <a:bodyPr/>
          <a:lstStyle/>
          <a:p>
            <a:pPr marL="50800" indent="0" algn="just">
              <a:buNone/>
            </a:pPr>
            <a:r>
              <a:rPr lang="en-US" sz="2400" dirty="0" smtClean="0">
                <a:latin typeface="Georgia" panose="02040502050405020303" pitchFamily="18" charset="0"/>
              </a:rPr>
              <a:t>Like </a:t>
            </a:r>
            <a:r>
              <a:rPr lang="en-US" sz="2400" dirty="0">
                <a:latin typeface="Georgia" panose="02040502050405020303" pitchFamily="18" charset="0"/>
              </a:rPr>
              <a:t>a computer:</a:t>
            </a:r>
          </a:p>
          <a:p>
            <a:pPr algn="just"/>
            <a:r>
              <a:rPr lang="en-US" sz="2400" b="1" dirty="0">
                <a:latin typeface="Georgia" panose="02040502050405020303" pitchFamily="18" charset="0"/>
              </a:rPr>
              <a:t>Takes input</a:t>
            </a:r>
            <a:r>
              <a:rPr lang="en-US" sz="2400" dirty="0">
                <a:latin typeface="Georgia" panose="02040502050405020303" pitchFamily="18" charset="0"/>
              </a:rPr>
              <a:t> from the outside world (via senses)</a:t>
            </a:r>
          </a:p>
          <a:p>
            <a:pPr algn="just"/>
            <a:r>
              <a:rPr lang="en-US" sz="2400" b="1" dirty="0">
                <a:latin typeface="Georgia" panose="02040502050405020303" pitchFamily="18" charset="0"/>
              </a:rPr>
              <a:t>Encodes</a:t>
            </a:r>
            <a:r>
              <a:rPr lang="en-US" sz="2400" dirty="0">
                <a:latin typeface="Georgia" panose="02040502050405020303" pitchFamily="18" charset="0"/>
              </a:rPr>
              <a:t> it into a format it can understand (mental representations)</a:t>
            </a:r>
          </a:p>
          <a:p>
            <a:pPr algn="just"/>
            <a:r>
              <a:rPr lang="en-US" sz="2400" b="1" dirty="0">
                <a:latin typeface="Georgia" panose="02040502050405020303" pitchFamily="18" charset="0"/>
              </a:rPr>
              <a:t>Outputs</a:t>
            </a:r>
            <a:r>
              <a:rPr lang="en-US" sz="2400" dirty="0">
                <a:latin typeface="Georgia" panose="02040502050405020303" pitchFamily="18" charset="0"/>
              </a:rPr>
              <a:t> an experience or response.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2722386243"/>
      </p:ext>
    </p:extLst>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138546"/>
            <a:ext cx="8080375" cy="990599"/>
          </a:xfrm>
        </p:spPr>
        <p:txBody>
          <a:bodyPr/>
          <a:lstStyle/>
          <a:p>
            <a:r>
              <a:rPr lang="en-IN" b="1" dirty="0"/>
              <a:t>Mental Representations Overview</a:t>
            </a:r>
            <a:endParaRPr lang="en-IN" dirty="0"/>
          </a:p>
        </p:txBody>
      </p:sp>
      <p:sp>
        <p:nvSpPr>
          <p:cNvPr id="3" name="Text Placeholder 2"/>
          <p:cNvSpPr>
            <a:spLocks noGrp="1"/>
          </p:cNvSpPr>
          <p:nvPr>
            <p:ph type="body" idx="1"/>
          </p:nvPr>
        </p:nvSpPr>
        <p:spPr>
          <a:xfrm>
            <a:off x="573232" y="1567078"/>
            <a:ext cx="7886700" cy="4351338"/>
          </a:xfrm>
        </p:spPr>
        <p:txBody>
          <a:bodyPr/>
          <a:lstStyle/>
          <a:p>
            <a:pPr lvl="0" algn="just"/>
            <a:r>
              <a:rPr lang="en-IN" sz="2400" dirty="0" smtClean="0">
                <a:latin typeface="Georgia" panose="02040502050405020303" pitchFamily="18" charset="0"/>
              </a:rPr>
              <a:t>Mental </a:t>
            </a:r>
            <a:r>
              <a:rPr lang="en-IN" sz="2400" dirty="0">
                <a:latin typeface="Georgia" panose="02040502050405020303" pitchFamily="18" charset="0"/>
              </a:rPr>
              <a:t>representations are how we internally process and store information about the external world.</a:t>
            </a:r>
          </a:p>
          <a:p>
            <a:pPr lvl="0" algn="just"/>
            <a:r>
              <a:rPr lang="en-IN" sz="2400" dirty="0">
                <a:latin typeface="Georgia" panose="02040502050405020303" pitchFamily="18" charset="0"/>
              </a:rPr>
              <a:t>These representations can take different forms: </a:t>
            </a:r>
            <a:r>
              <a:rPr lang="en-IN" sz="2400" b="1" dirty="0">
                <a:latin typeface="Georgia" panose="02040502050405020303" pitchFamily="18" charset="0"/>
              </a:rPr>
              <a:t>imagistic</a:t>
            </a:r>
            <a:r>
              <a:rPr lang="en-IN" sz="2400" dirty="0">
                <a:latin typeface="Georgia" panose="02040502050405020303" pitchFamily="18" charset="0"/>
              </a:rPr>
              <a:t>, </a:t>
            </a:r>
            <a:r>
              <a:rPr lang="en-IN" sz="2400" b="1" dirty="0">
                <a:latin typeface="Georgia" panose="02040502050405020303" pitchFamily="18" charset="0"/>
              </a:rPr>
              <a:t>propositional</a:t>
            </a:r>
            <a:r>
              <a:rPr lang="en-IN" sz="2400" dirty="0">
                <a:latin typeface="Georgia" panose="02040502050405020303" pitchFamily="18" charset="0"/>
              </a:rPr>
              <a:t>, and </a:t>
            </a:r>
            <a:r>
              <a:rPr lang="en-IN" sz="2400" b="1" dirty="0">
                <a:latin typeface="Georgia" panose="02040502050405020303" pitchFamily="18" charset="0"/>
              </a:rPr>
              <a:t>symbolic</a:t>
            </a:r>
            <a:r>
              <a:rPr lang="en-IN" sz="2400" dirty="0">
                <a:latin typeface="Georgia" panose="02040502050405020303" pitchFamily="18" charset="0"/>
              </a:rPr>
              <a:t>.</a:t>
            </a:r>
          </a:p>
          <a:p>
            <a:pPr lvl="0" algn="just"/>
            <a:r>
              <a:rPr lang="en-IN" sz="2400" dirty="0">
                <a:latin typeface="Georgia" panose="02040502050405020303" pitchFamily="18" charset="0"/>
              </a:rPr>
              <a:t>We use mental representations to </a:t>
            </a:r>
            <a:r>
              <a:rPr lang="en-IN" sz="2400" b="1" dirty="0">
                <a:latin typeface="Georgia" panose="02040502050405020303" pitchFamily="18" charset="0"/>
              </a:rPr>
              <a:t>navigate</a:t>
            </a:r>
            <a:r>
              <a:rPr lang="en-IN" sz="2400" dirty="0">
                <a:latin typeface="Georgia" panose="02040502050405020303" pitchFamily="18" charset="0"/>
              </a:rPr>
              <a:t>, </a:t>
            </a:r>
            <a:r>
              <a:rPr lang="en-IN" sz="2400" b="1" dirty="0">
                <a:latin typeface="Georgia" panose="02040502050405020303" pitchFamily="18" charset="0"/>
              </a:rPr>
              <a:t>reason</a:t>
            </a:r>
            <a:r>
              <a:rPr lang="en-IN" sz="2400" dirty="0">
                <a:latin typeface="Georgia" panose="02040502050405020303" pitchFamily="18" charset="0"/>
              </a:rPr>
              <a:t>, </a:t>
            </a:r>
            <a:r>
              <a:rPr lang="en-IN" sz="2400" b="1" dirty="0">
                <a:latin typeface="Georgia" panose="02040502050405020303" pitchFamily="18" charset="0"/>
              </a:rPr>
              <a:t>recall</a:t>
            </a:r>
            <a:r>
              <a:rPr lang="en-IN" sz="2400" dirty="0">
                <a:latin typeface="Georgia" panose="02040502050405020303" pitchFamily="18" charset="0"/>
              </a:rPr>
              <a:t>, and </a:t>
            </a:r>
            <a:r>
              <a:rPr lang="en-IN" sz="2400" b="1" dirty="0">
                <a:latin typeface="Georgia" panose="02040502050405020303" pitchFamily="18" charset="0"/>
              </a:rPr>
              <a:t>imagine</a:t>
            </a:r>
            <a:r>
              <a:rPr lang="en-IN" sz="2400" dirty="0">
                <a:latin typeface="Georgia" panose="02040502050405020303" pitchFamily="18" charset="0"/>
              </a:rPr>
              <a:t> aspects of the world.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extLst>
      <p:ext uri="{BB962C8B-B14F-4D97-AF65-F5344CB8AC3E}">
        <p14:creationId xmlns:p14="http://schemas.microsoft.com/office/powerpoint/2010/main" val="3739727009"/>
      </p:ext>
    </p:extLst>
  </p:cSld>
  <p:clrMapOvr>
    <a:masterClrMapping/>
  </p:clrMapOvr>
  <p:transition>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61" y="36513"/>
            <a:ext cx="8080375" cy="990599"/>
          </a:xfrm>
        </p:spPr>
        <p:txBody>
          <a:bodyPr/>
          <a:lstStyle/>
          <a:p>
            <a:r>
              <a:rPr lang="en-IN" b="1" dirty="0"/>
              <a:t>Example: Representing New York City</a:t>
            </a:r>
            <a:endParaRPr lang="en-IN" sz="4000" dirty="0"/>
          </a:p>
        </p:txBody>
      </p:sp>
      <p:sp>
        <p:nvSpPr>
          <p:cNvPr id="3" name="Text Placeholder 2"/>
          <p:cNvSpPr>
            <a:spLocks noGrp="1"/>
          </p:cNvSpPr>
          <p:nvPr>
            <p:ph type="body" idx="1"/>
          </p:nvPr>
        </p:nvSpPr>
        <p:spPr/>
        <p:txBody>
          <a:bodyPr/>
          <a:lstStyle/>
          <a:p>
            <a:pPr lvl="0" algn="just"/>
            <a:r>
              <a:rPr lang="en-IN" sz="2400" dirty="0" smtClean="0">
                <a:latin typeface="Georgia" panose="02040502050405020303" pitchFamily="18" charset="0"/>
              </a:rPr>
              <a:t>We </a:t>
            </a:r>
            <a:r>
              <a:rPr lang="en-IN" sz="2400" dirty="0">
                <a:latin typeface="Georgia" panose="02040502050405020303" pitchFamily="18" charset="0"/>
              </a:rPr>
              <a:t>represent familiar places like NYC in different ways:</a:t>
            </a:r>
          </a:p>
          <a:p>
            <a:pPr lvl="1" algn="just"/>
            <a:r>
              <a:rPr lang="en-IN" b="1" dirty="0">
                <a:latin typeface="Georgia" panose="02040502050405020303" pitchFamily="18" charset="0"/>
              </a:rPr>
              <a:t>Spatial (imagistic)</a:t>
            </a:r>
            <a:r>
              <a:rPr lang="en-IN" dirty="0">
                <a:latin typeface="Georgia" panose="02040502050405020303" pitchFamily="18" charset="0"/>
              </a:rPr>
              <a:t>: Street maps or subway maps.</a:t>
            </a:r>
          </a:p>
          <a:p>
            <a:pPr lvl="1" algn="just"/>
            <a:r>
              <a:rPr lang="en-IN" b="1" dirty="0">
                <a:latin typeface="Georgia" panose="02040502050405020303" pitchFamily="18" charset="0"/>
              </a:rPr>
              <a:t>Iconic (imagistic)</a:t>
            </a:r>
            <a:r>
              <a:rPr lang="en-IN" dirty="0">
                <a:latin typeface="Georgia" panose="02040502050405020303" pitchFamily="18" charset="0"/>
              </a:rPr>
              <a:t>: Visual landmarks (Empire State Building, Central Park).</a:t>
            </a:r>
          </a:p>
          <a:p>
            <a:pPr lvl="1" algn="just"/>
            <a:r>
              <a:rPr lang="en-IN" b="1" dirty="0">
                <a:latin typeface="Georgia" panose="02040502050405020303" pitchFamily="18" charset="0"/>
              </a:rPr>
              <a:t>Propositional</a:t>
            </a:r>
            <a:r>
              <a:rPr lang="en-IN" dirty="0">
                <a:latin typeface="Georgia" panose="02040502050405020303" pitchFamily="18" charset="0"/>
              </a:rPr>
              <a:t>: Facts and statements (e.g., “NYC has five boroughs”).</a:t>
            </a:r>
          </a:p>
          <a:p>
            <a:pPr lvl="1" algn="just"/>
            <a:r>
              <a:rPr lang="en-IN" b="1" dirty="0">
                <a:latin typeface="Georgia" panose="02040502050405020303" pitchFamily="18" charset="0"/>
              </a:rPr>
              <a:t>Symbolic</a:t>
            </a:r>
            <a:r>
              <a:rPr lang="en-IN" dirty="0">
                <a:latin typeface="Georgia" panose="02040502050405020303" pitchFamily="18" charset="0"/>
              </a:rPr>
              <a:t>: Symbols (e.g., Statue of Liberty as a symbol of freedom).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1835065703"/>
      </p:ext>
    </p:extLst>
  </p:cSld>
  <p:clrMapOvr>
    <a:masterClrMapping/>
  </p:clrMapOvr>
  <p:transition>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Imagistic Representation</a:t>
            </a:r>
            <a:endParaRPr lang="en-IN" dirty="0"/>
          </a:p>
        </p:txBody>
      </p:sp>
      <p:sp>
        <p:nvSpPr>
          <p:cNvPr id="3" name="Text Placeholder 2"/>
          <p:cNvSpPr>
            <a:spLocks noGrp="1"/>
          </p:cNvSpPr>
          <p:nvPr>
            <p:ph type="body" idx="1"/>
          </p:nvPr>
        </p:nvSpPr>
        <p:spPr/>
        <p:txBody>
          <a:bodyPr/>
          <a:lstStyle/>
          <a:p>
            <a:pPr lvl="0" algn="just"/>
            <a:r>
              <a:rPr lang="en-IN" sz="2400" dirty="0" smtClean="0">
                <a:latin typeface="Georgia" panose="02040502050405020303" pitchFamily="18" charset="0"/>
              </a:rPr>
              <a:t>Involves </a:t>
            </a:r>
            <a:r>
              <a:rPr lang="en-IN" sz="2400" dirty="0">
                <a:latin typeface="Georgia" panose="02040502050405020303" pitchFamily="18" charset="0"/>
              </a:rPr>
              <a:t>mental images or “seeing with the mind’s eye.”</a:t>
            </a:r>
          </a:p>
          <a:p>
            <a:pPr lvl="0" algn="just"/>
            <a:r>
              <a:rPr lang="en-IN" sz="2400" dirty="0">
                <a:latin typeface="Georgia" panose="02040502050405020303" pitchFamily="18" charset="0"/>
              </a:rPr>
              <a:t>These images can have varying </a:t>
            </a:r>
            <a:r>
              <a:rPr lang="en-IN" sz="2400" b="1" dirty="0">
                <a:latin typeface="Georgia" panose="02040502050405020303" pitchFamily="18" charset="0"/>
              </a:rPr>
              <a:t>degrees of isomorphism</a:t>
            </a:r>
            <a:r>
              <a:rPr lang="en-IN" sz="2400" dirty="0">
                <a:latin typeface="Georgia" panose="02040502050405020303" pitchFamily="18" charset="0"/>
              </a:rPr>
              <a:t> (accuracy to the real world).</a:t>
            </a:r>
          </a:p>
          <a:p>
            <a:pPr lvl="0" algn="just"/>
            <a:r>
              <a:rPr lang="en-IN" sz="2400" dirty="0">
                <a:latin typeface="Georgia" panose="02040502050405020303" pitchFamily="18" charset="0"/>
              </a:rPr>
              <a:t>People often mentally </a:t>
            </a:r>
            <a:r>
              <a:rPr lang="en-IN" sz="2400" b="1" dirty="0">
                <a:latin typeface="Georgia" panose="02040502050405020303" pitchFamily="18" charset="0"/>
              </a:rPr>
              <a:t>rotate images</a:t>
            </a:r>
            <a:r>
              <a:rPr lang="en-IN" sz="2400" dirty="0">
                <a:latin typeface="Georgia" panose="02040502050405020303" pitchFamily="18" charset="0"/>
              </a:rPr>
              <a:t> to recognize shapes or match objects.</a:t>
            </a:r>
          </a:p>
          <a:p>
            <a:pPr algn="just"/>
            <a:r>
              <a:rPr lang="en-IN" sz="2400" dirty="0">
                <a:latin typeface="Georgia" panose="02040502050405020303" pitchFamily="18" charset="0"/>
              </a:rPr>
              <a:t>Some people have </a:t>
            </a:r>
            <a:r>
              <a:rPr lang="en-IN" sz="2400" b="1" dirty="0">
                <a:latin typeface="Georgia" panose="02040502050405020303" pitchFamily="18" charset="0"/>
              </a:rPr>
              <a:t>no mental imagery</a:t>
            </a:r>
            <a:r>
              <a:rPr lang="en-IN" sz="2400" dirty="0">
                <a:latin typeface="Georgia" panose="02040502050405020303" pitchFamily="18" charset="0"/>
              </a:rPr>
              <a:t> at all—a condition known as </a:t>
            </a:r>
            <a:r>
              <a:rPr lang="en-IN" sz="2400" b="1" dirty="0" err="1">
                <a:latin typeface="Georgia" panose="02040502050405020303" pitchFamily="18" charset="0"/>
              </a:rPr>
              <a:t>aphantasia</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3734620725"/>
      </p:ext>
    </p:extLst>
  </p:cSld>
  <p:clrMapOvr>
    <a:masterClrMapping/>
  </p:clrMapOvr>
  <p:transition>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Propositional Representation</a:t>
            </a:r>
            <a:endParaRPr lang="en-IN" dirty="0"/>
          </a:p>
        </p:txBody>
      </p:sp>
      <p:sp>
        <p:nvSpPr>
          <p:cNvPr id="3" name="Text Placeholder 2"/>
          <p:cNvSpPr>
            <a:spLocks noGrp="1"/>
          </p:cNvSpPr>
          <p:nvPr>
            <p:ph type="body" idx="1"/>
          </p:nvPr>
        </p:nvSpPr>
        <p:spPr/>
        <p:txBody>
          <a:bodyPr/>
          <a:lstStyle/>
          <a:p>
            <a:pPr lvl="0" algn="just"/>
            <a:r>
              <a:rPr lang="en-IN" sz="2400" dirty="0" smtClean="0">
                <a:latin typeface="Georgia" panose="02040502050405020303" pitchFamily="18" charset="0"/>
              </a:rPr>
              <a:t>Encodes </a:t>
            </a:r>
            <a:r>
              <a:rPr lang="en-IN" sz="2400" dirty="0">
                <a:latin typeface="Georgia" panose="02040502050405020303" pitchFamily="18" charset="0"/>
              </a:rPr>
              <a:t>knowledge in the form of </a:t>
            </a:r>
            <a:r>
              <a:rPr lang="en-IN" sz="2400" b="1" dirty="0">
                <a:latin typeface="Georgia" panose="02040502050405020303" pitchFamily="18" charset="0"/>
              </a:rPr>
              <a:t>sentences or facts</a:t>
            </a:r>
            <a:r>
              <a:rPr lang="en-IN" sz="2400" dirty="0">
                <a:latin typeface="Georgia" panose="02040502050405020303" pitchFamily="18" charset="0"/>
              </a:rPr>
              <a:t>.</a:t>
            </a:r>
          </a:p>
          <a:p>
            <a:pPr lvl="0" algn="just"/>
            <a:r>
              <a:rPr lang="en-IN" sz="2400" dirty="0">
                <a:latin typeface="Georgia" panose="02040502050405020303" pitchFamily="18" charset="0"/>
              </a:rPr>
              <a:t>Useful for representing </a:t>
            </a:r>
            <a:r>
              <a:rPr lang="en-IN" sz="2400" b="1" dirty="0">
                <a:latin typeface="Georgia" panose="02040502050405020303" pitchFamily="18" charset="0"/>
              </a:rPr>
              <a:t>non-visual concepts</a:t>
            </a:r>
            <a:r>
              <a:rPr lang="en-IN" sz="2400" dirty="0">
                <a:latin typeface="Georgia" panose="02040502050405020303" pitchFamily="18" charset="0"/>
              </a:rPr>
              <a:t> (e.g., “Democracy is a representative government”).</a:t>
            </a:r>
          </a:p>
          <a:p>
            <a:pPr lvl="0" algn="just"/>
            <a:r>
              <a:rPr lang="en-IN" sz="2400" dirty="0">
                <a:latin typeface="Georgia" panose="02040502050405020303" pitchFamily="18" charset="0"/>
              </a:rPr>
              <a:t>Has </a:t>
            </a:r>
            <a:r>
              <a:rPr lang="en-IN" sz="2400" b="1" dirty="0">
                <a:latin typeface="Georgia" panose="02040502050405020303" pitchFamily="18" charset="0"/>
              </a:rPr>
              <a:t>truth value</a:t>
            </a:r>
            <a:r>
              <a:rPr lang="en-IN" sz="2400" dirty="0">
                <a:latin typeface="Georgia" panose="02040502050405020303" pitchFamily="18" charset="0"/>
              </a:rPr>
              <a:t> (can be true or false) and </a:t>
            </a:r>
            <a:r>
              <a:rPr lang="en-IN" sz="2400" b="1" dirty="0">
                <a:latin typeface="Georgia" panose="02040502050405020303" pitchFamily="18" charset="0"/>
              </a:rPr>
              <a:t>logical structure</a:t>
            </a:r>
            <a:r>
              <a:rPr lang="en-IN" sz="2400" dirty="0">
                <a:latin typeface="Georgia" panose="02040502050405020303" pitchFamily="18" charset="0"/>
              </a:rPr>
              <a:t>.</a:t>
            </a:r>
          </a:p>
          <a:p>
            <a:pPr lvl="0" algn="just"/>
            <a:r>
              <a:rPr lang="en-IN" sz="2400" dirty="0">
                <a:latin typeface="Georgia" panose="02040502050405020303" pitchFamily="18" charset="0"/>
              </a:rPr>
              <a:t>Allows for </a:t>
            </a:r>
            <a:r>
              <a:rPr lang="en-IN" sz="2400" b="1" dirty="0">
                <a:latin typeface="Georgia" panose="02040502050405020303" pitchFamily="18" charset="0"/>
              </a:rPr>
              <a:t>counterfactual thinking</a:t>
            </a:r>
            <a:r>
              <a:rPr lang="en-IN" sz="2400" dirty="0">
                <a:latin typeface="Georgia" panose="02040502050405020303" pitchFamily="18" charset="0"/>
              </a:rPr>
              <a:t> (e.g., imagining alternative realities or hypothetical scenarios).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3235159335"/>
      </p:ext>
    </p:extLst>
  </p:cSld>
  <p:clrMapOvr>
    <a:masterClrMapping/>
  </p:clrMapOvr>
  <p:transition>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Symbolic Representation</a:t>
            </a:r>
          </a:p>
        </p:txBody>
      </p:sp>
      <p:sp>
        <p:nvSpPr>
          <p:cNvPr id="3" name="Text Placeholder 2"/>
          <p:cNvSpPr>
            <a:spLocks noGrp="1"/>
          </p:cNvSpPr>
          <p:nvPr>
            <p:ph type="body" idx="1"/>
          </p:nvPr>
        </p:nvSpPr>
        <p:spPr/>
        <p:txBody>
          <a:bodyPr/>
          <a:lstStyle/>
          <a:p>
            <a:pPr indent="-4572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ea typeface="Times New Roman" panose="02020603050405020304" pitchFamily="18" charset="0"/>
                <a:cs typeface="Times New Roman" panose="02020603050405020304" pitchFamily="18" charset="0"/>
              </a:rPr>
              <a:t>Uses </a:t>
            </a:r>
            <a:r>
              <a:rPr lang="en-US" sz="2400" b="1"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symbols</a:t>
            </a:r>
            <a:r>
              <a:rPr lang="en-US" sz="2400"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 to represent concepts (e.g., “$” for money</a:t>
            </a:r>
            <a:r>
              <a:rPr lang="en-US" sz="2400" dirty="0" smtClean="0">
                <a:solidFill>
                  <a:schemeClr val="tx1"/>
                </a:solidFill>
                <a:latin typeface="Georgia" panose="02040502050405020303" pitchFamily="18" charset="0"/>
                <a:ea typeface="Times New Roman" panose="02020603050405020304" pitchFamily="18" charset="0"/>
                <a:cs typeface="Times New Roman" panose="02020603050405020304" pitchFamily="18" charset="0"/>
              </a:rPr>
              <a:t>).</a:t>
            </a:r>
            <a:endParaRPr lang="en-US" sz="2400" dirty="0" smtClean="0">
              <a:solidFill>
                <a:schemeClr val="tx1"/>
              </a:solidFill>
              <a:latin typeface="Georgia" panose="02040502050405020303" pitchFamily="18" charset="0"/>
              <a:ea typeface="Calibri" panose="020F0502020204030204" pitchFamily="34" charset="0"/>
              <a:cs typeface="Times New Roman" panose="02020603050405020304" pitchFamily="18" charset="0"/>
            </a:endParaRPr>
          </a:p>
          <a:p>
            <a:pPr indent="-4572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ea typeface="Times New Roman" panose="02020603050405020304" pitchFamily="18" charset="0"/>
                <a:cs typeface="Times New Roman" panose="02020603050405020304" pitchFamily="18" charset="0"/>
              </a:rPr>
              <a:t>Based </a:t>
            </a:r>
            <a:r>
              <a:rPr lang="en-US" sz="2400"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on </a:t>
            </a:r>
            <a:r>
              <a:rPr lang="en-US" sz="2400" b="1"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convention</a:t>
            </a:r>
            <a:r>
              <a:rPr lang="en-US" sz="2400"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 not visual or factual </a:t>
            </a:r>
            <a:r>
              <a:rPr lang="en-US" sz="2400" dirty="0" smtClean="0">
                <a:solidFill>
                  <a:schemeClr val="tx1"/>
                </a:solidFill>
                <a:latin typeface="Georgia" panose="02040502050405020303" pitchFamily="18" charset="0"/>
                <a:ea typeface="Times New Roman" panose="02020603050405020304" pitchFamily="18" charset="0"/>
                <a:cs typeface="Times New Roman" panose="02020603050405020304" pitchFamily="18" charset="0"/>
              </a:rPr>
              <a:t>description.</a:t>
            </a:r>
            <a:endParaRPr lang="en-US" sz="2400" dirty="0" smtClean="0">
              <a:solidFill>
                <a:schemeClr val="tx1"/>
              </a:solidFill>
              <a:latin typeface="Georgia" panose="02040502050405020303" pitchFamily="18" charset="0"/>
              <a:ea typeface="Calibri" panose="020F0502020204030204" pitchFamily="34" charset="0"/>
              <a:cs typeface="Times New Roman" panose="02020603050405020304" pitchFamily="18" charset="0"/>
            </a:endParaRPr>
          </a:p>
          <a:p>
            <a:pPr indent="-4572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ea typeface="Times New Roman" panose="02020603050405020304" pitchFamily="18" charset="0"/>
                <a:cs typeface="Times New Roman" panose="02020603050405020304" pitchFamily="18" charset="0"/>
              </a:rPr>
              <a:t>More </a:t>
            </a:r>
            <a:r>
              <a:rPr lang="en-US" sz="2400" dirty="0">
                <a:solidFill>
                  <a:schemeClr val="tx1"/>
                </a:solidFill>
                <a:latin typeface="Georgia" panose="02040502050405020303" pitchFamily="18" charset="0"/>
                <a:ea typeface="Times New Roman" panose="02020603050405020304" pitchFamily="18" charset="0"/>
                <a:cs typeface="Times New Roman" panose="02020603050405020304" pitchFamily="18" charset="0"/>
              </a:rPr>
              <a:t>abstract and detached from physical form than other types.</a:t>
            </a:r>
            <a:endParaRPr lang="en-US" sz="2400" dirty="0">
              <a:solidFill>
                <a:schemeClr val="tx1"/>
              </a:solidFill>
              <a:latin typeface="Georgia" panose="02040502050405020303" pitchFamily="18" charset="0"/>
            </a:endParaRPr>
          </a:p>
          <a:p>
            <a:pPr marL="0" lvl="0" indent="0" algn="just" eaLnBrk="0" fontAlgn="base" hangingPunct="0">
              <a:lnSpc>
                <a:spcPct val="100000"/>
              </a:lnSpc>
              <a:spcBef>
                <a:spcPct val="0"/>
              </a:spcBef>
              <a:spcAft>
                <a:spcPct val="0"/>
              </a:spcAft>
              <a:buClrTx/>
              <a:buSzTx/>
              <a:buNone/>
            </a:pPr>
            <a:endParaRPr lang="en-US" sz="2400" dirty="0">
              <a:solidFill>
                <a:schemeClr val="tx1"/>
              </a:solidFill>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extLst>
      <p:ext uri="{BB962C8B-B14F-4D97-AF65-F5344CB8AC3E}">
        <p14:creationId xmlns:p14="http://schemas.microsoft.com/office/powerpoint/2010/main" val="1618158908"/>
      </p:ext>
    </p:extLst>
  </p:cSld>
  <p:clrMapOvr>
    <a:masterClrMapping/>
  </p:clrMapOvr>
  <p:transition>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36513"/>
            <a:ext cx="8080375" cy="990599"/>
          </a:xfrm>
        </p:spPr>
        <p:txBody>
          <a:bodyPr/>
          <a:lstStyle/>
          <a:p>
            <a:r>
              <a:rPr lang="en-IN" b="1" dirty="0"/>
              <a:t>Digital vs. </a:t>
            </a:r>
            <a:r>
              <a:rPr lang="en-IN" b="1" dirty="0" err="1"/>
              <a:t>Analog</a:t>
            </a:r>
            <a:r>
              <a:rPr lang="en-IN" b="1" dirty="0"/>
              <a:t> Representations</a:t>
            </a:r>
            <a:endParaRPr lang="en-IN" dirty="0"/>
          </a:p>
        </p:txBody>
      </p:sp>
      <p:sp>
        <p:nvSpPr>
          <p:cNvPr id="3" name="Text Placeholder 2"/>
          <p:cNvSpPr>
            <a:spLocks noGrp="1"/>
          </p:cNvSpPr>
          <p:nvPr>
            <p:ph type="body" idx="1"/>
          </p:nvPr>
        </p:nvSpPr>
        <p:spPr/>
        <p:txBody>
          <a:bodyPr/>
          <a:lstStyle/>
          <a:p>
            <a:pPr lvl="0" algn="just"/>
            <a:r>
              <a:rPr lang="en-IN" sz="2400" b="1" dirty="0" smtClean="0">
                <a:latin typeface="Georgia" panose="02040502050405020303" pitchFamily="18" charset="0"/>
              </a:rPr>
              <a:t>Digital</a:t>
            </a:r>
            <a:r>
              <a:rPr lang="en-IN" sz="2400" dirty="0">
                <a:latin typeface="Georgia" panose="02040502050405020303" pitchFamily="18" charset="0"/>
              </a:rPr>
              <a:t>: Discrete, categorical (e.g., words, sentences</a:t>
            </a:r>
            <a:r>
              <a:rPr lang="en-IN" sz="2400" dirty="0" smtClean="0">
                <a:latin typeface="Georgia" panose="02040502050405020303" pitchFamily="18" charset="0"/>
              </a:rPr>
              <a:t>).</a:t>
            </a:r>
          </a:p>
          <a:p>
            <a:pPr lvl="1" algn="just"/>
            <a:r>
              <a:rPr lang="en-US" dirty="0" smtClean="0">
                <a:latin typeface="Georgia" panose="02040502050405020303" pitchFamily="18" charset="0"/>
              </a:rPr>
              <a:t>Example</a:t>
            </a:r>
            <a:r>
              <a:rPr lang="en-US" dirty="0">
                <a:latin typeface="Georgia" panose="02040502050405020303" pitchFamily="18" charset="0"/>
              </a:rPr>
              <a:t>: Digital clock (1:01 → 1:02 instantly), language, symbolic logic.</a:t>
            </a:r>
            <a:endParaRPr lang="en-IN" dirty="0">
              <a:latin typeface="Georgia" panose="02040502050405020303" pitchFamily="18" charset="0"/>
            </a:endParaRPr>
          </a:p>
          <a:p>
            <a:pPr lvl="0" algn="just"/>
            <a:r>
              <a:rPr lang="en-IN" sz="2400" b="1" dirty="0" err="1">
                <a:latin typeface="Georgia" panose="02040502050405020303" pitchFamily="18" charset="0"/>
              </a:rPr>
              <a:t>Analog</a:t>
            </a:r>
            <a:r>
              <a:rPr lang="en-IN" sz="2400" dirty="0">
                <a:latin typeface="Georgia" panose="02040502050405020303" pitchFamily="18" charset="0"/>
              </a:rPr>
              <a:t>: Continuous, spectrum-based (e.g., </a:t>
            </a:r>
            <a:r>
              <a:rPr lang="en-IN" sz="2400" dirty="0" err="1">
                <a:latin typeface="Georgia" panose="02040502050405020303" pitchFamily="18" charset="0"/>
              </a:rPr>
              <a:t>color</a:t>
            </a:r>
            <a:r>
              <a:rPr lang="en-IN" sz="2400" dirty="0">
                <a:latin typeface="Georgia" panose="02040502050405020303" pitchFamily="18" charset="0"/>
              </a:rPr>
              <a:t> shades, mental images</a:t>
            </a:r>
            <a:r>
              <a:rPr lang="en-IN" sz="2400" dirty="0" smtClean="0">
                <a:latin typeface="Georgia" panose="02040502050405020303" pitchFamily="18" charset="0"/>
              </a:rPr>
              <a:t>).</a:t>
            </a:r>
          </a:p>
          <a:p>
            <a:pPr lvl="1" algn="just"/>
            <a:r>
              <a:rPr lang="en-US" dirty="0" smtClean="0">
                <a:latin typeface="Georgia" panose="02040502050405020303" pitchFamily="18" charset="0"/>
              </a:rPr>
              <a:t>Example</a:t>
            </a:r>
            <a:r>
              <a:rPr lang="en-US" dirty="0">
                <a:latin typeface="Georgia" panose="02040502050405020303" pitchFamily="18" charset="0"/>
              </a:rPr>
              <a:t>: Analog clock hands moving smoothly, mental images, color shades.</a:t>
            </a:r>
            <a:endParaRPr lang="en-IN" dirty="0">
              <a:latin typeface="Georgia" panose="02040502050405020303" pitchFamily="18" charset="0"/>
            </a:endParaRPr>
          </a:p>
          <a:p>
            <a:pPr lvl="0" algn="just"/>
            <a:r>
              <a:rPr lang="en-IN" sz="2400" dirty="0">
                <a:latin typeface="Georgia" panose="02040502050405020303" pitchFamily="18" charset="0"/>
              </a:rPr>
              <a:t>Sentences are digital; images are </a:t>
            </a:r>
            <a:r>
              <a:rPr lang="en-IN" sz="2400" dirty="0" err="1">
                <a:latin typeface="Georgia" panose="02040502050405020303" pitchFamily="18" charset="0"/>
              </a:rPr>
              <a:t>analog</a:t>
            </a:r>
            <a:r>
              <a:rPr lang="en-IN" sz="2400" dirty="0">
                <a:latin typeface="Georgia" panose="02040502050405020303" pitchFamily="18" charset="0"/>
              </a:rPr>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738837583"/>
      </p:ext>
    </p:extLst>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547"/>
            <a:ext cx="8080375" cy="990599"/>
          </a:xfrm>
        </p:spPr>
        <p:txBody>
          <a:bodyPr/>
          <a:lstStyle/>
          <a:p>
            <a:r>
              <a:rPr lang="en-IN" b="1" dirty="0"/>
              <a:t>Weber’s Law and </a:t>
            </a:r>
            <a:r>
              <a:rPr lang="en-IN" b="1" dirty="0" err="1"/>
              <a:t>Analog</a:t>
            </a:r>
            <a:r>
              <a:rPr lang="en-IN" b="1" dirty="0"/>
              <a:t> Processing</a:t>
            </a:r>
            <a:endParaRPr lang="en-IN" dirty="0"/>
          </a:p>
        </p:txBody>
      </p:sp>
      <p:sp>
        <p:nvSpPr>
          <p:cNvPr id="3" name="Text Placeholder 2"/>
          <p:cNvSpPr>
            <a:spLocks noGrp="1"/>
          </p:cNvSpPr>
          <p:nvPr>
            <p:ph type="body" idx="1"/>
          </p:nvPr>
        </p:nvSpPr>
        <p:spPr>
          <a:xfrm>
            <a:off x="495299" y="1516062"/>
            <a:ext cx="8524009" cy="4351338"/>
          </a:xfrm>
        </p:spPr>
        <p:txBody>
          <a:bodyPr/>
          <a:lstStyle/>
          <a:p>
            <a:pPr lvl="0"/>
            <a:r>
              <a:rPr lang="en-IN" sz="2400" dirty="0" smtClean="0">
                <a:latin typeface="Georgia" panose="02040502050405020303" pitchFamily="18" charset="0"/>
              </a:rPr>
              <a:t>Weber’s </a:t>
            </a:r>
            <a:r>
              <a:rPr lang="en-IN" sz="2400" dirty="0">
                <a:latin typeface="Georgia" panose="02040502050405020303" pitchFamily="18" charset="0"/>
              </a:rPr>
              <a:t>Law: Ability to distinguish differences depends on the </a:t>
            </a:r>
            <a:r>
              <a:rPr lang="en-IN" sz="2400" b="1" dirty="0">
                <a:latin typeface="Georgia" panose="02040502050405020303" pitchFamily="18" charset="0"/>
              </a:rPr>
              <a:t>ratio</a:t>
            </a:r>
            <a:r>
              <a:rPr lang="en-IN" sz="2400" dirty="0">
                <a:latin typeface="Georgia" panose="02040502050405020303" pitchFamily="18" charset="0"/>
              </a:rPr>
              <a:t> between quantities, not absolute difference.</a:t>
            </a:r>
          </a:p>
          <a:p>
            <a:pPr lvl="0"/>
            <a:r>
              <a:rPr lang="en-IN" sz="2400" dirty="0">
                <a:latin typeface="Georgia" panose="02040502050405020303" pitchFamily="18" charset="0"/>
              </a:rPr>
              <a:t>Demonstrated in tasks like comparing line lengths or weights</a:t>
            </a:r>
            <a:r>
              <a:rPr lang="en-IN" sz="2400" dirty="0" smtClean="0">
                <a:latin typeface="Georgia" panose="02040502050405020303" pitchFamily="18" charset="0"/>
              </a:rPr>
              <a:t>.</a:t>
            </a:r>
          </a:p>
          <a:p>
            <a:pPr lvl="0"/>
            <a:r>
              <a:rPr lang="en-US" sz="2400" dirty="0">
                <a:latin typeface="Georgia" panose="02040502050405020303" pitchFamily="18" charset="0"/>
              </a:rPr>
              <a:t>Example: Easier to detect the difference between 1 and 2 pennies (100% change) than between 50 and 51 pennies (~2% change).</a:t>
            </a:r>
          </a:p>
          <a:p>
            <a:pPr lvl="0"/>
            <a:r>
              <a:rPr lang="en-US" sz="2400" dirty="0">
                <a:latin typeface="Georgia" panose="02040502050405020303" pitchFamily="18" charset="0"/>
              </a:rPr>
              <a:t>Applies to vision, weight, sound, taste, smell</a:t>
            </a:r>
            <a:r>
              <a:rPr lang="en-US" sz="2400" dirty="0" smtClean="0">
                <a:latin typeface="Georgia" panose="02040502050405020303" pitchFamily="18" charset="0"/>
              </a:rPr>
              <a:t>.</a:t>
            </a:r>
            <a:endParaRPr lang="en-IN" sz="2400" dirty="0" smtClean="0">
              <a:latin typeface="Georgia" panose="02040502050405020303" pitchFamily="18" charset="0"/>
            </a:endParaRPr>
          </a:p>
          <a:p>
            <a:pPr lvl="0"/>
            <a:r>
              <a:rPr lang="en-IN" sz="2400" dirty="0" smtClean="0">
                <a:latin typeface="Georgia" panose="02040502050405020303" pitchFamily="18" charset="0"/>
              </a:rPr>
              <a:t>This </a:t>
            </a:r>
            <a:r>
              <a:rPr lang="en-IN" sz="2400" b="1" dirty="0">
                <a:latin typeface="Georgia" panose="02040502050405020303" pitchFamily="18" charset="0"/>
              </a:rPr>
              <a:t>ratio-based reasoning</a:t>
            </a:r>
            <a:r>
              <a:rPr lang="en-IN" sz="2400" dirty="0">
                <a:latin typeface="Georgia" panose="02040502050405020303" pitchFamily="18" charset="0"/>
              </a:rPr>
              <a:t> is a hallmark of </a:t>
            </a:r>
            <a:r>
              <a:rPr lang="en-IN" sz="2400" dirty="0" err="1">
                <a:latin typeface="Georgia" panose="02040502050405020303" pitchFamily="18" charset="0"/>
              </a:rPr>
              <a:t>analog</a:t>
            </a:r>
            <a:r>
              <a:rPr lang="en-IN" sz="2400" dirty="0">
                <a:latin typeface="Georgia" panose="02040502050405020303" pitchFamily="18" charset="0"/>
              </a:rPr>
              <a:t> representation.</a:t>
            </a:r>
          </a:p>
          <a:p>
            <a:pPr lvl="0"/>
            <a:r>
              <a:rPr lang="en-IN" sz="2400" dirty="0">
                <a:latin typeface="Georgia" panose="02040502050405020303" pitchFamily="18" charset="0"/>
              </a:rPr>
              <a:t>Even </a:t>
            </a:r>
            <a:r>
              <a:rPr lang="en-IN" sz="2400" b="1" dirty="0">
                <a:latin typeface="Georgia" panose="02040502050405020303" pitchFamily="18" charset="0"/>
              </a:rPr>
              <a:t>babies</a:t>
            </a:r>
            <a:r>
              <a:rPr lang="en-IN" sz="2400" dirty="0">
                <a:latin typeface="Georgia" panose="02040502050405020303" pitchFamily="18" charset="0"/>
              </a:rPr>
              <a:t> show </a:t>
            </a:r>
            <a:r>
              <a:rPr lang="en-IN" sz="2400" dirty="0" err="1">
                <a:latin typeface="Georgia" panose="02040502050405020303" pitchFamily="18" charset="0"/>
              </a:rPr>
              <a:t>analog</a:t>
            </a:r>
            <a:r>
              <a:rPr lang="en-IN" sz="2400" dirty="0">
                <a:latin typeface="Georgia" panose="02040502050405020303" pitchFamily="18" charset="0"/>
              </a:rPr>
              <a:t> discrimination, though with less sensitivity.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375270203"/>
      </p:ext>
    </p:extLst>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Individual Differences</a:t>
            </a:r>
            <a:endParaRPr lang="en-IN" dirty="0"/>
          </a:p>
        </p:txBody>
      </p:sp>
      <p:sp>
        <p:nvSpPr>
          <p:cNvPr id="3" name="Text Placeholder 2"/>
          <p:cNvSpPr>
            <a:spLocks noGrp="1"/>
          </p:cNvSpPr>
          <p:nvPr>
            <p:ph type="body" idx="1"/>
          </p:nvPr>
        </p:nvSpPr>
        <p:spPr/>
        <p:txBody>
          <a:bodyPr/>
          <a:lstStyle/>
          <a:p>
            <a:pPr lvl="0" algn="just"/>
            <a:r>
              <a:rPr lang="en-IN" sz="2400" dirty="0" smtClean="0">
                <a:latin typeface="Georgia" panose="02040502050405020303" pitchFamily="18" charset="0"/>
              </a:rPr>
              <a:t>People </a:t>
            </a:r>
            <a:r>
              <a:rPr lang="en-IN" sz="2400" dirty="0">
                <a:latin typeface="Georgia" panose="02040502050405020303" pitchFamily="18" charset="0"/>
              </a:rPr>
              <a:t>vary widely in how vividly they experience mental imagery.</a:t>
            </a:r>
          </a:p>
          <a:p>
            <a:pPr lvl="0" algn="just"/>
            <a:r>
              <a:rPr lang="en-IN" sz="2400" dirty="0">
                <a:latin typeface="Georgia" panose="02040502050405020303" pitchFamily="18" charset="0"/>
              </a:rPr>
              <a:t>Some rely more on </a:t>
            </a:r>
            <a:r>
              <a:rPr lang="en-IN" sz="2400" b="1" dirty="0">
                <a:latin typeface="Georgia" panose="02040502050405020303" pitchFamily="18" charset="0"/>
              </a:rPr>
              <a:t>visual imagery</a:t>
            </a:r>
            <a:r>
              <a:rPr lang="en-IN" sz="2400" dirty="0">
                <a:latin typeface="Georgia" panose="02040502050405020303" pitchFamily="18" charset="0"/>
              </a:rPr>
              <a:t>, others on </a:t>
            </a:r>
            <a:r>
              <a:rPr lang="en-IN" sz="2400" b="1" dirty="0">
                <a:latin typeface="Georgia" panose="02040502050405020303" pitchFamily="18" charset="0"/>
              </a:rPr>
              <a:t>propositional reasoning</a:t>
            </a:r>
            <a:r>
              <a:rPr lang="en-IN" sz="2400" dirty="0">
                <a:latin typeface="Georgia" panose="02040502050405020303" pitchFamily="18" charset="0"/>
              </a:rPr>
              <a:t>.</a:t>
            </a:r>
          </a:p>
          <a:p>
            <a:pPr lvl="0" algn="just"/>
            <a:r>
              <a:rPr lang="en-IN" sz="2400" dirty="0">
                <a:latin typeface="Georgia" panose="02040502050405020303" pitchFamily="18" charset="0"/>
              </a:rPr>
              <a:t>Many are unaware that others experience mental representation differently until it’s explicitly pointed out.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40514719"/>
      </p:ext>
    </p:extLst>
  </p:cSld>
  <p:clrMapOvr>
    <a:masterClrMapping/>
  </p:clrMapOvr>
  <p:transition>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Representation and Computation</a:t>
            </a:r>
            <a:endParaRPr lang="en-IN" dirty="0"/>
          </a:p>
        </p:txBody>
      </p:sp>
      <p:sp>
        <p:nvSpPr>
          <p:cNvPr id="3" name="Text Placeholder 2"/>
          <p:cNvSpPr>
            <a:spLocks noGrp="1"/>
          </p:cNvSpPr>
          <p:nvPr>
            <p:ph type="body" idx="1"/>
          </p:nvPr>
        </p:nvSpPr>
        <p:spPr>
          <a:xfrm>
            <a:off x="225425" y="1516062"/>
            <a:ext cx="8475230" cy="4351338"/>
          </a:xfrm>
        </p:spPr>
        <p:txBody>
          <a:bodyPr/>
          <a:lstStyle/>
          <a:p>
            <a:pPr marL="342900" indent="-342900" algn="just">
              <a:spcBef>
                <a:spcPts val="600"/>
              </a:spcBef>
              <a:buClr>
                <a:srgbClr val="9999FF"/>
              </a:buClr>
              <a:buSzPct val="1330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400" dirty="0">
                <a:latin typeface="Georgia" panose="02040502050405020303" pitchFamily="18" charset="0"/>
              </a:rPr>
              <a:t>Mind has mental representations analogous to computer data structures, and computational procedures similar to computational algorithms. </a:t>
            </a:r>
          </a:p>
          <a:p>
            <a:pPr marL="342900" indent="-342900" algn="just">
              <a:spcBef>
                <a:spcPts val="600"/>
              </a:spcBef>
              <a:buClr>
                <a:srgbClr val="9999FF"/>
              </a:buClr>
              <a:buSzPct val="1330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400" dirty="0">
                <a:latin typeface="Georgia" panose="02040502050405020303" pitchFamily="18" charset="0"/>
              </a:rPr>
              <a:t>Symbolic View: mind contains such mental representations as logical propositions, rules, concepts, images, and analogies, and that it uses mental procedures such as deduction, search, matching, rotating, and retrieval. </a:t>
            </a:r>
          </a:p>
          <a:p>
            <a:pPr marL="342900" indent="-342900" algn="just">
              <a:spcBef>
                <a:spcPts val="600"/>
              </a:spcBef>
              <a:buClr>
                <a:srgbClr val="9999FF"/>
              </a:buClr>
              <a:buSzPct val="1330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400" dirty="0">
                <a:latin typeface="Georgia" panose="02040502050405020303" pitchFamily="18" charset="0"/>
              </a:rPr>
              <a:t>Connectionist View: mental representations use neurons and their connections as mechanisms for data structures, and neuron firing and spreading activation as the algorithms – i.e., cognition can be explained by using artificial neural networks  </a:t>
            </a:r>
          </a:p>
          <a:p>
            <a:pPr algn="just"/>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2265151522"/>
      </p:ext>
    </p:extLst>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Rubik’s Cube as a Metaphor</a:t>
            </a:r>
          </a:p>
        </p:txBody>
      </p:sp>
      <p:sp>
        <p:nvSpPr>
          <p:cNvPr id="3" name="Text Placeholder 2"/>
          <p:cNvSpPr>
            <a:spLocks noGrp="1"/>
          </p:cNvSpPr>
          <p:nvPr>
            <p:ph type="body" idx="1"/>
          </p:nvPr>
        </p:nvSpPr>
        <p:spPr/>
        <p:txBody>
          <a:bodyPr/>
          <a:lstStyle/>
          <a:p>
            <a:pPr algn="just"/>
            <a:r>
              <a:rPr lang="en-US" sz="2400" dirty="0">
                <a:latin typeface="Georgia" panose="02040502050405020303" pitchFamily="18" charset="0"/>
              </a:rPr>
              <a:t>A Rubik’s Cube is complex and hard to solve. Most people can only get one side. But the Rubik’s Cube serves as a metaphor for something deeper: the mind.</a:t>
            </a:r>
          </a:p>
          <a:p>
            <a:pPr algn="just"/>
            <a:r>
              <a:rPr lang="en-US" sz="2400" dirty="0">
                <a:latin typeface="Georgia" panose="02040502050405020303" pitchFamily="18" charset="0"/>
              </a:rPr>
              <a:t>Understanding the mind is kind of like solving a Rubik’s Cube—it’s complex, has many moving parts, and isn’t easy to figure out without guidance.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257179681"/>
      </p:ext>
    </p:extLst>
  </p:cSld>
  <p:clrMapOvr>
    <a:masterClrMapping/>
  </p:clrMapOvr>
  <p:transition>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152" y="36513"/>
            <a:ext cx="8080375" cy="990599"/>
          </a:xfrm>
        </p:spPr>
        <p:txBody>
          <a:bodyPr/>
          <a:lstStyle/>
          <a:p>
            <a:r>
              <a:rPr lang="en-US" dirty="0"/>
              <a:t>The Problem of Understanding the Mind</a:t>
            </a:r>
            <a:endParaRPr lang="en-IN" dirty="0"/>
          </a:p>
        </p:txBody>
      </p:sp>
      <p:sp>
        <p:nvSpPr>
          <p:cNvPr id="3" name="Text Placeholder 2"/>
          <p:cNvSpPr>
            <a:spLocks noGrp="1"/>
          </p:cNvSpPr>
          <p:nvPr>
            <p:ph type="body" idx="1"/>
          </p:nvPr>
        </p:nvSpPr>
        <p:spPr>
          <a:xfrm>
            <a:off x="495299" y="1516062"/>
            <a:ext cx="8524009" cy="4351338"/>
          </a:xfrm>
        </p:spPr>
        <p:txBody>
          <a:bodyPr/>
          <a:lstStyle/>
          <a:p>
            <a:pPr marL="342900" indent="-342900" algn="just" eaLnBrk="0" fontAlgn="base" hangingPunct="0">
              <a:lnSpc>
                <a:spcPct val="100000"/>
              </a:lnSpc>
              <a:spcBef>
                <a:spcPct val="0"/>
              </a:spcBef>
              <a:spcAft>
                <a:spcPct val="0"/>
              </a:spcAft>
              <a:buClrTx/>
              <a:buSzTx/>
            </a:pPr>
            <a:r>
              <a:rPr lang="en-US" sz="2400" b="1" dirty="0" smtClean="0">
                <a:solidFill>
                  <a:schemeClr val="tx1"/>
                </a:solidFill>
                <a:latin typeface="Georgia" panose="02040502050405020303" pitchFamily="18" charset="0"/>
              </a:rPr>
              <a:t>The </a:t>
            </a:r>
            <a:r>
              <a:rPr lang="en-US" sz="2400" b="1" dirty="0">
                <a:solidFill>
                  <a:schemeClr val="tx1"/>
                </a:solidFill>
                <a:latin typeface="Georgia" panose="02040502050405020303" pitchFamily="18" charset="0"/>
              </a:rPr>
              <a:t>mind</a:t>
            </a:r>
            <a:r>
              <a:rPr lang="en-US" sz="2400" dirty="0">
                <a:solidFill>
                  <a:schemeClr val="tx1"/>
                </a:solidFill>
                <a:latin typeface="Georgia" panose="02040502050405020303" pitchFamily="18" charset="0"/>
              </a:rPr>
              <a:t> is a </a:t>
            </a:r>
            <a:r>
              <a:rPr lang="en-US" sz="2400" b="1" dirty="0">
                <a:solidFill>
                  <a:schemeClr val="tx1"/>
                </a:solidFill>
                <a:latin typeface="Georgia" panose="02040502050405020303" pitchFamily="18" charset="0"/>
              </a:rPr>
              <a:t>complex information processing </a:t>
            </a:r>
            <a:r>
              <a:rPr lang="en-US" sz="2400" b="1" dirty="0" smtClean="0">
                <a:solidFill>
                  <a:schemeClr val="tx1"/>
                </a:solidFill>
                <a:latin typeface="Georgia" panose="02040502050405020303" pitchFamily="18" charset="0"/>
              </a:rPr>
              <a:t>system</a:t>
            </a:r>
            <a:r>
              <a:rPr lang="en-US" sz="2400" dirty="0" smtClean="0">
                <a:solidFill>
                  <a:schemeClr val="tx1"/>
                </a:solidFill>
                <a:latin typeface="Georgia" panose="02040502050405020303" pitchFamily="18" charset="0"/>
              </a:rPr>
              <a:t>.</a:t>
            </a:r>
          </a:p>
          <a:p>
            <a:pPr marL="342900" indent="-3429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rPr>
              <a:t>Simply </a:t>
            </a:r>
            <a:r>
              <a:rPr lang="en-US" sz="2400" dirty="0">
                <a:solidFill>
                  <a:schemeClr val="tx1"/>
                </a:solidFill>
                <a:latin typeface="Georgia" panose="02040502050405020303" pitchFamily="18" charset="0"/>
              </a:rPr>
              <a:t>tracking the smallest units (like neurons) won't tell us how it works.</a:t>
            </a:r>
          </a:p>
          <a:p>
            <a:pPr marL="342900" indent="-3429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rPr>
              <a:t>Tracking </a:t>
            </a:r>
            <a:r>
              <a:rPr lang="en-US" sz="2400" dirty="0">
                <a:solidFill>
                  <a:schemeClr val="tx1"/>
                </a:solidFill>
                <a:latin typeface="Georgia" panose="02040502050405020303" pitchFamily="18" charset="0"/>
              </a:rPr>
              <a:t>individual neurons is like following electricity through a computer—it doesn’t tell you what the computer is </a:t>
            </a:r>
            <a:r>
              <a:rPr lang="en-US" sz="2400" dirty="0" smtClean="0">
                <a:solidFill>
                  <a:schemeClr val="tx1"/>
                </a:solidFill>
                <a:latin typeface="Georgia" panose="02040502050405020303" pitchFamily="18" charset="0"/>
              </a:rPr>
              <a:t>doing.</a:t>
            </a:r>
          </a:p>
          <a:p>
            <a:pPr marL="342900" indent="-342900" algn="just" eaLnBrk="0" fontAlgn="base" hangingPunct="0">
              <a:lnSpc>
                <a:spcPct val="100000"/>
              </a:lnSpc>
              <a:spcBef>
                <a:spcPct val="0"/>
              </a:spcBef>
              <a:spcAft>
                <a:spcPct val="0"/>
              </a:spcAft>
              <a:buClrTx/>
              <a:buSzTx/>
            </a:pPr>
            <a:r>
              <a:rPr lang="en-US" sz="2400" dirty="0" smtClean="0">
                <a:solidFill>
                  <a:schemeClr val="tx1"/>
                </a:solidFill>
                <a:latin typeface="Georgia" panose="02040502050405020303" pitchFamily="18" charset="0"/>
              </a:rPr>
              <a:t>Like </a:t>
            </a:r>
            <a:r>
              <a:rPr lang="en-US" sz="2400" dirty="0">
                <a:solidFill>
                  <a:schemeClr val="tx1"/>
                </a:solidFill>
                <a:latin typeface="Georgia" panose="02040502050405020303" pitchFamily="18" charset="0"/>
              </a:rPr>
              <a:t>computers, the brain is </a:t>
            </a:r>
            <a:r>
              <a:rPr lang="en-US" sz="2400" b="1" dirty="0">
                <a:solidFill>
                  <a:schemeClr val="tx1"/>
                </a:solidFill>
                <a:latin typeface="Georgia" panose="02040502050405020303" pitchFamily="18" charset="0"/>
              </a:rPr>
              <a:t>hierarchically </a:t>
            </a:r>
            <a:r>
              <a:rPr lang="en-US" sz="2400" b="1" dirty="0" smtClean="0">
                <a:solidFill>
                  <a:schemeClr val="tx1"/>
                </a:solidFill>
                <a:latin typeface="Georgia" panose="02040502050405020303" pitchFamily="18" charset="0"/>
              </a:rPr>
              <a:t>organized</a:t>
            </a:r>
            <a:r>
              <a:rPr lang="en-US" sz="2400" dirty="0" smtClean="0">
                <a:solidFill>
                  <a:schemeClr val="tx1"/>
                </a:solidFill>
                <a:latin typeface="Georgia" panose="02040502050405020303" pitchFamily="18" charset="0"/>
              </a:rPr>
              <a:t>.</a:t>
            </a:r>
          </a:p>
          <a:p>
            <a:pPr marL="342900" indent="-342900" algn="just" eaLnBrk="0" fontAlgn="base" hangingPunct="0">
              <a:lnSpc>
                <a:spcPct val="100000"/>
              </a:lnSpc>
              <a:spcBef>
                <a:spcPct val="0"/>
              </a:spcBef>
              <a:spcAft>
                <a:spcPct val="0"/>
              </a:spcAft>
              <a:buClrTx/>
              <a:buSzTx/>
            </a:pPr>
            <a:r>
              <a:rPr lang="en-US" dirty="0" smtClean="0">
                <a:solidFill>
                  <a:schemeClr val="tx1"/>
                </a:solidFill>
                <a:latin typeface="Georgia" panose="02040502050405020303" pitchFamily="18" charset="0"/>
              </a:rPr>
              <a:t>Neurons </a:t>
            </a:r>
            <a:r>
              <a:rPr lang="en-US" dirty="0">
                <a:solidFill>
                  <a:schemeClr val="tx1"/>
                </a:solidFill>
                <a:latin typeface="Georgia" panose="02040502050405020303" pitchFamily="18" charset="0"/>
              </a:rPr>
              <a:t>→ Circuits → Brain Regions → The Mind</a:t>
            </a:r>
          </a:p>
          <a:p>
            <a:pPr marL="0" lvl="0" indent="0" algn="just" eaLnBrk="0" fontAlgn="base" hangingPunct="0">
              <a:lnSpc>
                <a:spcPct val="100000"/>
              </a:lnSpc>
              <a:spcBef>
                <a:spcPct val="0"/>
              </a:spcBef>
              <a:spcAft>
                <a:spcPct val="0"/>
              </a:spcAft>
              <a:buClrTx/>
              <a:buSzTx/>
              <a:buFontTx/>
              <a:buChar char="•"/>
            </a:pPr>
            <a:r>
              <a:rPr lang="en-US" sz="2400" dirty="0">
                <a:solidFill>
                  <a:schemeClr val="tx1"/>
                </a:solidFill>
                <a:latin typeface="Georgia" panose="02040502050405020303" pitchFamily="18" charset="0"/>
              </a:rPr>
              <a:t>Understanding the hardware (brain) isn't enough—we need to also understand the </a:t>
            </a:r>
            <a:r>
              <a:rPr lang="en-US" sz="2400" b="1" dirty="0">
                <a:solidFill>
                  <a:schemeClr val="tx1"/>
                </a:solidFill>
                <a:latin typeface="Georgia" panose="02040502050405020303" pitchFamily="18" charset="0"/>
              </a:rPr>
              <a:t>software</a:t>
            </a:r>
            <a:r>
              <a:rPr lang="en-US" sz="2400" dirty="0">
                <a:solidFill>
                  <a:schemeClr val="tx1"/>
                </a:solidFill>
                <a:latin typeface="Georgia" panose="02040502050405020303" pitchFamily="18" charset="0"/>
              </a:rPr>
              <a:t> (mind).</a:t>
            </a:r>
          </a:p>
          <a:p>
            <a:pPr marL="342900" indent="-342900" algn="just" eaLnBrk="0" fontAlgn="base" hangingPunct="0">
              <a:lnSpc>
                <a:spcPct val="100000"/>
              </a:lnSpc>
              <a:spcBef>
                <a:spcPct val="0"/>
              </a:spcBef>
              <a:spcAft>
                <a:spcPct val="0"/>
              </a:spcAft>
              <a:buClrTx/>
              <a:buSzTx/>
            </a:pPr>
            <a:endParaRPr lang="en-US" sz="2400" dirty="0">
              <a:solidFill>
                <a:schemeClr val="tx1"/>
              </a:solidFill>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3422719065"/>
      </p:ext>
    </p:extLst>
  </p:cSld>
  <p:clrMapOvr>
    <a:masterClrMapping/>
  </p:clrMapOvr>
  <p:transition>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007" y="36513"/>
            <a:ext cx="8080375" cy="990599"/>
          </a:xfrm>
        </p:spPr>
        <p:txBody>
          <a:bodyPr/>
          <a:lstStyle/>
          <a:p>
            <a:r>
              <a:rPr lang="en-US" dirty="0"/>
              <a:t>David Marr's Three Levels of Analysis</a:t>
            </a:r>
            <a:endParaRPr lang="en-IN" dirty="0"/>
          </a:p>
        </p:txBody>
      </p:sp>
      <p:sp>
        <p:nvSpPr>
          <p:cNvPr id="3" name="Text Placeholder 2"/>
          <p:cNvSpPr>
            <a:spLocks noGrp="1"/>
          </p:cNvSpPr>
          <p:nvPr>
            <p:ph type="body" idx="1"/>
          </p:nvPr>
        </p:nvSpPr>
        <p:spPr>
          <a:xfrm>
            <a:off x="170007" y="1274618"/>
            <a:ext cx="8973993" cy="4592782"/>
          </a:xfrm>
        </p:spPr>
        <p:txBody>
          <a:bodyPr/>
          <a:lstStyle/>
          <a:p>
            <a:pPr marL="50800" indent="0" algn="just">
              <a:buNone/>
            </a:pPr>
            <a:r>
              <a:rPr lang="en-US" sz="2000" dirty="0">
                <a:latin typeface="Georgia" panose="02040502050405020303" pitchFamily="18" charset="0"/>
              </a:rPr>
              <a:t>David Marr, a neuroscientist, proposed that </a:t>
            </a:r>
            <a:r>
              <a:rPr lang="en-US" sz="2000" b="1" dirty="0">
                <a:latin typeface="Georgia" panose="02040502050405020303" pitchFamily="18" charset="0"/>
              </a:rPr>
              <a:t>complex systems</a:t>
            </a:r>
            <a:r>
              <a:rPr lang="en-US" sz="2000" dirty="0">
                <a:latin typeface="Georgia" panose="02040502050405020303" pitchFamily="18" charset="0"/>
              </a:rPr>
              <a:t> (like the mind) must be understood at </a:t>
            </a:r>
            <a:r>
              <a:rPr lang="en-US" sz="2000" b="1" dirty="0">
                <a:latin typeface="Georgia" panose="02040502050405020303" pitchFamily="18" charset="0"/>
              </a:rPr>
              <a:t>three distinct levels</a:t>
            </a:r>
            <a:r>
              <a:rPr lang="en-US" sz="2000" dirty="0">
                <a:latin typeface="Georgia" panose="02040502050405020303" pitchFamily="18" charset="0"/>
              </a:rPr>
              <a:t>:</a:t>
            </a:r>
          </a:p>
          <a:p>
            <a:pPr marL="50800" indent="0" algn="just">
              <a:buNone/>
            </a:pPr>
            <a:r>
              <a:rPr lang="en-US" sz="2000" b="1" dirty="0">
                <a:latin typeface="Georgia" panose="02040502050405020303" pitchFamily="18" charset="0"/>
              </a:rPr>
              <a:t>1. Computational Level (Most abstract)</a:t>
            </a:r>
          </a:p>
          <a:p>
            <a:pPr algn="just"/>
            <a:r>
              <a:rPr lang="en-US" sz="2000" b="1" dirty="0">
                <a:latin typeface="Georgia" panose="02040502050405020303" pitchFamily="18" charset="0"/>
              </a:rPr>
              <a:t>What is the goal of the system?</a:t>
            </a:r>
            <a:endParaRPr lang="en-US" sz="2000" dirty="0">
              <a:latin typeface="Georgia" panose="02040502050405020303" pitchFamily="18" charset="0"/>
            </a:endParaRPr>
          </a:p>
          <a:p>
            <a:pPr algn="just"/>
            <a:r>
              <a:rPr lang="en-US" sz="2000" dirty="0">
                <a:latin typeface="Georgia" panose="02040502050405020303" pitchFamily="18" charset="0"/>
              </a:rPr>
              <a:t>What is the </a:t>
            </a:r>
            <a:r>
              <a:rPr lang="en-US" sz="2000" b="1" dirty="0">
                <a:latin typeface="Georgia" panose="02040502050405020303" pitchFamily="18" charset="0"/>
              </a:rPr>
              <a:t>output</a:t>
            </a:r>
            <a:r>
              <a:rPr lang="en-US" sz="2000" dirty="0">
                <a:latin typeface="Georgia" panose="02040502050405020303" pitchFamily="18" charset="0"/>
              </a:rPr>
              <a:t> of the computation?</a:t>
            </a:r>
          </a:p>
          <a:p>
            <a:pPr algn="just"/>
            <a:r>
              <a:rPr lang="en-US" sz="2000" dirty="0">
                <a:latin typeface="Georgia" panose="02040502050405020303" pitchFamily="18" charset="0"/>
              </a:rPr>
              <a:t>Example (Rubik's Cube): Each face has a single color.</a:t>
            </a:r>
          </a:p>
          <a:p>
            <a:pPr marL="50800" indent="0" algn="just">
              <a:buNone/>
            </a:pPr>
            <a:r>
              <a:rPr lang="en-US" sz="2000" b="1" dirty="0">
                <a:latin typeface="Georgia" panose="02040502050405020303" pitchFamily="18" charset="0"/>
              </a:rPr>
              <a:t>2. Algorithmic Level</a:t>
            </a:r>
          </a:p>
          <a:p>
            <a:pPr algn="just"/>
            <a:r>
              <a:rPr lang="en-US" sz="2000" b="1" dirty="0">
                <a:latin typeface="Georgia" panose="02040502050405020303" pitchFamily="18" charset="0"/>
              </a:rPr>
              <a:t>How is the goal accomplished?</a:t>
            </a:r>
            <a:endParaRPr lang="en-US" sz="2000" dirty="0">
              <a:latin typeface="Georgia" panose="02040502050405020303" pitchFamily="18" charset="0"/>
            </a:endParaRPr>
          </a:p>
          <a:p>
            <a:pPr algn="just"/>
            <a:r>
              <a:rPr lang="en-US" sz="2000" dirty="0">
                <a:latin typeface="Georgia" panose="02040502050405020303" pitchFamily="18" charset="0"/>
              </a:rPr>
              <a:t>What are the </a:t>
            </a:r>
            <a:r>
              <a:rPr lang="en-US" sz="2000" b="1" dirty="0">
                <a:latin typeface="Georgia" panose="02040502050405020303" pitchFamily="18" charset="0"/>
              </a:rPr>
              <a:t>steps</a:t>
            </a:r>
            <a:r>
              <a:rPr lang="en-US" sz="2000" dirty="0">
                <a:latin typeface="Georgia" panose="02040502050405020303" pitchFamily="18" charset="0"/>
              </a:rPr>
              <a:t> taken?</a:t>
            </a:r>
          </a:p>
          <a:p>
            <a:pPr algn="just"/>
            <a:r>
              <a:rPr lang="en-US" sz="2000" dirty="0">
                <a:latin typeface="Georgia" panose="02040502050405020303" pitchFamily="18" charset="0"/>
              </a:rPr>
              <a:t>What kind of </a:t>
            </a:r>
            <a:r>
              <a:rPr lang="en-US" sz="2000" b="1" dirty="0">
                <a:latin typeface="Georgia" panose="02040502050405020303" pitchFamily="18" charset="0"/>
              </a:rPr>
              <a:t>representation</a:t>
            </a:r>
            <a:r>
              <a:rPr lang="en-US" sz="2000" dirty="0">
                <a:latin typeface="Georgia" panose="02040502050405020303" pitchFamily="18" charset="0"/>
              </a:rPr>
              <a:t> is used?</a:t>
            </a:r>
          </a:p>
          <a:p>
            <a:pPr algn="just"/>
            <a:r>
              <a:rPr lang="en-US" sz="2000" dirty="0">
                <a:latin typeface="Georgia" panose="02040502050405020303" pitchFamily="18" charset="0"/>
              </a:rPr>
              <a:t>Example (Rubik's Cube): Specific rotation steps to reach the solved state</a:t>
            </a:r>
            <a:r>
              <a:rPr lang="en-US" sz="2000" dirty="0" smtClean="0">
                <a:latin typeface="Georgia" panose="02040502050405020303" pitchFamily="18" charset="0"/>
              </a:rPr>
              <a:t>.</a:t>
            </a:r>
            <a:endParaRPr lang="en-US"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4137667069"/>
      </p:ext>
    </p:extLst>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007" y="36513"/>
            <a:ext cx="8080375" cy="990599"/>
          </a:xfrm>
        </p:spPr>
        <p:txBody>
          <a:bodyPr/>
          <a:lstStyle/>
          <a:p>
            <a:r>
              <a:rPr lang="en-US" dirty="0"/>
              <a:t>David Marr's Three Levels of Analysis</a:t>
            </a:r>
            <a:endParaRPr lang="en-IN" dirty="0"/>
          </a:p>
        </p:txBody>
      </p:sp>
      <p:sp>
        <p:nvSpPr>
          <p:cNvPr id="3" name="Text Placeholder 2"/>
          <p:cNvSpPr>
            <a:spLocks noGrp="1"/>
          </p:cNvSpPr>
          <p:nvPr>
            <p:ph type="body" idx="1"/>
          </p:nvPr>
        </p:nvSpPr>
        <p:spPr>
          <a:xfrm>
            <a:off x="170007" y="1274618"/>
            <a:ext cx="8973993" cy="4592782"/>
          </a:xfrm>
        </p:spPr>
        <p:txBody>
          <a:bodyPr/>
          <a:lstStyle/>
          <a:p>
            <a:pPr marL="50800" indent="0" algn="just">
              <a:buNone/>
            </a:pPr>
            <a:r>
              <a:rPr lang="en-US" sz="2400" b="1" dirty="0" smtClean="0">
                <a:latin typeface="Georgia" panose="02040502050405020303" pitchFamily="18" charset="0"/>
              </a:rPr>
              <a:t>3. </a:t>
            </a:r>
            <a:r>
              <a:rPr lang="en-US" sz="2400" b="1" dirty="0" err="1">
                <a:latin typeface="Georgia" panose="02040502050405020303" pitchFamily="18" charset="0"/>
              </a:rPr>
              <a:t>Implementational</a:t>
            </a:r>
            <a:r>
              <a:rPr lang="en-US" sz="2400" b="1" dirty="0">
                <a:latin typeface="Georgia" panose="02040502050405020303" pitchFamily="18" charset="0"/>
              </a:rPr>
              <a:t> Level (Least abstract)</a:t>
            </a:r>
          </a:p>
          <a:p>
            <a:pPr algn="just"/>
            <a:r>
              <a:rPr lang="en-US" sz="2400" b="1" dirty="0">
                <a:latin typeface="Georgia" panose="02040502050405020303" pitchFamily="18" charset="0"/>
              </a:rPr>
              <a:t>What physical system</a:t>
            </a:r>
            <a:r>
              <a:rPr lang="en-US" sz="2400" dirty="0">
                <a:latin typeface="Georgia" panose="02040502050405020303" pitchFamily="18" charset="0"/>
              </a:rPr>
              <a:t> executes the steps?</a:t>
            </a:r>
          </a:p>
          <a:p>
            <a:pPr algn="just"/>
            <a:r>
              <a:rPr lang="en-US" sz="2400" dirty="0">
                <a:latin typeface="Georgia" panose="02040502050405020303" pitchFamily="18" charset="0"/>
              </a:rPr>
              <a:t>Example: Manipulating the cube with your hands, or a computer simulating it virtually.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488811010"/>
      </p:ext>
    </p:extLst>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Chess</a:t>
            </a:r>
          </a:p>
        </p:txBody>
      </p:sp>
      <p:sp>
        <p:nvSpPr>
          <p:cNvPr id="3" name="Text Placeholder 2"/>
          <p:cNvSpPr>
            <a:spLocks noGrp="1"/>
          </p:cNvSpPr>
          <p:nvPr>
            <p:ph type="body" idx="1"/>
          </p:nvPr>
        </p:nvSpPr>
        <p:spPr/>
        <p:txBody>
          <a:bodyPr/>
          <a:lstStyle/>
          <a:p>
            <a:pPr marL="50800" indent="0" algn="just">
              <a:buNone/>
            </a:pPr>
            <a:r>
              <a:rPr lang="en-US" sz="2400" b="1" dirty="0">
                <a:latin typeface="Georgia" panose="02040502050405020303" pitchFamily="18" charset="0"/>
              </a:rPr>
              <a:t>Computational Level:</a:t>
            </a:r>
          </a:p>
          <a:p>
            <a:pPr algn="just"/>
            <a:r>
              <a:rPr lang="en-US" sz="2400" dirty="0">
                <a:latin typeface="Georgia" panose="02040502050405020303" pitchFamily="18" charset="0"/>
              </a:rPr>
              <a:t>Goal: Achieve checkmate (specific board configuration where the king can't escape threat).</a:t>
            </a:r>
          </a:p>
          <a:p>
            <a:pPr algn="just"/>
            <a:r>
              <a:rPr lang="en-US" sz="2400" dirty="0">
                <a:latin typeface="Georgia" panose="02040502050405020303" pitchFamily="18" charset="0"/>
              </a:rPr>
              <a:t>Requires understanding of rules and objectives.</a:t>
            </a:r>
          </a:p>
          <a:p>
            <a:pPr marL="50800" indent="0" algn="just">
              <a:buNone/>
            </a:pPr>
            <a:r>
              <a:rPr lang="en-US" sz="2400" b="1" dirty="0">
                <a:latin typeface="Georgia" panose="02040502050405020303" pitchFamily="18" charset="0"/>
              </a:rPr>
              <a:t>Algorithmic Level:</a:t>
            </a:r>
          </a:p>
          <a:p>
            <a:pPr algn="just"/>
            <a:r>
              <a:rPr lang="en-US" sz="2400" dirty="0">
                <a:latin typeface="Georgia" panose="02040502050405020303" pitchFamily="18" charset="0"/>
              </a:rPr>
              <a:t>A set of strategies or rules: opening moves, responses, decision trees.</a:t>
            </a:r>
          </a:p>
          <a:p>
            <a:pPr algn="just"/>
            <a:r>
              <a:rPr lang="en-US" sz="2400" dirty="0">
                <a:latin typeface="Georgia" panose="02040502050405020303" pitchFamily="18" charset="0"/>
              </a:rPr>
              <a:t>Different paths can lead to the same goal.</a:t>
            </a:r>
          </a:p>
          <a:p>
            <a:pPr marL="50800" indent="0" algn="just">
              <a:buNone/>
            </a:pPr>
            <a:r>
              <a:rPr lang="en-US" sz="2400" b="1" dirty="0" err="1">
                <a:latin typeface="Georgia" panose="02040502050405020303" pitchFamily="18" charset="0"/>
              </a:rPr>
              <a:t>Implementational</a:t>
            </a:r>
            <a:r>
              <a:rPr lang="en-US" sz="2400" b="1" dirty="0">
                <a:latin typeface="Georgia" panose="02040502050405020303" pitchFamily="18" charset="0"/>
              </a:rPr>
              <a:t> Level:</a:t>
            </a:r>
          </a:p>
          <a:p>
            <a:pPr algn="just"/>
            <a:r>
              <a:rPr lang="en-US" sz="2400" dirty="0">
                <a:latin typeface="Georgia" panose="02040502050405020303" pitchFamily="18" charset="0"/>
              </a:rPr>
              <a:t>Playing with physical pieces, online, or even mentally.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1670678669"/>
      </p:ext>
    </p:extLst>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Arithmetic</a:t>
            </a:r>
          </a:p>
        </p:txBody>
      </p:sp>
      <p:sp>
        <p:nvSpPr>
          <p:cNvPr id="3" name="Text Placeholder 2"/>
          <p:cNvSpPr>
            <a:spLocks noGrp="1"/>
          </p:cNvSpPr>
          <p:nvPr>
            <p:ph type="body" idx="1"/>
          </p:nvPr>
        </p:nvSpPr>
        <p:spPr/>
        <p:txBody>
          <a:bodyPr/>
          <a:lstStyle/>
          <a:p>
            <a:r>
              <a:rPr lang="en-US" b="1" dirty="0" smtClean="0"/>
              <a:t>47 </a:t>
            </a:r>
            <a:r>
              <a:rPr lang="en-US" b="1" dirty="0"/>
              <a:t>+ 21</a:t>
            </a:r>
          </a:p>
          <a:p>
            <a:r>
              <a:rPr lang="en-US" b="1" dirty="0"/>
              <a:t>Different people use different mental algorithms</a:t>
            </a:r>
            <a:r>
              <a:rPr lang="en-US" dirty="0"/>
              <a:t>:</a:t>
            </a:r>
          </a:p>
          <a:p>
            <a:pPr lvl="1"/>
            <a:r>
              <a:rPr lang="en-US" dirty="0"/>
              <a:t>Add 20, then 1.</a:t>
            </a:r>
          </a:p>
          <a:p>
            <a:pPr lvl="1"/>
            <a:r>
              <a:rPr lang="en-US" dirty="0"/>
              <a:t>Add 40 and 20, then 7 and 1, then combine.</a:t>
            </a:r>
          </a:p>
          <a:p>
            <a:r>
              <a:rPr lang="en-US" dirty="0"/>
              <a:t>The same goal (68) is reached via </a:t>
            </a:r>
            <a:r>
              <a:rPr lang="en-US" b="1" dirty="0"/>
              <a:t>different algorithms</a:t>
            </a:r>
            <a:r>
              <a:rPr lang="en-US" dirty="0"/>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1022521892"/>
      </p:ext>
    </p:extLst>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in Cognitive Science</a:t>
            </a:r>
          </a:p>
        </p:txBody>
      </p:sp>
      <p:sp>
        <p:nvSpPr>
          <p:cNvPr id="3" name="Text Placeholder 2"/>
          <p:cNvSpPr>
            <a:spLocks noGrp="1"/>
          </p:cNvSpPr>
          <p:nvPr>
            <p:ph type="body" idx="1"/>
          </p:nvPr>
        </p:nvSpPr>
        <p:spPr/>
        <p:txBody>
          <a:bodyPr/>
          <a:lstStyle/>
          <a:p>
            <a:pPr marL="50800" indent="0" algn="just">
              <a:buNone/>
            </a:pPr>
            <a:r>
              <a:rPr lang="en-US" sz="2400" dirty="0" smtClean="0">
                <a:latin typeface="Georgia" panose="02040502050405020303" pitchFamily="18" charset="0"/>
              </a:rPr>
              <a:t>Each </a:t>
            </a:r>
            <a:r>
              <a:rPr lang="en-US" sz="2400" dirty="0">
                <a:latin typeface="Georgia" panose="02040502050405020303" pitchFamily="18" charset="0"/>
              </a:rPr>
              <a:t>level allows for different kinds of models:</a:t>
            </a:r>
          </a:p>
          <a:p>
            <a:pPr algn="just"/>
            <a:r>
              <a:rPr lang="en-US" sz="2400" b="1" dirty="0">
                <a:latin typeface="Georgia" panose="02040502050405020303" pitchFamily="18" charset="0"/>
              </a:rPr>
              <a:t>Computational</a:t>
            </a:r>
            <a:r>
              <a:rPr lang="en-US" sz="2400" dirty="0">
                <a:latin typeface="Georgia" panose="02040502050405020303" pitchFamily="18" charset="0"/>
              </a:rPr>
              <a:t>: Models of goals and outputs (e.g. language generation, facial recognition).</a:t>
            </a:r>
          </a:p>
          <a:p>
            <a:pPr algn="just"/>
            <a:r>
              <a:rPr lang="en-US" sz="2400" b="1" dirty="0">
                <a:latin typeface="Georgia" panose="02040502050405020303" pitchFamily="18" charset="0"/>
              </a:rPr>
              <a:t>Algorithmic</a:t>
            </a:r>
            <a:r>
              <a:rPr lang="en-US" sz="2400" dirty="0">
                <a:latin typeface="Georgia" panose="02040502050405020303" pitchFamily="18" charset="0"/>
              </a:rPr>
              <a:t>: Models of mental processes (e.g. step-by-step face recognition).</a:t>
            </a:r>
          </a:p>
          <a:p>
            <a:pPr algn="just"/>
            <a:r>
              <a:rPr lang="en-US" sz="2400" b="1" dirty="0" err="1">
                <a:latin typeface="Georgia" panose="02040502050405020303" pitchFamily="18" charset="0"/>
              </a:rPr>
              <a:t>Implementational</a:t>
            </a:r>
            <a:r>
              <a:rPr lang="en-US" sz="2400" dirty="0">
                <a:latin typeface="Georgia" panose="02040502050405020303" pitchFamily="18" charset="0"/>
              </a:rPr>
              <a:t>: Models of brain activity and neural circuits.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88063812"/>
      </p:ext>
    </p:extLst>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The Cash Register</a:t>
            </a:r>
          </a:p>
        </p:txBody>
      </p:sp>
      <p:sp>
        <p:nvSpPr>
          <p:cNvPr id="3" name="Text Placeholder 2"/>
          <p:cNvSpPr>
            <a:spLocks noGrp="1"/>
          </p:cNvSpPr>
          <p:nvPr>
            <p:ph type="body" idx="1"/>
          </p:nvPr>
        </p:nvSpPr>
        <p:spPr/>
        <p:txBody>
          <a:bodyPr/>
          <a:lstStyle/>
          <a:p>
            <a:pPr marL="50800" indent="0" algn="just">
              <a:buNone/>
            </a:pPr>
            <a:r>
              <a:rPr lang="en-US" sz="2400" b="1" dirty="0">
                <a:latin typeface="Georgia" panose="02040502050405020303" pitchFamily="18" charset="0"/>
              </a:rPr>
              <a:t>Computational Level:</a:t>
            </a:r>
          </a:p>
          <a:p>
            <a:pPr algn="just"/>
            <a:r>
              <a:rPr lang="en-US" sz="2400" dirty="0">
                <a:latin typeface="Georgia" panose="02040502050405020303" pitchFamily="18" charset="0"/>
              </a:rPr>
              <a:t>Goal: </a:t>
            </a:r>
            <a:r>
              <a:rPr lang="en-US" sz="2400" b="1" dirty="0">
                <a:latin typeface="Georgia" panose="02040502050405020303" pitchFamily="18" charset="0"/>
              </a:rPr>
              <a:t>Addition</a:t>
            </a:r>
            <a:r>
              <a:rPr lang="en-US" sz="2400" dirty="0">
                <a:latin typeface="Georgia" panose="02040502050405020303" pitchFamily="18" charset="0"/>
              </a:rPr>
              <a:t> of item prices.</a:t>
            </a:r>
          </a:p>
          <a:p>
            <a:pPr algn="just"/>
            <a:r>
              <a:rPr lang="en-US" sz="2400" dirty="0">
                <a:latin typeface="Georgia" panose="02040502050405020303" pitchFamily="18" charset="0"/>
              </a:rPr>
              <a:t>Must understand </a:t>
            </a:r>
            <a:r>
              <a:rPr lang="en-US" sz="2400" b="1" dirty="0">
                <a:latin typeface="Georgia" panose="02040502050405020303" pitchFamily="18" charset="0"/>
              </a:rPr>
              <a:t>properties of addition</a:t>
            </a:r>
            <a:r>
              <a:rPr lang="en-US" sz="2400" dirty="0">
                <a:latin typeface="Georgia" panose="02040502050405020303" pitchFamily="18" charset="0"/>
              </a:rPr>
              <a:t>:</a:t>
            </a:r>
          </a:p>
          <a:p>
            <a:pPr lvl="1" algn="just"/>
            <a:r>
              <a:rPr lang="en-US" b="1" dirty="0" err="1">
                <a:latin typeface="Georgia" panose="02040502050405020303" pitchFamily="18" charset="0"/>
              </a:rPr>
              <a:t>Commutativity</a:t>
            </a:r>
            <a:r>
              <a:rPr lang="en-US" dirty="0">
                <a:latin typeface="Georgia" panose="02040502050405020303" pitchFamily="18" charset="0"/>
              </a:rPr>
              <a:t>: 3 + 4 = 4 + 3</a:t>
            </a:r>
          </a:p>
          <a:p>
            <a:pPr lvl="1" algn="just"/>
            <a:r>
              <a:rPr lang="en-US" b="1" dirty="0">
                <a:latin typeface="Georgia" panose="02040502050405020303" pitchFamily="18" charset="0"/>
              </a:rPr>
              <a:t>Associativity</a:t>
            </a:r>
            <a:r>
              <a:rPr lang="en-US" dirty="0">
                <a:latin typeface="Georgia" panose="02040502050405020303" pitchFamily="18" charset="0"/>
              </a:rPr>
              <a:t>: (3 + 4) + 5 = 3 + (4 + </a:t>
            </a:r>
            <a:r>
              <a:rPr lang="en-US" dirty="0" smtClean="0">
                <a:latin typeface="Georgia" panose="02040502050405020303" pitchFamily="18" charset="0"/>
              </a:rPr>
              <a:t>5)</a:t>
            </a:r>
          </a:p>
          <a:p>
            <a:pPr marL="50800" indent="0" algn="just">
              <a:buNone/>
            </a:pPr>
            <a:r>
              <a:rPr lang="en-US" sz="2400" b="1" dirty="0">
                <a:latin typeface="Georgia" panose="02040502050405020303" pitchFamily="18" charset="0"/>
              </a:rPr>
              <a:t>Algorithmic Level:</a:t>
            </a:r>
          </a:p>
          <a:p>
            <a:pPr algn="just"/>
            <a:r>
              <a:rPr lang="en-US" sz="2400" dirty="0">
                <a:latin typeface="Georgia" panose="02040502050405020303" pitchFamily="18" charset="0"/>
              </a:rPr>
              <a:t>Uses </a:t>
            </a:r>
            <a:r>
              <a:rPr lang="en-US" sz="2400" b="1" dirty="0">
                <a:latin typeface="Georgia" panose="02040502050405020303" pitchFamily="18" charset="0"/>
              </a:rPr>
              <a:t>Arabic numerals</a:t>
            </a:r>
            <a:r>
              <a:rPr lang="en-US" sz="2400" dirty="0">
                <a:latin typeface="Georgia" panose="02040502050405020303" pitchFamily="18" charset="0"/>
              </a:rPr>
              <a:t> and place value.</a:t>
            </a:r>
          </a:p>
          <a:p>
            <a:pPr algn="just"/>
            <a:r>
              <a:rPr lang="en-US" sz="2400" dirty="0">
                <a:latin typeface="Georgia" panose="02040502050405020303" pitchFamily="18" charset="0"/>
              </a:rPr>
              <a:t>Adds digits column by column and carries over.</a:t>
            </a:r>
          </a:p>
          <a:p>
            <a:pPr marL="50800" indent="0" algn="just">
              <a:buNone/>
            </a:pPr>
            <a:r>
              <a:rPr lang="en-US" sz="2400" b="1" dirty="0" err="1">
                <a:latin typeface="Georgia" panose="02040502050405020303" pitchFamily="18" charset="0"/>
              </a:rPr>
              <a:t>Implementational</a:t>
            </a:r>
            <a:r>
              <a:rPr lang="en-US" sz="2400" b="1" dirty="0">
                <a:latin typeface="Georgia" panose="02040502050405020303" pitchFamily="18" charset="0"/>
              </a:rPr>
              <a:t> Level:</a:t>
            </a:r>
          </a:p>
          <a:p>
            <a:pPr algn="just"/>
            <a:r>
              <a:rPr lang="en-US" sz="2400" dirty="0">
                <a:latin typeface="Georgia" panose="02040502050405020303" pitchFamily="18" charset="0"/>
              </a:rPr>
              <a:t>Performed by circuits and logic gates in the device.</a:t>
            </a:r>
          </a:p>
          <a:p>
            <a:pPr lvl="1" algn="just"/>
            <a:endParaRPr lang="en-US"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2090310628"/>
      </p:ext>
    </p:extLst>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800" indent="0" algn="just">
              <a:buNone/>
            </a:pPr>
            <a:r>
              <a:rPr lang="en-US" sz="2400" b="1" dirty="0">
                <a:latin typeface="Georgia" panose="02040502050405020303" pitchFamily="18" charset="0"/>
              </a:rPr>
              <a:t>Representational Trade-Offs</a:t>
            </a:r>
          </a:p>
          <a:p>
            <a:pPr algn="just"/>
            <a:r>
              <a:rPr lang="en-US" sz="2400" dirty="0">
                <a:latin typeface="Georgia" panose="02040502050405020303" pitchFamily="18" charset="0"/>
              </a:rPr>
              <a:t>Arabic numerals are great for computation.</a:t>
            </a:r>
          </a:p>
          <a:p>
            <a:pPr algn="just"/>
            <a:r>
              <a:rPr lang="en-US" sz="2400" dirty="0">
                <a:latin typeface="Georgia" panose="02040502050405020303" pitchFamily="18" charset="0"/>
              </a:rPr>
              <a:t>Tallies are great for counting but bad for arithmetic.</a:t>
            </a:r>
          </a:p>
          <a:p>
            <a:pPr algn="just"/>
            <a:r>
              <a:rPr lang="en-US" sz="2400" dirty="0">
                <a:latin typeface="Georgia" panose="02040502050405020303" pitchFamily="18" charset="0"/>
              </a:rPr>
              <a:t>Roman numerals are inefficient for calculations.</a:t>
            </a:r>
          </a:p>
          <a:p>
            <a:pPr algn="just"/>
            <a:r>
              <a:rPr lang="en-US" sz="2400" b="1" dirty="0">
                <a:latin typeface="Georgia" panose="02040502050405020303" pitchFamily="18" charset="0"/>
              </a:rPr>
              <a:t>Different representations influence which algorithms are practical or efficient.</a:t>
            </a:r>
            <a:endParaRPr lang="en-US"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extLst>
      <p:ext uri="{BB962C8B-B14F-4D97-AF65-F5344CB8AC3E}">
        <p14:creationId xmlns:p14="http://schemas.microsoft.com/office/powerpoint/2010/main" val="2498622291"/>
      </p:ext>
    </p:extLst>
  </p:cSld>
  <p:clrMapOvr>
    <a:masterClrMapping/>
  </p:clrMapOvr>
  <p:transition>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a:t>
            </a:r>
            <a:endParaRPr lang="en-IN" dirty="0"/>
          </a:p>
        </p:txBody>
      </p:sp>
      <p:sp>
        <p:nvSpPr>
          <p:cNvPr id="3" name="Text Placeholder 2"/>
          <p:cNvSpPr>
            <a:spLocks noGrp="1"/>
          </p:cNvSpPr>
          <p:nvPr>
            <p:ph type="body" idx="1"/>
          </p:nvPr>
        </p:nvSpPr>
        <p:spPr>
          <a:xfrm>
            <a:off x="356753" y="1405226"/>
            <a:ext cx="8427027" cy="4351338"/>
          </a:xfrm>
        </p:spPr>
        <p:txBody>
          <a:bodyPr/>
          <a:lstStyle/>
          <a:p>
            <a:pPr algn="just"/>
            <a:r>
              <a:rPr lang="en-US" sz="2400" b="1" dirty="0" smtClean="0">
                <a:latin typeface="Georgia" panose="02040502050405020303" pitchFamily="18" charset="0"/>
              </a:rPr>
              <a:t>The </a:t>
            </a:r>
            <a:r>
              <a:rPr lang="en-US" sz="2400" b="1" dirty="0">
                <a:latin typeface="Georgia" panose="02040502050405020303" pitchFamily="18" charset="0"/>
              </a:rPr>
              <a:t>mind is a complex information processing system</a:t>
            </a:r>
            <a:r>
              <a:rPr lang="en-US" sz="2400" dirty="0">
                <a:latin typeface="Georgia" panose="02040502050405020303" pitchFamily="18" charset="0"/>
              </a:rPr>
              <a:t>.</a:t>
            </a:r>
          </a:p>
          <a:p>
            <a:pPr algn="just"/>
            <a:r>
              <a:rPr lang="en-US" sz="2400" b="1" dirty="0">
                <a:latin typeface="Georgia" panose="02040502050405020303" pitchFamily="18" charset="0"/>
              </a:rPr>
              <a:t>David Marr’s Three Levels of Analysis</a:t>
            </a:r>
            <a:r>
              <a:rPr lang="en-US" sz="2400" dirty="0">
                <a:latin typeface="Georgia" panose="02040502050405020303" pitchFamily="18" charset="0"/>
              </a:rPr>
              <a:t>:</a:t>
            </a:r>
          </a:p>
          <a:p>
            <a:pPr lvl="1" algn="just"/>
            <a:r>
              <a:rPr lang="en-US" b="1" dirty="0">
                <a:latin typeface="Georgia" panose="02040502050405020303" pitchFamily="18" charset="0"/>
              </a:rPr>
              <a:t>Computational</a:t>
            </a:r>
            <a:r>
              <a:rPr lang="en-US" dirty="0">
                <a:latin typeface="Georgia" panose="02040502050405020303" pitchFamily="18" charset="0"/>
              </a:rPr>
              <a:t> (Goal/output)</a:t>
            </a:r>
          </a:p>
          <a:p>
            <a:pPr lvl="1" algn="just"/>
            <a:r>
              <a:rPr lang="en-US" b="1" dirty="0">
                <a:latin typeface="Georgia" panose="02040502050405020303" pitchFamily="18" charset="0"/>
              </a:rPr>
              <a:t>Algorithmic</a:t>
            </a:r>
            <a:r>
              <a:rPr lang="en-US" dirty="0">
                <a:latin typeface="Georgia" panose="02040502050405020303" pitchFamily="18" charset="0"/>
              </a:rPr>
              <a:t> (Process/representation)</a:t>
            </a:r>
          </a:p>
          <a:p>
            <a:pPr lvl="1" algn="just"/>
            <a:r>
              <a:rPr lang="en-US" b="1" dirty="0" err="1">
                <a:latin typeface="Georgia" panose="02040502050405020303" pitchFamily="18" charset="0"/>
              </a:rPr>
              <a:t>Implementational</a:t>
            </a:r>
            <a:r>
              <a:rPr lang="en-US" dirty="0">
                <a:latin typeface="Georgia" panose="02040502050405020303" pitchFamily="18" charset="0"/>
              </a:rPr>
              <a:t> (Physical system)</a:t>
            </a:r>
          </a:p>
          <a:p>
            <a:pPr algn="just"/>
            <a:r>
              <a:rPr lang="en-US" sz="2400" b="1" dirty="0">
                <a:latin typeface="Georgia" panose="02040502050405020303" pitchFamily="18" charset="0"/>
              </a:rPr>
              <a:t>Representation trade-offs</a:t>
            </a:r>
            <a:r>
              <a:rPr lang="en-US" sz="2400" dirty="0">
                <a:latin typeface="Georgia" panose="02040502050405020303" pitchFamily="18" charset="0"/>
              </a:rPr>
              <a:t>:</a:t>
            </a:r>
          </a:p>
          <a:p>
            <a:pPr lvl="1" algn="just"/>
            <a:r>
              <a:rPr lang="en-US" dirty="0">
                <a:latin typeface="Georgia" panose="02040502050405020303" pitchFamily="18" charset="0"/>
              </a:rPr>
              <a:t>Choice of representation affects choice of algorithm.</a:t>
            </a:r>
          </a:p>
          <a:p>
            <a:pPr algn="just"/>
            <a:r>
              <a:rPr lang="en-US" sz="2400" b="1" dirty="0">
                <a:latin typeface="Georgia" panose="02040502050405020303" pitchFamily="18" charset="0"/>
              </a:rPr>
              <a:t>Modeling at each level</a:t>
            </a:r>
            <a:r>
              <a:rPr lang="en-US" sz="2400" dirty="0">
                <a:latin typeface="Georgia" panose="02040502050405020303" pitchFamily="18" charset="0"/>
              </a:rPr>
              <a:t> helps us understand and test cognitive systems.</a:t>
            </a:r>
          </a:p>
          <a:p>
            <a:pPr algn="just"/>
            <a:r>
              <a:rPr lang="en-US" sz="2400" b="1" dirty="0">
                <a:latin typeface="Georgia" panose="02040502050405020303" pitchFamily="18" charset="0"/>
              </a:rPr>
              <a:t>Multiple implementations</a:t>
            </a:r>
            <a:r>
              <a:rPr lang="en-US" sz="2400" dirty="0">
                <a:latin typeface="Georgia" panose="02040502050405020303" pitchFamily="18" charset="0"/>
              </a:rPr>
              <a:t> and </a:t>
            </a:r>
            <a:r>
              <a:rPr lang="en-US" sz="2400" b="1" dirty="0">
                <a:latin typeface="Georgia" panose="02040502050405020303" pitchFamily="18" charset="0"/>
              </a:rPr>
              <a:t>algorithms</a:t>
            </a:r>
            <a:r>
              <a:rPr lang="en-US" sz="2400" dirty="0">
                <a:latin typeface="Georgia" panose="02040502050405020303" pitchFamily="18" charset="0"/>
              </a:rPr>
              <a:t> can produce the same computational result.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524688645"/>
      </p:ext>
    </p:extLst>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a:solidFill>
                  <a:srgbClr val="FF0000"/>
                </a:solidFill>
                <a:latin typeface="Bell MT" panose="02020503060305020303" pitchFamily="18" charset="0"/>
              </a:rPr>
              <a:t>Cognitive </a:t>
            </a:r>
            <a:r>
              <a:rPr lang="en-IN" dirty="0" smtClean="0">
                <a:solidFill>
                  <a:srgbClr val="FF0000"/>
                </a:solidFill>
                <a:latin typeface="Bell MT" panose="02020503060305020303" pitchFamily="18" charset="0"/>
              </a:rPr>
              <a:t>Science </a:t>
            </a:r>
            <a:endParaRPr lang="en-IN" dirty="0">
              <a:solidFill>
                <a:srgbClr val="FF0000"/>
              </a:solidFill>
              <a:latin typeface="Bell MT" panose="02020503060305020303" pitchFamily="18" charset="0"/>
            </a:endParaRPr>
          </a:p>
        </p:txBody>
      </p:sp>
      <p:sp>
        <p:nvSpPr>
          <p:cNvPr id="6" name="Subtitle 5"/>
          <p:cNvSpPr>
            <a:spLocks noGrp="1"/>
          </p:cNvSpPr>
          <p:nvPr>
            <p:ph type="subTitle" idx="1"/>
          </p:nvPr>
        </p:nvSpPr>
        <p:spPr/>
        <p:txBody>
          <a:bodyPr/>
          <a:lstStyle/>
          <a:p>
            <a:r>
              <a:rPr lang="en-IN" sz="4000" b="1" dirty="0" smtClean="0">
                <a:solidFill>
                  <a:schemeClr val="accent1">
                    <a:lumMod val="75000"/>
                  </a:schemeClr>
                </a:solidFill>
              </a:rPr>
              <a:t>History- Self Study</a:t>
            </a:r>
            <a:endParaRPr lang="en-IN" sz="4000" b="1" dirty="0">
              <a:solidFill>
                <a:schemeClr val="accent1">
                  <a:lumMod val="75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1286241793"/>
      </p:ext>
    </p:extLst>
  </p:cSld>
  <p:clrMapOvr>
    <a:masterClrMapping/>
  </p:clrMapOvr>
  <p:transition>
    <p:wipe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a:solidFill>
                  <a:srgbClr val="FF0000"/>
                </a:solidFill>
                <a:latin typeface="Bell MT" panose="02020503060305020303" pitchFamily="18" charset="0"/>
              </a:rPr>
              <a:t>Cognitive </a:t>
            </a:r>
            <a:r>
              <a:rPr lang="en-IN" dirty="0" smtClean="0">
                <a:solidFill>
                  <a:srgbClr val="FF0000"/>
                </a:solidFill>
                <a:latin typeface="Bell MT" panose="02020503060305020303" pitchFamily="18" charset="0"/>
              </a:rPr>
              <a:t>Science </a:t>
            </a:r>
            <a:endParaRPr lang="en-IN" dirty="0">
              <a:solidFill>
                <a:srgbClr val="FF0000"/>
              </a:solidFill>
              <a:latin typeface="Bell MT" panose="02020503060305020303" pitchFamily="18" charset="0"/>
            </a:endParaRPr>
          </a:p>
        </p:txBody>
      </p:sp>
      <p:sp>
        <p:nvSpPr>
          <p:cNvPr id="6" name="Subtitle 5"/>
          <p:cNvSpPr>
            <a:spLocks noGrp="1"/>
          </p:cNvSpPr>
          <p:nvPr>
            <p:ph type="subTitle" idx="1"/>
          </p:nvPr>
        </p:nvSpPr>
        <p:spPr/>
        <p:txBody>
          <a:bodyPr/>
          <a:lstStyle/>
          <a:p>
            <a:r>
              <a:rPr lang="en-IN" sz="4000" b="1" dirty="0">
                <a:solidFill>
                  <a:schemeClr val="accent1">
                    <a:lumMod val="75000"/>
                  </a:schemeClr>
                </a:solidFill>
              </a:rPr>
              <a:t>The Interdisciplinary Perspective</a:t>
            </a:r>
            <a:endParaRPr lang="en-IN" sz="4000" b="1" dirty="0">
              <a:solidFill>
                <a:schemeClr val="accent1">
                  <a:lumMod val="75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3775719754"/>
      </p:ext>
    </p:extLst>
  </p:cSld>
  <p:clrMapOvr>
    <a:masterClrMapping/>
  </p:clrMapOvr>
  <p:transition>
    <p:wipe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73" y="90488"/>
            <a:ext cx="8812934" cy="990599"/>
          </a:xfrm>
        </p:spPr>
        <p:txBody>
          <a:bodyPr/>
          <a:lstStyle/>
          <a:p>
            <a:r>
              <a:rPr lang="en-IN" b="1" dirty="0">
                <a:solidFill>
                  <a:schemeClr val="accent1">
                    <a:lumMod val="75000"/>
                  </a:schemeClr>
                </a:solidFill>
              </a:rPr>
              <a:t>The </a:t>
            </a:r>
            <a:r>
              <a:rPr lang="en-IN" b="1" dirty="0" smtClean="0">
                <a:solidFill>
                  <a:schemeClr val="accent1">
                    <a:lumMod val="75000"/>
                  </a:schemeClr>
                </a:solidFill>
              </a:rPr>
              <a:t>Interdisciplinary</a:t>
            </a:r>
            <a:br>
              <a:rPr lang="en-IN" b="1" dirty="0" smtClean="0">
                <a:solidFill>
                  <a:schemeClr val="accent1">
                    <a:lumMod val="75000"/>
                  </a:schemeClr>
                </a:solidFill>
              </a:rPr>
            </a:br>
            <a:r>
              <a:rPr lang="en-IN" b="1" dirty="0" smtClean="0">
                <a:solidFill>
                  <a:schemeClr val="accent1">
                    <a:lumMod val="75000"/>
                  </a:schemeClr>
                </a:solidFill>
              </a:rPr>
              <a:t>Perspective</a:t>
            </a:r>
            <a:endParaRPr lang="en-IN" dirty="0"/>
          </a:p>
        </p:txBody>
      </p:sp>
      <p:sp>
        <p:nvSpPr>
          <p:cNvPr id="3" name="Text Placeholder 2"/>
          <p:cNvSpPr>
            <a:spLocks noGrp="1"/>
          </p:cNvSpPr>
          <p:nvPr>
            <p:ph type="body" idx="1"/>
          </p:nvPr>
        </p:nvSpPr>
        <p:spPr>
          <a:xfrm>
            <a:off x="158173" y="1198418"/>
            <a:ext cx="8812934" cy="5157931"/>
          </a:xfrm>
        </p:spPr>
        <p:txBody>
          <a:bodyPr/>
          <a:lstStyle/>
          <a:p>
            <a:pPr algn="just"/>
            <a:r>
              <a:rPr lang="en-US" sz="2100" dirty="0">
                <a:latin typeface="Georgia" panose="02040502050405020303" pitchFamily="18" charset="0"/>
              </a:rPr>
              <a:t>There is an old fable about five blind men who stumble upon an </a:t>
            </a:r>
            <a:r>
              <a:rPr lang="en-US" sz="2100" dirty="0" smtClean="0">
                <a:latin typeface="Georgia" panose="02040502050405020303" pitchFamily="18" charset="0"/>
              </a:rPr>
              <a:t>elephant.</a:t>
            </a:r>
          </a:p>
          <a:p>
            <a:pPr algn="just"/>
            <a:r>
              <a:rPr lang="en-US" sz="2100" dirty="0" smtClean="0">
                <a:latin typeface="Georgia" panose="02040502050405020303" pitchFamily="18" charset="0"/>
              </a:rPr>
              <a:t>Not </a:t>
            </a:r>
            <a:r>
              <a:rPr lang="en-US" sz="2100" dirty="0">
                <a:latin typeface="Georgia" panose="02040502050405020303" pitchFamily="18" charset="0"/>
              </a:rPr>
              <a:t>knowing what it is, they start to feel the animal. </a:t>
            </a:r>
            <a:endParaRPr lang="en-US" sz="2100" dirty="0" smtClean="0">
              <a:latin typeface="Georgia" panose="02040502050405020303" pitchFamily="18" charset="0"/>
            </a:endParaRPr>
          </a:p>
          <a:p>
            <a:pPr algn="just"/>
            <a:r>
              <a:rPr lang="en-US" sz="2100" dirty="0" smtClean="0">
                <a:latin typeface="Georgia" panose="02040502050405020303" pitchFamily="18" charset="0"/>
              </a:rPr>
              <a:t>One </a:t>
            </a:r>
            <a:r>
              <a:rPr lang="en-US" sz="2100" dirty="0">
                <a:latin typeface="Georgia" panose="02040502050405020303" pitchFamily="18" charset="0"/>
              </a:rPr>
              <a:t>man feels only the elephant’s tusk and thinks he is feeling a giant carrot. </a:t>
            </a:r>
            <a:endParaRPr lang="en-US" sz="2100" dirty="0" smtClean="0">
              <a:latin typeface="Georgia" panose="02040502050405020303" pitchFamily="18" charset="0"/>
            </a:endParaRPr>
          </a:p>
          <a:p>
            <a:pPr algn="just"/>
            <a:r>
              <a:rPr lang="en-US" sz="2100" dirty="0" smtClean="0">
                <a:latin typeface="Georgia" panose="02040502050405020303" pitchFamily="18" charset="0"/>
              </a:rPr>
              <a:t>A </a:t>
            </a:r>
            <a:r>
              <a:rPr lang="en-US" sz="2100" dirty="0">
                <a:latin typeface="Georgia" panose="02040502050405020303" pitchFamily="18" charset="0"/>
              </a:rPr>
              <a:t>second man feeling the ears, believes the object is a big fan. </a:t>
            </a:r>
            <a:endParaRPr lang="en-US" sz="2100" dirty="0" smtClean="0">
              <a:latin typeface="Georgia" panose="02040502050405020303" pitchFamily="18" charset="0"/>
            </a:endParaRPr>
          </a:p>
          <a:p>
            <a:pPr algn="just"/>
            <a:r>
              <a:rPr lang="en-US" sz="2100" dirty="0" smtClean="0">
                <a:latin typeface="Georgia" panose="02040502050405020303" pitchFamily="18" charset="0"/>
              </a:rPr>
              <a:t>The </a:t>
            </a:r>
            <a:r>
              <a:rPr lang="en-US" sz="2100" dirty="0">
                <a:latin typeface="Georgia" panose="02040502050405020303" pitchFamily="18" charset="0"/>
              </a:rPr>
              <a:t>third feels the trunk and proclaims it is a pestle, while a fourth touching only the leg believes it is a mortar. </a:t>
            </a:r>
            <a:endParaRPr lang="en-US" sz="2100" dirty="0" smtClean="0">
              <a:latin typeface="Georgia" panose="02040502050405020303" pitchFamily="18" charset="0"/>
            </a:endParaRPr>
          </a:p>
          <a:p>
            <a:pPr algn="just"/>
            <a:r>
              <a:rPr lang="en-US" sz="2100" dirty="0" smtClean="0">
                <a:latin typeface="Georgia" panose="02040502050405020303" pitchFamily="18" charset="0"/>
              </a:rPr>
              <a:t>The </a:t>
            </a:r>
            <a:r>
              <a:rPr lang="en-US" sz="2100" dirty="0">
                <a:latin typeface="Georgia" panose="02040502050405020303" pitchFamily="18" charset="0"/>
              </a:rPr>
              <a:t>fifth man, touching the tail, has yet another opinion: he believes it to be a rope. </a:t>
            </a:r>
            <a:endParaRPr lang="en-US" sz="2100" dirty="0" smtClean="0">
              <a:latin typeface="Georgia" panose="02040502050405020303" pitchFamily="18" charset="0"/>
            </a:endParaRPr>
          </a:p>
          <a:p>
            <a:pPr algn="just"/>
            <a:r>
              <a:rPr lang="en-US" sz="2100" dirty="0">
                <a:latin typeface="Georgia" panose="02040502050405020303" pitchFamily="18" charset="0"/>
              </a:rPr>
              <a:t>Obviously, all five men are wrong in their conclusions because each has only examined one aspect of the elephant</a:t>
            </a:r>
            <a:r>
              <a:rPr lang="en-US" sz="2100" dirty="0" smtClean="0">
                <a:latin typeface="Georgia" panose="02040502050405020303" pitchFamily="18" charset="0"/>
              </a:rPr>
              <a:t>.</a:t>
            </a:r>
          </a:p>
          <a:p>
            <a:pPr algn="just"/>
            <a:r>
              <a:rPr lang="en-US" sz="2100" dirty="0">
                <a:latin typeface="Georgia" panose="02040502050405020303" pitchFamily="18" charset="0"/>
              </a:rPr>
              <a:t>If the five men had gotten together and shared their findings, they may have easily pieced together what kind of creature it was. </a:t>
            </a:r>
            <a:endParaRPr lang="en-IN" sz="2100" dirty="0">
              <a:latin typeface="Georgia" panose="02040502050405020303" pitchFamily="18" charset="0"/>
            </a:endParaRPr>
          </a:p>
          <a:p>
            <a:pPr marL="50800" indent="0" algn="just">
              <a:buNone/>
            </a:pPr>
            <a:endParaRPr lang="en-IN" sz="21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extLst>
      <p:ext uri="{BB962C8B-B14F-4D97-AF65-F5344CB8AC3E}">
        <p14:creationId xmlns:p14="http://schemas.microsoft.com/office/powerpoint/2010/main" val="369008527"/>
      </p:ext>
    </p:extLst>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smtClean="0"/>
              <a:t>Think </a:t>
            </a:r>
            <a:r>
              <a:rPr lang="en-US" dirty="0"/>
              <a:t>of the elephant as the mind and the blind men as researchers in different disciplines in cognitive science. </a:t>
            </a:r>
            <a:endParaRPr lang="en-US" dirty="0" smtClean="0"/>
          </a:p>
          <a:p>
            <a:r>
              <a:rPr lang="en-US" dirty="0" smtClean="0"/>
              <a:t>Each </a:t>
            </a:r>
            <a:r>
              <a:rPr lang="en-US" dirty="0"/>
              <a:t>individual </a:t>
            </a:r>
            <a:r>
              <a:rPr lang="en-US" dirty="0" smtClean="0"/>
              <a:t>discipline </a:t>
            </a:r>
            <a:r>
              <a:rPr lang="en-US" dirty="0"/>
              <a:t>may make great strides in understanding its particular subject matter, but, if it cannot compare its results to those of other related disciplines, may miss out on understanding the real nature of what it is that is being investigated.</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3039611269"/>
      </p:ext>
    </p:extLst>
  </p:cSld>
  <p:clrMapOvr>
    <a:masterClrMapping/>
  </p:clrMapOvr>
  <p:transition>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95300" y="1516062"/>
            <a:ext cx="8648700" cy="4351338"/>
          </a:xfrm>
        </p:spPr>
        <p:txBody>
          <a:bodyPr/>
          <a:lstStyle/>
          <a:p>
            <a:pPr algn="just"/>
            <a:r>
              <a:rPr lang="en-US" sz="2000" dirty="0">
                <a:latin typeface="Georgia" panose="02040502050405020303" pitchFamily="18" charset="0"/>
              </a:rPr>
              <a:t>A number of major universities have established interdisciplinary </a:t>
            </a:r>
            <a:r>
              <a:rPr lang="en-US" sz="2000" dirty="0" smtClean="0">
                <a:latin typeface="Georgia" panose="02040502050405020303" pitchFamily="18" charset="0"/>
              </a:rPr>
              <a:t>cognitive </a:t>
            </a:r>
            <a:r>
              <a:rPr lang="en-US" sz="2000" dirty="0">
                <a:latin typeface="Georgia" panose="02040502050405020303" pitchFamily="18" charset="0"/>
              </a:rPr>
              <a:t>science centers, where researchers in such diverse areas as philosophy, neuroscience, and cognitive psychology are encouraged to work together on </a:t>
            </a:r>
            <a:r>
              <a:rPr lang="en-US" sz="2000" dirty="0" smtClean="0">
                <a:latin typeface="Georgia" panose="02040502050405020303" pitchFamily="18" charset="0"/>
              </a:rPr>
              <a:t>common </a:t>
            </a:r>
            <a:r>
              <a:rPr lang="en-US" sz="2000" dirty="0">
                <a:latin typeface="Georgia" panose="02040502050405020303" pitchFamily="18" charset="0"/>
              </a:rPr>
              <a:t>problems. </a:t>
            </a:r>
            <a:endParaRPr lang="en-US" sz="2000" dirty="0" smtClean="0">
              <a:latin typeface="Georgia" panose="02040502050405020303" pitchFamily="18" charset="0"/>
            </a:endParaRPr>
          </a:p>
          <a:p>
            <a:pPr algn="just"/>
            <a:r>
              <a:rPr lang="en-US" sz="2000" dirty="0" smtClean="0">
                <a:latin typeface="Georgia" panose="02040502050405020303" pitchFamily="18" charset="0"/>
              </a:rPr>
              <a:t>Each </a:t>
            </a:r>
            <a:r>
              <a:rPr lang="en-US" sz="2000" dirty="0">
                <a:latin typeface="Georgia" panose="02040502050405020303" pitchFamily="18" charset="0"/>
              </a:rPr>
              <a:t>area can then contribute its unique strength to the </a:t>
            </a:r>
            <a:r>
              <a:rPr lang="en-US" sz="2000" dirty="0" smtClean="0">
                <a:latin typeface="Georgia" panose="02040502050405020303" pitchFamily="18" charset="0"/>
              </a:rPr>
              <a:t>phenomenon </a:t>
            </a:r>
            <a:r>
              <a:rPr lang="en-US" sz="2000" dirty="0">
                <a:latin typeface="Georgia" panose="02040502050405020303" pitchFamily="18" charset="0"/>
              </a:rPr>
              <a:t>under study. The philosophers can pose broad questions and hypotheses, the neuroscientists can measure physiological performance and brain activity, while the cognitive psychologists can design and carry out experiments</a:t>
            </a:r>
            <a:r>
              <a:rPr lang="en-US" sz="2000" dirty="0" smtClean="0">
                <a:latin typeface="Georgia" panose="02040502050405020303" pitchFamily="18" charset="0"/>
              </a:rPr>
              <a:t>.</a:t>
            </a:r>
          </a:p>
          <a:p>
            <a:pPr algn="just"/>
            <a:r>
              <a:rPr lang="en-US" sz="2000" dirty="0">
                <a:latin typeface="Georgia" panose="02040502050405020303" pitchFamily="18" charset="0"/>
              </a:rPr>
              <a:t>The  consequent exchange of results and ideas then leads to fruitful </a:t>
            </a:r>
            <a:r>
              <a:rPr lang="en-US" sz="2000" dirty="0" smtClean="0">
                <a:latin typeface="Georgia" panose="02040502050405020303" pitchFamily="18" charset="0"/>
              </a:rPr>
              <a:t>synergies  </a:t>
            </a:r>
            <a:r>
              <a:rPr lang="en-US" sz="2000" dirty="0">
                <a:latin typeface="Georgia" panose="02040502050405020303" pitchFamily="18" charset="0"/>
              </a:rPr>
              <a:t>between these disciplines, accelerating progress with respect to finding </a:t>
            </a:r>
            <a:r>
              <a:rPr lang="en-US" sz="2000" dirty="0" smtClean="0">
                <a:latin typeface="Georgia" panose="02040502050405020303" pitchFamily="18" charset="0"/>
              </a:rPr>
              <a:t>solutions  </a:t>
            </a:r>
            <a:r>
              <a:rPr lang="en-US" sz="2000" dirty="0">
                <a:latin typeface="Georgia" panose="02040502050405020303" pitchFamily="18" charset="0"/>
              </a:rPr>
              <a:t>to the problem and yielding insights into other research questions.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2093045255"/>
      </p:ext>
    </p:extLst>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Philosophical Approach</a:t>
            </a:r>
          </a:p>
        </p:txBody>
      </p:sp>
      <p:sp>
        <p:nvSpPr>
          <p:cNvPr id="3" name="Text Placeholder 2"/>
          <p:cNvSpPr>
            <a:spLocks noGrp="1"/>
          </p:cNvSpPr>
          <p:nvPr>
            <p:ph type="body" idx="1"/>
          </p:nvPr>
        </p:nvSpPr>
        <p:spPr>
          <a:xfrm>
            <a:off x="495299" y="1516062"/>
            <a:ext cx="8510155" cy="4351338"/>
          </a:xfrm>
        </p:spPr>
        <p:txBody>
          <a:bodyPr/>
          <a:lstStyle/>
          <a:p>
            <a:pPr algn="just"/>
            <a:r>
              <a:rPr lang="en-US" dirty="0" smtClean="0"/>
              <a:t>Philosophers </a:t>
            </a:r>
            <a:r>
              <a:rPr lang="en-US" dirty="0"/>
              <a:t>have been active through out much of recorded human history, attempting to formulate and to answer basic questions about the universe. </a:t>
            </a:r>
            <a:endParaRPr lang="en-US" dirty="0" smtClean="0"/>
          </a:p>
          <a:p>
            <a:pPr algn="just"/>
            <a:r>
              <a:rPr lang="en-US" dirty="0"/>
              <a:t>Philosophers of mind narrow their focus to specific problems concerning the nature and the characteristics of mind. They might ask questions like: What is mind? How do we come to know things? How is mental knowledge organized</a:t>
            </a:r>
            <a:r>
              <a:rPr lang="en-US" dirty="0" smtClean="0"/>
              <a:t>?</a:t>
            </a:r>
          </a:p>
          <a:p>
            <a:pPr algn="just"/>
            <a:r>
              <a:rPr lang="en-US" dirty="0"/>
              <a:t>The primary method of philosophical inquiry is reasoning, both deductive and inductive.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809363501"/>
      </p:ext>
    </p:extLst>
  </p:cSld>
  <p:clrMapOvr>
    <a:masterClrMapping/>
  </p:clrMapOvr>
  <p:transition>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Deductive </a:t>
            </a:r>
            <a:r>
              <a:rPr lang="en-IN" dirty="0" smtClean="0"/>
              <a:t>Reasoning</a:t>
            </a:r>
            <a:endParaRPr lang="en-IN" dirty="0"/>
          </a:p>
        </p:txBody>
      </p:sp>
      <p:sp>
        <p:nvSpPr>
          <p:cNvPr id="3" name="Text Placeholder 2"/>
          <p:cNvSpPr>
            <a:spLocks noGrp="1"/>
          </p:cNvSpPr>
          <p:nvPr>
            <p:ph type="body" idx="1"/>
          </p:nvPr>
        </p:nvSpPr>
        <p:spPr>
          <a:xfrm>
            <a:off x="495300" y="1516062"/>
            <a:ext cx="8648700" cy="4351338"/>
          </a:xfrm>
        </p:spPr>
        <p:txBody>
          <a:bodyPr/>
          <a:lstStyle/>
          <a:p>
            <a:pPr algn="just"/>
            <a:r>
              <a:rPr lang="en-US" sz="2400" dirty="0">
                <a:latin typeface="Georgia" panose="02040502050405020303" pitchFamily="18" charset="0"/>
              </a:rPr>
              <a:t>Deductive reasoning involves the application of the rules of logic to statements about the world. </a:t>
            </a:r>
            <a:endParaRPr lang="en-US" sz="2400" dirty="0" smtClean="0">
              <a:latin typeface="Georgia" panose="02040502050405020303" pitchFamily="18" charset="0"/>
            </a:endParaRPr>
          </a:p>
          <a:p>
            <a:pPr algn="just"/>
            <a:r>
              <a:rPr lang="en-US" sz="2400" dirty="0" smtClean="0">
                <a:latin typeface="Georgia" panose="02040502050405020303" pitchFamily="18" charset="0"/>
              </a:rPr>
              <a:t>Given </a:t>
            </a:r>
            <a:r>
              <a:rPr lang="en-US" sz="2400" dirty="0">
                <a:latin typeface="Georgia" panose="02040502050405020303" pitchFamily="18" charset="0"/>
              </a:rPr>
              <a:t>an initial set of statements assumed to be true, philosophers can derive other statements that logically must be correct. </a:t>
            </a:r>
            <a:endParaRPr lang="en-US" sz="2400" dirty="0" smtClean="0">
              <a:latin typeface="Georgia" panose="02040502050405020303" pitchFamily="18" charset="0"/>
            </a:endParaRPr>
          </a:p>
          <a:p>
            <a:pPr algn="just"/>
            <a:r>
              <a:rPr lang="en-US" sz="2400" dirty="0" smtClean="0">
                <a:latin typeface="Georgia" panose="02040502050405020303" pitchFamily="18" charset="0"/>
              </a:rPr>
              <a:t>For </a:t>
            </a:r>
            <a:r>
              <a:rPr lang="en-US" sz="2400" dirty="0">
                <a:latin typeface="Georgia" panose="02040502050405020303" pitchFamily="18" charset="0"/>
              </a:rPr>
              <a:t>example, if the statement “College students study three hours every night” is true and the statement “Mary is a college student” is true, we can then con </a:t>
            </a:r>
            <a:r>
              <a:rPr lang="en-US" sz="2400" dirty="0" err="1">
                <a:latin typeface="Georgia" panose="02040502050405020303" pitchFamily="18" charset="0"/>
              </a:rPr>
              <a:t>clude</a:t>
            </a:r>
            <a:r>
              <a:rPr lang="en-US" sz="2400" dirty="0">
                <a:latin typeface="Georgia" panose="02040502050405020303" pitchFamily="18" charset="0"/>
              </a:rPr>
              <a:t> that “Mary will study three hours every night.” </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319535444"/>
      </p:ext>
    </p:extLst>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Inductive Reasoning</a:t>
            </a:r>
            <a:endParaRPr lang="en-IN" dirty="0"/>
          </a:p>
        </p:txBody>
      </p:sp>
      <p:sp>
        <p:nvSpPr>
          <p:cNvPr id="3" name="Text Placeholder 2"/>
          <p:cNvSpPr>
            <a:spLocks noGrp="1"/>
          </p:cNvSpPr>
          <p:nvPr>
            <p:ph type="body" idx="1"/>
          </p:nvPr>
        </p:nvSpPr>
        <p:spPr>
          <a:xfrm>
            <a:off x="495299" y="1516062"/>
            <a:ext cx="8510155" cy="4351338"/>
          </a:xfrm>
        </p:spPr>
        <p:txBody>
          <a:bodyPr/>
          <a:lstStyle/>
          <a:p>
            <a:pPr algn="just"/>
            <a:r>
              <a:rPr lang="en-US" sz="2400" dirty="0" smtClean="0">
                <a:latin typeface="Georgia" panose="02040502050405020303" pitchFamily="18" charset="0"/>
              </a:rPr>
              <a:t>They </a:t>
            </a:r>
            <a:r>
              <a:rPr lang="en-US" sz="2400" dirty="0">
                <a:latin typeface="Georgia" panose="02040502050405020303" pitchFamily="18" charset="0"/>
              </a:rPr>
              <a:t>make observations about specific instances in the world, notice commonalities among them, and draw conclusions. </a:t>
            </a:r>
            <a:endParaRPr lang="en-US" sz="2400" dirty="0" smtClean="0">
              <a:latin typeface="Georgia" panose="02040502050405020303" pitchFamily="18" charset="0"/>
            </a:endParaRPr>
          </a:p>
          <a:p>
            <a:pPr algn="just"/>
            <a:r>
              <a:rPr lang="en-US" sz="2400" dirty="0" smtClean="0">
                <a:latin typeface="Georgia" panose="02040502050405020303" pitchFamily="18" charset="0"/>
              </a:rPr>
              <a:t>An </a:t>
            </a:r>
            <a:r>
              <a:rPr lang="en-US" sz="2400" dirty="0">
                <a:latin typeface="Georgia" panose="02040502050405020303" pitchFamily="18" charset="0"/>
              </a:rPr>
              <a:t>example of inductive reasoning would be: “Whiskers the cat has four legs,” “Scruffy the cat has four legs,” therefore “All cats have four legs.” </a:t>
            </a:r>
            <a:endParaRPr lang="en-US" sz="2400" dirty="0" smtClean="0">
              <a:latin typeface="Georgia" panose="02040502050405020303" pitchFamily="18" charset="0"/>
            </a:endParaRPr>
          </a:p>
          <a:p>
            <a:pPr algn="just"/>
            <a:r>
              <a:rPr lang="en-US" sz="2400" dirty="0" smtClean="0">
                <a:latin typeface="Georgia" panose="02040502050405020303" pitchFamily="18" charset="0"/>
              </a:rPr>
              <a:t>However</a:t>
            </a:r>
            <a:r>
              <a:rPr lang="en-US" sz="2400" dirty="0">
                <a:latin typeface="Georgia" panose="02040502050405020303" pitchFamily="18" charset="0"/>
              </a:rPr>
              <a:t>, philosophers do not use a systematic form of induction known as the scientific method. That is employed within the other cognitive science disciplines.</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847341873"/>
      </p:ext>
    </p:extLst>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Psychological </a:t>
            </a:r>
            <a:r>
              <a:rPr lang="en-IN" dirty="0" smtClean="0"/>
              <a:t>Approach</a:t>
            </a:r>
            <a:endParaRPr lang="en-IN" dirty="0"/>
          </a:p>
        </p:txBody>
      </p:sp>
      <p:sp>
        <p:nvSpPr>
          <p:cNvPr id="3" name="Text Placeholder 2"/>
          <p:cNvSpPr>
            <a:spLocks noGrp="1"/>
          </p:cNvSpPr>
          <p:nvPr>
            <p:ph type="body" idx="1"/>
          </p:nvPr>
        </p:nvSpPr>
        <p:spPr>
          <a:xfrm>
            <a:off x="495300" y="1516062"/>
            <a:ext cx="8496300" cy="4351338"/>
          </a:xfrm>
        </p:spPr>
        <p:txBody>
          <a:bodyPr/>
          <a:lstStyle/>
          <a:p>
            <a:pPr algn="just"/>
            <a:r>
              <a:rPr lang="en-US" sz="2400" dirty="0">
                <a:latin typeface="Georgia" panose="02040502050405020303" pitchFamily="18" charset="0"/>
              </a:rPr>
              <a:t>Early psychologists established </a:t>
            </a:r>
            <a:r>
              <a:rPr lang="en-US" sz="2400" dirty="0" smtClean="0">
                <a:latin typeface="Georgia" panose="02040502050405020303" pitchFamily="18" charset="0"/>
              </a:rPr>
              <a:t>experimental </a:t>
            </a:r>
            <a:r>
              <a:rPr lang="en-US" sz="2400" dirty="0">
                <a:latin typeface="Georgia" panose="02040502050405020303" pitchFamily="18" charset="0"/>
              </a:rPr>
              <a:t>laboratories that would enable them to catalog mental ideas and to </a:t>
            </a:r>
            <a:r>
              <a:rPr lang="en-US" sz="2400" dirty="0" smtClean="0">
                <a:latin typeface="Georgia" panose="02040502050405020303" pitchFamily="18" charset="0"/>
              </a:rPr>
              <a:t>investigate </a:t>
            </a:r>
            <a:r>
              <a:rPr lang="en-US" sz="2400" dirty="0">
                <a:latin typeface="Georgia" panose="02040502050405020303" pitchFamily="18" charset="0"/>
              </a:rPr>
              <a:t>various mental capacities, such as vision and memory. </a:t>
            </a:r>
            <a:endParaRPr lang="en-US" sz="2400" dirty="0" smtClean="0">
              <a:latin typeface="Georgia" panose="02040502050405020303" pitchFamily="18" charset="0"/>
            </a:endParaRPr>
          </a:p>
          <a:p>
            <a:pPr algn="just"/>
            <a:r>
              <a:rPr lang="en-US" sz="2400" dirty="0" smtClean="0">
                <a:latin typeface="Georgia" panose="02040502050405020303" pitchFamily="18" charset="0"/>
              </a:rPr>
              <a:t>Psychologists </a:t>
            </a:r>
            <a:r>
              <a:rPr lang="en-US" sz="2400" dirty="0">
                <a:latin typeface="Georgia" panose="02040502050405020303" pitchFamily="18" charset="0"/>
              </a:rPr>
              <a:t>apply the scientific method to both mind and behavior. </a:t>
            </a:r>
            <a:endParaRPr lang="en-US" sz="2400" dirty="0" smtClean="0">
              <a:latin typeface="Georgia" panose="02040502050405020303" pitchFamily="18" charset="0"/>
            </a:endParaRPr>
          </a:p>
          <a:p>
            <a:pPr algn="just"/>
            <a:r>
              <a:rPr lang="en-US" sz="2400" dirty="0" smtClean="0">
                <a:latin typeface="Georgia" panose="02040502050405020303" pitchFamily="18" charset="0"/>
              </a:rPr>
              <a:t>That </a:t>
            </a:r>
            <a:r>
              <a:rPr lang="en-US" sz="2400" dirty="0">
                <a:latin typeface="Georgia" panose="02040502050405020303" pitchFamily="18" charset="0"/>
              </a:rPr>
              <a:t>is, they attempt to understand not just internal mental phenomena, such as thoughts, but also the external behaviors that these internal phenomena can give rise to.</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4268381258"/>
      </p:ext>
    </p:extLst>
  </p:cSld>
  <p:clrMapOvr>
    <a:masterClrMapping/>
  </p:clrMapOvr>
  <p:transition>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gn="just"/>
            <a:r>
              <a:rPr lang="en-US" sz="2400" dirty="0">
                <a:latin typeface="Georgia" panose="02040502050405020303" pitchFamily="18" charset="0"/>
              </a:rPr>
              <a:t>The scientific method is a way of getting hold of valid knowledge about the world. </a:t>
            </a:r>
            <a:endParaRPr lang="en-US" sz="2400" dirty="0" smtClean="0">
              <a:latin typeface="Georgia" panose="02040502050405020303" pitchFamily="18" charset="0"/>
            </a:endParaRPr>
          </a:p>
          <a:p>
            <a:pPr algn="just"/>
            <a:r>
              <a:rPr lang="en-US" sz="2400" dirty="0" smtClean="0">
                <a:latin typeface="Georgia" panose="02040502050405020303" pitchFamily="18" charset="0"/>
              </a:rPr>
              <a:t>One </a:t>
            </a:r>
            <a:r>
              <a:rPr lang="en-US" sz="2400" dirty="0">
                <a:latin typeface="Georgia" panose="02040502050405020303" pitchFamily="18" charset="0"/>
              </a:rPr>
              <a:t>starts with a hypothesis or idea about how the world works and then designs an experiment to see if the hypothesis has validity. </a:t>
            </a:r>
            <a:endParaRPr lang="en-US" sz="2400" dirty="0" smtClean="0">
              <a:latin typeface="Georgia" panose="02040502050405020303" pitchFamily="18" charset="0"/>
            </a:endParaRPr>
          </a:p>
          <a:p>
            <a:pPr algn="just"/>
            <a:r>
              <a:rPr lang="en-US" sz="2400" dirty="0" smtClean="0">
                <a:latin typeface="Georgia" panose="02040502050405020303" pitchFamily="18" charset="0"/>
              </a:rPr>
              <a:t>In </a:t>
            </a:r>
            <a:r>
              <a:rPr lang="en-US" sz="2400" dirty="0">
                <a:latin typeface="Georgia" panose="02040502050405020303" pitchFamily="18" charset="0"/>
              </a:rPr>
              <a:t>an experiment, one essentially makes observations under a set of controlled </a:t>
            </a:r>
            <a:r>
              <a:rPr lang="en-US" sz="2400" dirty="0" smtClean="0">
                <a:latin typeface="Georgia" panose="02040502050405020303" pitchFamily="18" charset="0"/>
              </a:rPr>
              <a:t>conditions</a:t>
            </a:r>
            <a:r>
              <a:rPr lang="en-US" sz="2400" dirty="0">
                <a:latin typeface="Georgia" panose="02040502050405020303" pitchFamily="18" charset="0"/>
              </a:rPr>
              <a:t>. </a:t>
            </a:r>
            <a:endParaRPr lang="en-US" sz="2400" dirty="0" smtClean="0">
              <a:latin typeface="Georgia" panose="02040502050405020303" pitchFamily="18" charset="0"/>
            </a:endParaRPr>
          </a:p>
          <a:p>
            <a:pPr algn="just"/>
            <a:r>
              <a:rPr lang="en-US" sz="2400" dirty="0" smtClean="0">
                <a:latin typeface="Georgia" panose="02040502050405020303" pitchFamily="18" charset="0"/>
              </a:rPr>
              <a:t>The </a:t>
            </a:r>
            <a:r>
              <a:rPr lang="en-US" sz="2400" dirty="0">
                <a:latin typeface="Georgia" panose="02040502050405020303" pitchFamily="18" charset="0"/>
              </a:rPr>
              <a:t>resulting data then either support or fail to support the </a:t>
            </a:r>
            <a:r>
              <a:rPr lang="en-US" sz="2400" dirty="0" smtClean="0">
                <a:latin typeface="Georgia" panose="02040502050405020303" pitchFamily="18" charset="0"/>
              </a:rPr>
              <a:t>hypothesis</a:t>
            </a:r>
            <a:r>
              <a:rPr lang="en-US" sz="2400" dirty="0">
                <a:latin typeface="Georgia" panose="02040502050405020303" pitchFamily="18" charset="0"/>
              </a:rPr>
              <a:t>.</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944092353"/>
      </p:ext>
    </p:extLst>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92727" y="1529917"/>
            <a:ext cx="7886700" cy="4351338"/>
          </a:xfrm>
        </p:spPr>
        <p:txBody>
          <a:bodyPr/>
          <a:lstStyle/>
          <a:p>
            <a:pPr algn="just"/>
            <a:r>
              <a:rPr lang="en-US" sz="2400" dirty="0">
                <a:latin typeface="Georgia" panose="02040502050405020303" pitchFamily="18" charset="0"/>
              </a:rPr>
              <a:t>The earliest psychologists, that is, the </a:t>
            </a:r>
            <a:r>
              <a:rPr lang="en-US" sz="2400" dirty="0" err="1" smtClean="0">
                <a:latin typeface="Georgia" panose="02040502050405020303" pitchFamily="18" charset="0"/>
              </a:rPr>
              <a:t>voluntarists</a:t>
            </a:r>
            <a:r>
              <a:rPr lang="en-US" sz="2400" dirty="0" smtClean="0">
                <a:latin typeface="Georgia" panose="02040502050405020303" pitchFamily="18" charset="0"/>
              </a:rPr>
              <a:t> </a:t>
            </a:r>
            <a:r>
              <a:rPr lang="en-US" sz="2400" dirty="0">
                <a:latin typeface="Georgia" panose="02040502050405020303" pitchFamily="18" charset="0"/>
              </a:rPr>
              <a:t>and </a:t>
            </a:r>
            <a:r>
              <a:rPr lang="en-US" sz="2400" dirty="0" err="1">
                <a:latin typeface="Georgia" panose="02040502050405020303" pitchFamily="18" charset="0"/>
              </a:rPr>
              <a:t>structuralists</a:t>
            </a:r>
            <a:r>
              <a:rPr lang="en-US" sz="2400" dirty="0">
                <a:latin typeface="Georgia" panose="02040502050405020303" pitchFamily="18" charset="0"/>
              </a:rPr>
              <a:t>, viewed the mind as a kind of test tube in which chemical reactions between mental elements took place. </a:t>
            </a:r>
            <a:endParaRPr lang="en-US" sz="2400" dirty="0" smtClean="0">
              <a:latin typeface="Georgia" panose="02040502050405020303" pitchFamily="18" charset="0"/>
            </a:endParaRPr>
          </a:p>
          <a:p>
            <a:pPr algn="just"/>
            <a:r>
              <a:rPr lang="en-US" sz="2400" dirty="0" smtClean="0">
                <a:latin typeface="Georgia" panose="02040502050405020303" pitchFamily="18" charset="0"/>
              </a:rPr>
              <a:t>In </a:t>
            </a:r>
            <a:r>
              <a:rPr lang="en-US" sz="2400" dirty="0">
                <a:latin typeface="Georgia" panose="02040502050405020303" pitchFamily="18" charset="0"/>
              </a:rPr>
              <a:t>contrast, </a:t>
            </a:r>
            <a:r>
              <a:rPr lang="en-US" sz="2400" dirty="0" smtClean="0">
                <a:latin typeface="Georgia" panose="02040502050405020303" pitchFamily="18" charset="0"/>
              </a:rPr>
              <a:t>functionalism </a:t>
            </a:r>
            <a:r>
              <a:rPr lang="en-US" sz="2400" dirty="0">
                <a:latin typeface="Georgia" panose="02040502050405020303" pitchFamily="18" charset="0"/>
              </a:rPr>
              <a:t>viewed mind not according to its constituent parts, but according to what its operations were—what it could do.</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700784492"/>
      </p:ext>
    </p:extLst>
  </p:cSld>
  <p:clrMapOvr>
    <a:masterClrMapping/>
  </p:clrMapOvr>
  <p:transition>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Cognitive Approach</a:t>
            </a:r>
          </a:p>
        </p:txBody>
      </p:sp>
      <p:sp>
        <p:nvSpPr>
          <p:cNvPr id="3" name="Text Placeholder 2"/>
          <p:cNvSpPr>
            <a:spLocks noGrp="1"/>
          </p:cNvSpPr>
          <p:nvPr>
            <p:ph type="body" idx="1"/>
          </p:nvPr>
        </p:nvSpPr>
        <p:spPr>
          <a:xfrm>
            <a:off x="495299" y="1516062"/>
            <a:ext cx="8260773" cy="4351338"/>
          </a:xfrm>
        </p:spPr>
        <p:txBody>
          <a:bodyPr/>
          <a:lstStyle/>
          <a:p>
            <a:pPr algn="just"/>
            <a:r>
              <a:rPr lang="en-US" sz="2000" dirty="0">
                <a:latin typeface="Georgia" panose="02040502050405020303" pitchFamily="18" charset="0"/>
              </a:rPr>
              <a:t>Cognitive </a:t>
            </a:r>
            <a:r>
              <a:rPr lang="en-US" sz="2000" dirty="0" smtClean="0">
                <a:latin typeface="Georgia" panose="02040502050405020303" pitchFamily="18" charset="0"/>
              </a:rPr>
              <a:t>psychologists </a:t>
            </a:r>
            <a:r>
              <a:rPr lang="en-US" sz="2000" dirty="0">
                <a:latin typeface="Georgia" panose="02040502050405020303" pitchFamily="18" charset="0"/>
              </a:rPr>
              <a:t>placed renewed emphasis on the study of internal mental operations. They adopted the computer as a metaphor for mind, and described mental </a:t>
            </a:r>
            <a:r>
              <a:rPr lang="en-US" sz="2000" dirty="0" smtClean="0">
                <a:latin typeface="Georgia" panose="02040502050405020303" pitchFamily="18" charset="0"/>
              </a:rPr>
              <a:t>functioning </a:t>
            </a:r>
            <a:r>
              <a:rPr lang="en-US" sz="2000" dirty="0">
                <a:latin typeface="Georgia" panose="02040502050405020303" pitchFamily="18" charset="0"/>
              </a:rPr>
              <a:t>in terms of representation and computation. They believed that the mind, like a computer, could be understood in terms of information processing</a:t>
            </a:r>
            <a:r>
              <a:rPr lang="en-US" sz="2000" dirty="0" smtClean="0">
                <a:latin typeface="Georgia" panose="02040502050405020303" pitchFamily="18" charset="0"/>
              </a:rPr>
              <a:t>.</a:t>
            </a:r>
          </a:p>
          <a:p>
            <a:pPr algn="just"/>
            <a:r>
              <a:rPr lang="en-US" sz="2000" dirty="0">
                <a:latin typeface="Georgia" panose="02040502050405020303" pitchFamily="18" charset="0"/>
              </a:rPr>
              <a:t>The cognitive approach is the idea of modularity. Modules are functionally independent mental units that receive inputs from other modules, perform a specific processing task, and pass the results of their computation onto yet additional modules</a:t>
            </a:r>
            <a:r>
              <a:rPr lang="en-US" sz="2000" dirty="0" smtClean="0">
                <a:latin typeface="Georgia" panose="02040502050405020303" pitchFamily="18" charset="0"/>
              </a:rPr>
              <a:t>.</a:t>
            </a:r>
          </a:p>
          <a:p>
            <a:pPr algn="just"/>
            <a:r>
              <a:rPr lang="en-US" sz="2000" dirty="0">
                <a:latin typeface="Georgia" panose="02040502050405020303" pitchFamily="18" charset="0"/>
              </a:rPr>
              <a:t>Cognitive psychologists have studied a wide variety of mental processes</a:t>
            </a:r>
            <a:r>
              <a:rPr lang="en-US" sz="2000" dirty="0" smtClean="0">
                <a:latin typeface="Georgia" panose="02040502050405020303" pitchFamily="18" charset="0"/>
              </a:rPr>
              <a:t>.  </a:t>
            </a:r>
            <a:r>
              <a:rPr lang="en-US" sz="2000" dirty="0">
                <a:latin typeface="Georgia" panose="02040502050405020303" pitchFamily="18" charset="0"/>
              </a:rPr>
              <a:t>These include pattern recognition, attention, memory, imagery, and </a:t>
            </a:r>
            <a:r>
              <a:rPr lang="en-US" sz="2000" dirty="0" smtClean="0">
                <a:latin typeface="Georgia" panose="02040502050405020303" pitchFamily="18" charset="0"/>
              </a:rPr>
              <a:t>problem solving</a:t>
            </a:r>
            <a:r>
              <a:rPr lang="en-US" sz="2000" dirty="0">
                <a:latin typeface="Georgia" panose="02040502050405020303" pitchFamily="18" charset="0"/>
              </a:rPr>
              <a:t>. </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dirty="0"/>
          </a:p>
        </p:txBody>
      </p:sp>
    </p:spTree>
    <p:extLst>
      <p:ext uri="{BB962C8B-B14F-4D97-AF65-F5344CB8AC3E}">
        <p14:creationId xmlns:p14="http://schemas.microsoft.com/office/powerpoint/2010/main" val="3459185434"/>
      </p:ext>
    </p:extLst>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95300" y="1516062"/>
            <a:ext cx="8648700" cy="4351338"/>
          </a:xfrm>
        </p:spPr>
        <p:txBody>
          <a:bodyPr/>
          <a:lstStyle/>
          <a:p>
            <a:pPr algn="just"/>
            <a:r>
              <a:rPr lang="en-US" sz="2000" dirty="0" smtClean="0">
                <a:latin typeface="Georgia" panose="02040502050405020303" pitchFamily="18" charset="0"/>
              </a:rPr>
              <a:t>The </a:t>
            </a:r>
            <a:r>
              <a:rPr lang="en-US" sz="2000" dirty="0">
                <a:latin typeface="Georgia" panose="02040502050405020303" pitchFamily="18" charset="0"/>
              </a:rPr>
              <a:t>influence of the modular approach can be seen in the use of process models or flow diagrams. These depict a given mental activity via the use of boxes and arrows, where boxes depict modules and arrows the flow of information among them. </a:t>
            </a:r>
            <a:endParaRPr lang="en-US" sz="2000" dirty="0" smtClean="0">
              <a:latin typeface="Georgia" panose="02040502050405020303" pitchFamily="18" charset="0"/>
            </a:endParaRPr>
          </a:p>
          <a:p>
            <a:pPr algn="just"/>
            <a:r>
              <a:rPr lang="en-US" sz="2000" dirty="0" smtClean="0">
                <a:latin typeface="Georgia" panose="02040502050405020303" pitchFamily="18" charset="0"/>
              </a:rPr>
              <a:t>The </a:t>
            </a:r>
            <a:r>
              <a:rPr lang="en-US" sz="2000" dirty="0">
                <a:latin typeface="Georgia" panose="02040502050405020303" pitchFamily="18" charset="0"/>
              </a:rPr>
              <a:t>techniques used in this approach are the experimental method and computational modeling. </a:t>
            </a:r>
            <a:endParaRPr lang="en-US" sz="2000" dirty="0" smtClean="0">
              <a:latin typeface="Georgia" panose="02040502050405020303" pitchFamily="18" charset="0"/>
            </a:endParaRPr>
          </a:p>
          <a:p>
            <a:pPr algn="just"/>
            <a:r>
              <a:rPr lang="en-US" sz="2000" dirty="0" smtClean="0">
                <a:latin typeface="Georgia" panose="02040502050405020303" pitchFamily="18" charset="0"/>
              </a:rPr>
              <a:t>Computational </a:t>
            </a:r>
            <a:r>
              <a:rPr lang="en-US" sz="2000" dirty="0">
                <a:latin typeface="Georgia" panose="02040502050405020303" pitchFamily="18" charset="0"/>
              </a:rPr>
              <a:t>modeling involves carrying out a formal (typically software based) implementation of a proposed cognitive process. </a:t>
            </a:r>
            <a:endParaRPr lang="en-US" sz="2000" dirty="0" smtClean="0">
              <a:latin typeface="Georgia" panose="02040502050405020303" pitchFamily="18" charset="0"/>
            </a:endParaRPr>
          </a:p>
          <a:p>
            <a:pPr algn="just"/>
            <a:r>
              <a:rPr lang="en-US" sz="2000" dirty="0" smtClean="0">
                <a:latin typeface="Georgia" panose="02040502050405020303" pitchFamily="18" charset="0"/>
              </a:rPr>
              <a:t>Researchers </a:t>
            </a:r>
            <a:r>
              <a:rPr lang="en-US" sz="2000" dirty="0">
                <a:latin typeface="Georgia" panose="02040502050405020303" pitchFamily="18" charset="0"/>
              </a:rPr>
              <a:t>can run the modeling process so as to simulate how the process might operate in a human mind. They can then alter various parameters of the model or change its structure in an effort to achieve results as close as possible to those obtained in human experiments. </a:t>
            </a:r>
            <a:endParaRPr lang="en-US" sz="2000" dirty="0" smtClean="0">
              <a:latin typeface="Georgia" panose="02040502050405020303" pitchFamily="18" charset="0"/>
            </a:endParaRPr>
          </a:p>
          <a:p>
            <a:pPr algn="just"/>
            <a:r>
              <a:rPr lang="en-US" sz="2000" dirty="0" smtClean="0">
                <a:latin typeface="Georgia" panose="02040502050405020303" pitchFamily="18" charset="0"/>
              </a:rPr>
              <a:t>This </a:t>
            </a:r>
            <a:r>
              <a:rPr lang="en-US" sz="2000" dirty="0">
                <a:latin typeface="Georgia" panose="02040502050405020303" pitchFamily="18" charset="0"/>
              </a:rPr>
              <a:t>use of modeling and comparison with </a:t>
            </a:r>
            <a:r>
              <a:rPr lang="en-US" sz="2000" dirty="0" smtClean="0">
                <a:latin typeface="Georgia" panose="02040502050405020303" pitchFamily="18" charset="0"/>
              </a:rPr>
              <a:t>experimental </a:t>
            </a:r>
            <a:r>
              <a:rPr lang="en-US" sz="2000" dirty="0">
                <a:latin typeface="Georgia" panose="02040502050405020303" pitchFamily="18" charset="0"/>
              </a:rPr>
              <a:t>data is a unique characteristic of cognitive psychology and is also used in the artificial intelligence and network approaches.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extLst>
      <p:ext uri="{BB962C8B-B14F-4D97-AF65-F5344CB8AC3E}">
        <p14:creationId xmlns:p14="http://schemas.microsoft.com/office/powerpoint/2010/main" val="2482199424"/>
      </p:ext>
    </p:extLst>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Neuroscience Approach</a:t>
            </a:r>
          </a:p>
        </p:txBody>
      </p:sp>
      <p:sp>
        <p:nvSpPr>
          <p:cNvPr id="3" name="Text Placeholder 2"/>
          <p:cNvSpPr>
            <a:spLocks noGrp="1"/>
          </p:cNvSpPr>
          <p:nvPr>
            <p:ph type="body" idx="1"/>
          </p:nvPr>
        </p:nvSpPr>
        <p:spPr>
          <a:xfrm>
            <a:off x="495300" y="1295400"/>
            <a:ext cx="8648700" cy="4572000"/>
          </a:xfrm>
        </p:spPr>
        <p:txBody>
          <a:bodyPr/>
          <a:lstStyle/>
          <a:p>
            <a:pPr algn="just"/>
            <a:r>
              <a:rPr lang="en-US" sz="2000" dirty="0">
                <a:latin typeface="Georgia" panose="02040502050405020303" pitchFamily="18" charset="0"/>
              </a:rPr>
              <a:t>Recent times however have seen tremendous advances in our understanding of the brain, especially in terms of how neuronal processes can account for cognitive phenomena. The general study of the brain and endocrine system is called neuroscience. The attempt to explain cognitive processes in terms of underlying brain mechanisms is known as cognitive neuroscience</a:t>
            </a:r>
            <a:r>
              <a:rPr lang="en-US" sz="2000" dirty="0" smtClean="0">
                <a:latin typeface="Georgia" panose="02040502050405020303" pitchFamily="18" charset="0"/>
              </a:rPr>
              <a:t>.</a:t>
            </a:r>
          </a:p>
          <a:p>
            <a:pPr algn="just"/>
            <a:r>
              <a:rPr lang="en-US" sz="2000" dirty="0">
                <a:latin typeface="Georgia" panose="02040502050405020303" pitchFamily="18" charset="0"/>
              </a:rPr>
              <a:t>Neuroscience, first and foremost, provides a description of mental events at the </a:t>
            </a:r>
            <a:r>
              <a:rPr lang="en-US" sz="2000" dirty="0" err="1">
                <a:latin typeface="Georgia" panose="02040502050405020303" pitchFamily="18" charset="0"/>
              </a:rPr>
              <a:t>implementational</a:t>
            </a:r>
            <a:r>
              <a:rPr lang="en-US" sz="2000" dirty="0">
                <a:latin typeface="Georgia" panose="02040502050405020303" pitchFamily="18" charset="0"/>
              </a:rPr>
              <a:t> level. It attempts to describe the biological “hard ware” upon which mental “software” supposedly runs. However, as discussed above, there are many levels of scale when it comes to describing the brain, and it is not always clear which level provides the best explanation for any given cognitive process. Neuroscientists, however, investigate at each of these levels. They study the cell biology of individual neurons and of neuron-to-neuron synaptic transmission, the patterns of activity in local cell populations, and the interrelations of larger brain areas.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extLst>
      <p:ext uri="{BB962C8B-B14F-4D97-AF65-F5344CB8AC3E}">
        <p14:creationId xmlns:p14="http://schemas.microsoft.com/office/powerpoint/2010/main" val="649716860"/>
      </p:ext>
    </p:extLst>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95299" y="1516062"/>
            <a:ext cx="8413173" cy="4351338"/>
          </a:xfrm>
        </p:spPr>
        <p:txBody>
          <a:bodyPr/>
          <a:lstStyle/>
          <a:p>
            <a:pPr algn="just"/>
            <a:r>
              <a:rPr lang="en-US" sz="2000" dirty="0">
                <a:latin typeface="Georgia" panose="02040502050405020303" pitchFamily="18" charset="0"/>
              </a:rPr>
              <a:t>A reason for many of the recent developments in neuroscience is, again, the development of new technologies. Neuroscientists employ a wide variety of machines to measure the performance of the brain at work. These include positron emission tomography (PET) scanners, computerized axial </a:t>
            </a:r>
            <a:r>
              <a:rPr lang="en-US" sz="2000" dirty="0" err="1">
                <a:latin typeface="Georgia" panose="02040502050405020303" pitchFamily="18" charset="0"/>
              </a:rPr>
              <a:t>tomogra</a:t>
            </a:r>
            <a:r>
              <a:rPr lang="en-US" sz="2000" dirty="0">
                <a:latin typeface="Georgia" panose="02040502050405020303" pitchFamily="18" charset="0"/>
              </a:rPr>
              <a:t> </a:t>
            </a:r>
            <a:r>
              <a:rPr lang="en-US" sz="2000" dirty="0" err="1">
                <a:latin typeface="Georgia" panose="02040502050405020303" pitchFamily="18" charset="0"/>
              </a:rPr>
              <a:t>phy</a:t>
            </a:r>
            <a:r>
              <a:rPr lang="en-US" sz="2000" dirty="0">
                <a:latin typeface="Georgia" panose="02040502050405020303" pitchFamily="18" charset="0"/>
              </a:rPr>
              <a:t> (CAT) scanners, and magnetic resonance imaging (MRI) machines. </a:t>
            </a:r>
            <a:endParaRPr lang="en-US" sz="2000" dirty="0" smtClean="0">
              <a:latin typeface="Georgia" panose="02040502050405020303" pitchFamily="18" charset="0"/>
            </a:endParaRPr>
          </a:p>
          <a:p>
            <a:pPr algn="just"/>
            <a:r>
              <a:rPr lang="en-US" sz="2000" dirty="0" smtClean="0">
                <a:latin typeface="Georgia" panose="02040502050405020303" pitchFamily="18" charset="0"/>
              </a:rPr>
              <a:t>Studies </a:t>
            </a:r>
            <a:r>
              <a:rPr lang="en-US" sz="2000" dirty="0">
                <a:latin typeface="Georgia" panose="02040502050405020303" pitchFamily="18" charset="0"/>
              </a:rPr>
              <a:t>that use these devices have participants perform a cognitive task; the brain activity that is concurrent with the performance of the task is recorded. For example, a participant may be asked to form a visual image of a word that appears on a computer screen. The researchers can then determine which parts of the brain became active during imagery and in what order. Neuroscientists use other techniques as well. They study brain-damaged patients and the effects of lesions in laboratory animals, and use single- and multiple-cell recording techniques.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extLst>
      <p:ext uri="{BB962C8B-B14F-4D97-AF65-F5344CB8AC3E}">
        <p14:creationId xmlns:p14="http://schemas.microsoft.com/office/powerpoint/2010/main" val="742484359"/>
      </p:ext>
    </p:extLst>
  </p:cSld>
  <p:clrMapOvr>
    <a:masterClrMapping/>
  </p:clrMapOvr>
  <p:transition>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Network Approach</a:t>
            </a:r>
          </a:p>
        </p:txBody>
      </p:sp>
      <p:sp>
        <p:nvSpPr>
          <p:cNvPr id="3" name="Text Placeholder 2"/>
          <p:cNvSpPr>
            <a:spLocks noGrp="1"/>
          </p:cNvSpPr>
          <p:nvPr>
            <p:ph type="body" idx="1"/>
          </p:nvPr>
        </p:nvSpPr>
        <p:spPr/>
        <p:txBody>
          <a:bodyPr/>
          <a:lstStyle/>
          <a:p>
            <a:pPr algn="just"/>
            <a:r>
              <a:rPr lang="en-US" sz="2000" dirty="0">
                <a:latin typeface="Georgia" panose="02040502050405020303" pitchFamily="18" charset="0"/>
              </a:rPr>
              <a:t>The network approach is at least partially derived from neuroscience. In this perspective, mind is seen as a collection of individual computing units</a:t>
            </a:r>
            <a:r>
              <a:rPr lang="en-US" sz="2000" dirty="0" smtClean="0">
                <a:latin typeface="Georgia" panose="02040502050405020303" pitchFamily="18" charset="0"/>
              </a:rPr>
              <a:t>.</a:t>
            </a:r>
          </a:p>
          <a:p>
            <a:pPr algn="just"/>
            <a:r>
              <a:rPr lang="en-US" sz="2000" dirty="0">
                <a:latin typeface="Georgia" panose="02040502050405020303" pitchFamily="18" charset="0"/>
              </a:rPr>
              <a:t>These units are connected to one another and mutually influence one other’s activity via the connections. Although each of the units is believed to perform a relatively simple computation, for example, a neuron’s either firing or not firing, the connectivity of the units can give rise to representational and </a:t>
            </a:r>
            <a:r>
              <a:rPr lang="en-US" sz="2000" dirty="0" smtClean="0">
                <a:latin typeface="Georgia" panose="02040502050405020303" pitchFamily="18" charset="0"/>
              </a:rPr>
              <a:t>computational </a:t>
            </a:r>
            <a:r>
              <a:rPr lang="en-US" sz="2000" dirty="0">
                <a:latin typeface="Georgia" panose="02040502050405020303" pitchFamily="18" charset="0"/>
              </a:rPr>
              <a:t>complexity</a:t>
            </a:r>
            <a:r>
              <a:rPr lang="en-US" sz="2000" dirty="0" smtClean="0">
                <a:latin typeface="Georgia" panose="02040502050405020303" pitchFamily="18" charset="0"/>
              </a:rPr>
              <a:t>.</a:t>
            </a:r>
          </a:p>
          <a:p>
            <a:pPr algn="just"/>
            <a:r>
              <a:rPr lang="en-US" sz="2000" dirty="0" smtClean="0">
                <a:latin typeface="Georgia" panose="02040502050405020303" pitchFamily="18" charset="0"/>
              </a:rPr>
              <a:t>We will study</a:t>
            </a:r>
          </a:p>
          <a:p>
            <a:pPr lvl="1" algn="just"/>
            <a:r>
              <a:rPr lang="en-US" sz="1600" dirty="0" smtClean="0"/>
              <a:t>The </a:t>
            </a:r>
            <a:r>
              <a:rPr lang="en-US" sz="1600" dirty="0"/>
              <a:t>construction of artificial neural networks: Most artificial neural networks are computer software simulations that have been designed to mimic the way actual brain networks operate, or the functioning of neural cell </a:t>
            </a:r>
            <a:r>
              <a:rPr lang="en-US" sz="1600" dirty="0" smtClean="0"/>
              <a:t>populations.</a:t>
            </a:r>
          </a:p>
          <a:p>
            <a:pPr lvl="1" algn="just"/>
            <a:r>
              <a:rPr lang="en-US" sz="1600" dirty="0" smtClean="0"/>
              <a:t>How </a:t>
            </a:r>
            <a:r>
              <a:rPr lang="en-US" sz="1600" dirty="0"/>
              <a:t>meaningful information may be mentally coded and processed.</a:t>
            </a:r>
            <a:endParaRPr lang="en-IN" sz="16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extLst>
      <p:ext uri="{BB962C8B-B14F-4D97-AF65-F5344CB8AC3E}">
        <p14:creationId xmlns:p14="http://schemas.microsoft.com/office/powerpoint/2010/main" val="3802715993"/>
      </p:ext>
    </p:extLst>
  </p:cSld>
  <p:clrMapOvr>
    <a:masterClrMapping/>
  </p:clrMapOvr>
  <p:transition>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Evolutionary Approach</a:t>
            </a:r>
          </a:p>
        </p:txBody>
      </p:sp>
      <p:sp>
        <p:nvSpPr>
          <p:cNvPr id="3" name="Text Placeholder 2"/>
          <p:cNvSpPr>
            <a:spLocks noGrp="1"/>
          </p:cNvSpPr>
          <p:nvPr>
            <p:ph type="body" idx="1"/>
          </p:nvPr>
        </p:nvSpPr>
        <p:spPr>
          <a:xfrm>
            <a:off x="495299" y="1516062"/>
            <a:ext cx="8260773" cy="4351338"/>
          </a:xfrm>
        </p:spPr>
        <p:txBody>
          <a:bodyPr/>
          <a:lstStyle/>
          <a:p>
            <a:pPr algn="just"/>
            <a:r>
              <a:rPr lang="en-US" sz="2000" dirty="0">
                <a:latin typeface="Georgia" panose="02040502050405020303" pitchFamily="18" charset="0"/>
              </a:rPr>
              <a:t>The evolutionary approach can be considered in a quite general way and used to explain phenomena outside of biology. The field of evolutionary </a:t>
            </a:r>
            <a:r>
              <a:rPr lang="en-US" sz="2000" dirty="0" smtClean="0">
                <a:latin typeface="Georgia" panose="02040502050405020303" pitchFamily="18" charset="0"/>
              </a:rPr>
              <a:t>psychology </a:t>
            </a:r>
            <a:r>
              <a:rPr lang="en-US" sz="2000" dirty="0">
                <a:latin typeface="Georgia" panose="02040502050405020303" pitchFamily="18" charset="0"/>
              </a:rPr>
              <a:t>applies selection theory to account for human mental processes. </a:t>
            </a:r>
            <a:endParaRPr lang="en-US" sz="2000" dirty="0" smtClean="0">
              <a:latin typeface="Georgia" panose="02040502050405020303" pitchFamily="18" charset="0"/>
            </a:endParaRPr>
          </a:p>
          <a:p>
            <a:pPr algn="just"/>
            <a:r>
              <a:rPr lang="en-US" sz="2000" dirty="0" smtClean="0">
                <a:latin typeface="Georgia" panose="02040502050405020303" pitchFamily="18" charset="0"/>
              </a:rPr>
              <a:t>It </a:t>
            </a:r>
            <a:r>
              <a:rPr lang="en-US" sz="2000" dirty="0">
                <a:latin typeface="Georgia" panose="02040502050405020303" pitchFamily="18" charset="0"/>
              </a:rPr>
              <a:t>attempts to elucidate the selection forces that acted on our ancestors and how those forces gave rise to the cognitive structures we now possess. Evolutionary psychologists also adopt a modular approach to mind. </a:t>
            </a:r>
            <a:endParaRPr lang="en-US" sz="2000" dirty="0" smtClean="0">
              <a:latin typeface="Georgia" panose="02040502050405020303" pitchFamily="18" charset="0"/>
            </a:endParaRPr>
          </a:p>
          <a:p>
            <a:pPr algn="just"/>
            <a:r>
              <a:rPr lang="en-US" sz="2000" dirty="0" smtClean="0">
                <a:latin typeface="Georgia" panose="02040502050405020303" pitchFamily="18" charset="0"/>
              </a:rPr>
              <a:t>In </a:t>
            </a:r>
            <a:r>
              <a:rPr lang="en-US" sz="2000" dirty="0">
                <a:latin typeface="Georgia" panose="02040502050405020303" pitchFamily="18" charset="0"/>
              </a:rPr>
              <a:t>this case, the </a:t>
            </a:r>
            <a:r>
              <a:rPr lang="en-US" sz="2000" dirty="0" smtClean="0">
                <a:latin typeface="Georgia" panose="02040502050405020303" pitchFamily="18" charset="0"/>
              </a:rPr>
              <a:t>modules </a:t>
            </a:r>
            <a:r>
              <a:rPr lang="en-US" sz="2000" dirty="0">
                <a:latin typeface="Georgia" panose="02040502050405020303" pitchFamily="18" charset="0"/>
              </a:rPr>
              <a:t>correspond to “favored” cognitive capacities that were used by ancestors successful at solving certain problems. Evolutionary theories have been </a:t>
            </a:r>
            <a:r>
              <a:rPr lang="en-US" sz="2000" dirty="0" smtClean="0">
                <a:latin typeface="Georgia" panose="02040502050405020303" pitchFamily="18" charset="0"/>
              </a:rPr>
              <a:t>proposed </a:t>
            </a:r>
            <a:r>
              <a:rPr lang="en-US" sz="2000" dirty="0">
                <a:latin typeface="Georgia" panose="02040502050405020303" pitchFamily="18" charset="0"/>
              </a:rPr>
              <a:t>to account for experimental results across a wide range of capacities, from categorization to memory, to logical and probabilistic reasoning, </a:t>
            </a:r>
            <a:r>
              <a:rPr lang="en-US" sz="2000" dirty="0" smtClean="0">
                <a:latin typeface="Georgia" panose="02040502050405020303" pitchFamily="18" charset="0"/>
              </a:rPr>
              <a:t>language</a:t>
            </a:r>
            <a:r>
              <a:rPr lang="en-US" sz="2000" dirty="0">
                <a:latin typeface="Georgia" panose="02040502050405020303" pitchFamily="18" charset="0"/>
              </a:rPr>
              <a:t>, and cognitive differences between the sexes.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extLst>
      <p:ext uri="{BB962C8B-B14F-4D97-AF65-F5344CB8AC3E}">
        <p14:creationId xmlns:p14="http://schemas.microsoft.com/office/powerpoint/2010/main" val="549162370"/>
      </p:ext>
    </p:extLst>
  </p:cSld>
  <p:clrMapOvr>
    <a:masterClrMapping/>
  </p:clrMapOvr>
  <p:transition>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gn="just"/>
            <a:r>
              <a:rPr lang="en-US" sz="2400" dirty="0">
                <a:latin typeface="Georgia" panose="02040502050405020303" pitchFamily="18" charset="0"/>
              </a:rPr>
              <a:t>A variant on this theme is evolutionary computing, in which the rules of evolution are applied to create successful computer algorithms. An offshoot of this form of computing is artificial life. These are software simulations that mimic biological ecosystems. There is also neural Darwinism, which uses </a:t>
            </a:r>
            <a:r>
              <a:rPr lang="en-US" sz="2400" dirty="0" err="1">
                <a:latin typeface="Georgia" panose="02040502050405020303" pitchFamily="18" charset="0"/>
              </a:rPr>
              <a:t>evolu</a:t>
            </a:r>
            <a:r>
              <a:rPr lang="en-US" sz="2400" dirty="0">
                <a:latin typeface="Georgia" panose="02040502050405020303" pitchFamily="18" charset="0"/>
              </a:rPr>
              <a:t> </a:t>
            </a:r>
            <a:r>
              <a:rPr lang="en-US" sz="2400" dirty="0" err="1">
                <a:latin typeface="Georgia" panose="02040502050405020303" pitchFamily="18" charset="0"/>
              </a:rPr>
              <a:t>tion</a:t>
            </a:r>
            <a:r>
              <a:rPr lang="en-US" sz="2400" dirty="0">
                <a:latin typeface="Georgia" panose="02040502050405020303" pitchFamily="18" charset="0"/>
              </a:rPr>
              <a:t> to explain the formation of neural circuits.</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extLst>
      <p:ext uri="{BB962C8B-B14F-4D97-AF65-F5344CB8AC3E}">
        <p14:creationId xmlns:p14="http://schemas.microsoft.com/office/powerpoint/2010/main" val="3320831655"/>
      </p:ext>
    </p:extLst>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Linguistic Approach</a:t>
            </a:r>
          </a:p>
        </p:txBody>
      </p:sp>
      <p:sp>
        <p:nvSpPr>
          <p:cNvPr id="3" name="Text Placeholder 2"/>
          <p:cNvSpPr>
            <a:spLocks noGrp="1"/>
          </p:cNvSpPr>
          <p:nvPr>
            <p:ph type="body" idx="1"/>
          </p:nvPr>
        </p:nvSpPr>
        <p:spPr>
          <a:xfrm>
            <a:off x="495299" y="1516062"/>
            <a:ext cx="8357755" cy="4351338"/>
          </a:xfrm>
        </p:spPr>
        <p:txBody>
          <a:bodyPr/>
          <a:lstStyle/>
          <a:p>
            <a:pPr algn="just"/>
            <a:r>
              <a:rPr lang="en-US" sz="1600" dirty="0">
                <a:latin typeface="Georgia" panose="02040502050405020303" pitchFamily="18" charset="0"/>
              </a:rPr>
              <a:t>Linguistics is an area that focuses exclusively on the domain of language. It is concerned with all questions concerning language ability, such as: What is language? How do we acquire language? What parts of the brain underlie </a:t>
            </a:r>
            <a:r>
              <a:rPr lang="en-US" sz="1600" dirty="0" smtClean="0">
                <a:latin typeface="Georgia" panose="02040502050405020303" pitchFamily="18" charset="0"/>
              </a:rPr>
              <a:t>language </a:t>
            </a:r>
            <a:r>
              <a:rPr lang="en-US" sz="1600" dirty="0">
                <a:latin typeface="Georgia" panose="02040502050405020303" pitchFamily="18" charset="0"/>
              </a:rPr>
              <a:t>use? </a:t>
            </a:r>
            <a:endParaRPr lang="en-US" sz="1600" dirty="0" smtClean="0">
              <a:latin typeface="Georgia" panose="02040502050405020303" pitchFamily="18" charset="0"/>
            </a:endParaRPr>
          </a:p>
          <a:p>
            <a:pPr algn="just"/>
            <a:r>
              <a:rPr lang="en-US" sz="1600" dirty="0" smtClean="0">
                <a:latin typeface="Georgia" panose="02040502050405020303" pitchFamily="18" charset="0"/>
              </a:rPr>
              <a:t>As </a:t>
            </a:r>
            <a:r>
              <a:rPr lang="en-US" sz="1600" dirty="0">
                <a:latin typeface="Georgia" panose="02040502050405020303" pitchFamily="18" charset="0"/>
              </a:rPr>
              <a:t>we have seen, language is a topic studied within other </a:t>
            </a:r>
            <a:r>
              <a:rPr lang="en-US" sz="1600" dirty="0" smtClean="0">
                <a:latin typeface="Georgia" panose="02040502050405020303" pitchFamily="18" charset="0"/>
              </a:rPr>
              <a:t>disciplines</a:t>
            </a:r>
            <a:r>
              <a:rPr lang="en-US" sz="1600" dirty="0">
                <a:latin typeface="Georgia" panose="02040502050405020303" pitchFamily="18" charset="0"/>
              </a:rPr>
              <a:t>, for example, cognitive psychology and neuroscience. </a:t>
            </a:r>
            <a:endParaRPr lang="en-US" sz="1600" dirty="0" smtClean="0">
              <a:latin typeface="Georgia" panose="02040502050405020303" pitchFamily="18" charset="0"/>
            </a:endParaRPr>
          </a:p>
          <a:p>
            <a:pPr algn="just"/>
            <a:r>
              <a:rPr lang="en-US" sz="1600" dirty="0" smtClean="0">
                <a:latin typeface="Georgia" panose="02040502050405020303" pitchFamily="18" charset="0"/>
              </a:rPr>
              <a:t>Because </a:t>
            </a:r>
            <a:r>
              <a:rPr lang="en-US" sz="1600" dirty="0">
                <a:latin typeface="Georgia" panose="02040502050405020303" pitchFamily="18" charset="0"/>
              </a:rPr>
              <a:t>so many different researchers in different disciplines have taken on the problem of </a:t>
            </a:r>
            <a:r>
              <a:rPr lang="en-US" sz="1600" dirty="0" smtClean="0">
                <a:latin typeface="Georgia" panose="02040502050405020303" pitchFamily="18" charset="0"/>
              </a:rPr>
              <a:t>language</a:t>
            </a:r>
            <a:r>
              <a:rPr lang="en-US" sz="1600" dirty="0">
                <a:latin typeface="Georgia" panose="02040502050405020303" pitchFamily="18" charset="0"/>
              </a:rPr>
              <a:t>, we consider it here as a separate discipline, united more by topic than by perspective or methodology</a:t>
            </a:r>
            <a:r>
              <a:rPr lang="en-US" sz="1600" dirty="0" smtClean="0">
                <a:latin typeface="Georgia" panose="02040502050405020303" pitchFamily="18" charset="0"/>
              </a:rPr>
              <a:t>.</a:t>
            </a:r>
          </a:p>
          <a:p>
            <a:pPr algn="just"/>
            <a:r>
              <a:rPr lang="en-US" sz="1600" dirty="0">
                <a:latin typeface="Georgia" panose="02040502050405020303" pitchFamily="18" charset="0"/>
              </a:rPr>
              <a:t>Part of the difficulty in studying language is the fact that language itself is so complex. Much research has been devoted to understanding its nature. This work looks at the properties all languages share, the elements of language, and how those elements are used during communication. </a:t>
            </a:r>
            <a:endParaRPr lang="en-US" sz="1600" dirty="0" smtClean="0">
              <a:latin typeface="Georgia" panose="02040502050405020303" pitchFamily="18" charset="0"/>
            </a:endParaRPr>
          </a:p>
          <a:p>
            <a:pPr algn="just"/>
            <a:r>
              <a:rPr lang="en-US" sz="1600" dirty="0" smtClean="0">
                <a:latin typeface="Georgia" panose="02040502050405020303" pitchFamily="18" charset="0"/>
              </a:rPr>
              <a:t>Other </a:t>
            </a:r>
            <a:r>
              <a:rPr lang="en-US" sz="1600" dirty="0">
                <a:latin typeface="Georgia" panose="02040502050405020303" pitchFamily="18" charset="0"/>
              </a:rPr>
              <a:t>foci of linguistic investigation </a:t>
            </a:r>
            <a:r>
              <a:rPr lang="en-US" sz="1600" dirty="0" smtClean="0">
                <a:latin typeface="Georgia" panose="02040502050405020303" pitchFamily="18" charset="0"/>
              </a:rPr>
              <a:t>center </a:t>
            </a:r>
            <a:r>
              <a:rPr lang="en-US" sz="1600" dirty="0">
                <a:latin typeface="Georgia" panose="02040502050405020303" pitchFamily="18" charset="0"/>
              </a:rPr>
              <a:t>on primate language use, language acquisition, deficits in language acquisition caused by early sensory deprivation or brain damage, the relationship between </a:t>
            </a:r>
            <a:r>
              <a:rPr lang="en-US" sz="1600" dirty="0" smtClean="0">
                <a:latin typeface="Georgia" panose="02040502050405020303" pitchFamily="18" charset="0"/>
              </a:rPr>
              <a:t>language </a:t>
            </a:r>
            <a:r>
              <a:rPr lang="en-US" sz="1600" dirty="0">
                <a:latin typeface="Georgia" panose="02040502050405020303" pitchFamily="18" charset="0"/>
              </a:rPr>
              <a:t>and thought, and the development of speech recognition systems.</a:t>
            </a:r>
            <a:endParaRPr lang="en-IN" sz="16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extLst>
      <p:ext uri="{BB962C8B-B14F-4D97-AF65-F5344CB8AC3E}">
        <p14:creationId xmlns:p14="http://schemas.microsoft.com/office/powerpoint/2010/main" val="4143879896"/>
      </p:ext>
    </p:extLst>
  </p:cSld>
  <p:clrMapOvr>
    <a:masterClrMapping/>
  </p:clrMapOvr>
  <p:transition>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Artificial Intelligence Approach</a:t>
            </a:r>
          </a:p>
        </p:txBody>
      </p:sp>
      <p:sp>
        <p:nvSpPr>
          <p:cNvPr id="3" name="Text Placeholder 2"/>
          <p:cNvSpPr>
            <a:spLocks noGrp="1"/>
          </p:cNvSpPr>
          <p:nvPr>
            <p:ph type="body" idx="1"/>
          </p:nvPr>
        </p:nvSpPr>
        <p:spPr>
          <a:xfrm>
            <a:off x="495299" y="1516062"/>
            <a:ext cx="8524009" cy="4351338"/>
          </a:xfrm>
        </p:spPr>
        <p:txBody>
          <a:bodyPr/>
          <a:lstStyle/>
          <a:p>
            <a:pPr algn="just"/>
            <a:r>
              <a:rPr lang="en-US" sz="2400" dirty="0">
                <a:latin typeface="Georgia" panose="02040502050405020303" pitchFamily="18" charset="0"/>
              </a:rPr>
              <a:t>Researchers have been building devices that attempt to mimic human and animal function for many centuries. But it is only in the past few decades that computer scientists have seriously attempted to build devices that mimic </a:t>
            </a:r>
            <a:r>
              <a:rPr lang="en-US" sz="2400" dirty="0" smtClean="0">
                <a:latin typeface="Georgia" panose="02040502050405020303" pitchFamily="18" charset="0"/>
              </a:rPr>
              <a:t>complex </a:t>
            </a:r>
            <a:r>
              <a:rPr lang="en-US" sz="2400" dirty="0">
                <a:latin typeface="Georgia" panose="02040502050405020303" pitchFamily="18" charset="0"/>
              </a:rPr>
              <a:t>thought processes. This area is now known as artificial intelligence (AI). </a:t>
            </a:r>
            <a:endParaRPr lang="en-US" sz="2400" dirty="0" smtClean="0">
              <a:latin typeface="Georgia" panose="02040502050405020303" pitchFamily="18" charset="0"/>
            </a:endParaRPr>
          </a:p>
          <a:p>
            <a:pPr algn="just"/>
            <a:r>
              <a:rPr lang="en-US" sz="2400" dirty="0" smtClean="0">
                <a:latin typeface="Georgia" panose="02040502050405020303" pitchFamily="18" charset="0"/>
              </a:rPr>
              <a:t>Researchers </a:t>
            </a:r>
            <a:r>
              <a:rPr lang="en-US" sz="2400" dirty="0">
                <a:latin typeface="Georgia" panose="02040502050405020303" pitchFamily="18" charset="0"/>
              </a:rPr>
              <a:t>in AI are concerned with getting computers to perform tasks that have heretofore required human intelligence. As such they construct programs to do the sorts of things that require complex reasoning on our part. AI pro grams have been developed that can diagnose medical disorders, use language, and play chess.</a:t>
            </a:r>
            <a:endParaRPr lang="en-IN" sz="24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Tree>
    <p:extLst>
      <p:ext uri="{BB962C8B-B14F-4D97-AF65-F5344CB8AC3E}">
        <p14:creationId xmlns:p14="http://schemas.microsoft.com/office/powerpoint/2010/main" val="168450396"/>
      </p:ext>
    </p:extLst>
  </p:cSld>
  <p:clrMapOvr>
    <a:masterClrMapping/>
  </p:clrMapOvr>
  <p:transition>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197408"/>
            <a:ext cx="9019309" cy="4351338"/>
          </a:xfrm>
        </p:spPr>
        <p:txBody>
          <a:bodyPr/>
          <a:lstStyle/>
          <a:p>
            <a:pPr algn="just"/>
            <a:r>
              <a:rPr lang="en-US" sz="2000" dirty="0">
                <a:latin typeface="Georgia" panose="02040502050405020303" pitchFamily="18" charset="0"/>
              </a:rPr>
              <a:t>AI secondarily gives us insights into the function of human mental operations. Designing a computer program that can visually recognize an object often proves useful in understanding how we may perform the same task ourselves. </a:t>
            </a:r>
            <a:endParaRPr lang="en-US" sz="2000" dirty="0" smtClean="0">
              <a:latin typeface="Georgia" panose="02040502050405020303" pitchFamily="18" charset="0"/>
            </a:endParaRPr>
          </a:p>
          <a:p>
            <a:pPr algn="just"/>
            <a:r>
              <a:rPr lang="en-US" sz="2000" dirty="0" smtClean="0">
                <a:latin typeface="Georgia" panose="02040502050405020303" pitchFamily="18" charset="0"/>
              </a:rPr>
              <a:t>An </a:t>
            </a:r>
            <a:r>
              <a:rPr lang="en-US" sz="2000" dirty="0">
                <a:latin typeface="Georgia" panose="02040502050405020303" pitchFamily="18" charset="0"/>
              </a:rPr>
              <a:t>even more exciting outcome of AI research is that someday we may be able to create an artificial person who will possess all or many of the features that we consider uniquely human, such as consciousness, the ability to make decisions, and so on. </a:t>
            </a:r>
            <a:r>
              <a:rPr lang="en-US" sz="2000" dirty="0" smtClean="0">
                <a:latin typeface="Georgia" panose="02040502050405020303" pitchFamily="18" charset="0"/>
              </a:rPr>
              <a:t>I</a:t>
            </a:r>
          </a:p>
          <a:p>
            <a:pPr algn="just"/>
            <a:r>
              <a:rPr lang="en-US" sz="2000" dirty="0" smtClean="0">
                <a:latin typeface="Georgia" panose="02040502050405020303" pitchFamily="18" charset="0"/>
              </a:rPr>
              <a:t>t </a:t>
            </a:r>
            <a:r>
              <a:rPr lang="en-US" sz="2000" dirty="0">
                <a:latin typeface="Georgia" panose="02040502050405020303" pitchFamily="18" charset="0"/>
              </a:rPr>
              <a:t>is the development of computer algorithms and their testing, their </a:t>
            </a:r>
            <a:r>
              <a:rPr lang="en-US" sz="2000" dirty="0" smtClean="0">
                <a:latin typeface="Georgia" panose="02040502050405020303" pitchFamily="18" charset="0"/>
              </a:rPr>
              <a:t>comparison </a:t>
            </a:r>
            <a:r>
              <a:rPr lang="en-US" sz="2000" dirty="0">
                <a:latin typeface="Georgia" panose="02040502050405020303" pitchFamily="18" charset="0"/>
              </a:rPr>
              <a:t>with empirical data or performance standards, and their subsequent modification that constitute the methodology of the AI perspective. </a:t>
            </a:r>
            <a:endParaRPr lang="en-US" sz="2000" dirty="0" smtClean="0">
              <a:latin typeface="Georgia" panose="02040502050405020303" pitchFamily="18" charset="0"/>
            </a:endParaRPr>
          </a:p>
          <a:p>
            <a:pPr algn="just"/>
            <a:r>
              <a:rPr lang="en-US" sz="2000" dirty="0" smtClean="0">
                <a:latin typeface="Georgia" panose="02040502050405020303" pitchFamily="18" charset="0"/>
              </a:rPr>
              <a:t>Not </a:t>
            </a:r>
            <a:r>
              <a:rPr lang="en-US" sz="2000" dirty="0">
                <a:latin typeface="Georgia" panose="02040502050405020303" pitchFamily="18" charset="0"/>
              </a:rPr>
              <a:t>all computer programs are alike, however. Researchers have employed a wide range of approaches. An early attempt at getting computers to reason involved the application of logical rules to propositional statements. Later on, expert systems, scripts, and fuzzy logic procedures, among others, were used.</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extLst>
      <p:ext uri="{BB962C8B-B14F-4D97-AF65-F5344CB8AC3E}">
        <p14:creationId xmlns:p14="http://schemas.microsoft.com/office/powerpoint/2010/main" val="3115137045"/>
      </p:ext>
    </p:extLst>
  </p:cSld>
  <p:clrMapOvr>
    <a:masterClrMapping/>
  </p:clrMapOvr>
  <p:transition>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Robotics Approach</a:t>
            </a:r>
          </a:p>
        </p:txBody>
      </p:sp>
      <p:sp>
        <p:nvSpPr>
          <p:cNvPr id="3" name="Text Placeholder 2"/>
          <p:cNvSpPr>
            <a:spLocks noGrp="1"/>
          </p:cNvSpPr>
          <p:nvPr>
            <p:ph type="body" idx="1"/>
          </p:nvPr>
        </p:nvSpPr>
        <p:spPr>
          <a:xfrm>
            <a:off x="495299" y="1516062"/>
            <a:ext cx="8427027" cy="4351338"/>
          </a:xfrm>
        </p:spPr>
        <p:txBody>
          <a:bodyPr/>
          <a:lstStyle/>
          <a:p>
            <a:pPr algn="just"/>
            <a:r>
              <a:rPr lang="en-US" sz="2000" dirty="0">
                <a:latin typeface="Georgia" panose="02040502050405020303" pitchFamily="18" charset="0"/>
              </a:rPr>
              <a:t>Finally, we consider robotics. Robotics may be considered a familial relation to AI and has appeared on the scene as a formal discipline just as recently. Whereas AI workers build devices that “think,” robotics researchers build machines that must also “act.” Investigators in this field build autonomous or semi-autonomous mechanical devices that have been designed to perform a physical task in a real world environment. Examples of things that robots can do presently include navigating around a cluttered room, welding or manipulating parts on an assembly line, and defusing bombs</a:t>
            </a:r>
            <a:r>
              <a:rPr lang="en-US" sz="2000" dirty="0" smtClean="0">
                <a:latin typeface="Georgia" panose="02040502050405020303" pitchFamily="18" charset="0"/>
              </a:rPr>
              <a:t>.</a:t>
            </a:r>
          </a:p>
          <a:p>
            <a:pPr algn="just"/>
            <a:r>
              <a:rPr lang="en-US" sz="2000" dirty="0">
                <a:latin typeface="Georgia" panose="02040502050405020303" pitchFamily="18" charset="0"/>
              </a:rPr>
              <a:t>The robotics approach has much to contribute to cognitive science and to theories of mind. Robots, like people and animals, must demonstrate </a:t>
            </a:r>
            <a:r>
              <a:rPr lang="en-US" sz="2000" dirty="0" smtClean="0">
                <a:latin typeface="Georgia" panose="02040502050405020303" pitchFamily="18" charset="0"/>
              </a:rPr>
              <a:t>successful </a:t>
            </a:r>
            <a:r>
              <a:rPr lang="en-US" sz="2000" dirty="0">
                <a:latin typeface="Georgia" panose="02040502050405020303" pitchFamily="18" charset="0"/>
              </a:rPr>
              <a:t>goal-oriented behaviors under complex, changing, and uncertain environ mental conditions. Robotics therefore helps us to think about the kinds of minds that underlie and produce such behaviors.</a:t>
            </a:r>
            <a:endParaRPr lang="en-IN" sz="2000" dirty="0">
              <a:latin typeface="Georgia" panose="02040502050405020303"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Tree>
    <p:extLst>
      <p:ext uri="{BB962C8B-B14F-4D97-AF65-F5344CB8AC3E}">
        <p14:creationId xmlns:p14="http://schemas.microsoft.com/office/powerpoint/2010/main" val="1844861290"/>
      </p:ext>
    </p:extLst>
  </p:cSld>
  <p:clrMapOvr>
    <a:masterClrMapping/>
  </p:clrMapOvr>
  <p:transition>
    <p:wipe dir="d"/>
  </p:transition>
</p:sld>
</file>

<file path=ppt/theme/theme1.xml><?xml version="1.0" encoding="utf-8"?>
<a:theme xmlns:a="http://schemas.openxmlformats.org/drawingml/2006/main" name="IIITK">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2434</TotalTime>
  <Words>5155</Words>
  <Application>Microsoft Office PowerPoint</Application>
  <PresentationFormat>On-screen Show (4:3)</PresentationFormat>
  <Paragraphs>384</Paragraphs>
  <Slides>67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67</vt:i4>
      </vt:variant>
    </vt:vector>
  </HeadingPairs>
  <TitlesOfParts>
    <vt:vector size="74" baseType="lpstr">
      <vt:lpstr>Georgia</vt:lpstr>
      <vt:lpstr>Arial</vt:lpstr>
      <vt:lpstr>Tahoma</vt:lpstr>
      <vt:lpstr>Calibri</vt:lpstr>
      <vt:lpstr>Bell MT</vt:lpstr>
      <vt:lpstr>Times New Roman</vt:lpstr>
      <vt:lpstr>IIITK</vt:lpstr>
      <vt:lpstr> ISC213 Introduction to Cognitive Science [2-0-0-2]  Chapter 1</vt:lpstr>
      <vt:lpstr>Introduction</vt:lpstr>
      <vt:lpstr>Contd…</vt:lpstr>
      <vt:lpstr>Mind, Brain and Behaviour  </vt:lpstr>
      <vt:lpstr>Cognitive Psychology</vt:lpstr>
      <vt:lpstr>Contd…</vt:lpstr>
      <vt:lpstr>Contd…</vt:lpstr>
      <vt:lpstr>Cognitive Science</vt:lpstr>
      <vt:lpstr>Contd…</vt:lpstr>
      <vt:lpstr>Computation or information Processor - Mind</vt:lpstr>
      <vt:lpstr>Computation or information Processor - Computer</vt:lpstr>
      <vt:lpstr>Contd…</vt:lpstr>
      <vt:lpstr>Contd…</vt:lpstr>
      <vt:lpstr>Varieties of Cognitive Science</vt:lpstr>
      <vt:lpstr>Symbolic computational cognitive science</vt:lpstr>
      <vt:lpstr>PowerPoint Presentation</vt:lpstr>
      <vt:lpstr>Connectionist computational cognitive science</vt:lpstr>
      <vt:lpstr>PowerPoint Presentation</vt:lpstr>
      <vt:lpstr>Thank you</vt:lpstr>
      <vt:lpstr>Cognitive Science </vt:lpstr>
      <vt:lpstr>Representation and Computation</vt:lpstr>
      <vt:lpstr>Scnario - Representation</vt:lpstr>
      <vt:lpstr>PowerPoint Presentation</vt:lpstr>
      <vt:lpstr>Mental Representations:</vt:lpstr>
      <vt:lpstr>PowerPoint Presentation</vt:lpstr>
      <vt:lpstr>Mind as an Information Processor</vt:lpstr>
      <vt:lpstr>Mental Representations Overview</vt:lpstr>
      <vt:lpstr>Example: Representing New York City</vt:lpstr>
      <vt:lpstr>Imagistic Representation</vt:lpstr>
      <vt:lpstr>Propositional Representation</vt:lpstr>
      <vt:lpstr>Symbolic Representation</vt:lpstr>
      <vt:lpstr>Digital vs. Analog Representations</vt:lpstr>
      <vt:lpstr>Weber’s Law and Analog Processing</vt:lpstr>
      <vt:lpstr>Individual Differences</vt:lpstr>
      <vt:lpstr>Representation and Computation</vt:lpstr>
      <vt:lpstr>The Rubik’s Cube as a Metaphor</vt:lpstr>
      <vt:lpstr>The Problem of Understanding the Mind</vt:lpstr>
      <vt:lpstr>David Marr's Three Levels of Analysis</vt:lpstr>
      <vt:lpstr>David Marr's Three Levels of Analysis</vt:lpstr>
      <vt:lpstr>Example: Chess</vt:lpstr>
      <vt:lpstr>Example: Arithmetic</vt:lpstr>
      <vt:lpstr>Modeling in Cognitive Science</vt:lpstr>
      <vt:lpstr>Example: The Cash Register</vt:lpstr>
      <vt:lpstr>PowerPoint Presentation</vt:lpstr>
      <vt:lpstr>Summary</vt:lpstr>
      <vt:lpstr>Cognitive Science </vt:lpstr>
      <vt:lpstr>Cognitive Science </vt:lpstr>
      <vt:lpstr>The Interdisciplinary Perspective</vt:lpstr>
      <vt:lpstr>PowerPoint Presentation</vt:lpstr>
      <vt:lpstr>PowerPoint Presentation</vt:lpstr>
      <vt:lpstr>The Philosophical Approach</vt:lpstr>
      <vt:lpstr>Deductive Reasoning</vt:lpstr>
      <vt:lpstr>Inductive Reasoning</vt:lpstr>
      <vt:lpstr>The Psychological Approach</vt:lpstr>
      <vt:lpstr>PowerPoint Presentation</vt:lpstr>
      <vt:lpstr>PowerPoint Presentation</vt:lpstr>
      <vt:lpstr>The Cognitive Approach</vt:lpstr>
      <vt:lpstr>PowerPoint Presentation</vt:lpstr>
      <vt:lpstr>The Neuroscience Approach</vt:lpstr>
      <vt:lpstr>PowerPoint Presentation</vt:lpstr>
      <vt:lpstr>The Network Approach</vt:lpstr>
      <vt:lpstr>The Evolutionary Approach</vt:lpstr>
      <vt:lpstr>PowerPoint Presentation</vt:lpstr>
      <vt:lpstr>The Linguistic Approach</vt:lpstr>
      <vt:lpstr>The Artificial Intelligence Approach</vt:lpstr>
      <vt:lpstr>PowerPoint Presentation</vt:lpstr>
      <vt:lpstr>The Robotics Approach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ICS422 Applied Predictive Analytics [3- 0-0-3]  Course Details</dc:title>
  <dc:creator>Guha</dc:creator>
  <cp:lastModifiedBy>IIIT Kottayam</cp:lastModifiedBy>
  <cp:revision>35</cp:revision>
  <dcterms:created xsi:type="dcterms:W3CDTF">2002-07-04T05:06:04Z</dcterms:created>
  <dcterms:modified xsi:type="dcterms:W3CDTF">2025-08-14T06:11:47Z</dcterms:modified>
</cp:coreProperties>
</file>
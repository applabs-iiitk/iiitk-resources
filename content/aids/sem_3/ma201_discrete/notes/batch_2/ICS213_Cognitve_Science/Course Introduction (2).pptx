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4" r:id="rId10"/>
    <p:sldId id="265" r:id="rId11"/>
    <p:sldId id="266" r:id="rId12"/>
  </p:sldIdLst>
  <p:sldSz cx="9144000" cy="6858000" type="screen4x3"/>
  <p:notesSz cx="6669088" cy="9926638"/>
  <p:embeddedFontLst>
    <p:embeddedFont>
      <p:font typeface="Tahoma" panose="020B0604030504040204" pitchFamily="34" charset="0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Bell MT" panose="02020503060305020303" pitchFamily="18" charset="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p11N/fwS+prnzVL1ec0I8QG65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D2AD0C-4D7A-4011-B2AF-17366F60A13C}">
  <a:tblStyle styleId="{C5D2AD0C-4D7A-4011-B2AF-17366F60A13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2488" y="744538"/>
            <a:ext cx="4964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209453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2488" y="744538"/>
            <a:ext cx="4964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2076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2488" y="744538"/>
            <a:ext cx="4964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4405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2488" y="744538"/>
            <a:ext cx="4964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7207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2488" y="744538"/>
            <a:ext cx="4964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9221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caeac3c618_0_0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200" cy="446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1caeac3c61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2488" y="744538"/>
            <a:ext cx="4964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247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caeac3c618_0_0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200" cy="446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1caeac3c61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2488" y="744538"/>
            <a:ext cx="4964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389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2013" y="750888"/>
            <a:ext cx="4946650" cy="3709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358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2013" y="750888"/>
            <a:ext cx="4946650" cy="3709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859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sldNum" idx="12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2013" y="750888"/>
            <a:ext cx="4946650" cy="3709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537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sldNum" idx="12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2013" y="750888"/>
            <a:ext cx="4946650" cy="3709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036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sldNum" idx="12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2013" y="750888"/>
            <a:ext cx="4946650" cy="3709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542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13"/>
          <p:cNvCxnSpPr/>
          <p:nvPr/>
        </p:nvCxnSpPr>
        <p:spPr>
          <a:xfrm>
            <a:off x="0" y="6248400"/>
            <a:ext cx="9144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Google Shape;24;p13"/>
          <p:cNvCxnSpPr/>
          <p:nvPr/>
        </p:nvCxnSpPr>
        <p:spPr>
          <a:xfrm>
            <a:off x="0" y="1219200"/>
            <a:ext cx="9144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225425" y="304801"/>
            <a:ext cx="8080375" cy="9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495300" y="151606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228600" y="4864"/>
            <a:ext cx="7566025" cy="151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>
            <a:spLocks noGrp="1"/>
          </p:cNvSpPr>
          <p:nvPr>
            <p:ph type="title"/>
          </p:nvPr>
        </p:nvSpPr>
        <p:spPr>
          <a:xfrm>
            <a:off x="417513" y="258763"/>
            <a:ext cx="8308975" cy="120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Bell MT"/>
                <a:ea typeface="Bell MT"/>
                <a:cs typeface="Bell MT"/>
                <a:sym typeface="Bell MT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Bell MT"/>
                <a:ea typeface="Bell MT"/>
                <a:cs typeface="Bell MT"/>
                <a:sym typeface="Bell MT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Bell MT"/>
                <a:ea typeface="Bell MT"/>
                <a:cs typeface="Bell MT"/>
                <a:sym typeface="Bell MT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Bell MT"/>
                <a:ea typeface="Bell MT"/>
                <a:cs typeface="Bell MT"/>
                <a:sym typeface="Bell MT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>
            <a:off x="417513" y="258763"/>
            <a:ext cx="8308975" cy="120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ell MT"/>
                <a:ea typeface="Bell MT"/>
                <a:cs typeface="Bell MT"/>
                <a:sym typeface="Bell M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ell MT"/>
                <a:ea typeface="Bell MT"/>
                <a:cs typeface="Bell MT"/>
                <a:sym typeface="Bell M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417513" y="258763"/>
            <a:ext cx="8308975" cy="120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1" descr="IIIT Kottayam Logo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29463" y="9525"/>
            <a:ext cx="2014537" cy="109696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d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141688" y="2286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sz="4800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ISC213 Introduction to Cognitive Science [2-0-0-2]</a:t>
            </a:r>
            <a:br>
              <a:rPr lang="en-US" sz="4800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800" i="1" dirty="0">
                <a:latin typeface="Bell MT"/>
                <a:ea typeface="Bell MT"/>
                <a:cs typeface="Bell MT"/>
                <a:sym typeface="Bell MT"/>
              </a:rPr>
              <a:t/>
            </a:r>
            <a:br>
              <a:rPr lang="en-US" sz="4800" i="1" dirty="0">
                <a:latin typeface="Bell MT"/>
                <a:ea typeface="Bell MT"/>
                <a:cs typeface="Bell MT"/>
                <a:sym typeface="Bell MT"/>
              </a:rPr>
            </a:br>
            <a:r>
              <a:rPr lang="en-US" sz="4800" i="1" dirty="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Course Details</a:t>
            </a:r>
            <a:endParaRPr sz="4800" dirty="0">
              <a:solidFill>
                <a:srgbClr val="FF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353050" y="4194175"/>
            <a:ext cx="3429000" cy="157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000099"/>
                </a:solidFill>
                <a:latin typeface="Bell MT"/>
                <a:ea typeface="Bell MT"/>
                <a:cs typeface="Bell MT"/>
                <a:sym typeface="Bell MT"/>
              </a:rPr>
              <a:t>Presented by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99"/>
                </a:solidFill>
                <a:latin typeface="Bell MT"/>
                <a:ea typeface="Bell MT"/>
                <a:cs typeface="Bell MT"/>
                <a:sym typeface="Bell MT"/>
              </a:rPr>
              <a:t>Dr. Selvi C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99"/>
                </a:solidFill>
                <a:latin typeface="Bell MT"/>
                <a:ea typeface="Bell MT"/>
                <a:cs typeface="Bell MT"/>
                <a:sym typeface="Bell MT"/>
              </a:rPr>
              <a:t>Assistant Professor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99"/>
                </a:solidFill>
                <a:latin typeface="Bell MT"/>
                <a:ea typeface="Bell MT"/>
                <a:cs typeface="Bell MT"/>
                <a:sym typeface="Bell MT"/>
              </a:rPr>
              <a:t>IIIT Kottayam</a:t>
            </a:r>
            <a:endParaRPr/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624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Times New Roman"/>
                <a:ea typeface="Times New Roman"/>
                <a:cs typeface="Times New Roman"/>
                <a:sym typeface="Times New Roman"/>
              </a:rPr>
              <a:t>Course Objectives 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130175" y="1421833"/>
            <a:ext cx="8883650" cy="4014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28625" lvl="0" indent="-257175" algn="just">
              <a:spcBef>
                <a:spcPts val="0"/>
              </a:spcBef>
            </a:pPr>
            <a:r>
              <a:rPr lang="en-US" dirty="0"/>
              <a:t>To study the basic concepts and approaches in the field of cognitive science</a:t>
            </a:r>
          </a:p>
          <a:p>
            <a:pPr marL="171450" lvl="0" indent="0" algn="just">
              <a:spcBef>
                <a:spcPts val="0"/>
              </a:spcBef>
              <a:buNone/>
            </a:pPr>
            <a:endParaRPr lang="en-US" dirty="0"/>
          </a:p>
          <a:p>
            <a:pPr marL="428625" lvl="0" indent="-257175" algn="just">
              <a:spcBef>
                <a:spcPts val="0"/>
              </a:spcBef>
            </a:pPr>
            <a:r>
              <a:rPr lang="en-US" dirty="0"/>
              <a:t>To apply the concepts of planning, reasoning and learning models in cognitive applications</a:t>
            </a:r>
          </a:p>
          <a:p>
            <a:pPr marL="171450" lvl="0" indent="0" algn="just">
              <a:spcBef>
                <a:spcPts val="0"/>
              </a:spcBef>
              <a:buNone/>
            </a:pPr>
            <a:endParaRPr lang="en-US" dirty="0"/>
          </a:p>
          <a:p>
            <a:pPr marL="428625" lvl="0" indent="-257175" algn="just">
              <a:spcBef>
                <a:spcPts val="0"/>
              </a:spcBef>
            </a:pPr>
            <a:r>
              <a:rPr lang="en-US" dirty="0"/>
              <a:t>To analyse language and semantic models of cognitive process.</a:t>
            </a:r>
            <a:endParaRPr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26988" y="152400"/>
            <a:ext cx="82296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Course Outcomes </a:t>
            </a:r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26988" y="1371600"/>
            <a:ext cx="9042367" cy="46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28625" lvl="0" indent="-257175" algn="just">
              <a:spcBef>
                <a:spcPts val="0"/>
              </a:spcBef>
              <a:buSzPct val="100000"/>
            </a:pPr>
            <a:r>
              <a:rPr lang="en-US" dirty="0"/>
              <a:t>Demonstrating the qualitative and quantitative skill and critical thinking on cognitive science by applying suitable methodology to real world cognitive applications</a:t>
            </a:r>
          </a:p>
          <a:p>
            <a:pPr marL="171450" lvl="0" indent="0" algn="just">
              <a:spcBef>
                <a:spcPts val="0"/>
              </a:spcBef>
              <a:buSzPct val="100000"/>
              <a:buNone/>
            </a:pPr>
            <a:endParaRPr lang="en-US" dirty="0"/>
          </a:p>
          <a:p>
            <a:pPr marL="428625" lvl="0" indent="-257175" algn="just">
              <a:spcBef>
                <a:spcPts val="0"/>
              </a:spcBef>
              <a:buSzPct val="100000"/>
            </a:pPr>
            <a:r>
              <a:rPr lang="en-US" dirty="0"/>
              <a:t>Acquire knowledge in language processing and understanding</a:t>
            </a:r>
          </a:p>
          <a:p>
            <a:pPr marL="171450" lvl="0" indent="0" algn="just">
              <a:spcBef>
                <a:spcPts val="0"/>
              </a:spcBef>
              <a:buSzPct val="100000"/>
              <a:buNone/>
            </a:pPr>
            <a:endParaRPr lang="en-US" dirty="0"/>
          </a:p>
          <a:p>
            <a:pPr marL="428625" lvl="0" indent="-257175" algn="just">
              <a:spcBef>
                <a:spcPts val="0"/>
              </a:spcBef>
              <a:buSzPct val="100000"/>
            </a:pPr>
            <a:r>
              <a:rPr lang="en-US" dirty="0"/>
              <a:t>Learning the cognitive processes of humans, robots and other intelligent systems</a:t>
            </a:r>
            <a:endParaRPr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492125" y="596900"/>
            <a:ext cx="343535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Syllabus</a:t>
            </a:r>
            <a:endParaRPr/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1"/>
          </p:nvPr>
        </p:nvSpPr>
        <p:spPr>
          <a:xfrm>
            <a:off x="0" y="1197174"/>
            <a:ext cx="9144000" cy="5279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0" algn="just">
              <a:lnSpc>
                <a:spcPct val="110000"/>
              </a:lnSpc>
              <a:spcBef>
                <a:spcPts val="0"/>
              </a:spcBef>
              <a:buClr>
                <a:srgbClr val="FF0000"/>
              </a:buClr>
              <a:buSzPts val="2000"/>
              <a:buNone/>
            </a:pPr>
            <a:r>
              <a:rPr lang="en-US" sz="2400" dirty="0">
                <a:solidFill>
                  <a:srgbClr val="FF0000"/>
                </a:solidFill>
              </a:rPr>
              <a:t>Introduction to Cognitive Science: Fundamental Concepts of cognitive science - Computers in Cognitive Science – Applied Cognitive Science - The Interdisciplinary Nature of Cognitive Science - Structure and constituents of the brain; Brief history of neuroscience; Mathematical models; Looking at brain signals; Processing of sensory information in the brain.</a:t>
            </a:r>
          </a:p>
          <a:p>
            <a:pPr marL="228600" lvl="0" indent="0" algn="just">
              <a:lnSpc>
                <a:spcPct val="110000"/>
              </a:lnSpc>
              <a:spcBef>
                <a:spcPts val="0"/>
              </a:spcBef>
              <a:buClr>
                <a:srgbClr val="FF0000"/>
              </a:buClr>
              <a:buSzPts val="2000"/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228600" indent="0" algn="just">
              <a:lnSpc>
                <a:spcPct val="110000"/>
              </a:lnSpc>
              <a:spcBef>
                <a:spcPts val="0"/>
              </a:spcBef>
              <a:buClr>
                <a:srgbClr val="FF0000"/>
              </a:buClr>
              <a:buSzPts val="2000"/>
              <a:buNone/>
            </a:pPr>
            <a:r>
              <a:rPr lang="en-US" sz="2400" dirty="0">
                <a:solidFill>
                  <a:srgbClr val="00B050"/>
                </a:solidFill>
              </a:rPr>
              <a:t>Memory: Types of Memory – Memory Models – Visual Imagery - Problem Solving - Overall Evaluation of the Cognitive Approach.</a:t>
            </a:r>
          </a:p>
          <a:p>
            <a:pPr marL="228600" lvl="0" indent="0" algn="just">
              <a:lnSpc>
                <a:spcPct val="110000"/>
              </a:lnSpc>
              <a:spcBef>
                <a:spcPts val="0"/>
              </a:spcBef>
              <a:buClr>
                <a:srgbClr val="FF0000"/>
              </a:buClr>
              <a:buSzPts val="2000"/>
              <a:buNone/>
            </a:pPr>
            <a:endParaRPr sz="3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caeac3c618_0_0"/>
          <p:cNvSpPr txBox="1">
            <a:spLocks noGrp="1"/>
          </p:cNvSpPr>
          <p:nvPr>
            <p:ph type="title"/>
          </p:nvPr>
        </p:nvSpPr>
        <p:spPr>
          <a:xfrm>
            <a:off x="492125" y="596900"/>
            <a:ext cx="34353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Syllabus</a:t>
            </a:r>
            <a:endParaRPr/>
          </a:p>
        </p:txBody>
      </p:sp>
      <p:sp>
        <p:nvSpPr>
          <p:cNvPr id="116" name="Google Shape;116;g1caeac3c618_0_0"/>
          <p:cNvSpPr txBox="1">
            <a:spLocks noGrp="1"/>
          </p:cNvSpPr>
          <p:nvPr>
            <p:ph type="body" idx="1"/>
          </p:nvPr>
        </p:nvSpPr>
        <p:spPr>
          <a:xfrm>
            <a:off x="0" y="1197174"/>
            <a:ext cx="9144000" cy="52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0" algn="just">
              <a:lnSpc>
                <a:spcPct val="110000"/>
              </a:lnSpc>
              <a:buClr>
                <a:srgbClr val="FF0000"/>
              </a:buClr>
              <a:buSzPts val="2000"/>
              <a:buNone/>
            </a:pPr>
            <a:r>
              <a:rPr lang="en-US" sz="2400" dirty="0">
                <a:solidFill>
                  <a:srgbClr val="FF0000"/>
                </a:solidFill>
              </a:rPr>
              <a:t>Network Approach: Principles Underlying Artificial Neural Networks (ANN) - Characteristics of ANN – Conceptions of Neural Networks - Back Propagation and Convergent Dynamics - ANN Typologies - Evaluating the Connectionist Approach - Semantic Networks - Characteristics of Semantic Networks - Evaluation of the network approach.</a:t>
            </a:r>
          </a:p>
          <a:p>
            <a:pPr marL="228600" indent="0" algn="just">
              <a:lnSpc>
                <a:spcPct val="110000"/>
              </a:lnSpc>
              <a:buClr>
                <a:srgbClr val="FF0000"/>
              </a:buClr>
              <a:buSzPts val="2000"/>
              <a:buNone/>
            </a:pPr>
            <a:r>
              <a:rPr lang="en-US" sz="2400" dirty="0">
                <a:solidFill>
                  <a:srgbClr val="00B050"/>
                </a:solidFill>
              </a:rPr>
              <a:t>Cognitive Science in Linguistics: Importance of Language – Nature Language - Language Use in Primates – Language Acquisition - Language Deprivation - Cognition and Linguistics: The Role of Grammar - Neuroscience and Linguistics – Artificial Intelligence and Linguistics – Speech Recognition – Evaluation of Natural Language Processing.</a:t>
            </a:r>
          </a:p>
          <a:p>
            <a:pPr marL="228600" lvl="0" indent="0" algn="just">
              <a:lnSpc>
                <a:spcPct val="110000"/>
              </a:lnSpc>
              <a:buClr>
                <a:srgbClr val="FF0000"/>
              </a:buClr>
              <a:buSzPts val="2000"/>
              <a:buNone/>
            </a:pPr>
            <a:endParaRPr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caeac3c618_0_0"/>
          <p:cNvSpPr txBox="1">
            <a:spLocks noGrp="1"/>
          </p:cNvSpPr>
          <p:nvPr>
            <p:ph type="title"/>
          </p:nvPr>
        </p:nvSpPr>
        <p:spPr>
          <a:xfrm>
            <a:off x="492125" y="596900"/>
            <a:ext cx="34353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Syllabus</a:t>
            </a:r>
            <a:endParaRPr/>
          </a:p>
        </p:txBody>
      </p:sp>
      <p:sp>
        <p:nvSpPr>
          <p:cNvPr id="116" name="Google Shape;116;g1caeac3c618_0_0"/>
          <p:cNvSpPr txBox="1">
            <a:spLocks noGrp="1"/>
          </p:cNvSpPr>
          <p:nvPr>
            <p:ph type="body" idx="1"/>
          </p:nvPr>
        </p:nvSpPr>
        <p:spPr>
          <a:xfrm>
            <a:off x="0" y="1197174"/>
            <a:ext cx="9144000" cy="52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0" algn="just">
              <a:lnSpc>
                <a:spcPct val="110000"/>
              </a:lnSpc>
              <a:buClr>
                <a:srgbClr val="FF0000"/>
              </a:buClr>
              <a:buSzPts val="2000"/>
              <a:buNone/>
            </a:pPr>
            <a:r>
              <a:rPr lang="en-US" sz="2400" dirty="0">
                <a:solidFill>
                  <a:srgbClr val="FF0000"/>
                </a:solidFill>
              </a:rPr>
              <a:t>Cognitive Science in Robotics: Affordances, direct perception, Ecological Psychology, affordance learning in robotics;</a:t>
            </a:r>
          </a:p>
          <a:p>
            <a:pPr marL="228600" lvl="0" indent="0" algn="just">
              <a:lnSpc>
                <a:spcPct val="110000"/>
              </a:lnSpc>
              <a:buClr>
                <a:srgbClr val="FF0000"/>
              </a:buClr>
              <a:buSzPts val="2000"/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228600" lvl="0" indent="0" algn="just">
              <a:lnSpc>
                <a:spcPct val="110000"/>
              </a:lnSpc>
              <a:buClr>
                <a:srgbClr val="FF0000"/>
              </a:buClr>
              <a:buSzPts val="2000"/>
              <a:buNone/>
            </a:pPr>
            <a:r>
              <a:rPr lang="en-US" sz="2400" dirty="0">
                <a:solidFill>
                  <a:srgbClr val="00B050"/>
                </a:solidFill>
              </a:rPr>
              <a:t>Development, child and robotic development; Attention and related concepts; Human visual attention; Computational models of attention; Applications of computational models of attentional.</a:t>
            </a:r>
            <a:endParaRPr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42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304800" y="246063"/>
            <a:ext cx="615315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Text Books/References</a:t>
            </a:r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1"/>
          </p:nvPr>
        </p:nvSpPr>
        <p:spPr>
          <a:xfrm>
            <a:off x="304800" y="1237059"/>
            <a:ext cx="8535591" cy="478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endParaRPr lang="en-US" sz="2200" dirty="0"/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r>
              <a:rPr lang="en-US" sz="2200" dirty="0" err="1"/>
              <a:t>Bermúdez</a:t>
            </a:r>
            <a:r>
              <a:rPr lang="en-US" sz="2200" dirty="0"/>
              <a:t>, José Luis. Cognitive science: An introduction to the science of the mind. Cambridge University Press, 2014</a:t>
            </a:r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endParaRPr lang="en-US" sz="2200" dirty="0"/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r>
              <a:rPr lang="en-US" sz="2200" dirty="0"/>
              <a:t>Neil </a:t>
            </a:r>
            <a:r>
              <a:rPr lang="en-US" sz="2200" dirty="0" err="1"/>
              <a:t>Stillings</a:t>
            </a:r>
            <a:r>
              <a:rPr lang="en-US" sz="2200" dirty="0"/>
              <a:t>, Steven E. </a:t>
            </a:r>
            <a:r>
              <a:rPr lang="en-US" sz="2200" dirty="0" err="1"/>
              <a:t>Weisler</a:t>
            </a:r>
            <a:r>
              <a:rPr lang="en-US" sz="2200" dirty="0"/>
              <a:t>, Christopher H. Chase and Mark H. Feinstein, Cognitive Science: An Introduction, Second Edition, MIT press ,1995</a:t>
            </a:r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endParaRPr lang="en-US" sz="2200" dirty="0"/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r>
              <a:rPr lang="en-US" sz="2200" dirty="0"/>
              <a:t>Mallick, Pradeep Kumar, Borah, </a:t>
            </a:r>
            <a:r>
              <a:rPr lang="en-US" sz="2200" dirty="0" err="1"/>
              <a:t>Samarjeet</a:t>
            </a:r>
            <a:r>
              <a:rPr lang="en-US" sz="2200" dirty="0"/>
              <a:t>, Emerging Trends and Applications in Cognitive computing, IGI Publishers 2019</a:t>
            </a:r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endParaRPr lang="en-US" sz="2200" dirty="0"/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r>
              <a:rPr lang="en-US" sz="2200" dirty="0" err="1"/>
              <a:t>Fromkin</a:t>
            </a:r>
            <a:r>
              <a:rPr lang="en-US" sz="2200" dirty="0"/>
              <a:t>, Rodman, and </a:t>
            </a:r>
            <a:r>
              <a:rPr lang="en-US" sz="2200" dirty="0" err="1"/>
              <a:t>Hyams</a:t>
            </a:r>
            <a:r>
              <a:rPr lang="en-US" sz="2200" dirty="0"/>
              <a:t>. An Introduction to Language, Boston, MA: Thomson Wadsworth, 9th edition, 2011</a:t>
            </a:r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endParaRPr lang="en-US" sz="2200" dirty="0"/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r>
              <a:rPr lang="en-US" sz="2200" dirty="0"/>
              <a:t>Stuart J. Russell, Peter </a:t>
            </a:r>
            <a:r>
              <a:rPr lang="en-US" sz="2200" dirty="0" err="1"/>
              <a:t>Norvig</a:t>
            </a:r>
            <a:r>
              <a:rPr lang="en-US" sz="2200" dirty="0"/>
              <a:t>, Artificial Intelligence - A Modern Approach, Third Edition, Pearson Publishers, 2015.</a:t>
            </a:r>
            <a:endParaRPr sz="3200" dirty="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>
            <a:spLocks noGrp="1"/>
          </p:cNvSpPr>
          <p:nvPr>
            <p:ph type="title"/>
          </p:nvPr>
        </p:nvSpPr>
        <p:spPr>
          <a:xfrm>
            <a:off x="304800" y="241300"/>
            <a:ext cx="51054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evaluation </a:t>
            </a:r>
            <a:endParaRPr/>
          </a:p>
        </p:txBody>
      </p:sp>
      <p:graphicFrame>
        <p:nvGraphicFramePr>
          <p:cNvPr id="130" name="Google Shape;130;p6"/>
          <p:cNvGraphicFramePr/>
          <p:nvPr>
            <p:extLst>
              <p:ext uri="{D42A27DB-BD31-4B8C-83A1-F6EECF244321}">
                <p14:modId xmlns:p14="http://schemas.microsoft.com/office/powerpoint/2010/main" val="3396918159"/>
              </p:ext>
            </p:extLst>
          </p:nvPr>
        </p:nvGraphicFramePr>
        <p:xfrm>
          <a:off x="802433" y="2031514"/>
          <a:ext cx="7132094" cy="2524075"/>
        </p:xfrm>
        <a:graphic>
          <a:graphicData uri="http://schemas.openxmlformats.org/drawingml/2006/table">
            <a:tbl>
              <a:tblPr firstRow="1" firstCol="1" bandRow="1">
                <a:noFill/>
                <a:tableStyleId>{C5D2AD0C-4D7A-4011-B2AF-17366F60A13C}</a:tableStyleId>
              </a:tblPr>
              <a:tblGrid>
                <a:gridCol w="33039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022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59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84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Evaluation parameter</a:t>
                      </a:r>
                      <a:endParaRPr sz="2000" u="none" strike="noStrike" cap="none" dirty="0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L="68575" marR="68575" marT="0" marB="0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Weightage of Marks %</a:t>
                      </a:r>
                      <a:endParaRPr sz="2000" u="none" strike="noStrike" cap="non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L="68575" marR="68575" marT="0" marB="0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Total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Marks</a:t>
                      </a:r>
                      <a:endParaRPr/>
                    </a:p>
                  </a:txBody>
                  <a:tcPr marL="68575" marR="68575" marT="0" marB="0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Mid Exam I</a:t>
                      </a:r>
                      <a:endParaRPr sz="2000" u="none" strike="noStrike" cap="none" dirty="0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L="68575" marR="68575" marT="0" marB="0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 smtClean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25</a:t>
                      </a:r>
                      <a:endParaRPr sz="2000" u="none" strike="noStrike" cap="none" dirty="0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L="68575" marR="68575" marT="0" marB="0">
                    <a:solidFill>
                      <a:srgbClr val="D0CECE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FF000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100</a:t>
                      </a:r>
                      <a:endParaRPr/>
                    </a:p>
                  </a:txBody>
                  <a:tcPr marL="68575" marR="68575" marT="0" marB="0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Quizzes</a:t>
                      </a:r>
                      <a:endParaRPr sz="2000" u="none" strike="noStrike" cap="none" dirty="0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L="68575" marR="68575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 smtClean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15</a:t>
                      </a:r>
                      <a:endParaRPr sz="2000" u="none" strike="noStrike" cap="none" dirty="0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L="68575" marR="68575" marT="0" marB="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Assignment(s)</a:t>
                      </a:r>
                      <a:endParaRPr sz="2000" u="none" strike="noStrike" cap="none" dirty="0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L="68575" marR="68575" marT="0" marB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 smtClean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2000" u="none" strike="noStrike" cap="none" dirty="0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L="68575" marR="68575" marT="0" marB="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End Semester Exam </a:t>
                      </a:r>
                      <a:endParaRPr sz="2000" u="none" strike="noStrike" cap="none" dirty="0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L="68575" marR="68575" marT="0" marB="0">
                    <a:solidFill>
                      <a:srgbClr val="F4B0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 smtClean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50</a:t>
                      </a:r>
                      <a:endParaRPr sz="2000" u="none" strike="noStrike" cap="none" dirty="0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L="68575" marR="68575" marT="0" marB="0">
                    <a:solidFill>
                      <a:srgbClr val="F4B08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31" name="Google Shape;131;p6"/>
          <p:cNvSpPr/>
          <p:nvPr/>
        </p:nvSpPr>
        <p:spPr>
          <a:xfrm>
            <a:off x="457200" y="1295400"/>
            <a:ext cx="7245350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The course evaluation will be done in the following way:</a:t>
            </a:r>
            <a:endParaRPr sz="2400" b="0" i="0" u="none" strike="noStrike" cap="none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4724400"/>
            <a:ext cx="818673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Administration of Exams: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The duration of the exam, will be 90(Mid)/180(end sem.) minutes respectively.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60198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Timetable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3B3ABD86-0764-410C-BCA1-FCD57F3B0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7" y="1571488"/>
            <a:ext cx="8459755" cy="3715024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60198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 more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381000" y="1295400"/>
            <a:ext cx="8610600" cy="507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Expectations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Suggestions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Requirements</a:t>
            </a:r>
            <a:endParaRPr/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>
            <a:spLocks noGrp="1"/>
          </p:cNvSpPr>
          <p:nvPr>
            <p:ph type="title"/>
          </p:nvPr>
        </p:nvSpPr>
        <p:spPr>
          <a:xfrm>
            <a:off x="1562100" y="3236913"/>
            <a:ext cx="60198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IIIT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505</Words>
  <Application>Microsoft Office PowerPoint</Application>
  <PresentationFormat>On-screen Show (4:3)</PresentationFormat>
  <Paragraphs>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Tahoma</vt:lpstr>
      <vt:lpstr>Calibri</vt:lpstr>
      <vt:lpstr>Bell MT</vt:lpstr>
      <vt:lpstr>Times New Roman</vt:lpstr>
      <vt:lpstr>Arial</vt:lpstr>
      <vt:lpstr>IIITK</vt:lpstr>
      <vt:lpstr> ISC213 Introduction to Cognitive Science [2-0-0-2]  Course Details</vt:lpstr>
      <vt:lpstr>Course Objectives </vt:lpstr>
      <vt:lpstr>Course Outcomes </vt:lpstr>
      <vt:lpstr>Syllabus</vt:lpstr>
      <vt:lpstr>Syllabus</vt:lpstr>
      <vt:lpstr>Syllabus</vt:lpstr>
      <vt:lpstr>Text Books/References</vt:lpstr>
      <vt:lpstr>Course evaluation </vt:lpstr>
      <vt:lpstr>Timetable</vt:lpstr>
      <vt:lpstr>Any more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ICS422 Applied Predictive Analytics [3- 0-0-3]  Course Details</dc:title>
  <dc:creator>Guha</dc:creator>
  <cp:lastModifiedBy>IIIT Kottayam</cp:lastModifiedBy>
  <cp:revision>9</cp:revision>
  <dcterms:created xsi:type="dcterms:W3CDTF">2002-07-04T05:06:04Z</dcterms:created>
  <dcterms:modified xsi:type="dcterms:W3CDTF">2025-08-07T06:26:11Z</dcterms:modified>
</cp:coreProperties>
</file>
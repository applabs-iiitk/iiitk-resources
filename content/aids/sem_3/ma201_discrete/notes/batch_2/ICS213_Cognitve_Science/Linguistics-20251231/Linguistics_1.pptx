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F19088-79DE-4583-8C03-B67259BD347E}">
  <a:tblStyle styleId="{CAF19088-79DE-4583-8C03-B67259BD347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NLP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What is NLP?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058427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Definition: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NLP = a field of AI that allows computers to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read, understand, and respond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to human language (text or speech).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Simple Example: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You type: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“Book a flight to Delhi tomorrow morning.”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NLP detects intent: </a:t>
            </a:r>
            <a:r>
              <a:rPr lang="en-US" i="1">
                <a:latin typeface="Georgia"/>
                <a:ea typeface="Georgia"/>
                <a:cs typeface="Georgia"/>
                <a:sym typeface="Georgia"/>
              </a:rPr>
              <a:t>book flight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Extracts entities: </a:t>
            </a:r>
            <a:r>
              <a:rPr lang="en-US" i="1">
                <a:latin typeface="Georgia"/>
                <a:ea typeface="Georgia"/>
                <a:cs typeface="Georgia"/>
                <a:sym typeface="Georgia"/>
              </a:rPr>
              <a:t>destination = Delhi, time = tomorrow morning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Passes this info to a travel-booking system.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NLP helps machines understand human language — just like humans do with each other.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Why NLP is Important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We use language everywhere — in emails, chats, social media, reviews, etc.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Over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80% of online data is text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so NLP helps turn this messy text into useful insight.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Real-World Examples: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Gmail → sorts your emails into “Primary,” “Promotions,” or “Spam.”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Google Translate → converts English → Hindi.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Amazon → reads product reviews to know if customers are happy or angry.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ChatGPT → uses NLP to understand and respond to you right now!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NLP Pipeline (How NLP Works Step-by-Step)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09" name="Google Shape;109;p17"/>
          <p:cNvGraphicFramePr/>
          <p:nvPr/>
        </p:nvGraphicFramePr>
        <p:xfrm>
          <a:off x="838200" y="2263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Step</a:t>
                      </a:r>
                      <a:endParaRPr sz="18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Purpose</a:t>
                      </a:r>
                      <a:endParaRPr sz="18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 u="none" strike="noStrike" cap="non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1. Collect Text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Get data from social media, emails, etc.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Tweets about a new phone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2. Tokenization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Split text into words/sentences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“I love NLP” → [“I”, “love”, “NLP”]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3. Stopword Removal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Remove unimportant words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[“love”, “NLP”]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4. Lemmatization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Convert to base form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“running” → “run”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5. Feature Extraction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Turn text into numbers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Bag-of-Words, TF-IDF, embeddings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6. Modeling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Train ML model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 sentiment, translate text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7. Evaluation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Check accuracy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Compare model output vs. human labels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Core NLP Tasks with Examples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15" name="Google Shape;115;p18"/>
          <p:cNvGraphicFramePr/>
          <p:nvPr/>
        </p:nvGraphicFramePr>
        <p:xfrm>
          <a:off x="838200" y="24468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Task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What It Does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 Input → Output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Text Classification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Assigns a category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“This is spam!” → </a:t>
                      </a:r>
                      <a:r>
                        <a:rPr lang="en-US" sz="1800" i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Spam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Sentiment Analysis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Detects emotion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“I love this phone” → </a:t>
                      </a:r>
                      <a:r>
                        <a:rPr lang="en-US" sz="1800" i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Positive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Named Entity Recognition (NER)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Finds people, places, etc.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“Apple opened a store in Paris.” → ORG: Apple, LOC: Paris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Machine Translation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Converts one language to another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“How are you?” → “¿Cómo estás?”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Question Answering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Answers based on text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Q: “Who wrote Hamlet?” → A: “William Shakespeare”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Summarization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Makes short summaries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3-page article → 5-line summary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Classical (Old) NLP Approaches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A. Rule-Based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Manually written rules.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If a sentence contains “excellent” or “great” → Positive.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If it contains “bad” or “terrible” → Negative.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✅ Good for simple problems.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❌ Fails for complex or sarcastic text:“This phone is great… if you like wasting money.” → actually Negative.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B. Statistical NLP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Uses probability to predict words or labels.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 Using n-grams: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“I want to drink ___” → most likely next word: “water”.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Works, but limited context understanding.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Modern NLP (Deep Learning)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A. Word Embeddings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Words are represented as numeric vectors that show meaning.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“King” – “Man” + “Woman” ≈ “Queen”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Meaning is captured mathematically — similar words have closer vectors.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B. Recurrent Neural Networks (RNNs)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Handle sequences of words.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Predict next word: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“I am going to the ___” → likely: “market.”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Problem: RNNs forget long context (e.g., sentences with 20+ words).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C. Transformers (BERT, GPT, T5)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Use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attention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to look at all words at once.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Sentence: “The animal didn’t cross the street because it was too tired.”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Model uses context to know </a:t>
            </a:r>
            <a:r>
              <a:rPr lang="en-US" i="1">
                <a:latin typeface="Georgia"/>
                <a:ea typeface="Georgia"/>
                <a:cs typeface="Georgia"/>
                <a:sym typeface="Georgia"/>
              </a:rPr>
              <a:t>“it”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refers to </a:t>
            </a:r>
            <a:r>
              <a:rPr lang="en-US" i="1">
                <a:latin typeface="Georgia"/>
                <a:ea typeface="Georgia"/>
                <a:cs typeface="Georgia"/>
                <a:sym typeface="Georgia"/>
              </a:rPr>
              <a:t>“the animal.”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Transformers = foundation of ChatGPT, Google Bard, Claude, etc.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Pretrained NLP Models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51" name="Google Shape;151;p24"/>
          <p:cNvGraphicFramePr/>
          <p:nvPr/>
        </p:nvGraphicFramePr>
        <p:xfrm>
          <a:off x="989029" y="188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 Case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BERT (Google)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Understand meaning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Sentiment, Q&amp;A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GPT (OpenAI)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Generate text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Chatbots, writing help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T5 (Google)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Translate + summarize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“Translate English to French”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spaCy / NLTK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Classic NLP tools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Tokenization, POS tagging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Hugging Face Transformers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Load any pretrained model easily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pipeline("sentiment-analysis")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Evaluation Metrics (How We Measure NLP Models)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57" name="Google Shape;157;p25"/>
          <p:cNvGraphicFramePr/>
          <p:nvPr/>
        </p:nvGraphicFramePr>
        <p:xfrm>
          <a:off x="838200" y="23553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Metric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 Case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Accuracy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Text classification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90% emails correctly marked as spam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Precision / Recall / F1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Balances correct &amp; missed results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Spam filter avoids false positives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BLEU Score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Translation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English→French model vs. human translation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ROUGE Score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Summarization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Compare model summary to real summary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Perplexity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Language modeling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Lower = model predicts words better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838200" y="3274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Challenges in NLP (with Examples)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63" name="Google Shape;163;p26"/>
          <p:cNvGraphicFramePr/>
          <p:nvPr/>
        </p:nvGraphicFramePr>
        <p:xfrm>
          <a:off x="1036163" y="2102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Challenge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Ambiguity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“I saw her duck.” (animal or action?)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Sarcasm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“Oh great, another rainy day.” (actually negative)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Cultural Context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“Break a leg!” = good luck, not violence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Data Bias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 thinks “nurse → woman” and “doctor → man.”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Low-Resource Languages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Few datasets for languages like Yoruba or Lao.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Future of NLP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69" name="Google Shape;169;p27"/>
          <p:cNvGraphicFramePr/>
          <p:nvPr/>
        </p:nvGraphicFramePr>
        <p:xfrm>
          <a:off x="838200" y="17746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Area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What’s Coming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Multimodal NLP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Combine text, image, sound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Describe a picture: “A cat on a sofa.”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Few-Shot Learning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Learn tasks from few examples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Model learns from 2–3 examples only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Cross-Lingual Models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One model for all languages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Translate Hindi↔English↔Spanish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Explainable NLP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Show </a:t>
                      </a:r>
                      <a:r>
                        <a:rPr lang="en-US" sz="1800" i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why</a:t>
                      </a: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a model predicted something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Visualizing which words mattered most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Main Steps in the NLP Pipeline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5" name="Google Shape;17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120925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 text: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“The movie was absolutely fantastic!”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Step 1: Text Collection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You first need data — text that your system will process.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Can come from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tweets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emails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product reviews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documents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etc.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For our example: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Dataset = 10,000 movie reviews from IMDB.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One example review: “The movie was absolutely fantastic!”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Step 2: Text Cleaning / Preprocessing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Raw text often contains punctuation, stopwords, symbols, and inconsistent cases.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We clean it to make it consistent and machine-readable.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182" name="Google Shape;182;p29"/>
          <p:cNvGraphicFramePr/>
          <p:nvPr/>
        </p:nvGraphicFramePr>
        <p:xfrm>
          <a:off x="838200" y="3269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Technique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Lowercasing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Convert to lowercase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“Fantastic” → “fantastic”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Removing punctuation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Remove unnecessary marks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“fantastic!” → “fantastic”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Removing numbers / symbols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Keep only text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“movie123” → “movie”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3" name="Google Shape;183;p29"/>
          <p:cNvSpPr/>
          <p:nvPr/>
        </p:nvSpPr>
        <p:spPr>
          <a:xfrm>
            <a:off x="838200" y="5342204"/>
            <a:ext cx="517531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After cleaning: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“the movie was absolutely fantastic”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Step 3: Tokenization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Split text into smaller parts (usually words or sentences).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Each word becomes a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token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Example: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0" name="Google Shape;190;p30"/>
          <p:cNvSpPr/>
          <p:nvPr/>
        </p:nvSpPr>
        <p:spPr>
          <a:xfrm>
            <a:off x="1819373" y="3292175"/>
            <a:ext cx="599074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“the movie was absolutely fantastic”</a:t>
            </a:r>
            <a:br>
              <a:rPr lang="en-US"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→ ["the", "movie", "was", "absolutely", "fantastic"]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allows the model to work on each word individually.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Step 4: Stopword Removal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1">
                <a:latin typeface="Georgia"/>
                <a:ea typeface="Georgia"/>
                <a:cs typeface="Georgia"/>
                <a:sym typeface="Georgia"/>
              </a:rPr>
              <a:t>Stopwords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 are common words (like “is”, “the”, “was”, “of”) that carry little meaning.</a:t>
            </a:r>
            <a:br>
              <a:rPr lang="en-US" sz="3200">
                <a:latin typeface="Georgia"/>
                <a:ea typeface="Georgia"/>
                <a:cs typeface="Georgia"/>
                <a:sym typeface="Georgia"/>
              </a:rPr>
            </a:b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We remove them to reduce noise.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</a:t>
            </a:r>
            <a:endParaRPr sz="3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Before: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["the", "movie", "was", "absolutely", "fantastic"]</a:t>
            </a:r>
            <a:r>
              <a:rPr lang="en-US"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/>
            </a:r>
            <a:br>
              <a:rPr lang="en-US"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After: </a:t>
            </a:r>
            <a:r>
              <a:rPr lang="en-US" sz="3200">
                <a:latin typeface="Georgia"/>
                <a:ea typeface="Georgia"/>
                <a:cs typeface="Georgia"/>
                <a:sym typeface="Georgia"/>
              </a:rPr>
              <a:t>["movie", "absolutely", "fantastic"]</a:t>
            </a:r>
            <a:endParaRPr sz="3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This keeps only the meaningful words.</a:t>
            </a:r>
            <a:endParaRPr sz="3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Step 5: Stemming / Lemmatization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2" name="Google Shape;202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Both reduce words to their </a:t>
            </a:r>
            <a:r>
              <a:rPr lang="en-US" sz="2400" b="1">
                <a:latin typeface="Georgia"/>
                <a:ea typeface="Georgia"/>
                <a:cs typeface="Georgia"/>
                <a:sym typeface="Georgia"/>
              </a:rPr>
              <a:t>root or base form</a:t>
            </a: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, but differently: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Georgia"/>
                <a:ea typeface="Georgia"/>
                <a:cs typeface="Georgia"/>
                <a:sym typeface="Georgia"/>
              </a:rPr>
              <a:t>For our example: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“movie absolutely fantastic” → stays same (no change here).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>
                <a:latin typeface="Georgia"/>
                <a:ea typeface="Georgia"/>
                <a:cs typeface="Georgia"/>
                <a:sym typeface="Georgia"/>
              </a:rPr>
              <a:t>Another example: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“The dogs are running.”</a:t>
            </a:r>
            <a:br>
              <a:rPr lang="en-US" sz="2400">
                <a:latin typeface="Georgia"/>
                <a:ea typeface="Georgia"/>
                <a:cs typeface="Georgia"/>
                <a:sym typeface="Georgia"/>
              </a:rPr>
            </a:br>
            <a:r>
              <a:rPr lang="en-US" sz="2400">
                <a:latin typeface="Georgia"/>
                <a:ea typeface="Georgia"/>
                <a:cs typeface="Georgia"/>
                <a:sym typeface="Georgia"/>
              </a:rPr>
              <a:t>→ After lemmatization: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["dog", "run"]</a:t>
            </a:r>
            <a:endParaRPr sz="2400">
              <a:latin typeface="Georgia"/>
              <a:ea typeface="Georgia"/>
              <a:cs typeface="Georgia"/>
              <a:sym typeface="Georgia"/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203" name="Google Shape;203;p32"/>
          <p:cNvGraphicFramePr/>
          <p:nvPr/>
        </p:nvGraphicFramePr>
        <p:xfrm>
          <a:off x="1092723" y="23161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{CAF19088-79DE-4583-8C03-B67259BD347E}</a:tableStyleId>
              </a:tblPr>
              <a:tblGrid>
                <a:gridCol w="260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Method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Example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Result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Stemming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“running”, “runs”, “ran”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→ “run”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Cuts endings using simple rules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Lemmatization</a:t>
                      </a:r>
                      <a:endParaRPr sz="18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“better”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→ “good”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Uses vocabulary + grammar rules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>
            <a:spLocks noGrp="1"/>
          </p:cNvSpPr>
          <p:nvPr>
            <p:ph type="title"/>
          </p:nvPr>
        </p:nvSpPr>
        <p:spPr>
          <a:xfrm>
            <a:off x="838200" y="327418"/>
            <a:ext cx="1100186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Step 6: Feature Extraction (Vectorization)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Computers don’t understand words — only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numbers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We need to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convert text into numerical vectors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Common Methods: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Bag of Words (BoW):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Count how many times each word appears.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Example: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Text 1: “I love NLP”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Text 2: “I love AI”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Vocabulary = [I, love, NLP, AI]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→ Text 1 = [1, 1, 1, 0], Text 2 = [1, 1, 0, 1]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TF-IDF (Term Frequency–Inverse Document Frequency):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34"/>
          <p:cNvSpPr txBox="1">
            <a:spLocks noGrp="1"/>
          </p:cNvSpPr>
          <p:nvPr>
            <p:ph type="body" idx="1"/>
          </p:nvPr>
        </p:nvSpPr>
        <p:spPr>
          <a:xfrm>
            <a:off x="932469" y="1825657"/>
            <a:ext cx="105156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Highlights </a:t>
            </a:r>
            <a:r>
              <a:rPr lang="en-US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important</a:t>
            </a: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words that occur </a:t>
            </a:r>
            <a:r>
              <a:rPr lang="en-US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often in one document</a:t>
            </a: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but </a:t>
            </a:r>
            <a:r>
              <a:rPr lang="en-US" b="1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rarely across others</a:t>
            </a: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Example: In movie reviews, “movie” appears everywhere → less important;</a:t>
            </a:r>
            <a:b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“fantastic” or “boring” → more meaningful.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eorgia"/>
              <a:buNone/>
            </a:pP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Word Embeddings (Word2Vec, GloVe):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1" name="Google Shape;22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Represent words as dense vectors showing </a:t>
            </a:r>
            <a:r>
              <a:rPr lang="en-US" b="1">
                <a:latin typeface="Georgia"/>
                <a:ea typeface="Georgia"/>
                <a:cs typeface="Georgia"/>
                <a:sym typeface="Georgia"/>
              </a:rPr>
              <a:t>semantic meaning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Example:</a:t>
            </a:r>
            <a:br>
              <a:rPr lang="en-US">
                <a:latin typeface="Georgia"/>
                <a:ea typeface="Georgia"/>
                <a:cs typeface="Georgia"/>
                <a:sym typeface="Georgia"/>
              </a:rPr>
            </a:br>
            <a:r>
              <a:rPr lang="en-US">
                <a:latin typeface="Georgia"/>
                <a:ea typeface="Georgia"/>
                <a:cs typeface="Georgia"/>
                <a:sym typeface="Georgia"/>
              </a:rPr>
              <a:t>“king – man + woman ≈ queen”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Widescreen</PresentationFormat>
  <Paragraphs>222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NLP</vt:lpstr>
      <vt:lpstr>What is NLP?</vt:lpstr>
      <vt:lpstr>PowerPoint Presentation</vt:lpstr>
      <vt:lpstr>Why NLP is Important</vt:lpstr>
      <vt:lpstr>NLP Pipeline (How NLP Works Step-by-Step)</vt:lpstr>
      <vt:lpstr>Core NLP Tasks with Examples</vt:lpstr>
      <vt:lpstr>Classical (Old) NLP Approaches</vt:lpstr>
      <vt:lpstr>PowerPoint Presentation</vt:lpstr>
      <vt:lpstr>Modern NLP (Deep Learning)</vt:lpstr>
      <vt:lpstr>PowerPoint Presentation</vt:lpstr>
      <vt:lpstr>PowerPoint Presentation</vt:lpstr>
      <vt:lpstr>Pretrained NLP Models</vt:lpstr>
      <vt:lpstr>Evaluation Metrics (How We Measure NLP Models)</vt:lpstr>
      <vt:lpstr>Challenges in NLP (with Examples)</vt:lpstr>
      <vt:lpstr>Future of NLP</vt:lpstr>
      <vt:lpstr>Main Steps in the NLP Pipeline</vt:lpstr>
      <vt:lpstr>Step 2: Text Cleaning / Preprocessing</vt:lpstr>
      <vt:lpstr>Step 3: Tokenization</vt:lpstr>
      <vt:lpstr>Step 4: Stopword Removal</vt:lpstr>
      <vt:lpstr>Step 5: Stemming / Lemmatization</vt:lpstr>
      <vt:lpstr>Step 6: Feature Extraction (Vectorization)</vt:lpstr>
      <vt:lpstr>TF-IDF (Term Frequency–Inverse Document Frequency):</vt:lpstr>
      <vt:lpstr>Word Embeddings (Word2Vec, GloVe):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</dc:title>
  <dc:creator>iiitk</dc:creator>
  <cp:lastModifiedBy>iiitk</cp:lastModifiedBy>
  <cp:revision>1</cp:revision>
  <dcterms:modified xsi:type="dcterms:W3CDTF">2025-11-06T09:51:19Z</dcterms:modified>
</cp:coreProperties>
</file>
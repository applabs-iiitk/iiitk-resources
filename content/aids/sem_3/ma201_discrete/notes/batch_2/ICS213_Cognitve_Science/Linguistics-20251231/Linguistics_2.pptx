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0" r:id="rId4"/>
    <p:sldId id="281" r:id="rId5"/>
    <p:sldId id="282" r:id="rId6"/>
    <p:sldId id="257" r:id="rId7"/>
    <p:sldId id="283" r:id="rId8"/>
    <p:sldId id="284" r:id="rId9"/>
    <p:sldId id="258" r:id="rId10"/>
    <p:sldId id="285" r:id="rId11"/>
    <p:sldId id="259" r:id="rId12"/>
    <p:sldId id="286" r:id="rId13"/>
    <p:sldId id="288" r:id="rId14"/>
    <p:sldId id="287" r:id="rId15"/>
    <p:sldId id="289" r:id="rId16"/>
    <p:sldId id="260" r:id="rId17"/>
    <p:sldId id="290" r:id="rId18"/>
    <p:sldId id="291" r:id="rId19"/>
    <p:sldId id="292" r:id="rId20"/>
    <p:sldId id="293" r:id="rId21"/>
    <p:sldId id="261" r:id="rId22"/>
    <p:sldId id="294" r:id="rId23"/>
    <p:sldId id="262" r:id="rId24"/>
    <p:sldId id="266" r:id="rId25"/>
    <p:sldId id="267" r:id="rId26"/>
    <p:sldId id="295" r:id="rId27"/>
    <p:sldId id="296" r:id="rId28"/>
    <p:sldId id="297" r:id="rId29"/>
    <p:sldId id="298" r:id="rId30"/>
    <p:sldId id="299" r:id="rId31"/>
    <p:sldId id="300" r:id="rId32"/>
    <p:sldId id="303" r:id="rId33"/>
    <p:sldId id="304" r:id="rId34"/>
    <p:sldId id="319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271" r:id="rId57"/>
    <p:sldId id="306" r:id="rId58"/>
    <p:sldId id="344" r:id="rId59"/>
    <p:sldId id="345" r:id="rId60"/>
    <p:sldId id="346" r:id="rId61"/>
    <p:sldId id="272" r:id="rId62"/>
    <p:sldId id="347" r:id="rId63"/>
    <p:sldId id="348" r:id="rId64"/>
    <p:sldId id="349" r:id="rId65"/>
    <p:sldId id="350" r:id="rId66"/>
    <p:sldId id="273" r:id="rId67"/>
    <p:sldId id="351" r:id="rId68"/>
    <p:sldId id="352" r:id="rId69"/>
    <p:sldId id="353" r:id="rId70"/>
    <p:sldId id="359" r:id="rId71"/>
    <p:sldId id="360" r:id="rId72"/>
    <p:sldId id="361" r:id="rId73"/>
    <p:sldId id="362" r:id="rId74"/>
    <p:sldId id="354" r:id="rId75"/>
    <p:sldId id="355" r:id="rId76"/>
    <p:sldId id="363" r:id="rId77"/>
    <p:sldId id="364" r:id="rId78"/>
    <p:sldId id="365" r:id="rId79"/>
    <p:sldId id="356" r:id="rId80"/>
    <p:sldId id="366" r:id="rId81"/>
    <p:sldId id="367" r:id="rId82"/>
    <p:sldId id="368" r:id="rId83"/>
    <p:sldId id="357" r:id="rId84"/>
    <p:sldId id="277" r:id="rId85"/>
    <p:sldId id="278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E505-33B6-4F51-944D-DBE228905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1DC54-6249-4580-BE72-BEFB4F7D8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2D3D8-7E50-4CF2-94C3-73CDA701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E151-C6AC-4857-AD60-791C3DA4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B723A-8383-487E-8964-298DD859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03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CE7C-1819-40C4-9E54-48D668DA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BD7E-40F6-4617-9AD5-A64A1A2E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6F4F-179D-4586-AB74-7B777D0E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1BD2E-FF17-4226-BC79-A45ACB5D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FEA5B-7ED5-4D9A-8D0A-F7E0394D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7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EEE0-3BB9-496C-BD93-80B19BD5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1F8D8-08F1-4218-B928-4A49424BB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23EC6-618A-498E-874B-F4B686081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6ABAF-FC1D-4690-A1F8-18E26767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17C7-6BF3-4B41-9DB9-52AED9C6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25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13AE-DC10-4FC8-91EF-D8B913285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FE5B6-CDB7-44A4-8FFB-73B5D987F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17489-6574-4227-90F1-FC9117D68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E28B1-70D2-4BF7-91F4-EADC2DD8F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52DD-DFDC-440F-BA7F-45D56DFD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8645-3CE6-4015-B22A-C051784A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8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44A8C-04C2-4854-A2AC-85E972E9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450F6-06D6-40F7-AF88-528C4A9B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9B270-7A1A-4ACB-B32F-9678CB458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ECE8A-E249-44E0-8162-6C61D2471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AFC56-7B8E-47C3-B67D-96E114C2F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EB727D-0409-4ECA-BC9C-907E612A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F8038-3DE7-4C1F-8DA1-602059C8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26AE1-F273-42F2-A60E-8854B58B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95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A573-CAD6-4F33-BAEC-0E11F21A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A76696-1775-4396-9928-94924AA9A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09641-9EF0-4D34-8B86-B77F69B6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54CB8-7925-4924-B890-9AB6CEB8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03457-31CD-4C6C-B675-C6B0D423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CF610-FBA9-45CB-ADE0-8FCD091C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97E8D-C723-483F-A1E4-05EEB1B3F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55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58C0-B676-4776-BD46-8A2DC569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12378-B702-4A43-9940-20956F697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2879A-C045-4D90-A8DD-6531AB648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A75BE-7400-4C58-8548-47B39DD0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8455E-C7AF-41DB-AC8B-0995E3DE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64E48-BBB7-4CC6-9C9E-A6AE7C4E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F662-A634-482A-88CC-2A12312F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19AED-4FD5-40B3-833B-D0E1ACD0B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988CA-5A6F-4E10-B9F0-D8FECBD9E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717C9-10E1-442D-A73C-D4CF07EC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93E6A-44DE-47AC-A7C3-3731274BB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1BA9F-6047-4E7F-A108-EE48E906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39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8004-D2B8-4FB9-9410-0FFCFB81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EB2B5-5E57-4663-BCFC-8D0C9999D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A41A-F3CE-428C-A379-3660E666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3C28-CDE2-4F9B-A43C-826A3F32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34C24-38CC-4A01-86A2-1D1ECA40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9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2BDFD-2B58-48ED-BDF8-E699A71AF7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6DDF6-1203-405C-9988-85DD0E061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A4C13-57A9-4442-AFD3-935A7B399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7160F-375C-41A2-92FA-36AEA5A22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1C653-68DE-4FF4-BC07-587A021D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4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592A2-2633-4F5F-8BBF-A35F6923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629E5-20D0-4540-86EF-3F6986551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2429-483E-4CD3-82D4-37E9C0DB7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A3FEA-7FCD-4DC2-8B89-BBF47DD5B712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16DF-2B06-495E-87C7-F67F74B6B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24B3-E1A9-4E5A-B2F2-31F33D693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0D93A-F47E-4568-8716-4ADCF544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98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EA07-B261-41FF-BC01-CF02B7638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Georgia" panose="02040502050405020303" pitchFamily="18" charset="0"/>
              </a:rPr>
              <a:t>The Linguistic Approach: Language and Cognitive Science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53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7846-B2B1-4B45-B281-EE4766D45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 Linguistic Approach: Language and Cognitive Science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A0B2D-FCAB-4BEF-B383-AE4F4804D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The Linguistic Approach in Cognitive Science studies how language </a:t>
            </a:r>
            <a:r>
              <a:rPr lang="en-US" b="1" dirty="0">
                <a:latin typeface="Georgia" panose="02040502050405020303" pitchFamily="18" charset="0"/>
              </a:rPr>
              <a:t>reflects, shapes, and reveals human thought </a:t>
            </a:r>
            <a:r>
              <a:rPr lang="en-US" dirty="0">
                <a:latin typeface="Georgia" panose="02040502050405020303" pitchFamily="18" charset="0"/>
              </a:rPr>
              <a:t>processes. 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It views language not just as a communication tool, but as a </a:t>
            </a:r>
            <a:r>
              <a:rPr lang="en-US" i="1" dirty="0">
                <a:latin typeface="Georgia" panose="02040502050405020303" pitchFamily="18" charset="0"/>
              </a:rPr>
              <a:t>window into the mind</a:t>
            </a:r>
            <a:r>
              <a:rPr lang="en-US" dirty="0">
                <a:latin typeface="Georgia" panose="02040502050405020303" pitchFamily="18" charset="0"/>
              </a:rPr>
              <a:t>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313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76BE-F792-4B08-8D68-E32933B5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1. Connection Between Language and Thought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A299-9C89-4C64-B017-FA7B489E6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Language influences how we </a:t>
            </a:r>
            <a:r>
              <a:rPr lang="en-US" altLang="en-US" b="1" dirty="0">
                <a:latin typeface="Georgia" panose="02040502050405020303" pitchFamily="18" charset="0"/>
              </a:rPr>
              <a:t>perceive, categorize, and remember the world.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Example: The Sapir-Whorf Hypothesis (Linguistic Relativity) proposes that the structure of a language affects its speakers’ cognition and worldview.</a:t>
            </a:r>
          </a:p>
          <a:p>
            <a:pPr algn="just"/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64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3AD2-338C-4717-85A4-F498819E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2. Language as a Cognitive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50EE-CDB7-4C71-AB48-2050B73D2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Language is considered one of the core components of human cognition, alongside perception, memory, and reasoning.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It involves mental representations (concepts, syntax, semantics) and processing mechanisms (comprehension, production).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6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7B11-475E-4DFF-BFB6-4DE38E8E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3. Linguistics and Cognitive Science Integration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335FC-9D38-4BCE-9840-C667B0CE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Linguists and cognitive scientists collaborate to study: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How language is acquired (by children and adults)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How it is processed in the brain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How it evolved in humans</a:t>
            </a:r>
          </a:p>
          <a:p>
            <a:r>
              <a:rPr lang="en-US" sz="2800" dirty="0">
                <a:latin typeface="Georgia" panose="02040502050405020303" pitchFamily="18" charset="0"/>
              </a:rPr>
              <a:t>This links </a:t>
            </a:r>
            <a:r>
              <a:rPr lang="en-US" dirty="0">
                <a:latin typeface="Georgia" panose="02040502050405020303" pitchFamily="18" charset="0"/>
              </a:rPr>
              <a:t>syntax, semantics, and pragmatics with neuroscience, psychology, and AI.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9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60-7913-42C1-852C-EC8EC4E0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latin typeface="Georgia" panose="02040502050405020303" pitchFamily="18" charset="0"/>
              </a:rPr>
              <a:t>Linguistics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D838-51C9-4FD1-BEB0-E4BF0E3F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 study of language.</a:t>
            </a:r>
          </a:p>
          <a:p>
            <a:r>
              <a:rPr lang="en-US" dirty="0">
                <a:latin typeface="Georgia" panose="02040502050405020303" pitchFamily="18" charset="0"/>
              </a:rPr>
              <a:t>A variety of theoretical approaches and methodologies.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Neuroscience approach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Network Models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Development Orientation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Philosophical Approach</a:t>
            </a:r>
          </a:p>
          <a:p>
            <a:r>
              <a:rPr lang="en-US" dirty="0">
                <a:latin typeface="Georgia" panose="02040502050405020303" pitchFamily="18" charset="0"/>
              </a:rPr>
              <a:t>Topics include grammatical rules, animal language, development, and computer speech recognition.</a:t>
            </a:r>
          </a:p>
          <a:p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8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54E2-4895-4505-94D9-4EB1E277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4. Cognitive Models of Language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E328E-4549-49F9-9912-5D04431EE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Generative grammar (Chomsky): Language ability is innate and rule-based.</a:t>
            </a:r>
          </a:p>
          <a:p>
            <a:r>
              <a:rPr lang="en-US" dirty="0">
                <a:latin typeface="Georgia" panose="02040502050405020303" pitchFamily="18" charset="0"/>
              </a:rPr>
              <a:t>Connectionist models: Language arises from neural network patterns and learning.</a:t>
            </a:r>
          </a:p>
          <a:p>
            <a:r>
              <a:rPr lang="en-US" dirty="0">
                <a:latin typeface="Georgia" panose="02040502050405020303" pitchFamily="18" charset="0"/>
              </a:rPr>
              <a:t>Embodied cognition: Meaning is grounded in sensory and motor experience.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77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0C10-3BFF-4B33-84BC-1E605EA2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0CF4-81A3-4CB3-AEA6-62A364C9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Helps understand language disorders, bilingual cognition, and AI language models.</a:t>
            </a:r>
          </a:p>
          <a:p>
            <a:r>
              <a:rPr lang="en-US" dirty="0">
                <a:latin typeface="Georgia" panose="02040502050405020303" pitchFamily="18" charset="0"/>
              </a:rPr>
              <a:t>Supports advances in speech recognition and natural language processing (NLP).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92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A7C1-A05B-4584-B574-C8FB8F80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Nature</a:t>
            </a:r>
            <a:r>
              <a:rPr lang="en-US" spc="-35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of</a:t>
            </a:r>
            <a:r>
              <a:rPr lang="en-US" spc="-30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language</a:t>
            </a:r>
            <a:r>
              <a:rPr lang="en-US" spc="-35" dirty="0">
                <a:latin typeface="Georgia" panose="02040502050405020303" pitchFamily="18" charset="0"/>
              </a:rPr>
              <a:t> </a:t>
            </a:r>
            <a:r>
              <a:rPr lang="en-US" spc="-10" dirty="0">
                <a:latin typeface="Georgia" panose="02040502050405020303" pitchFamily="18" charset="0"/>
              </a:rPr>
              <a:t>/Language properties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4582D-0321-46DD-829C-20B373F05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Georgia" panose="02040502050405020303" pitchFamily="18" charset="0"/>
              </a:rPr>
              <a:t>Communicative;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The primary purpose of language is to </a:t>
            </a:r>
            <a:r>
              <a:rPr lang="en-US" altLang="en-US" b="1" dirty="0">
                <a:latin typeface="Georgia" panose="02040502050405020303" pitchFamily="18" charset="0"/>
              </a:rPr>
              <a:t>communicate information</a:t>
            </a:r>
            <a:r>
              <a:rPr lang="en-US" altLang="en-US" dirty="0">
                <a:latin typeface="Georgia" panose="02040502050405020303" pitchFamily="18" charset="0"/>
              </a:rPr>
              <a:t> — to express thoughts, feelings, intentions, and ideas.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It involves </a:t>
            </a:r>
            <a:r>
              <a:rPr lang="en-US" altLang="en-US" b="1" dirty="0">
                <a:latin typeface="Georgia" panose="02040502050405020303" pitchFamily="18" charset="0"/>
              </a:rPr>
              <a:t>production (speaking/writing)</a:t>
            </a:r>
            <a:r>
              <a:rPr lang="en-US" altLang="en-US" dirty="0">
                <a:latin typeface="Georgia" panose="02040502050405020303" pitchFamily="18" charset="0"/>
              </a:rPr>
              <a:t>, </a:t>
            </a:r>
            <a:r>
              <a:rPr lang="en-US" altLang="en-US" b="1" dirty="0">
                <a:latin typeface="Georgia" panose="02040502050405020303" pitchFamily="18" charset="0"/>
              </a:rPr>
              <a:t>transmission (sending the message)</a:t>
            </a:r>
            <a:r>
              <a:rPr lang="en-US" altLang="en-US" dirty="0">
                <a:latin typeface="Georgia" panose="02040502050405020303" pitchFamily="18" charset="0"/>
              </a:rPr>
              <a:t>, and </a:t>
            </a:r>
            <a:r>
              <a:rPr lang="en-US" altLang="en-US" b="1" dirty="0">
                <a:latin typeface="Georgia" panose="02040502050405020303" pitchFamily="18" charset="0"/>
              </a:rPr>
              <a:t>comprehension (understanding the message)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Arbitrary: Use of symbols.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The </a:t>
            </a:r>
            <a:r>
              <a:rPr lang="en-US" altLang="en-US" b="1" dirty="0">
                <a:latin typeface="Georgia" panose="02040502050405020303" pitchFamily="18" charset="0"/>
              </a:rPr>
              <a:t>relationship between words (symbols)</a:t>
            </a:r>
            <a:r>
              <a:rPr lang="en-US" altLang="en-US" dirty="0">
                <a:latin typeface="Georgia" panose="02040502050405020303" pitchFamily="18" charset="0"/>
              </a:rPr>
              <a:t> and their </a:t>
            </a:r>
            <a:r>
              <a:rPr lang="en-US" altLang="en-US" b="1" dirty="0">
                <a:latin typeface="Georgia" panose="02040502050405020303" pitchFamily="18" charset="0"/>
              </a:rPr>
              <a:t>meanings</a:t>
            </a:r>
            <a:r>
              <a:rPr lang="en-US" altLang="en-US" dirty="0">
                <a:latin typeface="Georgia" panose="02040502050405020303" pitchFamily="18" charset="0"/>
              </a:rPr>
              <a:t> is usually </a:t>
            </a:r>
            <a:r>
              <a:rPr lang="en-US" altLang="en-US" b="1" dirty="0">
                <a:latin typeface="Georgia" panose="02040502050405020303" pitchFamily="18" charset="0"/>
              </a:rPr>
              <a:t>arbitrary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Example: The word </a:t>
            </a:r>
            <a:r>
              <a:rPr lang="en-US" altLang="en-US" i="1" dirty="0">
                <a:latin typeface="Georgia" panose="02040502050405020303" pitchFamily="18" charset="0"/>
              </a:rPr>
              <a:t>“tree”</a:t>
            </a:r>
            <a:r>
              <a:rPr lang="en-US" altLang="en-US" dirty="0">
                <a:latin typeface="Georgia" panose="02040502050405020303" pitchFamily="18" charset="0"/>
              </a:rPr>
              <a:t> has no inherent connection to the actual object — it’s a learned symbol.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(English),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Arbre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(French),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(Tamil)</a:t>
            </a:r>
          </a:p>
          <a:p>
            <a:pPr marL="0" indent="0" algn="just">
              <a:buNone/>
            </a:pPr>
            <a:endParaRPr lang="en-IN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64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A7C1-A05B-4584-B574-C8FB8F80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Nature</a:t>
            </a:r>
            <a:r>
              <a:rPr lang="en-US" spc="-35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of</a:t>
            </a:r>
            <a:r>
              <a:rPr lang="en-US" spc="-30" dirty="0">
                <a:latin typeface="Georgia" panose="02040502050405020303" pitchFamily="18" charset="0"/>
              </a:rPr>
              <a:t> </a:t>
            </a:r>
            <a:r>
              <a:rPr lang="en-US" dirty="0">
                <a:latin typeface="Georgia" panose="02040502050405020303" pitchFamily="18" charset="0"/>
              </a:rPr>
              <a:t>language</a:t>
            </a:r>
            <a:r>
              <a:rPr lang="en-US" spc="-35" dirty="0">
                <a:latin typeface="Georgia" panose="02040502050405020303" pitchFamily="18" charset="0"/>
              </a:rPr>
              <a:t> </a:t>
            </a:r>
            <a:r>
              <a:rPr lang="en-US" spc="-10" dirty="0">
                <a:latin typeface="Georgia" panose="02040502050405020303" pitchFamily="18" charset="0"/>
              </a:rPr>
              <a:t>/Language properties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4582D-0321-46DD-829C-20B373F05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746" y="1690688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Georgia" panose="02040502050405020303" pitchFamily="18" charset="0"/>
              </a:rPr>
              <a:t>Structured: A grammar specifies rules of symbol combination.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Language follows a </a:t>
            </a:r>
            <a:r>
              <a:rPr lang="en-US" altLang="en-US" b="1" dirty="0">
                <a:latin typeface="Georgia" panose="02040502050405020303" pitchFamily="18" charset="0"/>
              </a:rPr>
              <a:t>system of rules</a:t>
            </a:r>
            <a:r>
              <a:rPr lang="en-US" altLang="en-US" dirty="0">
                <a:latin typeface="Georgia" panose="02040502050405020303" pitchFamily="18" charset="0"/>
              </a:rPr>
              <a:t> called </a:t>
            </a:r>
            <a:r>
              <a:rPr lang="en-US" altLang="en-US" b="1" dirty="0">
                <a:latin typeface="Georgia" panose="02040502050405020303" pitchFamily="18" charset="0"/>
              </a:rPr>
              <a:t>grammar</a:t>
            </a:r>
            <a:r>
              <a:rPr lang="en-US" altLang="en-US" dirty="0">
                <a:latin typeface="Georgia" panose="02040502050405020303" pitchFamily="18" charset="0"/>
              </a:rPr>
              <a:t> that governs how symbols (words) can be </a:t>
            </a:r>
            <a:r>
              <a:rPr lang="en-US" altLang="en-US" b="1" dirty="0">
                <a:latin typeface="Georgia" panose="02040502050405020303" pitchFamily="18" charset="0"/>
              </a:rPr>
              <a:t>combined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This structure allows for meaningful and comprehensible sentences.</a:t>
            </a:r>
            <a:endParaRPr lang="en-US" dirty="0">
              <a:latin typeface="Georgia" panose="02040502050405020303" pitchFamily="18" charset="0"/>
            </a:endParaRP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Generative: Large number of possible meanings.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From a </a:t>
            </a:r>
            <a:r>
              <a:rPr lang="en-US" altLang="en-US" b="1" dirty="0">
                <a:latin typeface="Georgia" panose="02040502050405020303" pitchFamily="18" charset="0"/>
              </a:rPr>
              <a:t>limited set of words and rules</a:t>
            </a:r>
            <a:r>
              <a:rPr lang="en-US" altLang="en-US" dirty="0">
                <a:latin typeface="Georgia" panose="02040502050405020303" pitchFamily="18" charset="0"/>
              </a:rPr>
              <a:t>, humans can generate </a:t>
            </a:r>
            <a:r>
              <a:rPr lang="en-US" altLang="en-US" b="1" dirty="0">
                <a:latin typeface="Georgia" panose="02040502050405020303" pitchFamily="18" charset="0"/>
              </a:rPr>
              <a:t>an infinite number of sentences and meanings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This shows the creative power of language.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Dynamic: Changes over time.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Language is </a:t>
            </a:r>
            <a:r>
              <a:rPr lang="en-US" altLang="en-US" b="1" dirty="0">
                <a:latin typeface="Georgia" panose="02040502050405020303" pitchFamily="18" charset="0"/>
              </a:rPr>
              <a:t>constantly evolving</a:t>
            </a:r>
            <a:r>
              <a:rPr lang="en-US" altLang="en-US" dirty="0">
                <a:latin typeface="Georgia" panose="02040502050405020303" pitchFamily="18" charset="0"/>
              </a:rPr>
              <a:t> — new words appear, meanings change, and grammar adapts over time.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Example: Words like </a:t>
            </a:r>
            <a:r>
              <a:rPr lang="en-US" altLang="en-US" i="1" dirty="0">
                <a:latin typeface="Georgia" panose="02040502050405020303" pitchFamily="18" charset="0"/>
              </a:rPr>
              <a:t>“selfie”</a:t>
            </a:r>
            <a:r>
              <a:rPr lang="en-US" altLang="en-US" dirty="0">
                <a:latin typeface="Georgia" panose="02040502050405020303" pitchFamily="18" charset="0"/>
              </a:rPr>
              <a:t> or </a:t>
            </a:r>
            <a:r>
              <a:rPr lang="en-US" altLang="en-US" i="1" dirty="0">
                <a:latin typeface="Georgia" panose="02040502050405020303" pitchFamily="18" charset="0"/>
              </a:rPr>
              <a:t>“blog”</a:t>
            </a:r>
            <a:r>
              <a:rPr lang="en-US" altLang="en-US" dirty="0">
                <a:latin typeface="Georgia" panose="02040502050405020303" pitchFamily="18" charset="0"/>
              </a:rPr>
              <a:t> didn’t exist a few decades ago.</a:t>
            </a:r>
          </a:p>
          <a:p>
            <a:pPr algn="just"/>
            <a:endParaRPr lang="en-US" sz="2400" dirty="0">
              <a:latin typeface="Georgia" panose="02040502050405020303" pitchFamily="18" charset="0"/>
            </a:endParaRPr>
          </a:p>
          <a:p>
            <a:pPr algn="just"/>
            <a:endParaRPr lang="en-IN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6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91053" y="271546"/>
            <a:ext cx="703299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654935" algn="l"/>
              </a:tabLst>
            </a:pPr>
            <a:r>
              <a:rPr spc="-10" dirty="0">
                <a:latin typeface="Georgia" panose="02040502050405020303" pitchFamily="18" charset="0"/>
              </a:rPr>
              <a:t>Language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10" dirty="0">
                <a:latin typeface="Georgia" panose="02040502050405020303" pitchFamily="18" charset="0"/>
              </a:rPr>
              <a:t>properties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044525" y="1284488"/>
            <a:ext cx="9726052" cy="24596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272415" indent="-342900" algn="just">
              <a:spcBef>
                <a:spcPts val="100"/>
              </a:spcBef>
              <a:buClr>
                <a:srgbClr val="A2C145"/>
              </a:buClr>
              <a:buSzPct val="79166"/>
              <a:buFont typeface="Times New Roman"/>
              <a:buChar char="•"/>
              <a:tabLst>
                <a:tab pos="354965" algn="l"/>
              </a:tabLst>
            </a:pPr>
            <a:r>
              <a:rPr sz="2400" dirty="0">
                <a:latin typeface="Georgia" panose="02040502050405020303" pitchFamily="18" charset="0"/>
                <a:cs typeface="Arial"/>
              </a:rPr>
              <a:t>There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is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a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fundamental</a:t>
            </a:r>
            <a:r>
              <a:rPr sz="2400" spc="-3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distinction</a:t>
            </a:r>
            <a:r>
              <a:rPr sz="2400" spc="-3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to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be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made</a:t>
            </a:r>
            <a:r>
              <a:rPr sz="2400" spc="-4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that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has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25" dirty="0">
                <a:latin typeface="Georgia" panose="02040502050405020303" pitchFamily="18" charset="0"/>
                <a:cs typeface="Arial"/>
              </a:rPr>
              <a:t>to </a:t>
            </a:r>
            <a:r>
              <a:rPr sz="2400" dirty="0">
                <a:latin typeface="Georgia" panose="02040502050405020303" pitchFamily="18" charset="0"/>
                <a:cs typeface="Arial"/>
              </a:rPr>
              <a:t>do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with</a:t>
            </a:r>
            <a:r>
              <a:rPr sz="2400" spc="-2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the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type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of</a:t>
            </a:r>
            <a:r>
              <a:rPr sz="2400" spc="-4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linguistic</a:t>
            </a:r>
            <a:r>
              <a:rPr sz="2400" spc="-1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representation:</a:t>
            </a:r>
            <a:r>
              <a:rPr sz="2400" spc="-2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whether</a:t>
            </a:r>
            <a:r>
              <a:rPr sz="2400" spc="-35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20" dirty="0">
                <a:latin typeface="Georgia" panose="02040502050405020303" pitchFamily="18" charset="0"/>
                <a:cs typeface="Arial"/>
              </a:rPr>
              <a:t>that </a:t>
            </a:r>
            <a:r>
              <a:rPr sz="2400" dirty="0">
                <a:latin typeface="Georgia" panose="02040502050405020303" pitchFamily="18" charset="0"/>
                <a:cs typeface="Arial"/>
              </a:rPr>
              <a:t>representation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is</a:t>
            </a:r>
            <a:r>
              <a:rPr sz="2400" spc="-65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10" dirty="0">
                <a:latin typeface="Georgia" panose="02040502050405020303" pitchFamily="18" charset="0"/>
                <a:cs typeface="Arial"/>
              </a:rPr>
              <a:t>auditory,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visual,</a:t>
            </a:r>
            <a:r>
              <a:rPr sz="2400" spc="-6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or</a:t>
            </a:r>
            <a:r>
              <a:rPr sz="2400" spc="-6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having</a:t>
            </a:r>
            <a:r>
              <a:rPr sz="2400" spc="-5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to</a:t>
            </a:r>
            <a:r>
              <a:rPr sz="2400" spc="-8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do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20" dirty="0">
                <a:latin typeface="Georgia" panose="02040502050405020303" pitchFamily="18" charset="0"/>
                <a:cs typeface="Arial"/>
              </a:rPr>
              <a:t>with </a:t>
            </a:r>
            <a:r>
              <a:rPr sz="2400" dirty="0">
                <a:latin typeface="Georgia" panose="02040502050405020303" pitchFamily="18" charset="0"/>
                <a:cs typeface="Arial"/>
              </a:rPr>
              <a:t>another</a:t>
            </a:r>
            <a:r>
              <a:rPr sz="2400" spc="-8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sensory</a:t>
            </a:r>
            <a:r>
              <a:rPr sz="2400" spc="-80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10" dirty="0">
                <a:latin typeface="Georgia" panose="02040502050405020303" pitchFamily="18" charset="0"/>
                <a:cs typeface="Arial"/>
              </a:rPr>
              <a:t>domain.</a:t>
            </a:r>
            <a:endParaRPr sz="2400" dirty="0">
              <a:latin typeface="Georgia" panose="02040502050405020303" pitchFamily="18" charset="0"/>
              <a:cs typeface="Arial"/>
            </a:endParaRPr>
          </a:p>
          <a:p>
            <a:pPr marL="354965" indent="-342265" algn="just">
              <a:spcBef>
                <a:spcPts val="580"/>
              </a:spcBef>
              <a:buClr>
                <a:srgbClr val="A2C145"/>
              </a:buClr>
              <a:buSzPct val="79166"/>
              <a:buFont typeface="Times New Roman"/>
              <a:buChar char="•"/>
              <a:tabLst>
                <a:tab pos="354965" algn="l"/>
              </a:tabLst>
            </a:pPr>
            <a:r>
              <a:rPr sz="2400" spc="-40" dirty="0">
                <a:latin typeface="Georgia" panose="02040502050405020303" pitchFamily="18" charset="0"/>
                <a:cs typeface="Arial"/>
              </a:rPr>
              <a:t>Two</a:t>
            </a:r>
            <a:r>
              <a:rPr sz="2400" spc="-9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important</a:t>
            </a:r>
            <a:r>
              <a:rPr sz="2400" spc="-60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elements</a:t>
            </a:r>
            <a:r>
              <a:rPr sz="2400" spc="-5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of</a:t>
            </a:r>
            <a:r>
              <a:rPr sz="2400" spc="-85" dirty="0">
                <a:latin typeface="Georgia" panose="02040502050405020303" pitchFamily="18" charset="0"/>
                <a:cs typeface="Arial"/>
              </a:rPr>
              <a:t> </a:t>
            </a:r>
            <a:r>
              <a:rPr sz="2400" dirty="0">
                <a:latin typeface="Georgia" panose="02040502050405020303" pitchFamily="18" charset="0"/>
                <a:cs typeface="Arial"/>
              </a:rPr>
              <a:t>Spoken</a:t>
            </a:r>
            <a:r>
              <a:rPr sz="2400" spc="-75" dirty="0">
                <a:latin typeface="Georgia" panose="02040502050405020303" pitchFamily="18" charset="0"/>
                <a:cs typeface="Arial"/>
              </a:rPr>
              <a:t> </a:t>
            </a:r>
            <a:r>
              <a:rPr sz="2400" spc="-10" dirty="0">
                <a:latin typeface="Georgia" panose="02040502050405020303" pitchFamily="18" charset="0"/>
                <a:cs typeface="Arial"/>
              </a:rPr>
              <a:t>Language</a:t>
            </a:r>
            <a:endParaRPr sz="2400" dirty="0">
              <a:latin typeface="Georgia" panose="02040502050405020303" pitchFamily="18" charset="0"/>
              <a:cs typeface="Arial"/>
            </a:endParaRPr>
          </a:p>
          <a:p>
            <a:pPr marL="812165" marR="216535" lvl="1" indent="-342900" algn="just">
              <a:spcBef>
                <a:spcPts val="575"/>
              </a:spcBef>
              <a:buClr>
                <a:srgbClr val="A2C145"/>
              </a:buClr>
              <a:buSzPct val="79166"/>
              <a:buFont typeface="Times New Roman"/>
              <a:buChar char="•"/>
              <a:tabLst>
                <a:tab pos="354965" algn="l"/>
              </a:tabLst>
            </a:pPr>
            <a:r>
              <a:rPr lang="en-US" sz="2400" dirty="0">
                <a:latin typeface="Georgia" panose="02040502050405020303" pitchFamily="18" charset="0"/>
                <a:cs typeface="Arial"/>
              </a:rPr>
              <a:t>Phonemes</a:t>
            </a:r>
          </a:p>
          <a:p>
            <a:pPr marL="812165" marR="216535" lvl="1" indent="-342900" algn="just">
              <a:spcBef>
                <a:spcPts val="575"/>
              </a:spcBef>
              <a:buClr>
                <a:srgbClr val="A2C145"/>
              </a:buClr>
              <a:buSzPct val="79166"/>
              <a:buFont typeface="Times New Roman"/>
              <a:buChar char="•"/>
              <a:tabLst>
                <a:tab pos="354965" algn="l"/>
              </a:tabLst>
            </a:pPr>
            <a:r>
              <a:rPr sz="2400" dirty="0">
                <a:latin typeface="Georgia" panose="02040502050405020303" pitchFamily="18" charset="0"/>
                <a:cs typeface="Arial"/>
              </a:rPr>
              <a:t>Morphemes</a:t>
            </a:r>
            <a:endParaRPr sz="2400" dirty="0">
              <a:latin typeface="Georgia" panose="02040502050405020303" pitchFamily="18" charset="0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FF1D-09C8-44C3-B06A-6AFE7C859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  <a:cs typeface="Arial"/>
              </a:rPr>
              <a:t>Phonemes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D47350-9C07-48AD-AA28-43A2AD9F0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6123" y="1837184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smallest unit of sound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 speech that can distinguish one word from another.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Feature: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Phonemes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do not carry meaning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themselves, but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change meaning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when altered.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” sound in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father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vs. the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” sound in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Changing one phoneme changes the word (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→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Range: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Smallest number of phonemes in a language ≈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15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Largest reported ≈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85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3EF8-ADF0-4816-96BD-93B2FC43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B80D83-08F6-48FF-8FB4-1F9E07EC5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461559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2379785">
                  <a:extLst>
                    <a:ext uri="{9D8B030D-6E8A-4147-A177-3AD203B41FA5}">
                      <a16:colId xmlns:a16="http://schemas.microsoft.com/office/drawing/2014/main" val="689562435"/>
                    </a:ext>
                  </a:extLst>
                </a:gridCol>
                <a:gridCol w="2426677">
                  <a:extLst>
                    <a:ext uri="{9D8B030D-6E8A-4147-A177-3AD203B41FA5}">
                      <a16:colId xmlns:a16="http://schemas.microsoft.com/office/drawing/2014/main" val="2759804647"/>
                    </a:ext>
                  </a:extLst>
                </a:gridCol>
                <a:gridCol w="5709138">
                  <a:extLst>
                    <a:ext uri="{9D8B030D-6E8A-4147-A177-3AD203B41FA5}">
                      <a16:colId xmlns:a16="http://schemas.microsoft.com/office/drawing/2014/main" val="2244270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Word Pair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Phoneme Change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Effect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047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bat</a:t>
                      </a:r>
                      <a:r>
                        <a:rPr lang="en-IN"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IN" i="1">
                          <a:latin typeface="Georgia" panose="02040502050405020303" pitchFamily="18" charset="0"/>
                        </a:rPr>
                        <a:t>pat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/b/ → /p/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Changes meaning completely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26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bit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IN" i="1" dirty="0">
                          <a:latin typeface="Georgia" panose="02040502050405020303" pitchFamily="18" charset="0"/>
                        </a:rPr>
                        <a:t>bet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/ɪ/ → /ɛ/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Different word, different sound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78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fan</a:t>
                      </a:r>
                      <a:r>
                        <a:rPr lang="en-IN"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IN" i="1">
                          <a:latin typeface="Georgia" panose="02040502050405020303" pitchFamily="18" charset="0"/>
                        </a:rPr>
                        <a:t>van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/f/ → /v/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Only one sound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12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sip</a:t>
                      </a:r>
                      <a:r>
                        <a:rPr lang="en-IN"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IN" i="1">
                          <a:latin typeface="Georgia" panose="02040502050405020303" pitchFamily="18" charset="0"/>
                        </a:rPr>
                        <a:t>zip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/s/ → /z/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Different starting phoneme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2172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cat</a:t>
                      </a:r>
                      <a:r>
                        <a:rPr lang="en-IN">
                          <a:latin typeface="Georgia" panose="02040502050405020303" pitchFamily="18" charset="0"/>
                        </a:rPr>
                        <a:t> → </a:t>
                      </a:r>
                      <a:r>
                        <a:rPr lang="en-IN" i="1">
                          <a:latin typeface="Georgia" panose="02040502050405020303" pitchFamily="18" charset="0"/>
                        </a:rPr>
                        <a:t>cap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/t/ → /p/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Sound change → new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81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3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9005-C6A1-4A39-97EE-945F6A17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  <a:cs typeface="Arial"/>
              </a:rPr>
              <a:t>Morphemes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D88D9F-39A3-4282-A5BA-E578A75C6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90688"/>
            <a:ext cx="1032803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smallest unit of meaning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 a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Feature: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Morphemes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carry semantic 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—they can be whole words or meaningful parts of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” → one morpheme (a complete word)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“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” in “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” → another morpheme (marks plural)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1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4F7807-775F-43FD-83ED-C2088E995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50534"/>
              </p:ext>
            </p:extLst>
          </p:nvPr>
        </p:nvGraphicFramePr>
        <p:xfrm>
          <a:off x="644769" y="1171930"/>
          <a:ext cx="10515600" cy="2560320"/>
        </p:xfrm>
        <a:graphic>
          <a:graphicData uri="http://schemas.openxmlformats.org/drawingml/2006/table">
            <a:tbl>
              <a:tblPr/>
              <a:tblGrid>
                <a:gridCol w="1825869">
                  <a:extLst>
                    <a:ext uri="{9D8B030D-6E8A-4147-A177-3AD203B41FA5}">
                      <a16:colId xmlns:a16="http://schemas.microsoft.com/office/drawing/2014/main" val="710169274"/>
                    </a:ext>
                  </a:extLst>
                </a:gridCol>
                <a:gridCol w="2074985">
                  <a:extLst>
                    <a:ext uri="{9D8B030D-6E8A-4147-A177-3AD203B41FA5}">
                      <a16:colId xmlns:a16="http://schemas.microsoft.com/office/drawing/2014/main" val="2124340054"/>
                    </a:ext>
                  </a:extLst>
                </a:gridCol>
                <a:gridCol w="6614746">
                  <a:extLst>
                    <a:ext uri="{9D8B030D-6E8A-4147-A177-3AD203B41FA5}">
                      <a16:colId xmlns:a16="http://schemas.microsoft.com/office/drawing/2014/main" val="28411837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Word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Morphemes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Meaning of Each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94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book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one morpheme (root word)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595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books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book + 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“book” = object; “s” = plural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4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unhappy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un + happy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“un” = not; “happy” = feeling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573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redo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re +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“re” = again; “do” = perform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892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teacher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teach + 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“teach” = action; “er” = person who does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7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carefully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care + ful + 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“care” = concern; “</a:t>
                      </a:r>
                      <a:r>
                        <a:rPr lang="en-US" dirty="0" err="1">
                          <a:latin typeface="Georgia" panose="02040502050405020303" pitchFamily="18" charset="0"/>
                        </a:rPr>
                        <a:t>ful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” = full of; “</a:t>
                      </a:r>
                      <a:r>
                        <a:rPr lang="en-US" dirty="0" err="1">
                          <a:latin typeface="Georgia" panose="02040502050405020303" pitchFamily="18" charset="0"/>
                        </a:rPr>
                        <a:t>ly</a:t>
                      </a:r>
                      <a:r>
                        <a:rPr lang="en-US" dirty="0">
                          <a:latin typeface="Georgia" panose="02040502050405020303" pitchFamily="18" charset="0"/>
                        </a:rPr>
                        <a:t>” = in a manner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99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58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1086" y="155374"/>
            <a:ext cx="630194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Georgia" panose="02040502050405020303" pitchFamily="18" charset="0"/>
              </a:rPr>
              <a:t>Grammatical</a:t>
            </a:r>
            <a:r>
              <a:rPr spc="-25" dirty="0">
                <a:latin typeface="Georgia" panose="02040502050405020303" pitchFamily="18" charset="0"/>
              </a:rPr>
              <a:t> </a:t>
            </a:r>
            <a:r>
              <a:rPr spc="-10" dirty="0">
                <a:latin typeface="Georgia" panose="02040502050405020303" pitchFamily="18" charset="0"/>
              </a:rPr>
              <a:t>rules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65053" y="1172404"/>
            <a:ext cx="9848424" cy="35708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marR="5080" algn="just">
              <a:spcBef>
                <a:spcPts val="105"/>
              </a:spcBef>
            </a:pPr>
            <a:r>
              <a:rPr sz="3200" dirty="0">
                <a:latin typeface="Georgia" panose="02040502050405020303" pitchFamily="18" charset="0"/>
                <a:cs typeface="Arial MT"/>
              </a:rPr>
              <a:t>Language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is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governed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by</a:t>
            </a:r>
            <a:r>
              <a:rPr sz="32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a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number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5" dirty="0">
                <a:latin typeface="Georgia" panose="02040502050405020303" pitchFamily="18" charset="0"/>
                <a:cs typeface="Arial MT"/>
              </a:rPr>
              <a:t>of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rules.</a:t>
            </a:r>
            <a:r>
              <a:rPr sz="32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Collectively,</a:t>
            </a:r>
            <a:r>
              <a:rPr sz="32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these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are</a:t>
            </a:r>
            <a:r>
              <a:rPr sz="3200" spc="-7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called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5" dirty="0">
                <a:latin typeface="Georgia" panose="02040502050405020303" pitchFamily="18" charset="0"/>
                <a:cs typeface="Arial MT"/>
              </a:rPr>
              <a:t>its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grammar: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469900" indent="-457200" algn="just">
              <a:spcBef>
                <a:spcPts val="2285"/>
              </a:spcBef>
              <a:buClr>
                <a:srgbClr val="A2C145"/>
              </a:buClr>
              <a:buSzPct val="79687"/>
              <a:buAutoNum type="arabicPeriod"/>
              <a:tabLst>
                <a:tab pos="469900" algn="l"/>
              </a:tabLst>
            </a:pPr>
            <a:r>
              <a:rPr sz="3200" i="1" dirty="0">
                <a:latin typeface="Georgia" panose="02040502050405020303" pitchFamily="18" charset="0"/>
                <a:cs typeface="Arial"/>
              </a:rPr>
              <a:t>Phonology</a:t>
            </a:r>
            <a:r>
              <a:rPr sz="3200" dirty="0">
                <a:latin typeface="Georgia" panose="02040502050405020303" pitchFamily="18" charset="0"/>
                <a:cs typeface="Arial MT"/>
              </a:rPr>
              <a:t>.</a:t>
            </a:r>
            <a:r>
              <a:rPr sz="3200" spc="-7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governing</a:t>
            </a:r>
            <a:r>
              <a:rPr sz="32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sounds.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469900" marR="1081405" indent="-457834" algn="just">
              <a:spcBef>
                <a:spcPts val="770"/>
              </a:spcBef>
              <a:buClr>
                <a:srgbClr val="A2C145"/>
              </a:buClr>
              <a:buSzPct val="79687"/>
              <a:buAutoNum type="arabicPeriod"/>
              <a:tabLst>
                <a:tab pos="469900" algn="l"/>
              </a:tabLst>
            </a:pPr>
            <a:r>
              <a:rPr sz="3200" i="1" dirty="0">
                <a:latin typeface="Georgia" panose="02040502050405020303" pitchFamily="18" charset="0"/>
                <a:cs typeface="Arial"/>
              </a:rPr>
              <a:t>Morphology</a:t>
            </a:r>
            <a:r>
              <a:rPr sz="3200" dirty="0">
                <a:latin typeface="Georgia" panose="02040502050405020303" pitchFamily="18" charset="0"/>
                <a:cs typeface="Arial MT"/>
              </a:rPr>
              <a:t>.</a:t>
            </a:r>
            <a:r>
              <a:rPr sz="3200" spc="-7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governing</a:t>
            </a:r>
            <a:r>
              <a:rPr sz="3200" spc="-8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0" dirty="0">
                <a:latin typeface="Georgia" panose="02040502050405020303" pitchFamily="18" charset="0"/>
                <a:cs typeface="Arial MT"/>
              </a:rPr>
              <a:t>word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structure.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469900" marR="812165" indent="-457834" algn="just">
              <a:spcBef>
                <a:spcPts val="770"/>
              </a:spcBef>
              <a:buClr>
                <a:srgbClr val="A2C145"/>
              </a:buClr>
              <a:buSzPct val="79687"/>
              <a:buAutoNum type="arabicPeriod"/>
              <a:tabLst>
                <a:tab pos="469900" algn="l"/>
              </a:tabLst>
            </a:pPr>
            <a:r>
              <a:rPr sz="3200" i="1" dirty="0">
                <a:latin typeface="Georgia" panose="02040502050405020303" pitchFamily="18" charset="0"/>
                <a:cs typeface="Arial"/>
              </a:rPr>
              <a:t>Syntax</a:t>
            </a:r>
            <a:r>
              <a:rPr sz="3200" dirty="0">
                <a:latin typeface="Georgia" panose="02040502050405020303" pitchFamily="18" charset="0"/>
                <a:cs typeface="Arial MT"/>
              </a:rPr>
              <a:t>.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</a:t>
            </a:r>
            <a:r>
              <a:rPr sz="32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for</a:t>
            </a:r>
            <a:r>
              <a:rPr sz="32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arranging</a:t>
            </a:r>
            <a:r>
              <a:rPr sz="32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words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5" dirty="0">
                <a:latin typeface="Georgia" panose="02040502050405020303" pitchFamily="18" charset="0"/>
                <a:cs typeface="Arial MT"/>
              </a:rPr>
              <a:t>in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sentences.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469900" marR="920750" indent="-457834" algn="just">
              <a:spcBef>
                <a:spcPts val="770"/>
              </a:spcBef>
              <a:buClr>
                <a:srgbClr val="A2C145"/>
              </a:buClr>
              <a:buSzPct val="79687"/>
              <a:buAutoNum type="arabicPeriod"/>
              <a:tabLst>
                <a:tab pos="469900" algn="l"/>
              </a:tabLst>
            </a:pPr>
            <a:r>
              <a:rPr sz="3200" i="1" dirty="0">
                <a:latin typeface="Georgia" panose="02040502050405020303" pitchFamily="18" charset="0"/>
                <a:cs typeface="Arial"/>
              </a:rPr>
              <a:t>Semantics</a:t>
            </a:r>
            <a:r>
              <a:rPr sz="3200" dirty="0">
                <a:latin typeface="Georgia" panose="02040502050405020303" pitchFamily="18" charset="0"/>
                <a:cs typeface="Arial MT"/>
              </a:rPr>
              <a:t>.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Rules</a:t>
            </a:r>
            <a:r>
              <a:rPr sz="3200" spc="-2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for</a:t>
            </a:r>
            <a:r>
              <a:rPr sz="32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understanding meaning.</a:t>
            </a:r>
            <a:endParaRPr sz="3200" dirty="0">
              <a:latin typeface="Georgia" panose="02040502050405020303" pitchFamily="18" charset="0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8F08-4683-459B-9A97-73B697EF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75377" cy="1325563"/>
          </a:xfrm>
        </p:spPr>
        <p:txBody>
          <a:bodyPr/>
          <a:lstStyle/>
          <a:p>
            <a:r>
              <a:rPr lang="en-IN" b="1" dirty="0">
                <a:latin typeface="Georgia" panose="02040502050405020303" pitchFamily="18" charset="0"/>
              </a:rPr>
              <a:t>1. Phonology</a:t>
            </a:r>
            <a:r>
              <a:rPr lang="en-IN" dirty="0">
                <a:latin typeface="Georgia" panose="02040502050405020303" pitchFamily="18" charset="0"/>
              </a:rPr>
              <a:t> – </a:t>
            </a:r>
            <a:r>
              <a:rPr lang="en-IN" i="1" dirty="0">
                <a:latin typeface="Georgia" panose="02040502050405020303" pitchFamily="18" charset="0"/>
              </a:rPr>
              <a:t>Rules Governing Sounds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AC64EE-E7F5-41AC-87DD-1383507B5B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8860" y="1552189"/>
            <a:ext cx="10454053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Definition:</a:t>
            </a:r>
            <a:r>
              <a:rPr lang="en-US" sz="2000" dirty="0">
                <a:latin typeface="Georgia" panose="02040502050405020303" pitchFamily="18" charset="0"/>
              </a:rPr>
              <a:t> Phonology is the study of how </a:t>
            </a:r>
            <a:r>
              <a:rPr lang="en-US" sz="2000" b="1" dirty="0">
                <a:latin typeface="Georgia" panose="02040502050405020303" pitchFamily="18" charset="0"/>
              </a:rPr>
              <a:t>speech sounds (phonemes)</a:t>
            </a:r>
            <a:r>
              <a:rPr lang="en-US" sz="2000" dirty="0">
                <a:latin typeface="Georgia" panose="02040502050405020303" pitchFamily="18" charset="0"/>
              </a:rPr>
              <a:t> are organized and used in a language.</a:t>
            </a:r>
          </a:p>
          <a:p>
            <a:r>
              <a:rPr lang="en-US" sz="2000" dirty="0">
                <a:latin typeface="Georgia" panose="02040502050405020303" pitchFamily="18" charset="0"/>
              </a:rPr>
              <a:t>It focuses on the </a:t>
            </a:r>
            <a:r>
              <a:rPr lang="en-US" sz="2000" b="1" dirty="0">
                <a:latin typeface="Georgia" panose="02040502050405020303" pitchFamily="18" charset="0"/>
              </a:rPr>
              <a:t>sound patterns</a:t>
            </a:r>
            <a:r>
              <a:rPr lang="en-US" sz="2000" dirty="0">
                <a:latin typeface="Georgia" panose="02040502050405020303" pitchFamily="18" charset="0"/>
              </a:rPr>
              <a:t> and </a:t>
            </a:r>
            <a:r>
              <a:rPr lang="en-US" sz="2000" b="1" dirty="0">
                <a:latin typeface="Georgia" panose="02040502050405020303" pitchFamily="18" charset="0"/>
              </a:rPr>
              <a:t>rules</a:t>
            </a:r>
            <a:r>
              <a:rPr lang="en-US" sz="2000" dirty="0">
                <a:latin typeface="Georgia" panose="02040502050405020303" pitchFamily="18" charset="0"/>
              </a:rPr>
              <a:t> that determine how sounds change or interact.</a:t>
            </a:r>
          </a:p>
          <a:p>
            <a:pPr marL="0" indent="0">
              <a:buNone/>
            </a:pPr>
            <a:r>
              <a:rPr lang="en-US" sz="2000" b="1" dirty="0">
                <a:latin typeface="Georgia" panose="02040502050405020303" pitchFamily="18" charset="0"/>
              </a:rPr>
              <a:t>Examples:</a:t>
            </a:r>
          </a:p>
          <a:p>
            <a:r>
              <a:rPr lang="en-US" sz="2000" dirty="0">
                <a:latin typeface="Georgia" panose="02040502050405020303" pitchFamily="18" charset="0"/>
              </a:rPr>
              <a:t>The plural of </a:t>
            </a:r>
            <a:r>
              <a:rPr lang="en-US" sz="2000" i="1" dirty="0">
                <a:latin typeface="Georgia" panose="02040502050405020303" pitchFamily="18" charset="0"/>
              </a:rPr>
              <a:t>cat</a:t>
            </a:r>
            <a:r>
              <a:rPr lang="en-US" sz="2000" dirty="0">
                <a:latin typeface="Georgia" panose="02040502050405020303" pitchFamily="18" charset="0"/>
              </a:rPr>
              <a:t> is </a:t>
            </a:r>
            <a:r>
              <a:rPr lang="en-US" sz="2000" i="1" dirty="0">
                <a:latin typeface="Georgia" panose="02040502050405020303" pitchFamily="18" charset="0"/>
              </a:rPr>
              <a:t>cats</a:t>
            </a:r>
            <a:r>
              <a:rPr lang="en-US" sz="2000" dirty="0">
                <a:latin typeface="Georgia" panose="02040502050405020303" pitchFamily="18" charset="0"/>
              </a:rPr>
              <a:t> /s/, but the plural of </a:t>
            </a:r>
            <a:r>
              <a:rPr lang="en-US" sz="2000" i="1" dirty="0">
                <a:latin typeface="Georgia" panose="02040502050405020303" pitchFamily="18" charset="0"/>
              </a:rPr>
              <a:t>dog</a:t>
            </a:r>
            <a:r>
              <a:rPr lang="en-US" sz="2000" dirty="0">
                <a:latin typeface="Georgia" panose="02040502050405020303" pitchFamily="18" charset="0"/>
              </a:rPr>
              <a:t> is </a:t>
            </a:r>
            <a:r>
              <a:rPr lang="en-US" sz="2000" i="1" dirty="0">
                <a:latin typeface="Georgia" panose="02040502050405020303" pitchFamily="18" charset="0"/>
              </a:rPr>
              <a:t>dogs</a:t>
            </a:r>
            <a:r>
              <a:rPr lang="en-US" sz="2000" dirty="0">
                <a:latin typeface="Georgia" panose="02040502050405020303" pitchFamily="18" charset="0"/>
              </a:rPr>
              <a:t> /z/.</a:t>
            </a:r>
            <a:br>
              <a:rPr lang="en-US" sz="2000" dirty="0">
                <a:latin typeface="Georgia" panose="02040502050405020303" pitchFamily="18" charset="0"/>
              </a:rPr>
            </a:br>
            <a:r>
              <a:rPr lang="en-US" sz="2000" dirty="0">
                <a:latin typeface="Georgia" panose="02040502050405020303" pitchFamily="18" charset="0"/>
              </a:rPr>
              <a:t>→ Phonological rule: the plural sound changes depending on the final sound of the noun.</a:t>
            </a:r>
          </a:p>
          <a:p>
            <a:r>
              <a:rPr lang="en-US" sz="2000" dirty="0">
                <a:latin typeface="Georgia" panose="02040502050405020303" pitchFamily="18" charset="0"/>
              </a:rPr>
              <a:t>The English sound /ŋ/ (as in </a:t>
            </a:r>
            <a:r>
              <a:rPr lang="en-US" sz="2000" i="1" dirty="0">
                <a:latin typeface="Georgia" panose="02040502050405020303" pitchFamily="18" charset="0"/>
              </a:rPr>
              <a:t>sing</a:t>
            </a:r>
            <a:r>
              <a:rPr lang="en-US" sz="2000" dirty="0">
                <a:latin typeface="Georgia" panose="02040502050405020303" pitchFamily="18" charset="0"/>
              </a:rPr>
              <a:t>) never occurs at the start of words.</a:t>
            </a:r>
          </a:p>
          <a:p>
            <a:r>
              <a:rPr lang="en-US" sz="2000" dirty="0">
                <a:latin typeface="Georgia" panose="02040502050405020303" pitchFamily="18" charset="0"/>
              </a:rPr>
              <a:t>In </a:t>
            </a:r>
            <a:r>
              <a:rPr lang="en-US" sz="2000" i="1" dirty="0">
                <a:latin typeface="Georgia" panose="02040502050405020303" pitchFamily="18" charset="0"/>
              </a:rPr>
              <a:t>photograph</a:t>
            </a:r>
            <a:r>
              <a:rPr lang="en-US" sz="2000" dirty="0">
                <a:latin typeface="Georgia" panose="02040502050405020303" pitchFamily="18" charset="0"/>
              </a:rPr>
              <a:t> vs. </a:t>
            </a:r>
            <a:r>
              <a:rPr lang="en-US" sz="2000" i="1" dirty="0">
                <a:latin typeface="Georgia" panose="02040502050405020303" pitchFamily="18" charset="0"/>
              </a:rPr>
              <a:t>photography</a:t>
            </a:r>
            <a:r>
              <a:rPr lang="en-US" sz="2000" dirty="0">
                <a:latin typeface="Georgia" panose="02040502050405020303" pitchFamily="18" charset="0"/>
              </a:rPr>
              <a:t>, the stress pattern changes — another aspect of phonological rules.</a:t>
            </a:r>
          </a:p>
        </p:txBody>
      </p:sp>
    </p:spTree>
    <p:extLst>
      <p:ext uri="{BB962C8B-B14F-4D97-AF65-F5344CB8AC3E}">
        <p14:creationId xmlns:p14="http://schemas.microsoft.com/office/powerpoint/2010/main" val="228664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2E58E-8E90-4C0D-843C-621E9136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2. </a:t>
            </a:r>
            <a:r>
              <a:rPr lang="en-US" b="1" dirty="0">
                <a:latin typeface="Georgia" panose="02040502050405020303" pitchFamily="18" charset="0"/>
              </a:rPr>
              <a:t>Morphology</a:t>
            </a:r>
            <a:r>
              <a:rPr lang="en-US" dirty="0">
                <a:latin typeface="Georgia" panose="02040502050405020303" pitchFamily="18" charset="0"/>
              </a:rPr>
              <a:t> – </a:t>
            </a:r>
            <a:r>
              <a:rPr lang="en-US" i="1" dirty="0">
                <a:latin typeface="Georgia" panose="02040502050405020303" pitchFamily="18" charset="0"/>
              </a:rPr>
              <a:t>Rules Governing Word Structure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D1D74E-8E70-4F76-B3AC-717CDEA95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8877" y="2101575"/>
            <a:ext cx="9862038" cy="3023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Georgia" panose="02040502050405020303" pitchFamily="18" charset="0"/>
              </a:rPr>
              <a:t>Definition:</a:t>
            </a:r>
            <a:r>
              <a:rPr lang="en-US" sz="1800" dirty="0">
                <a:latin typeface="Georgia" panose="02040502050405020303" pitchFamily="18" charset="0"/>
              </a:rPr>
              <a:t> Morphology studies how </a:t>
            </a:r>
            <a:r>
              <a:rPr lang="en-US" sz="1800" b="1" dirty="0">
                <a:latin typeface="Georgia" panose="02040502050405020303" pitchFamily="18" charset="0"/>
              </a:rPr>
              <a:t>words are formed</a:t>
            </a:r>
            <a:r>
              <a:rPr lang="en-US" sz="1800" dirty="0">
                <a:latin typeface="Georgia" panose="02040502050405020303" pitchFamily="18" charset="0"/>
              </a:rPr>
              <a:t> from smaller meaningful units called </a:t>
            </a:r>
            <a:r>
              <a:rPr lang="en-US" sz="1800" b="1" dirty="0">
                <a:latin typeface="Georgia" panose="02040502050405020303" pitchFamily="18" charset="0"/>
              </a:rPr>
              <a:t>morphemes</a:t>
            </a:r>
            <a:r>
              <a:rPr lang="en-US" sz="1800" dirty="0">
                <a:latin typeface="Georgia" panose="02040502050405020303" pitchFamily="18" charset="0"/>
              </a:rPr>
              <a:t>.</a:t>
            </a:r>
          </a:p>
          <a:p>
            <a:r>
              <a:rPr lang="en-US" sz="1800" dirty="0">
                <a:latin typeface="Georgia" panose="02040502050405020303" pitchFamily="18" charset="0"/>
              </a:rPr>
              <a:t>A </a:t>
            </a:r>
            <a:r>
              <a:rPr lang="en-US" sz="1800" b="1" dirty="0">
                <a:latin typeface="Georgia" panose="02040502050405020303" pitchFamily="18" charset="0"/>
              </a:rPr>
              <a:t>morpheme</a:t>
            </a:r>
            <a:r>
              <a:rPr lang="en-US" sz="1800" dirty="0">
                <a:latin typeface="Georgia" panose="02040502050405020303" pitchFamily="18" charset="0"/>
              </a:rPr>
              <a:t> is the smallest unit of meaning — it can be a </a:t>
            </a:r>
            <a:r>
              <a:rPr lang="en-US" sz="1800" b="1" dirty="0">
                <a:latin typeface="Georgia" panose="02040502050405020303" pitchFamily="18" charset="0"/>
              </a:rPr>
              <a:t>root</a:t>
            </a:r>
            <a:r>
              <a:rPr lang="en-US" sz="1800" dirty="0">
                <a:latin typeface="Georgia" panose="02040502050405020303" pitchFamily="18" charset="0"/>
              </a:rPr>
              <a:t>, </a:t>
            </a:r>
            <a:r>
              <a:rPr lang="en-US" sz="1800" b="1" dirty="0">
                <a:latin typeface="Georgia" panose="02040502050405020303" pitchFamily="18" charset="0"/>
              </a:rPr>
              <a:t>prefix</a:t>
            </a:r>
            <a:r>
              <a:rPr lang="en-US" sz="1800" dirty="0">
                <a:latin typeface="Georgia" panose="02040502050405020303" pitchFamily="18" charset="0"/>
              </a:rPr>
              <a:t>, or </a:t>
            </a:r>
            <a:r>
              <a:rPr lang="en-US" sz="1800" b="1" dirty="0">
                <a:latin typeface="Georgia" panose="02040502050405020303" pitchFamily="18" charset="0"/>
              </a:rPr>
              <a:t>suffix</a:t>
            </a:r>
            <a:r>
              <a:rPr lang="en-US" sz="1800" dirty="0">
                <a:latin typeface="Georgia" panose="02040502050405020303" pitchFamily="18" charset="0"/>
              </a:rPr>
              <a:t>.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Examples:</a:t>
            </a:r>
          </a:p>
          <a:p>
            <a:pPr lvl="1"/>
            <a:r>
              <a:rPr lang="en-US" sz="1400" b="1" dirty="0">
                <a:latin typeface="Georgia" panose="02040502050405020303" pitchFamily="18" charset="0"/>
              </a:rPr>
              <a:t>Unhappiness</a:t>
            </a:r>
            <a:r>
              <a:rPr lang="en-US" sz="1400" dirty="0">
                <a:latin typeface="Georgia" panose="02040502050405020303" pitchFamily="18" charset="0"/>
              </a:rPr>
              <a:t> → </a:t>
            </a:r>
            <a:r>
              <a:rPr lang="en-US" sz="1400" i="1" dirty="0">
                <a:latin typeface="Georgia" panose="02040502050405020303" pitchFamily="18" charset="0"/>
              </a:rPr>
              <a:t>un-</a:t>
            </a:r>
            <a:r>
              <a:rPr lang="en-US" sz="1400" dirty="0">
                <a:latin typeface="Georgia" panose="02040502050405020303" pitchFamily="18" charset="0"/>
              </a:rPr>
              <a:t> (prefix) + </a:t>
            </a:r>
            <a:r>
              <a:rPr lang="en-US" sz="1400" i="1" dirty="0">
                <a:latin typeface="Georgia" panose="02040502050405020303" pitchFamily="18" charset="0"/>
              </a:rPr>
              <a:t>happy</a:t>
            </a:r>
            <a:r>
              <a:rPr lang="en-US" sz="1400" dirty="0">
                <a:latin typeface="Georgia" panose="02040502050405020303" pitchFamily="18" charset="0"/>
              </a:rPr>
              <a:t> (root) + </a:t>
            </a:r>
            <a:r>
              <a:rPr lang="en-US" sz="1400" i="1" dirty="0">
                <a:latin typeface="Georgia" panose="02040502050405020303" pitchFamily="18" charset="0"/>
              </a:rPr>
              <a:t>-ness</a:t>
            </a:r>
            <a:r>
              <a:rPr lang="en-US" sz="1400" dirty="0">
                <a:latin typeface="Georgia" panose="02040502050405020303" pitchFamily="18" charset="0"/>
              </a:rPr>
              <a:t> (suffix)</a:t>
            </a:r>
          </a:p>
          <a:p>
            <a:pPr lvl="1"/>
            <a:r>
              <a:rPr lang="en-US" sz="1400" b="1" dirty="0">
                <a:latin typeface="Georgia" panose="02040502050405020303" pitchFamily="18" charset="0"/>
              </a:rPr>
              <a:t>Walked</a:t>
            </a:r>
            <a:r>
              <a:rPr lang="en-US" sz="1400" dirty="0">
                <a:latin typeface="Georgia" panose="02040502050405020303" pitchFamily="18" charset="0"/>
              </a:rPr>
              <a:t> → </a:t>
            </a:r>
            <a:r>
              <a:rPr lang="en-US" sz="1400" i="1" dirty="0">
                <a:latin typeface="Georgia" panose="02040502050405020303" pitchFamily="18" charset="0"/>
              </a:rPr>
              <a:t>walk</a:t>
            </a:r>
            <a:r>
              <a:rPr lang="en-US" sz="1400" dirty="0">
                <a:latin typeface="Georgia" panose="02040502050405020303" pitchFamily="18" charset="0"/>
              </a:rPr>
              <a:t> (root) + </a:t>
            </a:r>
            <a:r>
              <a:rPr lang="en-US" sz="1400" i="1" dirty="0">
                <a:latin typeface="Georgia" panose="02040502050405020303" pitchFamily="18" charset="0"/>
              </a:rPr>
              <a:t>-ed</a:t>
            </a:r>
            <a:r>
              <a:rPr lang="en-US" sz="1400" dirty="0">
                <a:latin typeface="Georgia" panose="02040502050405020303" pitchFamily="18" charset="0"/>
              </a:rPr>
              <a:t> (past tense marker)</a:t>
            </a:r>
          </a:p>
          <a:p>
            <a:pPr lvl="1"/>
            <a:r>
              <a:rPr lang="en-US" sz="1400" b="1" dirty="0">
                <a:latin typeface="Georgia" panose="02040502050405020303" pitchFamily="18" charset="0"/>
              </a:rPr>
              <a:t>Cats</a:t>
            </a:r>
            <a:r>
              <a:rPr lang="en-US" sz="1400" dirty="0">
                <a:latin typeface="Georgia" panose="02040502050405020303" pitchFamily="18" charset="0"/>
              </a:rPr>
              <a:t> → </a:t>
            </a:r>
            <a:r>
              <a:rPr lang="en-US" sz="1400" i="1" dirty="0">
                <a:latin typeface="Georgia" panose="02040502050405020303" pitchFamily="18" charset="0"/>
              </a:rPr>
              <a:t>cat</a:t>
            </a:r>
            <a:r>
              <a:rPr lang="en-US" sz="1400" dirty="0">
                <a:latin typeface="Georgia" panose="02040502050405020303" pitchFamily="18" charset="0"/>
              </a:rPr>
              <a:t> (root) + </a:t>
            </a:r>
            <a:r>
              <a:rPr lang="en-US" sz="1400" i="1" dirty="0">
                <a:latin typeface="Georgia" panose="02040502050405020303" pitchFamily="18" charset="0"/>
              </a:rPr>
              <a:t>-s</a:t>
            </a:r>
            <a:r>
              <a:rPr lang="en-US" sz="1400" dirty="0">
                <a:latin typeface="Georgia" panose="02040502050405020303" pitchFamily="18" charset="0"/>
              </a:rPr>
              <a:t> (plural marker)</a:t>
            </a:r>
          </a:p>
          <a:p>
            <a:r>
              <a:rPr lang="en-US" sz="1800" dirty="0">
                <a:latin typeface="Georgia" panose="02040502050405020303" pitchFamily="18" charset="0"/>
              </a:rPr>
              <a:t>Morphological rules determine how these morphemes can combine to form correct and meaningful words.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96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9AD2-4AC3-4459-B598-25EBA494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3. </a:t>
            </a:r>
            <a:r>
              <a:rPr lang="en-US" b="1" dirty="0">
                <a:latin typeface="Georgia" panose="02040502050405020303" pitchFamily="18" charset="0"/>
              </a:rPr>
              <a:t>Syntax</a:t>
            </a:r>
            <a:r>
              <a:rPr lang="en-US" dirty="0">
                <a:latin typeface="Georgia" panose="02040502050405020303" pitchFamily="18" charset="0"/>
              </a:rPr>
              <a:t> – </a:t>
            </a:r>
            <a:r>
              <a:rPr lang="en-US" i="1" dirty="0">
                <a:latin typeface="Georgia" panose="02040502050405020303" pitchFamily="18" charset="0"/>
              </a:rPr>
              <a:t>Rules for Arranging Words in Sentences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F90FCE-C605-4FE2-A357-BB4E7AB135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0423" y="1901341"/>
            <a:ext cx="10099431" cy="372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 dirty="0">
                <a:latin typeface="Georgia" panose="02040502050405020303" pitchFamily="18" charset="0"/>
              </a:rPr>
              <a:t>Definition:</a:t>
            </a:r>
            <a:r>
              <a:rPr lang="en-US" sz="1800" dirty="0">
                <a:latin typeface="Georgia" panose="02040502050405020303" pitchFamily="18" charset="0"/>
              </a:rPr>
              <a:t> Syntax deals with the </a:t>
            </a:r>
            <a:r>
              <a:rPr lang="en-US" sz="1800" b="1" dirty="0">
                <a:latin typeface="Georgia" panose="02040502050405020303" pitchFamily="18" charset="0"/>
              </a:rPr>
              <a:t>structure of sentences</a:t>
            </a:r>
            <a:r>
              <a:rPr lang="en-US" sz="1800" dirty="0">
                <a:latin typeface="Georgia" panose="02040502050405020303" pitchFamily="18" charset="0"/>
              </a:rPr>
              <a:t> — how words and phrases are arranged to form grammatically correct and meaningful sentences.</a:t>
            </a:r>
          </a:p>
          <a:p>
            <a:pPr algn="just"/>
            <a:r>
              <a:rPr lang="en-US" sz="1800" dirty="0">
                <a:latin typeface="Georgia" panose="02040502050405020303" pitchFamily="18" charset="0"/>
              </a:rPr>
              <a:t>It determines </a:t>
            </a:r>
            <a:r>
              <a:rPr lang="en-US" sz="1800" b="1" dirty="0">
                <a:latin typeface="Georgia" panose="02040502050405020303" pitchFamily="18" charset="0"/>
              </a:rPr>
              <a:t>word order</a:t>
            </a:r>
            <a:r>
              <a:rPr lang="en-US" sz="1800" dirty="0">
                <a:latin typeface="Georgia" panose="02040502050405020303" pitchFamily="18" charset="0"/>
              </a:rPr>
              <a:t>, </a:t>
            </a:r>
            <a:r>
              <a:rPr lang="en-US" sz="1800" b="1" dirty="0">
                <a:latin typeface="Georgia" panose="02040502050405020303" pitchFamily="18" charset="0"/>
              </a:rPr>
              <a:t>agreement</a:t>
            </a:r>
            <a:r>
              <a:rPr lang="en-US" sz="1800" dirty="0">
                <a:latin typeface="Georgia" panose="02040502050405020303" pitchFamily="18" charset="0"/>
              </a:rPr>
              <a:t>, and </a:t>
            </a:r>
            <a:r>
              <a:rPr lang="en-US" sz="1800" b="1" dirty="0">
                <a:latin typeface="Georgia" panose="02040502050405020303" pitchFamily="18" charset="0"/>
              </a:rPr>
              <a:t>relationships</a:t>
            </a:r>
            <a:r>
              <a:rPr lang="en-US" sz="1800" dirty="0">
                <a:latin typeface="Georgia" panose="02040502050405020303" pitchFamily="18" charset="0"/>
              </a:rPr>
              <a:t> among sentence elements (subject, verb, object, etc.).</a:t>
            </a:r>
          </a:p>
          <a:p>
            <a:pPr marL="0" indent="0" algn="just">
              <a:buNone/>
            </a:pPr>
            <a:r>
              <a:rPr lang="en-US" sz="1800" b="1" dirty="0">
                <a:latin typeface="Georgia" panose="02040502050405020303" pitchFamily="18" charset="0"/>
              </a:rPr>
              <a:t>Examples:</a:t>
            </a:r>
          </a:p>
          <a:p>
            <a:r>
              <a:rPr lang="en-US" sz="1800" dirty="0">
                <a:latin typeface="Georgia" panose="02040502050405020303" pitchFamily="18" charset="0"/>
              </a:rPr>
              <a:t>✅</a:t>
            </a:r>
            <a:r>
              <a:rPr lang="en-US" sz="1800" b="1" dirty="0">
                <a:latin typeface="Georgia" panose="02040502050405020303" pitchFamily="18" charset="0"/>
              </a:rPr>
              <a:t>She is reading a book.</a:t>
            </a:r>
            <a:r>
              <a:rPr lang="en-US" sz="1800" dirty="0">
                <a:latin typeface="Georgia" panose="02040502050405020303" pitchFamily="18" charset="0"/>
              </a:rPr>
              <a:t/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❌</a:t>
            </a:r>
            <a:r>
              <a:rPr lang="en-US" sz="1800" i="1" dirty="0">
                <a:latin typeface="Georgia" panose="02040502050405020303" pitchFamily="18" charset="0"/>
              </a:rPr>
              <a:t>Reading she is a book.</a:t>
            </a:r>
            <a:r>
              <a:rPr lang="en-US" sz="1800" dirty="0">
                <a:latin typeface="Georgia" panose="02040502050405020303" pitchFamily="18" charset="0"/>
              </a:rPr>
              <a:t/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→ Syntax rules decide that the correct English word order is </a:t>
            </a:r>
            <a:r>
              <a:rPr lang="en-US" sz="1800" b="1" dirty="0">
                <a:latin typeface="Georgia" panose="02040502050405020303" pitchFamily="18" charset="0"/>
              </a:rPr>
              <a:t>Subject + Verb + Object (SVO)</a:t>
            </a:r>
            <a:r>
              <a:rPr lang="en-US" sz="1800" dirty="0">
                <a:latin typeface="Georgia" panose="02040502050405020303" pitchFamily="18" charset="0"/>
              </a:rPr>
              <a:t>.</a:t>
            </a:r>
          </a:p>
          <a:p>
            <a:pPr algn="just"/>
            <a:r>
              <a:rPr lang="en-US" sz="1800" b="1" dirty="0">
                <a:latin typeface="Georgia" panose="02040502050405020303" pitchFamily="18" charset="0"/>
              </a:rPr>
              <a:t>The boy kicked the ball</a:t>
            </a:r>
            <a:r>
              <a:rPr lang="en-US" sz="1800" dirty="0">
                <a:latin typeface="Georgia" panose="02040502050405020303" pitchFamily="18" charset="0"/>
              </a:rPr>
              <a:t> vs. </a:t>
            </a:r>
            <a:r>
              <a:rPr lang="en-US" sz="1800" b="1" dirty="0">
                <a:latin typeface="Georgia" panose="02040502050405020303" pitchFamily="18" charset="0"/>
              </a:rPr>
              <a:t>The ball kicked the boy</a:t>
            </a:r>
            <a:r>
              <a:rPr lang="en-US" sz="1800" dirty="0">
                <a:latin typeface="Georgia" panose="02040502050405020303" pitchFamily="18" charset="0"/>
              </a:rPr>
              <a:t> —</a:t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same words, but different </a:t>
            </a:r>
            <a:r>
              <a:rPr lang="en-US" sz="1800" b="1" dirty="0">
                <a:latin typeface="Georgia" panose="02040502050405020303" pitchFamily="18" charset="0"/>
              </a:rPr>
              <a:t>syntactic arrangement</a:t>
            </a:r>
            <a:r>
              <a:rPr lang="en-US" sz="1800" dirty="0">
                <a:latin typeface="Georgia" panose="02040502050405020303" pitchFamily="18" charset="0"/>
              </a:rPr>
              <a:t> changes the meaning.</a:t>
            </a:r>
          </a:p>
          <a:p>
            <a:pPr algn="just"/>
            <a:r>
              <a:rPr lang="en-US" sz="1800" dirty="0">
                <a:latin typeface="Georgia" panose="02040502050405020303" pitchFamily="18" charset="0"/>
              </a:rPr>
              <a:t>➡️ Syntax provides the framework that gives structure to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426038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FC202-C790-4256-ACBC-C0E8FA5DA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1754" cy="1325563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4. </a:t>
            </a:r>
            <a:r>
              <a:rPr lang="en-US" b="1" dirty="0">
                <a:latin typeface="Georgia" panose="02040502050405020303" pitchFamily="18" charset="0"/>
              </a:rPr>
              <a:t>Semantics</a:t>
            </a:r>
            <a:r>
              <a:rPr lang="en-US" dirty="0">
                <a:latin typeface="Georgia" panose="02040502050405020303" pitchFamily="18" charset="0"/>
              </a:rPr>
              <a:t> – </a:t>
            </a:r>
            <a:r>
              <a:rPr lang="en-US" i="1" dirty="0">
                <a:latin typeface="Georgia" panose="02040502050405020303" pitchFamily="18" charset="0"/>
              </a:rPr>
              <a:t>Rules for Understanding Meaning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BBA542-881C-4024-9B4A-A7461E22BD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9989" y="1800984"/>
            <a:ext cx="11005038" cy="4178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Semantics is the branch of linguistics that deals with </a:t>
            </a:r>
            <a:r>
              <a:rPr lang="en-US" sz="1400" b="1" dirty="0">
                <a:latin typeface="Georgia" panose="02040502050405020303" pitchFamily="18" charset="0"/>
              </a:rPr>
              <a:t>meaning</a:t>
            </a:r>
            <a:r>
              <a:rPr lang="en-US" sz="1400" dirty="0">
                <a:latin typeface="Georgia" panose="02040502050405020303" pitchFamily="18" charset="0"/>
              </a:rPr>
              <a:t> — how words, phrases, and sentences convey ideas. It provides the </a:t>
            </a:r>
            <a:r>
              <a:rPr lang="en-US" sz="1400" b="1" dirty="0">
                <a:latin typeface="Georgia" panose="02040502050405020303" pitchFamily="18" charset="0"/>
              </a:rPr>
              <a:t>rules and principles</a:t>
            </a:r>
            <a:r>
              <a:rPr lang="en-US" sz="1400" dirty="0">
                <a:latin typeface="Georgia" panose="02040502050405020303" pitchFamily="18" charset="0"/>
              </a:rPr>
              <a:t> that help us interpret and understand what language </a:t>
            </a:r>
            <a:r>
              <a:rPr lang="en-US" sz="1400" i="1" dirty="0">
                <a:latin typeface="Georgia" panose="02040502050405020303" pitchFamily="18" charset="0"/>
              </a:rPr>
              <a:t>means</a:t>
            </a:r>
            <a:r>
              <a:rPr lang="en-US" sz="1400" dirty="0">
                <a:latin typeface="Georgia" panose="02040502050405020303" pitchFamily="18" charset="0"/>
              </a:rPr>
              <a:t>, not just how it is structured.</a:t>
            </a:r>
          </a:p>
          <a:p>
            <a:pPr marL="0" indent="0">
              <a:buNone/>
            </a:pPr>
            <a:r>
              <a:rPr lang="en-US" sz="1400" b="1" dirty="0">
                <a:latin typeface="Georgia" panose="02040502050405020303" pitchFamily="18" charset="0"/>
              </a:rPr>
              <a:t>Key Points:</a:t>
            </a:r>
          </a:p>
          <a:p>
            <a:r>
              <a:rPr lang="en-US" sz="1400" b="1" dirty="0">
                <a:latin typeface="Georgia" panose="02040502050405020303" pitchFamily="18" charset="0"/>
              </a:rPr>
              <a:t>Word Meaning (Lexical Semantics):</a:t>
            </a:r>
            <a:r>
              <a:rPr lang="en-US" sz="1400" dirty="0">
                <a:latin typeface="Georgia" panose="02040502050405020303" pitchFamily="18" charset="0"/>
              </a:rPr>
              <a:t/>
            </a:r>
            <a:br>
              <a:rPr lang="en-US" sz="1400" dirty="0">
                <a:latin typeface="Georgia" panose="02040502050405020303" pitchFamily="18" charset="0"/>
              </a:rPr>
            </a:br>
            <a:r>
              <a:rPr lang="en-US" sz="1400" dirty="0">
                <a:latin typeface="Georgia" panose="02040502050405020303" pitchFamily="18" charset="0"/>
              </a:rPr>
              <a:t>Focuses on the meanings of individual words and how they relate to one another.</a:t>
            </a:r>
          </a:p>
          <a:p>
            <a:pPr lvl="1"/>
            <a:r>
              <a:rPr lang="en-US" sz="1400" dirty="0">
                <a:latin typeface="Georgia" panose="02040502050405020303" pitchFamily="18" charset="0"/>
              </a:rPr>
              <a:t>Example: </a:t>
            </a:r>
            <a:r>
              <a:rPr lang="en-US" sz="1400" i="1" dirty="0">
                <a:latin typeface="Georgia" panose="02040502050405020303" pitchFamily="18" charset="0"/>
              </a:rPr>
              <a:t>Big</a:t>
            </a:r>
            <a:r>
              <a:rPr lang="en-US" sz="1400" dirty="0">
                <a:latin typeface="Georgia" panose="02040502050405020303" pitchFamily="18" charset="0"/>
              </a:rPr>
              <a:t> and </a:t>
            </a:r>
            <a:r>
              <a:rPr lang="en-US" sz="1400" i="1" dirty="0">
                <a:latin typeface="Georgia" panose="02040502050405020303" pitchFamily="18" charset="0"/>
              </a:rPr>
              <a:t>large</a:t>
            </a:r>
            <a:r>
              <a:rPr lang="en-US" sz="1400" dirty="0">
                <a:latin typeface="Georgia" panose="02040502050405020303" pitchFamily="18" charset="0"/>
              </a:rPr>
              <a:t> are synonyms, but </a:t>
            </a:r>
            <a:r>
              <a:rPr lang="en-US" sz="1400" i="1" dirty="0">
                <a:latin typeface="Georgia" panose="02040502050405020303" pitchFamily="18" charset="0"/>
              </a:rPr>
              <a:t>big brother</a:t>
            </a:r>
            <a:r>
              <a:rPr lang="en-US" sz="1400" dirty="0">
                <a:latin typeface="Georgia" panose="02040502050405020303" pitchFamily="18" charset="0"/>
              </a:rPr>
              <a:t> ≠ </a:t>
            </a:r>
            <a:r>
              <a:rPr lang="en-US" sz="1400" i="1" dirty="0">
                <a:latin typeface="Georgia" panose="02040502050405020303" pitchFamily="18" charset="0"/>
              </a:rPr>
              <a:t>large brother.</a:t>
            </a:r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Sentence Meaning (Compositional Semantics):</a:t>
            </a:r>
            <a:r>
              <a:rPr lang="en-US" sz="1400" dirty="0">
                <a:latin typeface="Georgia" panose="02040502050405020303" pitchFamily="18" charset="0"/>
              </a:rPr>
              <a:t/>
            </a:r>
            <a:br>
              <a:rPr lang="en-US" sz="1400" dirty="0">
                <a:latin typeface="Georgia" panose="02040502050405020303" pitchFamily="18" charset="0"/>
              </a:rPr>
            </a:br>
            <a:r>
              <a:rPr lang="en-US" sz="1400" dirty="0">
                <a:latin typeface="Georgia" panose="02040502050405020303" pitchFamily="18" charset="0"/>
              </a:rPr>
              <a:t>Explains how meanings of words combine to form the meaning of a sentence.</a:t>
            </a:r>
          </a:p>
          <a:p>
            <a:pPr lvl="1"/>
            <a:r>
              <a:rPr lang="en-US" sz="1400" dirty="0">
                <a:latin typeface="Georgia" panose="02040502050405020303" pitchFamily="18" charset="0"/>
              </a:rPr>
              <a:t>Example: </a:t>
            </a:r>
            <a:r>
              <a:rPr lang="en-US" sz="1400" i="1" dirty="0">
                <a:latin typeface="Georgia" panose="02040502050405020303" pitchFamily="18" charset="0"/>
              </a:rPr>
              <a:t>The cat chased the mouse</a:t>
            </a:r>
            <a:r>
              <a:rPr lang="en-US" sz="1400" dirty="0">
                <a:latin typeface="Georgia" panose="02040502050405020303" pitchFamily="18" charset="0"/>
              </a:rPr>
              <a:t> ≠ </a:t>
            </a:r>
            <a:r>
              <a:rPr lang="en-US" sz="1400" i="1" dirty="0">
                <a:latin typeface="Georgia" panose="02040502050405020303" pitchFamily="18" charset="0"/>
              </a:rPr>
              <a:t>The mouse chased the cat.</a:t>
            </a:r>
            <a:endParaRPr lang="en-US" sz="1400" dirty="0">
              <a:latin typeface="Georgia" panose="02040502050405020303" pitchFamily="18" charset="0"/>
            </a:endParaRPr>
          </a:p>
          <a:p>
            <a:r>
              <a:rPr lang="en-US" sz="1400" b="1" dirty="0">
                <a:latin typeface="Georgia" panose="02040502050405020303" pitchFamily="18" charset="0"/>
              </a:rPr>
              <a:t>Literal vs. Figurative Meaning:</a:t>
            </a:r>
            <a:endParaRPr lang="en-US" sz="1400" dirty="0">
              <a:latin typeface="Georgia" panose="02040502050405020303" pitchFamily="18" charset="0"/>
            </a:endParaRPr>
          </a:p>
          <a:p>
            <a:pPr lvl="1"/>
            <a:r>
              <a:rPr lang="en-US" sz="1400" dirty="0">
                <a:latin typeface="Georgia" panose="02040502050405020303" pitchFamily="18" charset="0"/>
              </a:rPr>
              <a:t>Literal: “He kicked the ball.” (actual action)</a:t>
            </a:r>
          </a:p>
          <a:p>
            <a:pPr lvl="1"/>
            <a:r>
              <a:rPr lang="en-US" sz="1400" dirty="0">
                <a:latin typeface="Georgia" panose="02040502050405020303" pitchFamily="18" charset="0"/>
              </a:rPr>
              <a:t>Figurative: “He kicked the bucket.” (means he died)</a:t>
            </a:r>
          </a:p>
          <a:p>
            <a:r>
              <a:rPr lang="en-US" sz="1400" b="1" dirty="0">
                <a:latin typeface="Georgia" panose="02040502050405020303" pitchFamily="18" charset="0"/>
              </a:rPr>
              <a:t>Context and Ambiguity:</a:t>
            </a:r>
            <a:r>
              <a:rPr lang="en-US" sz="1400" dirty="0">
                <a:latin typeface="Georgia" panose="02040502050405020303" pitchFamily="18" charset="0"/>
              </a:rPr>
              <a:t/>
            </a:r>
            <a:br>
              <a:rPr lang="en-US" sz="1400" dirty="0">
                <a:latin typeface="Georgia" panose="02040502050405020303" pitchFamily="18" charset="0"/>
              </a:rPr>
            </a:br>
            <a:r>
              <a:rPr lang="en-US" sz="1400" dirty="0">
                <a:latin typeface="Georgia" panose="02040502050405020303" pitchFamily="18" charset="0"/>
              </a:rPr>
              <a:t>Meaning depends on context and structure.</a:t>
            </a:r>
          </a:p>
          <a:p>
            <a:pPr lvl="1"/>
            <a:r>
              <a:rPr lang="en-US" sz="1400" i="1" dirty="0">
                <a:latin typeface="Georgia" panose="02040502050405020303" pitchFamily="18" charset="0"/>
              </a:rPr>
              <a:t>I saw her duck</a:t>
            </a:r>
            <a:r>
              <a:rPr lang="en-US" sz="1400" dirty="0">
                <a:latin typeface="Georgia" panose="02040502050405020303" pitchFamily="18" charset="0"/>
              </a:rPr>
              <a:t> → (Did she lower her head, or does she own a duck?)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38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701919" y="491198"/>
            <a:ext cx="10788162" cy="6051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13410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latin typeface="Georgia" panose="02040502050405020303" pitchFamily="18" charset="0"/>
              </a:rPr>
              <a:t>It is important to distinguish between the </a:t>
            </a:r>
            <a:r>
              <a:rPr lang="en-US" sz="2400" b="1" dirty="0">
                <a:latin typeface="Georgia" panose="02040502050405020303" pitchFamily="18" charset="0"/>
              </a:rPr>
              <a:t>meaning of the word as it is used most commonly</a:t>
            </a:r>
            <a:r>
              <a:rPr lang="en-US" sz="2400" dirty="0">
                <a:latin typeface="Georgia" panose="02040502050405020303" pitchFamily="18" charset="0"/>
              </a:rPr>
              <a:t> and its </a:t>
            </a:r>
            <a:r>
              <a:rPr lang="en-US" sz="2400" b="1" dirty="0">
                <a:latin typeface="Georgia" panose="02040502050405020303" pitchFamily="18" charset="0"/>
              </a:rPr>
              <a:t>more esoteric meaning</a:t>
            </a:r>
            <a:r>
              <a:rPr lang="en-US" sz="2400" dirty="0">
                <a:latin typeface="Georgia" panose="02040502050405020303" pitchFamily="18" charset="0"/>
              </a:rPr>
              <a:t> (used in linguistics studies).</a:t>
            </a:r>
          </a:p>
          <a:p>
            <a:pPr marL="355600" marR="613410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endParaRPr lang="en-US" sz="2400" dirty="0">
              <a:latin typeface="Georgia" panose="02040502050405020303" pitchFamily="18" charset="0"/>
            </a:endParaRPr>
          </a:p>
          <a:p>
            <a:pPr marL="355600" marR="613410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b="1" dirty="0">
                <a:latin typeface="Georgia" panose="02040502050405020303" pitchFamily="18" charset="0"/>
              </a:rPr>
              <a:t>Prescriptive grammar</a:t>
            </a:r>
            <a:r>
              <a:rPr lang="en-US" sz="2400" dirty="0">
                <a:latin typeface="Georgia" panose="02040502050405020303" pitchFamily="18" charset="0"/>
              </a:rPr>
              <a:t> is the formal and proper set of rules for the use of language, in which we all received training at school.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latin typeface="Georgia" panose="02040502050405020303" pitchFamily="18" charset="0"/>
              </a:rPr>
              <a:t>Prescriptive rule: “Never end a sentence with a preposition.”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latin typeface="Georgia" panose="02040502050405020303" pitchFamily="18" charset="0"/>
              </a:rPr>
              <a:t>“This is something about which I was talking.” ✅ (Prescriptive)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endParaRPr lang="en-US" sz="2400" dirty="0">
              <a:latin typeface="Georgia" panose="02040502050405020303" pitchFamily="18" charset="0"/>
            </a:endParaRPr>
          </a:p>
          <a:p>
            <a:pPr marL="355600" marR="613410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b="1" dirty="0">
                <a:latin typeface="Georgia" panose="02040502050405020303" pitchFamily="18" charset="0"/>
              </a:rPr>
              <a:t>Descriptive grammar</a:t>
            </a:r>
            <a:r>
              <a:rPr lang="en-US" sz="2400" dirty="0">
                <a:latin typeface="Georgia" panose="02040502050405020303" pitchFamily="18" charset="0"/>
              </a:rPr>
              <a:t> refers to the underlying rules, which linguistic researchers infer from the way people actually use language.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latin typeface="Georgia" panose="02040502050405020303" pitchFamily="18" charset="0"/>
              </a:rPr>
              <a:t>Descriptive (natural speech):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400" dirty="0">
                <a:latin typeface="Georgia" panose="02040502050405020303" pitchFamily="18" charset="0"/>
              </a:rPr>
              <a:t>“This is something I was talking about.” ✅ (Descriptive – real usage)</a:t>
            </a:r>
          </a:p>
          <a:p>
            <a:pPr marL="812800" marR="613410" lvl="1" indent="-342900" algn="just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endParaRPr lang="en-US" sz="2400" dirty="0">
              <a:latin typeface="Georgia" panose="02040502050405020303" pitchFamily="18" charset="0"/>
            </a:endParaRPr>
          </a:p>
          <a:p>
            <a:pPr marL="12700" marR="613410" algn="just">
              <a:spcBef>
                <a:spcPts val="105"/>
              </a:spcBef>
              <a:tabLst>
                <a:tab pos="355600" algn="l"/>
              </a:tabLst>
            </a:pPr>
            <a:r>
              <a:rPr lang="en-US" sz="2400" b="1" dirty="0">
                <a:latin typeface="Georgia" panose="02040502050405020303" pitchFamily="18" charset="0"/>
                <a:cs typeface="Arial MT"/>
              </a:rPr>
              <a:t>Meaning: </a:t>
            </a:r>
            <a:r>
              <a:rPr lang="en-US" sz="2400" dirty="0">
                <a:latin typeface="Georgia" panose="02040502050405020303" pitchFamily="18" charset="0"/>
                <a:cs typeface="Arial MT"/>
              </a:rPr>
              <a:t>Both have the same semantic meaning, but the descriptive version is what people actually say in everyday communication.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64F68B2-0EBA-4275-9A42-8985D87CE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AADD-CF69-485F-B151-16A8D6CE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Primate Language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840A9-EFA2-4644-9197-60DFA539E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Non-human primates (such as chimpanzees and gorillas) can learn to use signs or symbols to communicate basic ideas.</a:t>
            </a:r>
          </a:p>
          <a:p>
            <a:r>
              <a:rPr lang="en-US" dirty="0">
                <a:latin typeface="Georgia" panose="02040502050405020303" pitchFamily="18" charset="0"/>
              </a:rPr>
              <a:t>However, their communication lacks the complexity, grammar, and creativity found in human language.</a:t>
            </a:r>
          </a:p>
          <a:p>
            <a:r>
              <a:rPr lang="en-US" dirty="0">
                <a:latin typeface="Georgia" panose="02040502050405020303" pitchFamily="18" charset="0"/>
              </a:rPr>
              <a:t>Their use of “language” is limited to immediate contexts and simple needs (e.g., food, play, attention).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09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314647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44208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Georgia" panose="02040502050405020303" pitchFamily="18" charset="0"/>
              </a:rPr>
              <a:t>Primate</a:t>
            </a:r>
            <a:r>
              <a:rPr spc="-3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language</a:t>
            </a:r>
            <a:r>
              <a:rPr spc="-30" dirty="0">
                <a:latin typeface="Georgia" panose="02040502050405020303" pitchFamily="18" charset="0"/>
              </a:rPr>
              <a:t> </a:t>
            </a:r>
            <a:r>
              <a:rPr spc="-25" dirty="0">
                <a:latin typeface="Georgia" panose="02040502050405020303" pitchFamily="18" charset="0"/>
              </a:rPr>
              <a:t>use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16722" y="1179223"/>
            <a:ext cx="10641878" cy="5217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marR="319405" indent="-285750">
              <a:spcBef>
                <a:spcPts val="105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600" dirty="0">
                <a:latin typeface="Georgia" panose="02040502050405020303" pitchFamily="18" charset="0"/>
                <a:cs typeface="Arial MT"/>
              </a:rPr>
              <a:t>Animals</a:t>
            </a:r>
            <a:r>
              <a:rPr sz="16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1600" dirty="0">
                <a:latin typeface="Georgia" panose="02040502050405020303" pitchFamily="18" charset="0"/>
                <a:cs typeface="Arial MT"/>
              </a:rPr>
              <a:t>communicate,</a:t>
            </a:r>
            <a:r>
              <a:rPr sz="16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1600" dirty="0">
                <a:latin typeface="Georgia" panose="02040502050405020303" pitchFamily="18" charset="0"/>
                <a:cs typeface="Arial MT"/>
              </a:rPr>
              <a:t>but</a:t>
            </a:r>
            <a:r>
              <a:rPr sz="16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1600" dirty="0">
                <a:latin typeface="Georgia" panose="02040502050405020303" pitchFamily="18" charset="0"/>
                <a:cs typeface="Arial MT"/>
              </a:rPr>
              <a:t>do</a:t>
            </a:r>
            <a:r>
              <a:rPr sz="16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600" dirty="0">
                <a:latin typeface="Georgia" panose="02040502050405020303" pitchFamily="18" charset="0"/>
                <a:cs typeface="Arial MT"/>
              </a:rPr>
              <a:t>they</a:t>
            </a:r>
            <a:r>
              <a:rPr sz="16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1600" spc="-20" dirty="0">
                <a:latin typeface="Georgia" panose="02040502050405020303" pitchFamily="18" charset="0"/>
                <a:cs typeface="Arial MT"/>
              </a:rPr>
              <a:t>have </a:t>
            </a:r>
            <a:r>
              <a:rPr sz="1600" spc="-10" dirty="0">
                <a:latin typeface="Georgia" panose="02040502050405020303" pitchFamily="18" charset="0"/>
                <a:cs typeface="Arial MT"/>
              </a:rPr>
              <a:t>language?</a:t>
            </a:r>
            <a:endParaRPr lang="en-IN" sz="1600" spc="-10" dirty="0">
              <a:latin typeface="Georgia" panose="02040502050405020303" pitchFamily="18" charset="0"/>
              <a:cs typeface="Arial MT"/>
            </a:endParaRPr>
          </a:p>
          <a:p>
            <a:pPr marL="298450" marR="319405" indent="-285750">
              <a:spcBef>
                <a:spcPts val="105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Washoe was the first chimpanzee to be taught ASL.</a:t>
            </a:r>
          </a:p>
          <a:p>
            <a:pPr marL="755650" marR="471805" lvl="1" indent="-285750">
              <a:spcBef>
                <a:spcPts val="770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She learned over 100–250 signs and could combine some to make simple phrases like “you me go play.”</a:t>
            </a:r>
          </a:p>
          <a:p>
            <a:pPr marL="755650" marR="471805" lvl="1" indent="-285750">
              <a:spcBef>
                <a:spcPts val="770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Insight: Washoe could use symbols meaningfully, showing that non-human primates can learn elements of human language such as symbols and reference — but not full grammar or syntax.</a:t>
            </a:r>
          </a:p>
          <a:p>
            <a:pPr marL="298450" marR="5080" indent="-285750">
              <a:spcBef>
                <a:spcPts val="765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Koko the Gorilla (ASL)Koko learned over 1,000 signs and understood around 2,000 spoken English words.</a:t>
            </a:r>
          </a:p>
          <a:p>
            <a:pPr marL="755650" marR="5080" lvl="1" indent="-285750">
              <a:spcBef>
                <a:spcPts val="765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She used signs to express emotions and desires, like “sad,” “happy,” or “love.”</a:t>
            </a:r>
          </a:p>
          <a:p>
            <a:pPr marL="755650" marR="5080" lvl="1" indent="-285750">
              <a:spcBef>
                <a:spcPts val="765"/>
              </a:spcBef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  <a:cs typeface="Arial MT"/>
              </a:rPr>
              <a:t>Insight: Koko demonstrated emotional expression and creativity in communication, but her language lacked consistent grammatical structure — showing semantic understanding, not true linguistic syntax.</a:t>
            </a:r>
            <a:endParaRPr lang="en-IN" sz="1600" dirty="0">
              <a:latin typeface="Georgia" panose="02040502050405020303" pitchFamily="18" charset="0"/>
              <a:cs typeface="Arial MT"/>
            </a:endParaRPr>
          </a:p>
          <a:p>
            <a:pPr marL="285750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Sarah the Chimpanzee (Plastic Tokens)</a:t>
            </a: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Sarah used colored plastic tokens to represent words and construct simple “sentences.”</a:t>
            </a: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Example: using a red triangle for “apple” or a blue square for “give.”</a:t>
            </a: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Insight: Showed that chimps can learn symbolic representation and understand relationships between objects and actions — a foundation of semantics.</a:t>
            </a:r>
          </a:p>
          <a:p>
            <a:pPr marL="285750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sz="1600" dirty="0">
                <a:latin typeface="Georgia" panose="02040502050405020303" pitchFamily="18" charset="0"/>
              </a:rPr>
              <a:t>Kanzi the chimp was instructed in word- lexigrams.</a:t>
            </a:r>
            <a:endParaRPr lang="en-IN" sz="1600" dirty="0">
              <a:latin typeface="Georgia" panose="02040502050405020303" pitchFamily="18" charset="0"/>
            </a:endParaRP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Kanzi used a keyboard with visual symbols (lexigrams) representing words.</a:t>
            </a: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He could understand spoken English and follow complex instructions like “Put the soap in the water.”</a:t>
            </a:r>
          </a:p>
          <a:p>
            <a:pPr marL="742950" lvl="1" indent="-285750">
              <a:buClr>
                <a:srgbClr val="A2C145"/>
              </a:buClr>
              <a:buSzPct val="79687"/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600" dirty="0">
                <a:latin typeface="Georgia" panose="02040502050405020303" pitchFamily="18" charset="0"/>
              </a:rPr>
              <a:t>Insight: Kanzi demonstrated comprehension of word order and syntactic patterns, making him one of the most advanced non-human language learners.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7846" y="903732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9017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Georgia" panose="02040502050405020303" pitchFamily="18" charset="0"/>
              </a:rPr>
              <a:t>Evaluating</a:t>
            </a:r>
            <a:r>
              <a:rPr spc="-9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primate</a:t>
            </a:r>
            <a:r>
              <a:rPr spc="-9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language</a:t>
            </a:r>
            <a:r>
              <a:rPr spc="-75" dirty="0">
                <a:latin typeface="Georgia" panose="02040502050405020303" pitchFamily="18" charset="0"/>
              </a:rPr>
              <a:t> </a:t>
            </a:r>
            <a:r>
              <a:rPr spc="-25" dirty="0">
                <a:latin typeface="Georgia" panose="02040502050405020303" pitchFamily="18" charset="0"/>
              </a:rPr>
              <a:t>use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34744" y="2245168"/>
            <a:ext cx="10022694" cy="2968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Primates demonstrate some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arbitrariness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displacement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They fail to show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complex syntactical abilities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They have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limited generative capability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They don’t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teach language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to other members of their own species.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7119" y="483109"/>
            <a:ext cx="6471722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54935" algn="l"/>
              </a:tabLst>
            </a:pPr>
            <a:r>
              <a:rPr spc="-10" dirty="0">
                <a:latin typeface="Georgia" panose="02040502050405020303" pitchFamily="18" charset="0"/>
              </a:rPr>
              <a:t>Language</a:t>
            </a:r>
            <a:r>
              <a:rPr dirty="0">
                <a:latin typeface="Georgia" panose="02040502050405020303" pitchFamily="18" charset="0"/>
              </a:rPr>
              <a:t>	</a:t>
            </a:r>
            <a:r>
              <a:rPr spc="-10" dirty="0">
                <a:latin typeface="Georgia" panose="02040502050405020303" pitchFamily="18" charset="0"/>
              </a:rPr>
              <a:t>acquisition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95545" y="1605747"/>
            <a:ext cx="10821972" cy="394659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algn="just"/>
            <a:r>
              <a:rPr lang="en-US" sz="2800" dirty="0">
                <a:latin typeface="Georgia" panose="02040502050405020303" pitchFamily="18" charset="0"/>
              </a:rPr>
              <a:t>The </a:t>
            </a:r>
            <a:r>
              <a:rPr lang="en-US" sz="2800" b="1" dirty="0" smtClean="0">
                <a:latin typeface="Georgia" panose="02040502050405020303" pitchFamily="18" charset="0"/>
              </a:rPr>
              <a:t>stages </a:t>
            </a:r>
            <a:r>
              <a:rPr lang="en-US" sz="2800" b="1" dirty="0">
                <a:latin typeface="Georgia" panose="02040502050405020303" pitchFamily="18" charset="0"/>
              </a:rPr>
              <a:t>of human language development</a:t>
            </a:r>
            <a:r>
              <a:rPr lang="en-US" sz="2800" dirty="0">
                <a:latin typeface="Georgia" panose="02040502050405020303" pitchFamily="18" charset="0"/>
              </a:rPr>
              <a:t>, which are: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Georgia" panose="02040502050405020303" pitchFamily="18" charset="0"/>
              </a:rPr>
              <a:t>Cooing stage</a:t>
            </a:r>
            <a:r>
              <a:rPr lang="en-US" sz="2800" dirty="0">
                <a:latin typeface="Georgia" panose="02040502050405020303" pitchFamily="18" charset="0"/>
              </a:rPr>
              <a:t> – Infants begin to </a:t>
            </a:r>
            <a:r>
              <a:rPr lang="en-US" sz="2800" b="1" dirty="0">
                <a:latin typeface="Georgia" panose="02040502050405020303" pitchFamily="18" charset="0"/>
              </a:rPr>
              <a:t>utter a wide range of sounds</a:t>
            </a:r>
            <a:r>
              <a:rPr lang="en-US" sz="2800" dirty="0">
                <a:latin typeface="Georgia" panose="02040502050405020303" pitchFamily="18" charset="0"/>
              </a:rPr>
              <a:t> (around 2–3 months).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Georgia" panose="02040502050405020303" pitchFamily="18" charset="0"/>
              </a:rPr>
              <a:t>Babbling stage</a:t>
            </a:r>
            <a:r>
              <a:rPr lang="en-US" sz="2800" dirty="0">
                <a:latin typeface="Georgia" panose="02040502050405020303" pitchFamily="18" charset="0"/>
              </a:rPr>
              <a:t> – They start to </a:t>
            </a:r>
            <a:r>
              <a:rPr lang="en-US" sz="2800" b="1" dirty="0">
                <a:latin typeface="Georgia" panose="02040502050405020303" pitchFamily="18" charset="0"/>
              </a:rPr>
              <a:t>produce a smaller, more structured set of phonemic sounds</a:t>
            </a:r>
            <a:r>
              <a:rPr lang="en-US" sz="2800" dirty="0">
                <a:latin typeface="Georgia" panose="02040502050405020303" pitchFamily="18" charset="0"/>
              </a:rPr>
              <a:t> (around 6–8 months).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Georgia" panose="02040502050405020303" pitchFamily="18" charset="0"/>
              </a:rPr>
              <a:t>One-word stage</a:t>
            </a:r>
            <a:r>
              <a:rPr lang="en-US" sz="2800" dirty="0">
                <a:latin typeface="Georgia" panose="02040502050405020303" pitchFamily="18" charset="0"/>
              </a:rPr>
              <a:t> – Children begin to </a:t>
            </a:r>
            <a:r>
              <a:rPr lang="en-US" sz="2800" b="1" dirty="0">
                <a:latin typeface="Georgia" panose="02040502050405020303" pitchFamily="18" charset="0"/>
              </a:rPr>
              <a:t>use single words or morphemes</a:t>
            </a:r>
            <a:r>
              <a:rPr lang="en-US" sz="2800" dirty="0">
                <a:latin typeface="Georgia" panose="02040502050405020303" pitchFamily="18" charset="0"/>
              </a:rPr>
              <a:t> to express whole ideas (around 12 months).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>
                <a:latin typeface="Georgia" panose="02040502050405020303" pitchFamily="18" charset="0"/>
              </a:rPr>
              <a:t>Two-word stage</a:t>
            </a:r>
            <a:r>
              <a:rPr lang="en-US" sz="2800" dirty="0">
                <a:latin typeface="Georgia" panose="02040502050405020303" pitchFamily="18" charset="0"/>
              </a:rPr>
              <a:t> – They start forming </a:t>
            </a:r>
            <a:r>
              <a:rPr lang="en-US" sz="2800" b="1" dirty="0">
                <a:latin typeface="Georgia" panose="02040502050405020303" pitchFamily="18" charset="0"/>
              </a:rPr>
              <a:t>two-word combinations</a:t>
            </a:r>
            <a:r>
              <a:rPr lang="en-US" sz="2800" dirty="0">
                <a:latin typeface="Georgia" panose="02040502050405020303" pitchFamily="18" charset="0"/>
              </a:rPr>
              <a:t> or mini-sentences (around 18–24 months).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 smtClean="0">
                <a:latin typeface="Georgia" panose="02040502050405020303" pitchFamily="18" charset="0"/>
              </a:rPr>
              <a:t>Language</a:t>
            </a:r>
            <a:r>
              <a:rPr lang="en-IN" dirty="0" smtClean="0">
                <a:latin typeface="Georgia" panose="02040502050405020303" pitchFamily="18" charset="0"/>
              </a:rPr>
              <a:t> </a:t>
            </a:r>
            <a:r>
              <a:rPr lang="en-IN" spc="-10" dirty="0" smtClean="0">
                <a:latin typeface="Georgia" panose="02040502050405020303" pitchFamily="18" charset="0"/>
              </a:rPr>
              <a:t>deprivation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Georgia" panose="02040502050405020303" pitchFamily="18" charset="0"/>
              </a:rPr>
              <a:t>The </a:t>
            </a:r>
            <a:r>
              <a:rPr lang="en-US" sz="2400" b="1" dirty="0">
                <a:latin typeface="Georgia" panose="02040502050405020303" pitchFamily="18" charset="0"/>
              </a:rPr>
              <a:t>role of experience in language development</a:t>
            </a:r>
            <a:r>
              <a:rPr lang="en-US" sz="2400" dirty="0">
                <a:latin typeface="Georgia" panose="02040502050405020303" pitchFamily="18" charset="0"/>
              </a:rPr>
              <a:t> and introduces the idea of a </a:t>
            </a:r>
            <a:r>
              <a:rPr lang="en-US" sz="2400" b="1" dirty="0">
                <a:latin typeface="Georgia" panose="02040502050405020303" pitchFamily="18" charset="0"/>
              </a:rPr>
              <a:t>critical period</a:t>
            </a:r>
            <a:r>
              <a:rPr lang="en-US" sz="2400" dirty="0">
                <a:latin typeface="Georgia" panose="02040502050405020303" pitchFamily="18" charset="0"/>
              </a:rPr>
              <a:t>: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Humans (and some other animals) have a </a:t>
            </a:r>
            <a:r>
              <a:rPr lang="en-US" sz="2400" b="1" dirty="0">
                <a:latin typeface="Georgia" panose="02040502050405020303" pitchFamily="18" charset="0"/>
              </a:rPr>
              <a:t>critical period</a:t>
            </a:r>
            <a:r>
              <a:rPr lang="en-US" sz="2400" dirty="0">
                <a:latin typeface="Georgia" panose="02040502050405020303" pitchFamily="18" charset="0"/>
              </a:rPr>
              <a:t> — a specific window in development when language (or other cognitive skills) must be acquired.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If a person </a:t>
            </a:r>
            <a:r>
              <a:rPr lang="en-US" sz="2400" b="1" dirty="0">
                <a:latin typeface="Georgia" panose="02040502050405020303" pitchFamily="18" charset="0"/>
              </a:rPr>
              <a:t>does not receive linguistic experience</a:t>
            </a:r>
            <a:r>
              <a:rPr lang="en-US" sz="2400" dirty="0">
                <a:latin typeface="Georgia" panose="02040502050405020303" pitchFamily="18" charset="0"/>
              </a:rPr>
              <a:t> during this critical period, their </a:t>
            </a:r>
            <a:r>
              <a:rPr lang="en-US" sz="2400" b="1" dirty="0">
                <a:latin typeface="Georgia" panose="02040502050405020303" pitchFamily="18" charset="0"/>
              </a:rPr>
              <a:t>language ability becomes permanently impaired</a:t>
            </a:r>
            <a:r>
              <a:rPr lang="en-US" sz="2400" dirty="0">
                <a:latin typeface="Georgia" panose="02040502050405020303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Georgia" panose="02040502050405020303" pitchFamily="18" charset="0"/>
              </a:rPr>
              <a:t>Case studies</a:t>
            </a:r>
            <a:r>
              <a:rPr lang="en-US" sz="2400" dirty="0">
                <a:latin typeface="Georgia" panose="02040502050405020303" pitchFamily="18" charset="0"/>
              </a:rPr>
              <a:t> supporting this </a:t>
            </a:r>
            <a:r>
              <a:rPr lang="en-US" sz="2400" dirty="0" smtClean="0">
                <a:latin typeface="Georgia" panose="02040502050405020303" pitchFamily="18" charset="0"/>
              </a:rPr>
              <a:t>include:</a:t>
            </a:r>
          </a:p>
          <a:p>
            <a:pPr lvl="1" algn="just"/>
            <a:r>
              <a:rPr lang="en-US" altLang="en-US" b="1" dirty="0" smtClean="0">
                <a:latin typeface="Georgia" panose="02040502050405020303" pitchFamily="18" charset="0"/>
              </a:rPr>
              <a:t>Victor</a:t>
            </a:r>
            <a:r>
              <a:rPr lang="en-US" altLang="en-US" dirty="0">
                <a:latin typeface="Georgia" panose="02040502050405020303" pitchFamily="18" charset="0"/>
              </a:rPr>
              <a:t>, known as the “wild child,” was discovered in </a:t>
            </a:r>
            <a:r>
              <a:rPr lang="en-US" altLang="en-US" b="1" dirty="0">
                <a:latin typeface="Georgia" panose="02040502050405020303" pitchFamily="18" charset="0"/>
              </a:rPr>
              <a:t>France in the 18th century</a:t>
            </a:r>
            <a:r>
              <a:rPr lang="en-US" altLang="en-US" dirty="0">
                <a:latin typeface="Georgia" panose="02040502050405020303" pitchFamily="18" charset="0"/>
              </a:rPr>
              <a:t> after growing up with little or no human </a:t>
            </a:r>
            <a:r>
              <a:rPr lang="en-US" altLang="en-US" dirty="0" smtClean="0">
                <a:latin typeface="Georgia" panose="02040502050405020303" pitchFamily="18" charset="0"/>
              </a:rPr>
              <a:t>contact.</a:t>
            </a:r>
          </a:p>
          <a:p>
            <a:pPr lvl="1" algn="just"/>
            <a:r>
              <a:rPr lang="en-US" altLang="en-US" b="1" dirty="0" smtClean="0">
                <a:latin typeface="Georgia" panose="02040502050405020303" pitchFamily="18" charset="0"/>
              </a:rPr>
              <a:t>Genie</a:t>
            </a:r>
            <a:r>
              <a:rPr lang="en-US" altLang="en-US" dirty="0">
                <a:latin typeface="Georgia" panose="02040502050405020303" pitchFamily="18" charset="0"/>
              </a:rPr>
              <a:t>, discovered in the </a:t>
            </a:r>
            <a:r>
              <a:rPr lang="en-US" altLang="en-US" b="1" dirty="0">
                <a:latin typeface="Georgia" panose="02040502050405020303" pitchFamily="18" charset="0"/>
              </a:rPr>
              <a:t>1970s</a:t>
            </a:r>
            <a:r>
              <a:rPr lang="en-US" altLang="en-US" dirty="0">
                <a:latin typeface="Georgia" panose="02040502050405020303" pitchFamily="18" charset="0"/>
              </a:rPr>
              <a:t>, had been </a:t>
            </a:r>
            <a:r>
              <a:rPr lang="en-US" altLang="en-US" b="1" dirty="0">
                <a:latin typeface="Georgia" panose="02040502050405020303" pitchFamily="18" charset="0"/>
              </a:rPr>
              <a:t>isolated from language during childhood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1932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The</a:t>
            </a:r>
            <a:r>
              <a:rPr lang="en-IN" spc="-10" dirty="0">
                <a:latin typeface="Georgia" panose="02040502050405020303" pitchFamily="18" charset="0"/>
              </a:rPr>
              <a:t> </a:t>
            </a:r>
            <a:r>
              <a:rPr lang="en-IN" dirty="0">
                <a:latin typeface="Georgia" panose="02040502050405020303" pitchFamily="18" charset="0"/>
              </a:rPr>
              <a:t>linguistic</a:t>
            </a:r>
            <a:r>
              <a:rPr lang="en-IN" spc="-25" dirty="0">
                <a:latin typeface="Georgia" panose="02040502050405020303" pitchFamily="18" charset="0"/>
              </a:rPr>
              <a:t> </a:t>
            </a:r>
            <a:r>
              <a:rPr lang="en-IN" dirty="0">
                <a:latin typeface="Georgia" panose="02040502050405020303" pitchFamily="18" charset="0"/>
              </a:rPr>
              <a:t>relativity</a:t>
            </a:r>
            <a:r>
              <a:rPr lang="en-IN" spc="-20" dirty="0">
                <a:latin typeface="Georgia" panose="02040502050405020303" pitchFamily="18" charset="0"/>
              </a:rPr>
              <a:t> </a:t>
            </a:r>
            <a:r>
              <a:rPr lang="en-IN" spc="-10" dirty="0">
                <a:latin typeface="Georgia" panose="02040502050405020303" pitchFamily="18" charset="0"/>
              </a:rPr>
              <a:t>hypothesis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75353"/>
            <a:ext cx="107425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Georgia" panose="02040502050405020303" pitchFamily="18" charset="0"/>
              </a:rPr>
              <a:t>The Sapir–Whorf Hypothesis is a theory about the relationship between </a:t>
            </a:r>
            <a:r>
              <a:rPr lang="en-US" sz="2400" b="1" dirty="0">
                <a:latin typeface="Georgia" panose="02040502050405020303" pitchFamily="18" charset="0"/>
              </a:rPr>
              <a:t>language</a:t>
            </a:r>
            <a:r>
              <a:rPr lang="en-US" sz="2400" dirty="0">
                <a:latin typeface="Georgia" panose="02040502050405020303" pitchFamily="18" charset="0"/>
              </a:rPr>
              <a:t> and </a:t>
            </a:r>
            <a:r>
              <a:rPr lang="en-US" sz="2400" b="1" dirty="0" smtClean="0">
                <a:latin typeface="Georgia" panose="02040502050405020303" pitchFamily="18" charset="0"/>
              </a:rPr>
              <a:t>thought</a:t>
            </a:r>
            <a:r>
              <a:rPr lang="en-US" sz="2400" dirty="0" smtClean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Georgia" panose="02040502050405020303" pitchFamily="18" charset="0"/>
              </a:rPr>
              <a:t>It </a:t>
            </a:r>
            <a:r>
              <a:rPr lang="en-US" sz="2400" dirty="0">
                <a:latin typeface="Georgia" panose="02040502050405020303" pitchFamily="18" charset="0"/>
              </a:rPr>
              <a:t>was developed primarily by </a:t>
            </a:r>
            <a:r>
              <a:rPr lang="en-US" sz="2400" b="1" dirty="0">
                <a:latin typeface="Georgia" panose="02040502050405020303" pitchFamily="18" charset="0"/>
              </a:rPr>
              <a:t>Edward Sapir</a:t>
            </a:r>
            <a:r>
              <a:rPr lang="en-US" sz="2400" dirty="0">
                <a:latin typeface="Georgia" panose="02040502050405020303" pitchFamily="18" charset="0"/>
              </a:rPr>
              <a:t> (1929) and </a:t>
            </a:r>
            <a:r>
              <a:rPr lang="en-US" sz="2400" b="1" dirty="0">
                <a:latin typeface="Georgia" panose="02040502050405020303" pitchFamily="18" charset="0"/>
              </a:rPr>
              <a:t>Benjamin Lee Whorf</a:t>
            </a:r>
            <a:r>
              <a:rPr lang="en-US" sz="2400" dirty="0">
                <a:latin typeface="Georgia" panose="02040502050405020303" pitchFamily="18" charset="0"/>
              </a:rPr>
              <a:t> (1940s</a:t>
            </a:r>
            <a:r>
              <a:rPr lang="en-US" sz="2400" dirty="0" smtClean="0">
                <a:latin typeface="Georgia" panose="02040502050405020303" pitchFamily="18" charset="0"/>
              </a:rPr>
              <a:t>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 smtClean="0">
                <a:latin typeface="Georgia" panose="02040502050405020303" pitchFamily="18" charset="0"/>
              </a:rPr>
              <a:t>The </a:t>
            </a:r>
            <a:r>
              <a:rPr lang="en-US" sz="2400" dirty="0">
                <a:latin typeface="Georgia" panose="02040502050405020303" pitchFamily="18" charset="0"/>
              </a:rPr>
              <a:t>central question is</a:t>
            </a:r>
            <a:r>
              <a:rPr lang="en-US" sz="2400" dirty="0" smtClean="0">
                <a:latin typeface="Georgia" panose="02040502050405020303" pitchFamily="18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 smtClean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 smtClean="0">
                <a:latin typeface="Georgia" panose="02040502050405020303" pitchFamily="18" charset="0"/>
              </a:rPr>
              <a:t>Does </a:t>
            </a:r>
            <a:r>
              <a:rPr lang="en-US" sz="2400" dirty="0">
                <a:latin typeface="Georgia" panose="02040502050405020303" pitchFamily="18" charset="0"/>
              </a:rPr>
              <a:t>the language we speak shape the way we think, perceive, and understand the world?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87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277" y="-87159"/>
            <a:ext cx="10515600" cy="1325563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 Two Versions of the Hypothesis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277" y="1160206"/>
            <a:ext cx="11484078" cy="5152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Georgia" panose="02040502050405020303" pitchFamily="18" charset="0"/>
              </a:rPr>
              <a:t>A. Strong Version – Linguistic Determinism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Definition:</a:t>
            </a:r>
            <a:r>
              <a:rPr lang="en-US" sz="1800" dirty="0">
                <a:latin typeface="Georgia" panose="02040502050405020303" pitchFamily="18" charset="0"/>
              </a:rPr>
              <a:t/>
            </a:r>
            <a:br>
              <a:rPr lang="en-US" sz="1800" dirty="0">
                <a:latin typeface="Georgia" panose="02040502050405020303" pitchFamily="18" charset="0"/>
              </a:rPr>
            </a:br>
            <a:r>
              <a:rPr lang="en-US" sz="1800" dirty="0">
                <a:latin typeface="Georgia" panose="02040502050405020303" pitchFamily="18" charset="0"/>
              </a:rPr>
              <a:t>Language </a:t>
            </a:r>
            <a:r>
              <a:rPr lang="en-US" sz="1800" i="1" dirty="0">
                <a:latin typeface="Georgia" panose="02040502050405020303" pitchFamily="18" charset="0"/>
              </a:rPr>
              <a:t>determines</a:t>
            </a:r>
            <a:r>
              <a:rPr lang="en-US" sz="1800" dirty="0">
                <a:latin typeface="Georgia" panose="02040502050405020303" pitchFamily="18" charset="0"/>
              </a:rPr>
              <a:t> thought. In this view, the structure and vocabulary of your language fully shape and limit what you can think about.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Implications:</a:t>
            </a:r>
            <a:endParaRPr lang="en-US" sz="1800" dirty="0">
              <a:latin typeface="Georgia" panose="02040502050405020303" pitchFamily="18" charset="0"/>
            </a:endParaRP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If something cannot be expressed in your language, you cannot even </a:t>
            </a:r>
            <a:r>
              <a:rPr lang="en-US" sz="1800" i="1" dirty="0">
                <a:latin typeface="Georgia" panose="02040502050405020303" pitchFamily="18" charset="0"/>
              </a:rPr>
              <a:t>conceive</a:t>
            </a:r>
            <a:r>
              <a:rPr lang="en-US" sz="1800" dirty="0">
                <a:latin typeface="Georgia" panose="02040502050405020303" pitchFamily="18" charset="0"/>
              </a:rPr>
              <a:t> of it.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Each language represents a unique worldview; thus, speakers of different languages live in “different cognitive worlds.”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Example:</a:t>
            </a:r>
            <a:endParaRPr lang="en-US" sz="1800" dirty="0">
              <a:latin typeface="Georgia" panose="02040502050405020303" pitchFamily="18" charset="0"/>
            </a:endParaRP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If a language has no word for “time,” its speakers might not be able to understand or conceptualize time as we do.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Another example is the idea that speakers of a language without future tense might think about the future differently</a:t>
            </a:r>
            <a:r>
              <a:rPr lang="en-US" sz="1800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sz="1800" b="1" dirty="0">
                <a:latin typeface="Georgia" panose="02040502050405020303" pitchFamily="18" charset="0"/>
              </a:rPr>
              <a:t>Criticism:</a:t>
            </a:r>
            <a:endParaRPr lang="en-US" sz="1800" dirty="0">
              <a:latin typeface="Georgia" panose="02040502050405020303" pitchFamily="18" charset="0"/>
            </a:endParaRP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This version is generally considered </a:t>
            </a:r>
            <a:r>
              <a:rPr lang="en-US" sz="1800" b="1" dirty="0">
                <a:latin typeface="Georgia" panose="02040502050405020303" pitchFamily="18" charset="0"/>
              </a:rPr>
              <a:t>too extreme</a:t>
            </a:r>
            <a:r>
              <a:rPr lang="en-US" sz="1800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Evidence shows humans can think about things even if they don’t have specific words for them (e.g., new inventions or abstract emotions).</a:t>
            </a:r>
          </a:p>
          <a:p>
            <a:pPr lvl="1"/>
            <a:endParaRPr lang="en-US" sz="1800" dirty="0" smtClean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10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5137"/>
            <a:ext cx="10734368" cy="6078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Georgia" panose="02040502050405020303" pitchFamily="18" charset="0"/>
              </a:rPr>
              <a:t>B. Weak Version – Linguistic </a:t>
            </a:r>
            <a:r>
              <a:rPr lang="en-US" sz="2000" b="1" dirty="0" smtClean="0">
                <a:latin typeface="Georgia" panose="02040502050405020303" pitchFamily="18" charset="0"/>
              </a:rPr>
              <a:t>Relativity</a:t>
            </a:r>
          </a:p>
          <a:p>
            <a:r>
              <a:rPr lang="en-US" sz="2000" b="1" dirty="0" smtClean="0">
                <a:latin typeface="Georgia" panose="02040502050405020303" pitchFamily="18" charset="0"/>
              </a:rPr>
              <a:t>Definition</a:t>
            </a:r>
            <a:r>
              <a:rPr lang="en-US" sz="2000" b="1" dirty="0">
                <a:latin typeface="Georgia" panose="02040502050405020303" pitchFamily="18" charset="0"/>
              </a:rPr>
              <a:t>:</a:t>
            </a:r>
            <a:r>
              <a:rPr lang="en-US" sz="2000" dirty="0">
                <a:latin typeface="Georgia" panose="02040502050405020303" pitchFamily="18" charset="0"/>
              </a:rPr>
              <a:t/>
            </a:r>
            <a:br>
              <a:rPr lang="en-US" sz="2000" dirty="0">
                <a:latin typeface="Georgia" panose="02040502050405020303" pitchFamily="18" charset="0"/>
              </a:rPr>
            </a:br>
            <a:r>
              <a:rPr lang="en-US" sz="2000" dirty="0">
                <a:latin typeface="Georgia" panose="02040502050405020303" pitchFamily="18" charset="0"/>
              </a:rPr>
              <a:t>Language </a:t>
            </a:r>
            <a:r>
              <a:rPr lang="en-US" sz="2000" i="1" dirty="0">
                <a:latin typeface="Georgia" panose="02040502050405020303" pitchFamily="18" charset="0"/>
              </a:rPr>
              <a:t>influences</a:t>
            </a:r>
            <a:r>
              <a:rPr lang="en-US" sz="2000" dirty="0">
                <a:latin typeface="Georgia" panose="02040502050405020303" pitchFamily="18" charset="0"/>
              </a:rPr>
              <a:t> thought and perception, but does not completely determine them.</a:t>
            </a:r>
          </a:p>
          <a:p>
            <a:pPr algn="just"/>
            <a:r>
              <a:rPr lang="en-US" sz="2000" b="1" dirty="0">
                <a:latin typeface="Georgia" panose="02040502050405020303" pitchFamily="18" charset="0"/>
              </a:rPr>
              <a:t>Implications:</a:t>
            </a:r>
            <a:endParaRPr lang="en-US" sz="2000" dirty="0">
              <a:latin typeface="Georgia" panose="02040502050405020303" pitchFamily="18" charset="0"/>
            </a:endParaRPr>
          </a:p>
          <a:p>
            <a:pPr lvl="1" algn="just"/>
            <a:r>
              <a:rPr lang="en-US" sz="2000" dirty="0">
                <a:latin typeface="Georgia" panose="02040502050405020303" pitchFamily="18" charset="0"/>
              </a:rPr>
              <a:t>The language you speak may affect how you notice, remember, or categorize things.</a:t>
            </a:r>
          </a:p>
          <a:p>
            <a:pPr lvl="1" algn="just"/>
            <a:r>
              <a:rPr lang="en-US" sz="2000" dirty="0">
                <a:latin typeface="Georgia" panose="02040502050405020303" pitchFamily="18" charset="0"/>
              </a:rPr>
              <a:t>You can still think about concepts not represented in your language, though it might be less intuitive or take more effort.</a:t>
            </a:r>
          </a:p>
          <a:p>
            <a:pPr algn="just"/>
            <a:r>
              <a:rPr lang="en-US" sz="2000" b="1" dirty="0">
                <a:latin typeface="Georgia" panose="02040502050405020303" pitchFamily="18" charset="0"/>
              </a:rPr>
              <a:t>Examples of Linguistic Relativity in Research:</a:t>
            </a:r>
            <a:endParaRPr lang="en-US" sz="2000" dirty="0">
              <a:latin typeface="Georgia" panose="02040502050405020303" pitchFamily="18" charset="0"/>
            </a:endParaRPr>
          </a:p>
          <a:p>
            <a:pPr lvl="1" algn="just"/>
            <a:r>
              <a:rPr lang="en-US" sz="2000" b="1" dirty="0">
                <a:latin typeface="Georgia" panose="02040502050405020303" pitchFamily="18" charset="0"/>
              </a:rPr>
              <a:t>Color perception:</a:t>
            </a:r>
            <a:endParaRPr lang="en-US" sz="2000" dirty="0">
              <a:latin typeface="Georgia" panose="02040502050405020303" pitchFamily="18" charset="0"/>
            </a:endParaRPr>
          </a:p>
          <a:p>
            <a:pPr lvl="2" algn="just"/>
            <a:r>
              <a:rPr lang="en-US" dirty="0">
                <a:latin typeface="Georgia" panose="02040502050405020303" pitchFamily="18" charset="0"/>
              </a:rPr>
              <a:t>Russian speakers distinguish between light blue (</a:t>
            </a:r>
            <a:r>
              <a:rPr lang="en-US" i="1" dirty="0" err="1">
                <a:latin typeface="Georgia" panose="02040502050405020303" pitchFamily="18" charset="0"/>
              </a:rPr>
              <a:t>goluboy</a:t>
            </a:r>
            <a:r>
              <a:rPr lang="en-US" dirty="0">
                <a:latin typeface="Georgia" panose="02040502050405020303" pitchFamily="18" charset="0"/>
              </a:rPr>
              <a:t>) and dark blue (</a:t>
            </a:r>
            <a:r>
              <a:rPr lang="en-US" i="1" dirty="0" err="1">
                <a:latin typeface="Georgia" panose="02040502050405020303" pitchFamily="18" charset="0"/>
              </a:rPr>
              <a:t>siniy</a:t>
            </a:r>
            <a:r>
              <a:rPr lang="en-US" dirty="0">
                <a:latin typeface="Georgia" panose="02040502050405020303" pitchFamily="18" charset="0"/>
              </a:rPr>
              <a:t>) as separate categories, and they are faster than English speakers at telling them apart.</a:t>
            </a:r>
          </a:p>
          <a:p>
            <a:pPr lvl="1" algn="just"/>
            <a:r>
              <a:rPr lang="en-US" sz="2000" b="1" dirty="0">
                <a:latin typeface="Georgia" panose="02040502050405020303" pitchFamily="18" charset="0"/>
              </a:rPr>
              <a:t>Spatial orientation:</a:t>
            </a:r>
            <a:endParaRPr lang="en-US" sz="2000" dirty="0">
              <a:latin typeface="Georgia" panose="02040502050405020303" pitchFamily="18" charset="0"/>
            </a:endParaRPr>
          </a:p>
          <a:p>
            <a:pPr lvl="2" algn="just"/>
            <a:r>
              <a:rPr lang="en-US" dirty="0">
                <a:latin typeface="Georgia" panose="02040502050405020303" pitchFamily="18" charset="0"/>
              </a:rPr>
              <a:t>Some Aboriginal Australian languages use cardinal directions (north/south/east/west) instead of left/right. Speakers of these languages have exceptional spatial awareness and constantly track direction.</a:t>
            </a:r>
          </a:p>
          <a:p>
            <a:pPr lvl="1" algn="just"/>
            <a:r>
              <a:rPr lang="en-US" sz="2000" b="1" dirty="0">
                <a:latin typeface="Georgia" panose="02040502050405020303" pitchFamily="18" charset="0"/>
              </a:rPr>
              <a:t>Time orientation:</a:t>
            </a:r>
            <a:endParaRPr lang="en-US" sz="2000" dirty="0">
              <a:latin typeface="Georgia" panose="02040502050405020303" pitchFamily="18" charset="0"/>
            </a:endParaRPr>
          </a:p>
          <a:p>
            <a:pPr lvl="2" algn="just"/>
            <a:r>
              <a:rPr lang="en-US" dirty="0">
                <a:latin typeface="Georgia" panose="02040502050405020303" pitchFamily="18" charset="0"/>
              </a:rPr>
              <a:t>In English, time flows from left to right (matching writing direction). In Hebrew, it flows right to left, and in Mandarin, it’s often conceptualized as vertical (up/down). This shows language influences how we visualize abstract concepts like time.</a:t>
            </a:r>
          </a:p>
        </p:txBody>
      </p:sp>
    </p:spTree>
    <p:extLst>
      <p:ext uri="{BB962C8B-B14F-4D97-AF65-F5344CB8AC3E}">
        <p14:creationId xmlns:p14="http://schemas.microsoft.com/office/powerpoint/2010/main" val="1015682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Georgia" panose="02040502050405020303" pitchFamily="18" charset="0"/>
              </a:rPr>
              <a:t>Most linguists and cognitive scientists today support the </a:t>
            </a:r>
            <a:r>
              <a:rPr lang="en-US" altLang="en-US" b="1" dirty="0">
                <a:latin typeface="Georgia" panose="02040502050405020303" pitchFamily="18" charset="0"/>
              </a:rPr>
              <a:t>weak version</a:t>
            </a:r>
            <a:r>
              <a:rPr lang="en-US" altLang="en-US" dirty="0">
                <a:latin typeface="Georgia" panose="02040502050405020303" pitchFamily="18" charset="0"/>
              </a:rPr>
              <a:t>—</a:t>
            </a:r>
            <a:r>
              <a:rPr lang="en-US" altLang="en-US" b="1" dirty="0">
                <a:latin typeface="Georgia" panose="02040502050405020303" pitchFamily="18" charset="0"/>
              </a:rPr>
              <a:t>linguistic relativity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Language shapes thought</a:t>
            </a:r>
            <a:r>
              <a:rPr lang="en-US" altLang="en-US" dirty="0">
                <a:latin typeface="Georgia" panose="02040502050405020303" pitchFamily="18" charset="0"/>
              </a:rPr>
              <a:t>, meaning it affects our habits of mind and perception.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But </a:t>
            </a:r>
            <a:r>
              <a:rPr lang="en-US" altLang="en-US" b="1" dirty="0">
                <a:latin typeface="Georgia" panose="02040502050405020303" pitchFamily="18" charset="0"/>
              </a:rPr>
              <a:t>it does not strictly determine</a:t>
            </a:r>
            <a:r>
              <a:rPr lang="en-US" altLang="en-US" dirty="0">
                <a:latin typeface="Georgia" panose="02040502050405020303" pitchFamily="18" charset="0"/>
              </a:rPr>
              <a:t> what we are capable of thinking.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Human thought is flexible and can transcend linguistic boundaries.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Georgia" panose="02040502050405020303" pitchFamily="18" charset="0"/>
              </a:rPr>
              <a:t>In short: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Language and thought are interconnected, but language is not a prison for the mind—it’s more like a lens that colors how we see and interpret the world.</a:t>
            </a:r>
          </a:p>
        </p:txBody>
      </p:sp>
    </p:spTree>
    <p:extLst>
      <p:ext uri="{BB962C8B-B14F-4D97-AF65-F5344CB8AC3E}">
        <p14:creationId xmlns:p14="http://schemas.microsoft.com/office/powerpoint/2010/main" val="35996255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0" dirty="0">
                <a:latin typeface="Georgia" panose="02040502050405020303" pitchFamily="18" charset="0"/>
              </a:rPr>
              <a:t>Grammar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Georgia" panose="02040502050405020303" pitchFamily="18" charset="0"/>
              </a:rPr>
              <a:t>Phrase structure</a:t>
            </a:r>
            <a:r>
              <a:rPr lang="en-US" dirty="0">
                <a:latin typeface="Georgia" panose="02040502050405020303" pitchFamily="18" charset="0"/>
              </a:rPr>
              <a:t> refers to the </a:t>
            </a:r>
            <a:r>
              <a:rPr lang="en-US" b="1" dirty="0">
                <a:latin typeface="Georgia" panose="02040502050405020303" pitchFamily="18" charset="0"/>
              </a:rPr>
              <a:t>hierarchical organization</a:t>
            </a:r>
            <a:r>
              <a:rPr lang="en-US" dirty="0">
                <a:latin typeface="Georgia" panose="02040502050405020303" pitchFamily="18" charset="0"/>
              </a:rPr>
              <a:t> of the components (or “constituents”) of a sentence.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In other words, it shows how words group together into </a:t>
            </a:r>
            <a:r>
              <a:rPr lang="en-US" b="1" dirty="0">
                <a:latin typeface="Georgia" panose="02040502050405020303" pitchFamily="18" charset="0"/>
              </a:rPr>
              <a:t>phrases</a:t>
            </a:r>
            <a:r>
              <a:rPr lang="en-US" dirty="0">
                <a:latin typeface="Georgia" panose="02040502050405020303" pitchFamily="18" charset="0"/>
              </a:rPr>
              <a:t>, and how these phrases combine to form </a:t>
            </a:r>
            <a:r>
              <a:rPr lang="en-US" b="1" dirty="0">
                <a:latin typeface="Georgia" panose="02040502050405020303" pitchFamily="18" charset="0"/>
              </a:rPr>
              <a:t>larger units</a:t>
            </a:r>
            <a:r>
              <a:rPr lang="en-US" dirty="0">
                <a:latin typeface="Georgia" panose="02040502050405020303" pitchFamily="18" charset="0"/>
              </a:rPr>
              <a:t> — eventually building up to a complete </a:t>
            </a:r>
            <a:r>
              <a:rPr lang="en-US" b="1" dirty="0">
                <a:latin typeface="Georgia" panose="02040502050405020303" pitchFamily="18" charset="0"/>
              </a:rPr>
              <a:t>sentence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So, phrase structure is about </a:t>
            </a:r>
            <a:r>
              <a:rPr lang="en-US" b="1" dirty="0">
                <a:latin typeface="Georgia" panose="02040502050405020303" pitchFamily="18" charset="0"/>
              </a:rPr>
              <a:t>how sentences are built</a:t>
            </a:r>
            <a:r>
              <a:rPr lang="en-US" dirty="0">
                <a:latin typeface="Georgia" panose="02040502050405020303" pitchFamily="18" charset="0"/>
              </a:rPr>
              <a:t> — not just the order of words, but the relationships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306203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Importance </a:t>
            </a:r>
            <a:r>
              <a:rPr lang="en-IN" dirty="0">
                <a:latin typeface="Georgia" panose="02040502050405020303" pitchFamily="18" charset="0"/>
              </a:rPr>
              <a:t>of Phrase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Clarifies meaning:</a:t>
            </a:r>
            <a:r>
              <a:rPr lang="en-US" altLang="en-US" dirty="0">
                <a:latin typeface="Georgia" panose="02040502050405020303" pitchFamily="18" charset="0"/>
              </a:rPr>
              <a:t/>
            </a:r>
            <a:br>
              <a:rPr lang="en-US" altLang="en-US" dirty="0">
                <a:latin typeface="Georgia" panose="02040502050405020303" pitchFamily="18" charset="0"/>
              </a:rPr>
            </a:br>
            <a:r>
              <a:rPr lang="en-US" altLang="en-US" dirty="0">
                <a:latin typeface="Georgia" panose="02040502050405020303" pitchFamily="18" charset="0"/>
              </a:rPr>
              <a:t>Hierarchical structure helps explain why some sentences can have </a:t>
            </a:r>
            <a:r>
              <a:rPr lang="en-US" altLang="en-US" b="1" dirty="0">
                <a:latin typeface="Georgia" panose="02040502050405020303" pitchFamily="18" charset="0"/>
              </a:rPr>
              <a:t>multiple </a:t>
            </a:r>
            <a:r>
              <a:rPr lang="en-US" altLang="en-US" b="1" dirty="0" smtClean="0">
                <a:latin typeface="Georgia" panose="02040502050405020303" pitchFamily="18" charset="0"/>
              </a:rPr>
              <a:t>interpretations</a:t>
            </a:r>
            <a:r>
              <a:rPr lang="en-US" altLang="en-US" dirty="0" smtClean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latin typeface="Georgia" panose="02040502050405020303" pitchFamily="18" charset="0"/>
              </a:rPr>
              <a:t>Example</a:t>
            </a:r>
            <a:r>
              <a:rPr lang="en-US" altLang="en-US" b="1" dirty="0">
                <a:latin typeface="Georgia" panose="02040502050405020303" pitchFamily="18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I saw the man with the telescope.</a:t>
            </a:r>
            <a:r>
              <a:rPr lang="en-US" altLang="en-US" dirty="0">
                <a:latin typeface="Georgia" panose="02040502050405020303" pitchFamily="18" charset="0"/>
              </a:rPr>
              <a:t/>
            </a:r>
            <a:br>
              <a:rPr lang="en-US" altLang="en-US" dirty="0">
                <a:latin typeface="Georgia" panose="02040502050405020303" pitchFamily="18" charset="0"/>
              </a:rPr>
            </a:br>
            <a:r>
              <a:rPr lang="en-US" altLang="en-US" dirty="0">
                <a:latin typeface="Georgia" panose="02040502050405020303" pitchFamily="18" charset="0"/>
              </a:rPr>
              <a:t>Does this mean </a:t>
            </a:r>
            <a:r>
              <a:rPr lang="en-US" altLang="en-US" i="1" dirty="0">
                <a:latin typeface="Georgia" panose="02040502050405020303" pitchFamily="18" charset="0"/>
              </a:rPr>
              <a:t>I used the telescope</a:t>
            </a:r>
            <a:r>
              <a:rPr lang="en-US" altLang="en-US" dirty="0">
                <a:latin typeface="Georgia" panose="02040502050405020303" pitchFamily="18" charset="0"/>
              </a:rPr>
              <a:t> or </a:t>
            </a:r>
            <a:r>
              <a:rPr lang="en-US" altLang="en-US" i="1" dirty="0">
                <a:latin typeface="Georgia" panose="02040502050405020303" pitchFamily="18" charset="0"/>
              </a:rPr>
              <a:t>the man had the telescope</a:t>
            </a:r>
            <a:r>
              <a:rPr lang="en-US" altLang="en-US" dirty="0">
                <a:latin typeface="Georgia" panose="02040502050405020303" pitchFamily="18" charset="0"/>
              </a:rPr>
              <a:t>?</a:t>
            </a:r>
            <a:br>
              <a:rPr lang="en-US" altLang="en-US" dirty="0">
                <a:latin typeface="Georgia" panose="02040502050405020303" pitchFamily="18" charset="0"/>
              </a:rPr>
            </a:br>
            <a:r>
              <a:rPr lang="en-US" altLang="en-US" dirty="0">
                <a:latin typeface="Georgia" panose="02040502050405020303" pitchFamily="18" charset="0"/>
              </a:rPr>
              <a:t>Phrase structure distinguishes these possibilities.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Reveals grammatical patterns:</a:t>
            </a:r>
            <a:r>
              <a:rPr lang="en-US" altLang="en-US" dirty="0">
                <a:latin typeface="Georgia" panose="02040502050405020303" pitchFamily="18" charset="0"/>
              </a:rPr>
              <a:t/>
            </a:r>
            <a:br>
              <a:rPr lang="en-US" altLang="en-US" dirty="0">
                <a:latin typeface="Georgia" panose="02040502050405020303" pitchFamily="18" charset="0"/>
              </a:rPr>
            </a:br>
            <a:r>
              <a:rPr lang="en-US" altLang="en-US" dirty="0">
                <a:latin typeface="Georgia" panose="02040502050405020303" pitchFamily="18" charset="0"/>
              </a:rPr>
              <a:t>It shows how rules of syntax (like subject–verb–object order) work in different languages.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Forms the basis for syntactic theories:</a:t>
            </a:r>
            <a:r>
              <a:rPr lang="en-US" altLang="en-US" dirty="0">
                <a:latin typeface="Georgia" panose="02040502050405020303" pitchFamily="18" charset="0"/>
              </a:rPr>
              <a:t/>
            </a:r>
            <a:br>
              <a:rPr lang="en-US" altLang="en-US" dirty="0">
                <a:latin typeface="Georgia" panose="02040502050405020303" pitchFamily="18" charset="0"/>
              </a:rPr>
            </a:br>
            <a:r>
              <a:rPr lang="en-US" altLang="en-US" dirty="0">
                <a:latin typeface="Georgia" panose="02040502050405020303" pitchFamily="18" charset="0"/>
              </a:rPr>
              <a:t>Linguists use </a:t>
            </a:r>
            <a:r>
              <a:rPr lang="en-US" altLang="en-US" b="1" dirty="0">
                <a:latin typeface="Georgia" panose="02040502050405020303" pitchFamily="18" charset="0"/>
              </a:rPr>
              <a:t>phrase structure rules</a:t>
            </a:r>
            <a:r>
              <a:rPr lang="en-US" altLang="en-US" dirty="0">
                <a:latin typeface="Georgia" panose="02040502050405020303" pitchFamily="18" charset="0"/>
              </a:rPr>
              <a:t> (like S → NP + VP) to model how sentences are generated in a language.</a:t>
            </a:r>
          </a:p>
        </p:txBody>
      </p:sp>
    </p:spTree>
    <p:extLst>
      <p:ext uri="{BB962C8B-B14F-4D97-AF65-F5344CB8AC3E}">
        <p14:creationId xmlns:p14="http://schemas.microsoft.com/office/powerpoint/2010/main" val="2788559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Phrase </a:t>
            </a:r>
            <a:r>
              <a:rPr lang="en-US" dirty="0">
                <a:latin typeface="Georgia" panose="02040502050405020303" pitchFamily="18" charset="0"/>
              </a:rPr>
              <a:t>Structure Rules (Basic Example)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These are general syntactic patterns describing how phrases form: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558391"/>
              </p:ext>
            </p:extLst>
          </p:nvPr>
        </p:nvGraphicFramePr>
        <p:xfrm>
          <a:off x="838200" y="2858294"/>
          <a:ext cx="10515600" cy="1463040"/>
        </p:xfrm>
        <a:graphic>
          <a:graphicData uri="http://schemas.openxmlformats.org/drawingml/2006/table">
            <a:tbl>
              <a:tblPr/>
              <a:tblGrid>
                <a:gridCol w="2640291">
                  <a:extLst>
                    <a:ext uri="{9D8B030D-6E8A-4147-A177-3AD203B41FA5}">
                      <a16:colId xmlns:a16="http://schemas.microsoft.com/office/drawing/2014/main" val="1799996808"/>
                    </a:ext>
                  </a:extLst>
                </a:gridCol>
                <a:gridCol w="7875309">
                  <a:extLst>
                    <a:ext uri="{9D8B030D-6E8A-4147-A177-3AD203B41FA5}">
                      <a16:colId xmlns:a16="http://schemas.microsoft.com/office/drawing/2014/main" val="2723782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Georgia" panose="02040502050405020303" pitchFamily="18" charset="0"/>
                        </a:rPr>
                        <a:t>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anose="02040502050405020303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44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 → NP + 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A sentence consists of a noun phrase and a verb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NP → (</a:t>
                      </a:r>
                      <a:r>
                        <a:rPr lang="en-IN" dirty="0" err="1">
                          <a:latin typeface="Georgia" panose="02040502050405020303" pitchFamily="18" charset="0"/>
                        </a:rPr>
                        <a:t>Det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) + (</a:t>
                      </a:r>
                      <a:r>
                        <a:rPr lang="en-IN" dirty="0" err="1">
                          <a:latin typeface="Georgia" panose="02040502050405020303" pitchFamily="18" charset="0"/>
                        </a:rPr>
                        <a:t>Adj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) +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A noun phrase may include a determiner, adjective, and 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93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VP → V + (NP)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A verb phrase consists of a verb and optionally a noun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09259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312780" y="4456271"/>
            <a:ext cx="5161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(Parentheses mean the element is optional.)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5822" y="5103597"/>
            <a:ext cx="96499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Georgia" panose="02040502050405020303" pitchFamily="18" charset="0"/>
              </a:rPr>
              <a:t>Summary: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latin typeface="Georgia" panose="02040502050405020303" pitchFamily="18" charset="0"/>
              </a:rPr>
              <a:t>Phrase </a:t>
            </a:r>
            <a:r>
              <a:rPr lang="en-US" b="1" dirty="0">
                <a:latin typeface="Georgia" panose="02040502050405020303" pitchFamily="18" charset="0"/>
              </a:rPr>
              <a:t>structure</a:t>
            </a:r>
            <a:r>
              <a:rPr lang="en-US" dirty="0">
                <a:latin typeface="Georgia" panose="02040502050405020303" pitchFamily="18" charset="0"/>
              </a:rPr>
              <a:t> shows how sentences are organized hierarchically into smaller and larger grammatical </a:t>
            </a:r>
            <a:r>
              <a:rPr lang="en-US" dirty="0" smtClean="0">
                <a:latin typeface="Georgia" panose="02040502050405020303" pitchFamily="18" charset="0"/>
              </a:rPr>
              <a:t>units.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dirty="0">
                <a:latin typeface="Georgia" panose="02040502050405020303" pitchFamily="18" charset="0"/>
              </a:rPr>
              <a:t>explains the </a:t>
            </a:r>
            <a:r>
              <a:rPr lang="en-US" b="1" dirty="0">
                <a:latin typeface="Georgia" panose="02040502050405020303" pitchFamily="18" charset="0"/>
              </a:rPr>
              <a:t>relationships</a:t>
            </a:r>
            <a:r>
              <a:rPr lang="en-US" dirty="0">
                <a:latin typeface="Georgia" panose="02040502050405020303" pitchFamily="18" charset="0"/>
              </a:rPr>
              <a:t> between words and phrases, how meaning is constructed, and how syntax operates across languages.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26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374" y="390115"/>
            <a:ext cx="10515600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eorgia" panose="02040502050405020303" pitchFamily="18" charset="0"/>
              </a:rPr>
              <a:t>NP (The small dog):</a:t>
            </a:r>
            <a:endParaRPr lang="en-US" altLang="en-US" sz="2400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D = </a:t>
            </a:r>
            <a:r>
              <a:rPr lang="en-US" altLang="en-US" i="1" dirty="0">
                <a:latin typeface="Georgia" panose="02040502050405020303" pitchFamily="18" charset="0"/>
              </a:rPr>
              <a:t>The</a:t>
            </a:r>
            <a:r>
              <a:rPr lang="en-US" altLang="en-US" dirty="0">
                <a:latin typeface="Georgia" panose="02040502050405020303" pitchFamily="18" charset="0"/>
              </a:rPr>
              <a:t>, </a:t>
            </a:r>
            <a:r>
              <a:rPr lang="en-US" altLang="en-US" dirty="0" err="1">
                <a:latin typeface="Georgia" panose="02040502050405020303" pitchFamily="18" charset="0"/>
              </a:rPr>
              <a:t>Adj</a:t>
            </a:r>
            <a:r>
              <a:rPr lang="en-US" altLang="en-US" dirty="0">
                <a:latin typeface="Georgia" panose="02040502050405020303" pitchFamily="18" charset="0"/>
              </a:rPr>
              <a:t> = </a:t>
            </a:r>
            <a:r>
              <a:rPr lang="en-US" altLang="en-US" i="1" dirty="0">
                <a:latin typeface="Georgia" panose="02040502050405020303" pitchFamily="18" charset="0"/>
              </a:rPr>
              <a:t>small</a:t>
            </a:r>
            <a:r>
              <a:rPr lang="en-US" altLang="en-US" dirty="0">
                <a:latin typeface="Georgia" panose="02040502050405020303" pitchFamily="18" charset="0"/>
              </a:rPr>
              <a:t>, N = </a:t>
            </a:r>
            <a:r>
              <a:rPr lang="en-US" altLang="en-US" i="1" dirty="0">
                <a:latin typeface="Georgia" panose="02040502050405020303" pitchFamily="18" charset="0"/>
              </a:rPr>
              <a:t>dog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Functions as the </a:t>
            </a:r>
            <a:r>
              <a:rPr lang="en-US" altLang="en-US" b="1" dirty="0">
                <a:latin typeface="Georgia" panose="02040502050405020303" pitchFamily="18" charset="0"/>
              </a:rPr>
              <a:t>subject</a:t>
            </a:r>
            <a:r>
              <a:rPr lang="en-US" altLang="en-US" dirty="0">
                <a:latin typeface="Georgia" panose="02040502050405020303" pitchFamily="18" charset="0"/>
              </a:rPr>
              <a:t> of the sentence.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eorgia" panose="02040502050405020303" pitchFamily="18" charset="0"/>
              </a:rPr>
              <a:t>VP (quickly slept on the cozy couch):</a:t>
            </a:r>
            <a:endParaRPr lang="en-US" altLang="en-US" sz="2400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Georgia" panose="02040502050405020303" pitchFamily="18" charset="0"/>
              </a:rPr>
              <a:t>V </a:t>
            </a:r>
            <a:r>
              <a:rPr lang="en-US" altLang="en-US" dirty="0">
                <a:latin typeface="Georgia" panose="02040502050405020303" pitchFamily="18" charset="0"/>
              </a:rPr>
              <a:t>= </a:t>
            </a:r>
            <a:r>
              <a:rPr lang="en-US" altLang="en-US" i="1" dirty="0">
                <a:latin typeface="Georgia" panose="02040502050405020303" pitchFamily="18" charset="0"/>
              </a:rPr>
              <a:t>slept</a:t>
            </a:r>
            <a:r>
              <a:rPr lang="en-US" altLang="en-US" dirty="0">
                <a:latin typeface="Georgia" panose="02040502050405020303" pitchFamily="18" charset="0"/>
              </a:rPr>
              <a:t> (main verb)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Georgia" panose="02040502050405020303" pitchFamily="18" charset="0"/>
              </a:rPr>
              <a:t>Adv</a:t>
            </a:r>
            <a:r>
              <a:rPr lang="en-US" altLang="en-US" dirty="0">
                <a:latin typeface="Georgia" panose="02040502050405020303" pitchFamily="18" charset="0"/>
              </a:rPr>
              <a:t> = </a:t>
            </a:r>
            <a:r>
              <a:rPr lang="en-US" altLang="en-US" i="1" dirty="0">
                <a:latin typeface="Georgia" panose="02040502050405020303" pitchFamily="18" charset="0"/>
              </a:rPr>
              <a:t>quickly</a:t>
            </a:r>
            <a:r>
              <a:rPr lang="en-US" altLang="en-US" dirty="0">
                <a:latin typeface="Georgia" panose="02040502050405020303" pitchFamily="18" charset="0"/>
              </a:rPr>
              <a:t> (modifies the verb)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PP = </a:t>
            </a:r>
            <a:r>
              <a:rPr lang="en-US" altLang="en-US" i="1" dirty="0">
                <a:latin typeface="Georgia" panose="02040502050405020303" pitchFamily="18" charset="0"/>
              </a:rPr>
              <a:t>on the cozy couch</a:t>
            </a:r>
            <a:r>
              <a:rPr lang="en-US" altLang="en-US" dirty="0">
                <a:latin typeface="Georgia" panose="02040502050405020303" pitchFamily="18" charset="0"/>
              </a:rPr>
              <a:t> (provides location)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eorgia" panose="02040502050405020303" pitchFamily="18" charset="0"/>
              </a:rPr>
              <a:t>PP (on the cozy couch):</a:t>
            </a:r>
            <a:endParaRPr lang="en-US" altLang="en-US" sz="2400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P = </a:t>
            </a:r>
            <a:r>
              <a:rPr lang="en-US" altLang="en-US" i="1" dirty="0">
                <a:latin typeface="Georgia" panose="02040502050405020303" pitchFamily="18" charset="0"/>
              </a:rPr>
              <a:t>on</a:t>
            </a:r>
            <a:r>
              <a:rPr lang="en-US" altLang="en-US" dirty="0">
                <a:latin typeface="Georgia" panose="02040502050405020303" pitchFamily="18" charset="0"/>
              </a:rPr>
              <a:t>, NP = </a:t>
            </a:r>
            <a:r>
              <a:rPr lang="en-US" altLang="en-US" i="1" dirty="0">
                <a:latin typeface="Georgia" panose="02040502050405020303" pitchFamily="18" charset="0"/>
              </a:rPr>
              <a:t>the cozy couch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NP inside PP: D = </a:t>
            </a:r>
            <a:r>
              <a:rPr lang="en-US" altLang="en-US" i="1" dirty="0">
                <a:latin typeface="Georgia" panose="02040502050405020303" pitchFamily="18" charset="0"/>
              </a:rPr>
              <a:t>the</a:t>
            </a:r>
            <a:r>
              <a:rPr lang="en-US" altLang="en-US" dirty="0">
                <a:latin typeface="Georgia" panose="02040502050405020303" pitchFamily="18" charset="0"/>
              </a:rPr>
              <a:t>, </a:t>
            </a:r>
            <a:r>
              <a:rPr lang="en-US" altLang="en-US" dirty="0" err="1">
                <a:latin typeface="Georgia" panose="02040502050405020303" pitchFamily="18" charset="0"/>
              </a:rPr>
              <a:t>Adj</a:t>
            </a:r>
            <a:r>
              <a:rPr lang="en-US" altLang="en-US" dirty="0">
                <a:latin typeface="Georgia" panose="02040502050405020303" pitchFamily="18" charset="0"/>
              </a:rPr>
              <a:t> = </a:t>
            </a:r>
            <a:r>
              <a:rPr lang="en-US" altLang="en-US" i="1" dirty="0">
                <a:latin typeface="Georgia" panose="02040502050405020303" pitchFamily="18" charset="0"/>
              </a:rPr>
              <a:t>cozy</a:t>
            </a:r>
            <a:r>
              <a:rPr lang="en-US" altLang="en-US" dirty="0">
                <a:latin typeface="Georgia" panose="02040502050405020303" pitchFamily="18" charset="0"/>
              </a:rPr>
              <a:t>, N = </a:t>
            </a:r>
            <a:r>
              <a:rPr lang="en-US" altLang="en-US" i="1" dirty="0">
                <a:latin typeface="Georgia" panose="02040502050405020303" pitchFamily="18" charset="0"/>
              </a:rPr>
              <a:t>couch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Georgia" panose="02040502050405020303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69374" y="4741453"/>
            <a:ext cx="1043907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subject or object, built around a noun (N).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action or predicate, built around a verb (V) and may include adverbs 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) or PPs.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optional phrase adding extra detail (location, time, manner, etc.).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D,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Adj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components of noun phrases;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modifies verbs</a:t>
            </a:r>
          </a:p>
        </p:txBody>
      </p:sp>
    </p:spTree>
    <p:extLst>
      <p:ext uri="{BB962C8B-B14F-4D97-AF65-F5344CB8AC3E}">
        <p14:creationId xmlns:p14="http://schemas.microsoft.com/office/powerpoint/2010/main" val="2771055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Part of Speech (POS)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A </a:t>
            </a:r>
            <a:r>
              <a:rPr lang="en-US" b="1" dirty="0">
                <a:latin typeface="Georgia" panose="02040502050405020303" pitchFamily="18" charset="0"/>
              </a:rPr>
              <a:t>Part of Speech (POS)</a:t>
            </a:r>
            <a:r>
              <a:rPr lang="en-US" dirty="0">
                <a:latin typeface="Georgia" panose="02040502050405020303" pitchFamily="18" charset="0"/>
              </a:rPr>
              <a:t> is a category of words that share similar </a:t>
            </a:r>
            <a:r>
              <a:rPr lang="en-US" b="1" dirty="0">
                <a:latin typeface="Georgia" panose="02040502050405020303" pitchFamily="18" charset="0"/>
              </a:rPr>
              <a:t>grammatical properties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functions</a:t>
            </a:r>
            <a:r>
              <a:rPr lang="en-US" dirty="0">
                <a:latin typeface="Georgia" panose="02040502050405020303" pitchFamily="18" charset="0"/>
              </a:rPr>
              <a:t> in a sentence.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POS tells us </a:t>
            </a:r>
            <a:r>
              <a:rPr lang="en-US" b="1" dirty="0">
                <a:latin typeface="Georgia" panose="02040502050405020303" pitchFamily="18" charset="0"/>
              </a:rPr>
              <a:t>what a word does</a:t>
            </a:r>
            <a:r>
              <a:rPr lang="en-US" dirty="0">
                <a:latin typeface="Georgia" panose="02040502050405020303" pitchFamily="18" charset="0"/>
              </a:rPr>
              <a:t> in a sentence — its role in </a:t>
            </a:r>
            <a:r>
              <a:rPr lang="en-US" b="1" dirty="0">
                <a:latin typeface="Georgia" panose="02040502050405020303" pitchFamily="18" charset="0"/>
              </a:rPr>
              <a:t>syntax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meaning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Linguists often label words with POS to analyze sentence structure.</a:t>
            </a:r>
          </a:p>
        </p:txBody>
      </p:sp>
    </p:spTree>
    <p:extLst>
      <p:ext uri="{BB962C8B-B14F-4D97-AF65-F5344CB8AC3E}">
        <p14:creationId xmlns:p14="http://schemas.microsoft.com/office/powerpoint/2010/main" val="166435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28384" y="276710"/>
          <a:ext cx="9063648" cy="6135860"/>
        </p:xfrm>
        <a:graphic>
          <a:graphicData uri="http://schemas.openxmlformats.org/drawingml/2006/table">
            <a:tbl>
              <a:tblPr/>
              <a:tblGrid>
                <a:gridCol w="2265912">
                  <a:extLst>
                    <a:ext uri="{9D8B030D-6E8A-4147-A177-3AD203B41FA5}">
                      <a16:colId xmlns:a16="http://schemas.microsoft.com/office/drawing/2014/main" val="2627444299"/>
                    </a:ext>
                  </a:extLst>
                </a:gridCol>
                <a:gridCol w="2265912">
                  <a:extLst>
                    <a:ext uri="{9D8B030D-6E8A-4147-A177-3AD203B41FA5}">
                      <a16:colId xmlns:a16="http://schemas.microsoft.com/office/drawing/2014/main" val="944189051"/>
                    </a:ext>
                  </a:extLst>
                </a:gridCol>
                <a:gridCol w="2265912">
                  <a:extLst>
                    <a:ext uri="{9D8B030D-6E8A-4147-A177-3AD203B41FA5}">
                      <a16:colId xmlns:a16="http://schemas.microsoft.com/office/drawing/2014/main" val="3250894606"/>
                    </a:ext>
                  </a:extLst>
                </a:gridCol>
                <a:gridCol w="2265912">
                  <a:extLst>
                    <a:ext uri="{9D8B030D-6E8A-4147-A177-3AD203B41FA5}">
                      <a16:colId xmlns:a16="http://schemas.microsoft.com/office/drawing/2014/main" val="1807033025"/>
                    </a:ext>
                  </a:extLst>
                </a:gridCol>
              </a:tblGrid>
              <a:tr h="259781"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POS (Abbreviation)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Full Name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Examples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Function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42913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N / NN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Noun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dog, city, happiness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Georgia" panose="02040502050405020303" pitchFamily="18" charset="0"/>
                        </a:rPr>
                        <a:t>Names a person, place, thing, or idea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44295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Georgia" panose="02040502050405020303" pitchFamily="18" charset="0"/>
                        </a:rPr>
                        <a:t>V / VB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Verb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run, eat, is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Expresses action, state, or occurrence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666951"/>
                  </a:ext>
                </a:extLst>
              </a:tr>
              <a:tr h="259781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Adj / JJ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Adjective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small, red, beautiful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Describes a noun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278251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Adv / RB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Adverb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Georgia" panose="02040502050405020303" pitchFamily="18" charset="0"/>
                        </a:rPr>
                        <a:t>quickly, very, yesterday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Modifies verb, adjective, adverb, or sentence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81594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D / DT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Determiner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the, a, this, my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Georgia" panose="02040502050405020303" pitchFamily="18" charset="0"/>
                        </a:rPr>
                        <a:t>Introduces or specifies a noun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9473039"/>
                  </a:ext>
                </a:extLst>
              </a:tr>
              <a:tr h="844289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P / IN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Preposition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in, on, at, with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Shows relationship between a noun (or pronoun) and another word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002512"/>
                  </a:ext>
                </a:extLst>
              </a:tr>
              <a:tr h="259781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Pron / PRP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Pronoun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he, she, it, they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Replaces a noun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308110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Conj / CC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Conjunction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and, but, or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Georgia" panose="02040502050405020303" pitchFamily="18" charset="0"/>
                        </a:rPr>
                        <a:t>Connects words, phrases, or clauses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222599"/>
                  </a:ext>
                </a:extLst>
              </a:tr>
              <a:tr h="454617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Georgia" panose="02040502050405020303" pitchFamily="18" charset="0"/>
                        </a:rPr>
                        <a:t>Interj / UH</a:t>
                      </a:r>
                      <a:endParaRPr lang="en-IN" sz="1800">
                        <a:latin typeface="Georgia" panose="02040502050405020303" pitchFamily="18" charset="0"/>
                      </a:endParaRP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Interjection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Georgia" panose="02040502050405020303" pitchFamily="18" charset="0"/>
                        </a:rPr>
                        <a:t>oh! wow!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Georgia" panose="02040502050405020303" pitchFamily="18" charset="0"/>
                        </a:rPr>
                        <a:t>Expresses emotion or reaction</a:t>
                      </a:r>
                    </a:p>
                  </a:txBody>
                  <a:tcPr marL="64945" marR="64945" marT="32473" marB="324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856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7219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The small dog quickly slept on the cozy couch.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45590" y="1946251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3644782"/>
                    </a:ext>
                  </a:extLst>
                </a:gridCol>
                <a:gridCol w="2481606">
                  <a:extLst>
                    <a:ext uri="{9D8B030D-6E8A-4147-A177-3AD203B41FA5}">
                      <a16:colId xmlns:a16="http://schemas.microsoft.com/office/drawing/2014/main" val="1098237455"/>
                    </a:ext>
                  </a:extLst>
                </a:gridCol>
                <a:gridCol w="4528794">
                  <a:extLst>
                    <a:ext uri="{9D8B030D-6E8A-4147-A177-3AD203B41FA5}">
                      <a16:colId xmlns:a16="http://schemas.microsoft.com/office/drawing/2014/main" val="1098240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84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The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Determiner for noun “dog”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333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Adj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Describes noun “dog”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24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Noun, subject of sentence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8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quickly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Adv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Modifies verb “slept”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5932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slept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Main 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505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Preposition introducing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0638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the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Determiner for noun “couch”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494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Adj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Describes noun “couch”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651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Noun, object of preposition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18905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39365" y="5859414"/>
            <a:ext cx="119280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Helps in </a:t>
            </a:r>
            <a:r>
              <a:rPr lang="en-US" b="1" dirty="0">
                <a:latin typeface="Georgia" panose="02040502050405020303" pitchFamily="18" charset="0"/>
              </a:rPr>
              <a:t>sentence parsing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syntactic analysis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Essential for </a:t>
            </a:r>
            <a:r>
              <a:rPr lang="en-US" b="1" dirty="0">
                <a:latin typeface="Georgia" panose="02040502050405020303" pitchFamily="18" charset="0"/>
              </a:rPr>
              <a:t>grammar checking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b="1" dirty="0">
                <a:latin typeface="Georgia" panose="02040502050405020303" pitchFamily="18" charset="0"/>
              </a:rPr>
              <a:t>language learning</a:t>
            </a:r>
            <a:r>
              <a:rPr lang="en-US" dirty="0">
                <a:latin typeface="Georgia" panose="02040502050405020303" pitchFamily="18" charset="0"/>
              </a:rPr>
              <a:t>, and </a:t>
            </a:r>
            <a:r>
              <a:rPr lang="en-US" b="1" dirty="0">
                <a:latin typeface="Georgia" panose="02040502050405020303" pitchFamily="18" charset="0"/>
              </a:rPr>
              <a:t>NLP (Natural Language Processing)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Works as the foundation for </a:t>
            </a:r>
            <a:r>
              <a:rPr lang="en-US" b="1" dirty="0">
                <a:latin typeface="Georgia" panose="02040502050405020303" pitchFamily="18" charset="0"/>
              </a:rPr>
              <a:t>phrase structure trees</a:t>
            </a:r>
            <a:r>
              <a:rPr lang="en-US" dirty="0">
                <a:latin typeface="Georgia" panose="02040502050405020303" pitchFamily="18" charset="0"/>
              </a:rPr>
              <a:t>: NP, VP, PP, etc. are built from POS-labeled words.</a:t>
            </a:r>
          </a:p>
        </p:txBody>
      </p:sp>
    </p:spTree>
    <p:extLst>
      <p:ext uri="{BB962C8B-B14F-4D97-AF65-F5344CB8AC3E}">
        <p14:creationId xmlns:p14="http://schemas.microsoft.com/office/powerpoint/2010/main" val="3963119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1. Hierarchical </a:t>
            </a:r>
            <a:r>
              <a:rPr lang="en-IN" dirty="0">
                <a:latin typeface="Georgia" panose="02040502050405020303" pitchFamily="18" charset="0"/>
              </a:rP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A sentence is not just a flat string of </a:t>
            </a:r>
            <a:r>
              <a:rPr lang="en-US" altLang="en-US" dirty="0" smtClean="0">
                <a:latin typeface="Georgia" panose="02040502050405020303" pitchFamily="18" charset="0"/>
              </a:rPr>
              <a:t>words.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Georgia" panose="02040502050405020303" pitchFamily="18" charset="0"/>
              </a:rPr>
              <a:t>Instead</a:t>
            </a:r>
            <a:r>
              <a:rPr lang="en-US" altLang="en-US" dirty="0">
                <a:latin typeface="Georgia" panose="02040502050405020303" pitchFamily="18" charset="0"/>
              </a:rPr>
              <a:t>, it has a </a:t>
            </a:r>
            <a:r>
              <a:rPr lang="en-US" altLang="en-US" b="1" dirty="0">
                <a:latin typeface="Georgia" panose="02040502050405020303" pitchFamily="18" charset="0"/>
              </a:rPr>
              <a:t>hierarchical structure</a:t>
            </a:r>
            <a:r>
              <a:rPr lang="en-US" altLang="en-US" dirty="0">
                <a:latin typeface="Georgia" panose="02040502050405020303" pitchFamily="18" charset="0"/>
              </a:rPr>
              <a:t> where smaller parts (like words) combine to form larger parts (like phrases), which then combine into even larger structures.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 smtClean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Georgia" panose="02040502050405020303" pitchFamily="18" charset="0"/>
              </a:rPr>
              <a:t>For </a:t>
            </a:r>
            <a:r>
              <a:rPr lang="en-US" altLang="en-US" dirty="0">
                <a:latin typeface="Georgia" panose="02040502050405020303" pitchFamily="18" charset="0"/>
              </a:rPr>
              <a:t>example: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The little boy ate the cake.</a:t>
            </a:r>
          </a:p>
        </p:txBody>
      </p:sp>
    </p:spTree>
    <p:extLst>
      <p:ext uri="{BB962C8B-B14F-4D97-AF65-F5344CB8AC3E}">
        <p14:creationId xmlns:p14="http://schemas.microsoft.com/office/powerpoint/2010/main" val="8693013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Georgia" panose="02040502050405020303" pitchFamily="18" charset="0"/>
              </a:rPr>
              <a:t>We can break this down hierarchically:</a:t>
            </a:r>
          </a:p>
          <a:p>
            <a:r>
              <a:rPr lang="en-IN" sz="2000" b="1" dirty="0">
                <a:latin typeface="Georgia" panose="02040502050405020303" pitchFamily="18" charset="0"/>
              </a:rPr>
              <a:t>Sentence (S)</a:t>
            </a:r>
            <a:endParaRPr lang="en-IN" sz="2000" dirty="0">
              <a:latin typeface="Georgia" panose="02040502050405020303" pitchFamily="18" charset="0"/>
            </a:endParaRPr>
          </a:p>
          <a:p>
            <a:pPr lvl="1"/>
            <a:r>
              <a:rPr lang="en-IN" sz="2000" b="1" dirty="0">
                <a:latin typeface="Georgia" panose="02040502050405020303" pitchFamily="18" charset="0"/>
              </a:rPr>
              <a:t>Noun Phrase (NP):</a:t>
            </a:r>
            <a:r>
              <a:rPr lang="en-IN" sz="2000" dirty="0">
                <a:latin typeface="Georgia" panose="02040502050405020303" pitchFamily="18" charset="0"/>
              </a:rPr>
              <a:t> </a:t>
            </a:r>
            <a:r>
              <a:rPr lang="en-IN" sz="2000" i="1" dirty="0">
                <a:latin typeface="Georgia" panose="02040502050405020303" pitchFamily="18" charset="0"/>
              </a:rPr>
              <a:t>The little boy</a:t>
            </a:r>
            <a:endParaRPr lang="en-IN" sz="2000" dirty="0">
              <a:latin typeface="Georgia" panose="02040502050405020303" pitchFamily="18" charset="0"/>
            </a:endParaRPr>
          </a:p>
          <a:p>
            <a:pPr lvl="2"/>
            <a:r>
              <a:rPr lang="en-IN" dirty="0">
                <a:latin typeface="Georgia" panose="02040502050405020303" pitchFamily="18" charset="0"/>
              </a:rPr>
              <a:t>Determiner (</a:t>
            </a:r>
            <a:r>
              <a:rPr lang="en-IN" dirty="0" err="1">
                <a:latin typeface="Georgia" panose="02040502050405020303" pitchFamily="18" charset="0"/>
              </a:rPr>
              <a:t>Det</a:t>
            </a:r>
            <a:r>
              <a:rPr lang="en-IN" dirty="0">
                <a:latin typeface="Georgia" panose="02040502050405020303" pitchFamily="18" charset="0"/>
              </a:rPr>
              <a:t>): </a:t>
            </a:r>
            <a:r>
              <a:rPr lang="en-IN" i="1" dirty="0">
                <a:latin typeface="Georgia" panose="02040502050405020303" pitchFamily="18" charset="0"/>
              </a:rPr>
              <a:t>The</a:t>
            </a:r>
            <a:endParaRPr lang="en-IN" dirty="0">
              <a:latin typeface="Georgia" panose="02040502050405020303" pitchFamily="18" charset="0"/>
            </a:endParaRPr>
          </a:p>
          <a:p>
            <a:pPr lvl="2"/>
            <a:r>
              <a:rPr lang="en-IN" dirty="0">
                <a:latin typeface="Georgia" panose="02040502050405020303" pitchFamily="18" charset="0"/>
              </a:rPr>
              <a:t>Adjective (</a:t>
            </a:r>
            <a:r>
              <a:rPr lang="en-IN" dirty="0" err="1">
                <a:latin typeface="Georgia" panose="02040502050405020303" pitchFamily="18" charset="0"/>
              </a:rPr>
              <a:t>Adj</a:t>
            </a:r>
            <a:r>
              <a:rPr lang="en-IN" dirty="0">
                <a:latin typeface="Georgia" panose="02040502050405020303" pitchFamily="18" charset="0"/>
              </a:rPr>
              <a:t>): </a:t>
            </a:r>
            <a:r>
              <a:rPr lang="en-IN" i="1" dirty="0">
                <a:latin typeface="Georgia" panose="02040502050405020303" pitchFamily="18" charset="0"/>
              </a:rPr>
              <a:t>little</a:t>
            </a:r>
            <a:endParaRPr lang="en-IN" dirty="0">
              <a:latin typeface="Georgia" panose="02040502050405020303" pitchFamily="18" charset="0"/>
            </a:endParaRPr>
          </a:p>
          <a:p>
            <a:pPr lvl="2"/>
            <a:r>
              <a:rPr lang="en-IN" dirty="0">
                <a:latin typeface="Georgia" panose="02040502050405020303" pitchFamily="18" charset="0"/>
              </a:rPr>
              <a:t>Noun (N): </a:t>
            </a:r>
            <a:r>
              <a:rPr lang="en-IN" i="1" dirty="0">
                <a:latin typeface="Georgia" panose="02040502050405020303" pitchFamily="18" charset="0"/>
              </a:rPr>
              <a:t>boy</a:t>
            </a:r>
            <a:endParaRPr lang="en-IN" dirty="0">
              <a:latin typeface="Georgia" panose="02040502050405020303" pitchFamily="18" charset="0"/>
            </a:endParaRPr>
          </a:p>
          <a:p>
            <a:pPr lvl="1"/>
            <a:r>
              <a:rPr lang="en-IN" sz="2000" b="1" dirty="0">
                <a:latin typeface="Georgia" panose="02040502050405020303" pitchFamily="18" charset="0"/>
              </a:rPr>
              <a:t>Verb Phrase (VP):</a:t>
            </a:r>
            <a:r>
              <a:rPr lang="en-IN" sz="2000" dirty="0">
                <a:latin typeface="Georgia" panose="02040502050405020303" pitchFamily="18" charset="0"/>
              </a:rPr>
              <a:t> </a:t>
            </a:r>
            <a:r>
              <a:rPr lang="en-IN" sz="2000" i="1" dirty="0">
                <a:latin typeface="Georgia" panose="02040502050405020303" pitchFamily="18" charset="0"/>
              </a:rPr>
              <a:t>ate the cake</a:t>
            </a:r>
            <a:endParaRPr lang="en-IN" sz="2000" dirty="0">
              <a:latin typeface="Georgia" panose="02040502050405020303" pitchFamily="18" charset="0"/>
            </a:endParaRPr>
          </a:p>
          <a:p>
            <a:pPr lvl="2"/>
            <a:r>
              <a:rPr lang="en-IN" dirty="0">
                <a:latin typeface="Georgia" panose="02040502050405020303" pitchFamily="18" charset="0"/>
              </a:rPr>
              <a:t>Verb (V): </a:t>
            </a:r>
            <a:r>
              <a:rPr lang="en-IN" i="1" dirty="0">
                <a:latin typeface="Georgia" panose="02040502050405020303" pitchFamily="18" charset="0"/>
              </a:rPr>
              <a:t>ate</a:t>
            </a:r>
            <a:endParaRPr lang="en-IN" dirty="0">
              <a:latin typeface="Georgia" panose="02040502050405020303" pitchFamily="18" charset="0"/>
            </a:endParaRPr>
          </a:p>
          <a:p>
            <a:pPr lvl="2"/>
            <a:r>
              <a:rPr lang="en-IN" dirty="0">
                <a:latin typeface="Georgia" panose="02040502050405020303" pitchFamily="18" charset="0"/>
              </a:rPr>
              <a:t>Noun Phrase (NP): </a:t>
            </a:r>
            <a:r>
              <a:rPr lang="en-IN" i="1" dirty="0">
                <a:latin typeface="Georgia" panose="02040502050405020303" pitchFamily="18" charset="0"/>
              </a:rPr>
              <a:t>the cake</a:t>
            </a:r>
            <a:endParaRPr lang="en-IN" dirty="0">
              <a:latin typeface="Georgia" panose="02040502050405020303" pitchFamily="18" charset="0"/>
            </a:endParaRPr>
          </a:p>
          <a:p>
            <a:pPr lvl="3"/>
            <a:r>
              <a:rPr lang="en-IN" sz="2000" dirty="0">
                <a:latin typeface="Georgia" panose="02040502050405020303" pitchFamily="18" charset="0"/>
              </a:rPr>
              <a:t>Determiner (</a:t>
            </a:r>
            <a:r>
              <a:rPr lang="en-IN" sz="2000" dirty="0" err="1">
                <a:latin typeface="Georgia" panose="02040502050405020303" pitchFamily="18" charset="0"/>
              </a:rPr>
              <a:t>Det</a:t>
            </a:r>
            <a:r>
              <a:rPr lang="en-IN" sz="2000" dirty="0">
                <a:latin typeface="Georgia" panose="02040502050405020303" pitchFamily="18" charset="0"/>
              </a:rPr>
              <a:t>): </a:t>
            </a:r>
            <a:r>
              <a:rPr lang="en-IN" sz="2000" i="1" dirty="0">
                <a:latin typeface="Georgia" panose="02040502050405020303" pitchFamily="18" charset="0"/>
              </a:rPr>
              <a:t>the</a:t>
            </a:r>
            <a:endParaRPr lang="en-IN" sz="2000" dirty="0">
              <a:latin typeface="Georgia" panose="02040502050405020303" pitchFamily="18" charset="0"/>
            </a:endParaRPr>
          </a:p>
          <a:p>
            <a:pPr lvl="3"/>
            <a:r>
              <a:rPr lang="en-IN" sz="2000" dirty="0">
                <a:latin typeface="Georgia" panose="02040502050405020303" pitchFamily="18" charset="0"/>
              </a:rPr>
              <a:t>Noun (N): </a:t>
            </a:r>
            <a:r>
              <a:rPr lang="en-IN" sz="2000" i="1" dirty="0">
                <a:latin typeface="Georgia" panose="02040502050405020303" pitchFamily="18" charset="0"/>
              </a:rPr>
              <a:t>cake</a:t>
            </a:r>
            <a:endParaRPr lang="en-IN" sz="2000" dirty="0">
              <a:latin typeface="Georgia" panose="020405020504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65" y="1786153"/>
            <a:ext cx="3427899" cy="44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52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D = Determiner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Georgia" panose="02040502050405020303" pitchFamily="18" charset="0"/>
              </a:rPr>
              <a:t>Function</a:t>
            </a:r>
            <a:r>
              <a:rPr lang="en-US" sz="2400" b="1" dirty="0">
                <a:latin typeface="Georgia" panose="02040502050405020303" pitchFamily="18" charset="0"/>
              </a:rPr>
              <a:t>:</a:t>
            </a:r>
            <a:r>
              <a:rPr lang="en-US" sz="2400" dirty="0">
                <a:latin typeface="Georgia" panose="02040502050405020303" pitchFamily="18" charset="0"/>
              </a:rPr>
              <a:t> Introduces or specifies a noun.</a:t>
            </a:r>
          </a:p>
          <a:p>
            <a:r>
              <a:rPr lang="en-US" sz="2400" b="1" dirty="0">
                <a:latin typeface="Georgia" panose="02040502050405020303" pitchFamily="18" charset="0"/>
              </a:rPr>
              <a:t>Examples: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i="1" dirty="0">
                <a:latin typeface="Georgia" panose="02040502050405020303" pitchFamily="18" charset="0"/>
              </a:rPr>
              <a:t>the, a, an, this, that, my, your, some, every, each</a:t>
            </a:r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b="1" dirty="0">
                <a:latin typeface="Georgia" panose="02040502050405020303" pitchFamily="18" charset="0"/>
              </a:rPr>
              <a:t>Example in phrase:</a:t>
            </a:r>
            <a:endParaRPr lang="en-US" sz="2400" dirty="0">
              <a:latin typeface="Georgia" panose="02040502050405020303" pitchFamily="18" charset="0"/>
            </a:endParaRPr>
          </a:p>
          <a:p>
            <a:pPr lvl="1"/>
            <a:r>
              <a:rPr lang="en-US" i="1" dirty="0">
                <a:latin typeface="Georgia" panose="02040502050405020303" pitchFamily="18" charset="0"/>
              </a:rPr>
              <a:t>the</a:t>
            </a:r>
            <a:r>
              <a:rPr lang="en-US" dirty="0">
                <a:latin typeface="Georgia" panose="02040502050405020303" pitchFamily="18" charset="0"/>
              </a:rPr>
              <a:t> dog → “the” = </a:t>
            </a:r>
            <a:r>
              <a:rPr lang="en-US" b="1" dirty="0">
                <a:latin typeface="Georgia" panose="02040502050405020303" pitchFamily="18" charset="0"/>
              </a:rPr>
              <a:t>D (Determiner)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sz="2400" b="1" dirty="0">
                <a:latin typeface="Georgia" panose="02040502050405020303" pitchFamily="18" charset="0"/>
              </a:rPr>
              <a:t>Role:</a:t>
            </a:r>
            <a:r>
              <a:rPr lang="en-US" sz="2400" dirty="0">
                <a:latin typeface="Georgia" panose="02040502050405020303" pitchFamily="18" charset="0"/>
              </a:rPr>
              <a:t> Helps to make the reference of the noun more specific (which one, whose, how many, etc.).</a:t>
            </a:r>
          </a:p>
        </p:txBody>
      </p:sp>
    </p:spTree>
    <p:extLst>
      <p:ext uri="{BB962C8B-B14F-4D97-AF65-F5344CB8AC3E}">
        <p14:creationId xmlns:p14="http://schemas.microsoft.com/office/powerpoint/2010/main" val="24571520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A = Adjective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Function:</a:t>
            </a:r>
            <a:r>
              <a:rPr lang="en-US" altLang="en-US" dirty="0">
                <a:latin typeface="Georgia" panose="02040502050405020303" pitchFamily="18" charset="0"/>
              </a:rPr>
              <a:t> Describes or modifies a noun.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Examples:</a:t>
            </a:r>
            <a:r>
              <a:rPr lang="en-US" altLang="en-US" dirty="0">
                <a:latin typeface="Georgia" panose="02040502050405020303" pitchFamily="18" charset="0"/>
              </a:rPr>
              <a:t> </a:t>
            </a:r>
            <a:r>
              <a:rPr lang="en-US" altLang="en-US" i="1" dirty="0">
                <a:latin typeface="Georgia" panose="02040502050405020303" pitchFamily="18" charset="0"/>
              </a:rPr>
              <a:t>big, small, red, beautiful, smart, happy</a:t>
            </a:r>
            <a:endParaRPr lang="en-US" altLang="en-US" dirty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 smtClean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Georgia" panose="02040502050405020303" pitchFamily="18" charset="0"/>
              </a:rPr>
              <a:t>Example </a:t>
            </a:r>
            <a:r>
              <a:rPr lang="en-US" altLang="en-US" b="1" dirty="0">
                <a:latin typeface="Georgia" panose="02040502050405020303" pitchFamily="18" charset="0"/>
              </a:rPr>
              <a:t>in phrase: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the small dog</a:t>
            </a:r>
            <a:r>
              <a:rPr lang="en-US" altLang="en-US" dirty="0">
                <a:latin typeface="Georgia" panose="02040502050405020303" pitchFamily="18" charset="0"/>
              </a:rPr>
              <a:t> → “small” = </a:t>
            </a:r>
            <a:r>
              <a:rPr lang="en-US" altLang="en-US" b="1" dirty="0">
                <a:latin typeface="Georgia" panose="02040502050405020303" pitchFamily="18" charset="0"/>
              </a:rPr>
              <a:t>A (Adjective)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Role:</a:t>
            </a:r>
            <a:r>
              <a:rPr lang="en-US" altLang="en-US" dirty="0">
                <a:latin typeface="Georgia" panose="02040502050405020303" pitchFamily="18" charset="0"/>
              </a:rPr>
              <a:t> Adds descriptive detail or quality to the noun.</a:t>
            </a:r>
          </a:p>
        </p:txBody>
      </p:sp>
    </p:spTree>
    <p:extLst>
      <p:ext uri="{BB962C8B-B14F-4D97-AF65-F5344CB8AC3E}">
        <p14:creationId xmlns:p14="http://schemas.microsoft.com/office/powerpoint/2010/main" val="4242691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N = Noun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Function:</a:t>
            </a:r>
            <a:r>
              <a:rPr lang="en-US" altLang="en-US" dirty="0">
                <a:latin typeface="Georgia" panose="02040502050405020303" pitchFamily="18" charset="0"/>
              </a:rPr>
              <a:t> Names a person, place, thing, or idea.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Examples:</a:t>
            </a:r>
            <a:r>
              <a:rPr lang="en-US" altLang="en-US" dirty="0">
                <a:latin typeface="Georgia" panose="02040502050405020303" pitchFamily="18" charset="0"/>
              </a:rPr>
              <a:t> </a:t>
            </a:r>
            <a:r>
              <a:rPr lang="en-US" altLang="en-US" i="1" dirty="0">
                <a:latin typeface="Georgia" panose="02040502050405020303" pitchFamily="18" charset="0"/>
              </a:rPr>
              <a:t>dog, girl, car, city, happiness</a:t>
            </a:r>
            <a:endParaRPr lang="en-US" altLang="en-US" dirty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 smtClean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 smtClean="0">
                <a:latin typeface="Georgia" panose="02040502050405020303" pitchFamily="18" charset="0"/>
              </a:rPr>
              <a:t>Example </a:t>
            </a:r>
            <a:r>
              <a:rPr lang="en-US" altLang="en-US" b="1" dirty="0">
                <a:latin typeface="Georgia" panose="02040502050405020303" pitchFamily="18" charset="0"/>
              </a:rPr>
              <a:t>in phrase: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the small dog</a:t>
            </a:r>
            <a:r>
              <a:rPr lang="en-US" altLang="en-US" dirty="0">
                <a:latin typeface="Georgia" panose="02040502050405020303" pitchFamily="18" charset="0"/>
              </a:rPr>
              <a:t> → “dog” = </a:t>
            </a:r>
            <a:r>
              <a:rPr lang="en-US" altLang="en-US" b="1" dirty="0">
                <a:latin typeface="Georgia" panose="02040502050405020303" pitchFamily="18" charset="0"/>
              </a:rPr>
              <a:t>N (Noun)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Role:</a:t>
            </a:r>
            <a:r>
              <a:rPr lang="en-US" altLang="en-US" dirty="0">
                <a:latin typeface="Georgia" panose="02040502050405020303" pitchFamily="18" charset="0"/>
              </a:rPr>
              <a:t> Acts as the </a:t>
            </a:r>
            <a:r>
              <a:rPr lang="en-US" altLang="en-US" b="1" dirty="0">
                <a:latin typeface="Georgia" panose="02040502050405020303" pitchFamily="18" charset="0"/>
              </a:rPr>
              <a:t>head</a:t>
            </a:r>
            <a:r>
              <a:rPr lang="en-US" altLang="en-US" dirty="0">
                <a:latin typeface="Georgia" panose="02040502050405020303" pitchFamily="18" charset="0"/>
              </a:rPr>
              <a:t> of a noun phrase (the central word that determines the phrase’s grammatical function).</a:t>
            </a:r>
          </a:p>
        </p:txBody>
      </p:sp>
    </p:spTree>
    <p:extLst>
      <p:ext uri="{BB962C8B-B14F-4D97-AF65-F5344CB8AC3E}">
        <p14:creationId xmlns:p14="http://schemas.microsoft.com/office/powerpoint/2010/main" val="1923790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NP = Noun 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874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</a:rPr>
              <a:t>Definition</a:t>
            </a:r>
          </a:p>
          <a:p>
            <a:r>
              <a:rPr lang="en-US" dirty="0">
                <a:latin typeface="Georgia" panose="02040502050405020303" pitchFamily="18" charset="0"/>
              </a:rPr>
              <a:t>A </a:t>
            </a:r>
            <a:r>
              <a:rPr lang="en-US" b="1" dirty="0">
                <a:latin typeface="Georgia" panose="02040502050405020303" pitchFamily="18" charset="0"/>
              </a:rPr>
              <a:t>Noun Phrase (NP)</a:t>
            </a:r>
            <a:r>
              <a:rPr lang="en-US" dirty="0">
                <a:latin typeface="Georgia" panose="02040502050405020303" pitchFamily="18" charset="0"/>
              </a:rPr>
              <a:t> is a phrase whose </a:t>
            </a:r>
            <a:r>
              <a:rPr lang="en-US" b="1" dirty="0">
                <a:latin typeface="Georgia" panose="02040502050405020303" pitchFamily="18" charset="0"/>
              </a:rPr>
              <a:t>head</a:t>
            </a:r>
            <a:r>
              <a:rPr lang="en-US" dirty="0">
                <a:latin typeface="Georgia" panose="02040502050405020303" pitchFamily="18" charset="0"/>
              </a:rPr>
              <a:t> (main word) is a </a:t>
            </a:r>
            <a:r>
              <a:rPr lang="en-US" b="1" dirty="0" smtClean="0">
                <a:latin typeface="Georgia" panose="02040502050405020303" pitchFamily="18" charset="0"/>
              </a:rPr>
              <a:t>noun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</a:p>
          <a:p>
            <a:r>
              <a:rPr lang="en-US" dirty="0" smtClean="0">
                <a:latin typeface="Georgia" panose="02040502050405020303" pitchFamily="18" charset="0"/>
              </a:rPr>
              <a:t>It </a:t>
            </a:r>
            <a:r>
              <a:rPr lang="en-US" dirty="0">
                <a:latin typeface="Georgia" panose="02040502050405020303" pitchFamily="18" charset="0"/>
              </a:rPr>
              <a:t>functions in a sentence as a </a:t>
            </a:r>
            <a:r>
              <a:rPr lang="en-US" b="1" dirty="0">
                <a:latin typeface="Georgia" panose="02040502050405020303" pitchFamily="18" charset="0"/>
              </a:rPr>
              <a:t>subject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b="1" dirty="0">
                <a:latin typeface="Georgia" panose="02040502050405020303" pitchFamily="18" charset="0"/>
              </a:rPr>
              <a:t>object</a:t>
            </a:r>
            <a:r>
              <a:rPr lang="en-US" dirty="0">
                <a:latin typeface="Georgia" panose="02040502050405020303" pitchFamily="18" charset="0"/>
              </a:rPr>
              <a:t>, or </a:t>
            </a:r>
            <a:r>
              <a:rPr lang="en-US" b="1" dirty="0">
                <a:latin typeface="Georgia" panose="02040502050405020303" pitchFamily="18" charset="0"/>
              </a:rPr>
              <a:t>complement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724" y="4272774"/>
            <a:ext cx="2144848" cy="16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187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49665" y="2751300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6783829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828201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4458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Georgia" panose="02040502050405020303" pitchFamily="18" charset="0"/>
                        </a:rPr>
                        <a:t>Example NP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Georgia" panose="02040502050405020303" pitchFamily="18" charset="0"/>
                        </a:rPr>
                        <a:t>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Georgia" panose="02040502050405020303" pitchFamily="18" charset="0"/>
                        </a:rPr>
                        <a:t>Role in sentence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194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the cat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 +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Subject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184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a red car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D + A +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Subject or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99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>
                          <a:latin typeface="Georgia" panose="02040502050405020303" pitchFamily="18" charset="0"/>
                        </a:rPr>
                        <a:t>my old friend from school</a:t>
                      </a:r>
                      <a:endParaRPr lang="en-US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D + A + N +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Subject or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502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28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VP = Verb 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</a:rPr>
              <a:t>Definition</a:t>
            </a:r>
          </a:p>
          <a:p>
            <a:r>
              <a:rPr lang="en-US" dirty="0">
                <a:latin typeface="Georgia" panose="02040502050405020303" pitchFamily="18" charset="0"/>
              </a:rPr>
              <a:t>A </a:t>
            </a:r>
            <a:r>
              <a:rPr lang="en-US" b="1" dirty="0">
                <a:latin typeface="Georgia" panose="02040502050405020303" pitchFamily="18" charset="0"/>
              </a:rPr>
              <a:t>Verb Phrase (VP)</a:t>
            </a:r>
            <a:r>
              <a:rPr lang="en-US" dirty="0">
                <a:latin typeface="Georgia" panose="02040502050405020303" pitchFamily="18" charset="0"/>
              </a:rPr>
              <a:t> is a phrase whose </a:t>
            </a:r>
            <a:r>
              <a:rPr lang="en-US" b="1" dirty="0">
                <a:latin typeface="Georgia" panose="02040502050405020303" pitchFamily="18" charset="0"/>
              </a:rPr>
              <a:t>head</a:t>
            </a:r>
            <a:r>
              <a:rPr lang="en-US" dirty="0">
                <a:latin typeface="Georgia" panose="02040502050405020303" pitchFamily="18" charset="0"/>
              </a:rPr>
              <a:t> is a </a:t>
            </a:r>
            <a:r>
              <a:rPr lang="en-US" b="1" dirty="0">
                <a:latin typeface="Georgia" panose="02040502050405020303" pitchFamily="18" charset="0"/>
              </a:rPr>
              <a:t>verb</a:t>
            </a:r>
            <a:r>
              <a:rPr lang="en-US" dirty="0">
                <a:latin typeface="Georgia" panose="02040502050405020303" pitchFamily="18" charset="0"/>
              </a:rPr>
              <a:t>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It expresses what the subject (NP) </a:t>
            </a:r>
            <a:r>
              <a:rPr lang="en-US" i="1" dirty="0">
                <a:latin typeface="Georgia" panose="02040502050405020303" pitchFamily="18" charset="0"/>
              </a:rPr>
              <a:t>does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i="1" dirty="0">
                <a:latin typeface="Georgia" panose="02040502050405020303" pitchFamily="18" charset="0"/>
              </a:rPr>
              <a:t>is</a:t>
            </a:r>
            <a:r>
              <a:rPr lang="en-US" dirty="0">
                <a:latin typeface="Georgia" panose="02040502050405020303" pitchFamily="18" charset="0"/>
              </a:rPr>
              <a:t>, or </a:t>
            </a:r>
            <a:r>
              <a:rPr lang="en-US" i="1" dirty="0">
                <a:latin typeface="Georgia" panose="02040502050405020303" pitchFamily="18" charset="0"/>
              </a:rPr>
              <a:t>experiences</a:t>
            </a:r>
            <a:r>
              <a:rPr lang="en-US" dirty="0" smtClean="0">
                <a:latin typeface="Georgia" panose="02040502050405020303" pitchFamily="18" charset="0"/>
              </a:rPr>
              <a:t>.</a:t>
            </a:r>
            <a:r>
              <a:rPr lang="en-US" dirty="0">
                <a:latin typeface="Georgia" panose="02040502050405020303" pitchFamily="18" charset="0"/>
              </a:rPr>
              <a:t> </a:t>
            </a:r>
            <a:endParaRPr lang="en-US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Georgia" panose="02040502050405020303" pitchFamily="18" charset="0"/>
              </a:rPr>
              <a:t>A </a:t>
            </a:r>
            <a:r>
              <a:rPr lang="en-US" dirty="0">
                <a:latin typeface="Georgia" panose="02040502050405020303" pitchFamily="18" charset="0"/>
              </a:rPr>
              <a:t>VP can include:</a:t>
            </a:r>
          </a:p>
          <a:p>
            <a:r>
              <a:rPr lang="en-US" b="1" dirty="0">
                <a:latin typeface="Georgia" panose="02040502050405020303" pitchFamily="18" charset="0"/>
              </a:rPr>
              <a:t>Verb (V):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runs, eats, is, saw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Object (NP):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the cake, a dog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Adverb (</a:t>
            </a:r>
            <a:r>
              <a:rPr lang="en-US" b="1" dirty="0" err="1">
                <a:latin typeface="Georgia" panose="02040502050405020303" pitchFamily="18" charset="0"/>
              </a:rPr>
              <a:t>Adv</a:t>
            </a:r>
            <a:r>
              <a:rPr lang="en-US" b="1" dirty="0">
                <a:latin typeface="Georgia" panose="02040502050405020303" pitchFamily="18" charset="0"/>
              </a:rPr>
              <a:t>):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quickly, yesterday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Prepositional Phrase (PP):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in the park, with a spoon</a:t>
            </a:r>
            <a:endParaRPr lang="en-US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3037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Verb Phrase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4188" y="1770912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74044740"/>
                    </a:ext>
                  </a:extLst>
                </a:gridCol>
                <a:gridCol w="2670142">
                  <a:extLst>
                    <a:ext uri="{9D8B030D-6E8A-4147-A177-3AD203B41FA5}">
                      <a16:colId xmlns:a16="http://schemas.microsoft.com/office/drawing/2014/main" val="2104675978"/>
                    </a:ext>
                  </a:extLst>
                </a:gridCol>
                <a:gridCol w="4340258">
                  <a:extLst>
                    <a:ext uri="{9D8B030D-6E8A-4147-A177-3AD203B41FA5}">
                      <a16:colId xmlns:a16="http://schemas.microsoft.com/office/drawing/2014/main" val="29346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Georgia" panose="02040502050405020303" pitchFamily="18" charset="0"/>
                        </a:rPr>
                        <a:t>Example 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Components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799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ate the cake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 + NP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Verb +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59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is running fast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Aux + V + Adv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Georgia" panose="02040502050405020303" pitchFamily="18" charset="0"/>
                        </a:rPr>
                        <a:t>Auxiliary verb + main verb + adverb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98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slept on the couch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 +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Verb + Prepositional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82874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434" y="3487685"/>
            <a:ext cx="2444157" cy="31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89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NP + VP = Sentence 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English sentences can be represented in this basic structure:</a:t>
            </a:r>
            <a:endParaRPr lang="en-IN" dirty="0" smtClean="0"/>
          </a:p>
          <a:p>
            <a:r>
              <a:rPr lang="en-IN" dirty="0" smtClean="0"/>
              <a:t>S </a:t>
            </a:r>
            <a:r>
              <a:rPr lang="en-IN" dirty="0"/>
              <a:t>→ NP + </a:t>
            </a:r>
            <a:r>
              <a:rPr lang="en-IN" dirty="0" smtClean="0"/>
              <a:t>VP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Example sentence: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i="1" dirty="0">
                <a:latin typeface="Arial" panose="020B0604020202020204" pitchFamily="34" charset="0"/>
              </a:rPr>
              <a:t>The dog ate the cake.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93" y="230188"/>
            <a:ext cx="1924149" cy="137802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4456137"/>
          <a:ext cx="10898170" cy="1371600"/>
        </p:xfrm>
        <a:graphic>
          <a:graphicData uri="http://schemas.openxmlformats.org/drawingml/2006/table">
            <a:tbl>
              <a:tblPr/>
              <a:tblGrid>
                <a:gridCol w="2179634">
                  <a:extLst>
                    <a:ext uri="{9D8B030D-6E8A-4147-A177-3AD203B41FA5}">
                      <a16:colId xmlns:a16="http://schemas.microsoft.com/office/drawing/2014/main" val="2931402731"/>
                    </a:ext>
                  </a:extLst>
                </a:gridCol>
                <a:gridCol w="2179634">
                  <a:extLst>
                    <a:ext uri="{9D8B030D-6E8A-4147-A177-3AD203B41FA5}">
                      <a16:colId xmlns:a16="http://schemas.microsoft.com/office/drawing/2014/main" val="1490911713"/>
                    </a:ext>
                  </a:extLst>
                </a:gridCol>
                <a:gridCol w="2179634">
                  <a:extLst>
                    <a:ext uri="{9D8B030D-6E8A-4147-A177-3AD203B41FA5}">
                      <a16:colId xmlns:a16="http://schemas.microsoft.com/office/drawing/2014/main" val="4066163896"/>
                    </a:ext>
                  </a:extLst>
                </a:gridCol>
                <a:gridCol w="2179634">
                  <a:extLst>
                    <a:ext uri="{9D8B030D-6E8A-4147-A177-3AD203B41FA5}">
                      <a16:colId xmlns:a16="http://schemas.microsoft.com/office/drawing/2014/main" val="3772695990"/>
                    </a:ext>
                  </a:extLst>
                </a:gridCol>
                <a:gridCol w="2179634">
                  <a:extLst>
                    <a:ext uri="{9D8B030D-6E8A-4147-A177-3AD203B41FA5}">
                      <a16:colId xmlns:a16="http://schemas.microsoft.com/office/drawing/2014/main" val="4057564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Abbreviation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Stands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Common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840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NP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Noun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The tall man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Subject or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408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VP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Verb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ate an apple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Predicate (action or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625060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716502" y="2761393"/>
            <a:ext cx="734038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NP (Noun Phrase)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the “who” or “what” in a sentence.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VP (Verb Phrase)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= the “what happens” or “what the subject does.”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Together they form the core of most English sentences: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 → NP + VP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3189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798" y="1053751"/>
            <a:ext cx="5150115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938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PP = Prepositional Phrase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A </a:t>
            </a:r>
            <a:r>
              <a:rPr lang="en-US" b="1" dirty="0">
                <a:latin typeface="Georgia" panose="02040502050405020303" pitchFamily="18" charset="0"/>
              </a:rPr>
              <a:t>Prepositional Phrase (PP)</a:t>
            </a:r>
            <a:r>
              <a:rPr lang="en-US" dirty="0">
                <a:latin typeface="Georgia" panose="02040502050405020303" pitchFamily="18" charset="0"/>
              </a:rPr>
              <a:t> is a phrase that </a:t>
            </a:r>
            <a:r>
              <a:rPr lang="en-US" b="1" dirty="0">
                <a:latin typeface="Georgia" panose="02040502050405020303" pitchFamily="18" charset="0"/>
              </a:rPr>
              <a:t>starts with a preposition</a:t>
            </a:r>
            <a:r>
              <a:rPr lang="en-US" dirty="0">
                <a:latin typeface="Georgia" panose="02040502050405020303" pitchFamily="18" charset="0"/>
              </a:rPr>
              <a:t> and usually </a:t>
            </a:r>
            <a:r>
              <a:rPr lang="en-US" b="1" dirty="0">
                <a:latin typeface="Georgia" panose="02040502050405020303" pitchFamily="18" charset="0"/>
              </a:rPr>
              <a:t>ends with a noun phrase (NP)</a:t>
            </a:r>
            <a:r>
              <a:rPr lang="en-US" dirty="0">
                <a:latin typeface="Georgia" panose="02040502050405020303" pitchFamily="18" charset="0"/>
              </a:rPr>
              <a:t>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It provides </a:t>
            </a:r>
            <a:r>
              <a:rPr lang="en-US" b="1" dirty="0">
                <a:latin typeface="Georgia" panose="02040502050405020303" pitchFamily="18" charset="0"/>
              </a:rPr>
              <a:t>additional information</a:t>
            </a:r>
            <a:r>
              <a:rPr lang="en-US" dirty="0">
                <a:latin typeface="Georgia" panose="02040502050405020303" pitchFamily="18" charset="0"/>
              </a:rPr>
              <a:t> about </a:t>
            </a:r>
            <a:r>
              <a:rPr lang="en-US" b="1" dirty="0">
                <a:latin typeface="Georgia" panose="02040502050405020303" pitchFamily="18" charset="0"/>
              </a:rPr>
              <a:t>time, place, manner, reason, or possession</a:t>
            </a:r>
            <a:r>
              <a:rPr lang="en-US" dirty="0">
                <a:latin typeface="Georgia" panose="02040502050405020303" pitchFamily="18" charset="0"/>
              </a:rPr>
              <a:t> in a sentence.</a:t>
            </a: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Head:</a:t>
            </a:r>
            <a:r>
              <a:rPr lang="en-US" dirty="0">
                <a:latin typeface="Georgia" panose="02040502050405020303" pitchFamily="18" charset="0"/>
              </a:rPr>
              <a:t> Preposition (P)</a:t>
            </a:r>
          </a:p>
          <a:p>
            <a:pPr algn="just"/>
            <a:r>
              <a:rPr lang="en-US" b="1" dirty="0">
                <a:latin typeface="Georgia" panose="02040502050405020303" pitchFamily="18" charset="0"/>
              </a:rPr>
              <a:t>Complement:</a:t>
            </a:r>
            <a:r>
              <a:rPr lang="en-US" dirty="0">
                <a:latin typeface="Georgia" panose="02040502050405020303" pitchFamily="18" charset="0"/>
              </a:rPr>
              <a:t> Noun Phrase (NP)</a:t>
            </a:r>
          </a:p>
          <a:p>
            <a:pPr algn="just"/>
            <a:r>
              <a:rPr lang="en-IN" dirty="0" smtClean="0">
                <a:latin typeface="Georgia" panose="02040502050405020303" pitchFamily="18" charset="0"/>
              </a:rPr>
              <a:t>Structure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PP → P + NP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P = Preposition (in, on, under, with, at, by, for, about, etc</a:t>
            </a:r>
            <a:r>
              <a:rPr lang="en-US" dirty="0" smtClean="0">
                <a:latin typeface="Georgia" panose="02040502050405020303" pitchFamily="18" charset="0"/>
              </a:rPr>
              <a:t>.)</a:t>
            </a:r>
            <a:endParaRPr lang="en-US" dirty="0">
              <a:latin typeface="Georgia" panose="02040502050405020303" pitchFamily="18" charset="0"/>
            </a:endParaRPr>
          </a:p>
          <a:p>
            <a:pPr algn="just"/>
            <a:r>
              <a:rPr lang="en-US" dirty="0">
                <a:latin typeface="Georgia" panose="02040502050405020303" pitchFamily="18" charset="0"/>
              </a:rPr>
              <a:t>NP = Noun Phrase (the park, my friend, the table, a cat)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379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7343630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27013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61185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Georgia" panose="02040502050405020303" pitchFamily="18" charset="0"/>
                        </a:rPr>
                        <a:t>PP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Breakdown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407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in the park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P = in, NP = the 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Shows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05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 dirty="0">
                          <a:latin typeface="Georgia" panose="02040502050405020303" pitchFamily="18" charset="0"/>
                        </a:rPr>
                        <a:t>with a spoon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P = with, NP = a spoon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Shows manner or instrument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526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at midnight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 = at, NP = midnight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Shows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54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i="1">
                          <a:latin typeface="Georgia" panose="02040502050405020303" pitchFamily="18" charset="0"/>
                        </a:rPr>
                        <a:t>for my friend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P = for, NP = my friend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Shows purpose or recipient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27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492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Example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i="1" dirty="0">
                <a:latin typeface="Georgia" panose="02040502050405020303" pitchFamily="18" charset="0"/>
              </a:rPr>
              <a:t>The dog slept on the couch.</a:t>
            </a:r>
            <a:endParaRPr lang="en-US" altLang="en-US" sz="2400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eorgia" panose="02040502050405020303" pitchFamily="18" charset="0"/>
              </a:rPr>
              <a:t>NP (subject):</a:t>
            </a:r>
            <a:r>
              <a:rPr lang="en-US" altLang="en-US" sz="2400" dirty="0">
                <a:latin typeface="Georgia" panose="02040502050405020303" pitchFamily="18" charset="0"/>
              </a:rPr>
              <a:t> The dog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eorgia" panose="02040502050405020303" pitchFamily="18" charset="0"/>
              </a:rPr>
              <a:t>VP (predicate):</a:t>
            </a:r>
            <a:r>
              <a:rPr lang="en-US" altLang="en-US" sz="2400" dirty="0">
                <a:latin typeface="Georgia" panose="02040502050405020303" pitchFamily="18" charset="0"/>
              </a:rPr>
              <a:t> slept on the couch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V (verb):</a:t>
            </a:r>
            <a:r>
              <a:rPr lang="en-US" altLang="en-US" dirty="0">
                <a:latin typeface="Georgia" panose="02040502050405020303" pitchFamily="18" charset="0"/>
              </a:rPr>
              <a:t> slept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PP (prepositional phrase):</a:t>
            </a:r>
            <a:r>
              <a:rPr lang="en-US" altLang="en-US" dirty="0">
                <a:latin typeface="Georgia" panose="02040502050405020303" pitchFamily="18" charset="0"/>
              </a:rPr>
              <a:t> on the couch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Georgia" panose="02040502050405020303" pitchFamily="18" charset="0"/>
              </a:rPr>
              <a:t>P = on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Georgia" panose="02040502050405020303" pitchFamily="18" charset="0"/>
              </a:rPr>
              <a:t>NP = the couch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903" y="1757234"/>
            <a:ext cx="2112229" cy="290682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3100" y="4917592"/>
          <a:ext cx="11218685" cy="1005840"/>
        </p:xfrm>
        <a:graphic>
          <a:graphicData uri="http://schemas.openxmlformats.org/drawingml/2006/table">
            <a:tbl>
              <a:tblPr/>
              <a:tblGrid>
                <a:gridCol w="2243737">
                  <a:extLst>
                    <a:ext uri="{9D8B030D-6E8A-4147-A177-3AD203B41FA5}">
                      <a16:colId xmlns:a16="http://schemas.microsoft.com/office/drawing/2014/main" val="584592524"/>
                    </a:ext>
                  </a:extLst>
                </a:gridCol>
                <a:gridCol w="2243737">
                  <a:extLst>
                    <a:ext uri="{9D8B030D-6E8A-4147-A177-3AD203B41FA5}">
                      <a16:colId xmlns:a16="http://schemas.microsoft.com/office/drawing/2014/main" val="785774567"/>
                    </a:ext>
                  </a:extLst>
                </a:gridCol>
                <a:gridCol w="2243737">
                  <a:extLst>
                    <a:ext uri="{9D8B030D-6E8A-4147-A177-3AD203B41FA5}">
                      <a16:colId xmlns:a16="http://schemas.microsoft.com/office/drawing/2014/main" val="2503253986"/>
                    </a:ext>
                  </a:extLst>
                </a:gridCol>
                <a:gridCol w="2243737">
                  <a:extLst>
                    <a:ext uri="{9D8B030D-6E8A-4147-A177-3AD203B41FA5}">
                      <a16:colId xmlns:a16="http://schemas.microsoft.com/office/drawing/2014/main" val="3285856574"/>
                    </a:ext>
                  </a:extLst>
                </a:gridCol>
                <a:gridCol w="2243737">
                  <a:extLst>
                    <a:ext uri="{9D8B030D-6E8A-4147-A177-3AD203B41FA5}">
                      <a16:colId xmlns:a16="http://schemas.microsoft.com/office/drawing/2014/main" val="1955470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Abbreviation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Stands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Complement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71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Prepositional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Preposition (P)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Noun Phrase (NP)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Georgia" panose="02040502050405020303" pitchFamily="18" charset="0"/>
                        </a:rPr>
                        <a:t>in the park, with a spoon</a:t>
                      </a:r>
                      <a:endParaRPr lang="en-US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06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95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Adverb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614" y="1439126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An </a:t>
            </a:r>
            <a:r>
              <a:rPr lang="en-US" b="1" dirty="0">
                <a:latin typeface="Georgia" panose="02040502050405020303" pitchFamily="18" charset="0"/>
              </a:rPr>
              <a:t>adverb (</a:t>
            </a:r>
            <a:r>
              <a:rPr lang="en-US" b="1" dirty="0" err="1">
                <a:latin typeface="Georgia" panose="02040502050405020303" pitchFamily="18" charset="0"/>
              </a:rPr>
              <a:t>Adv</a:t>
            </a:r>
            <a:r>
              <a:rPr lang="en-US" b="1" dirty="0">
                <a:latin typeface="Georgia" panose="02040502050405020303" pitchFamily="18" charset="0"/>
              </a:rPr>
              <a:t>)</a:t>
            </a:r>
            <a:r>
              <a:rPr lang="en-US" dirty="0">
                <a:latin typeface="Georgia" panose="02040502050405020303" pitchFamily="18" charset="0"/>
              </a:rPr>
              <a:t> is a word that </a:t>
            </a:r>
            <a:r>
              <a:rPr lang="en-US" b="1" dirty="0">
                <a:latin typeface="Georgia" panose="02040502050405020303" pitchFamily="18" charset="0"/>
              </a:rPr>
              <a:t>modifies or describes</a:t>
            </a:r>
            <a:r>
              <a:rPr lang="en-US" dirty="0">
                <a:latin typeface="Georgia" panose="02040502050405020303" pitchFamily="18" charset="0"/>
              </a:rPr>
              <a:t> a verb, an adjective, another adverb, or even a whole sentence.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It tells us more about </a:t>
            </a:r>
            <a:r>
              <a:rPr lang="en-US" b="1" dirty="0">
                <a:latin typeface="Georgia" panose="02040502050405020303" pitchFamily="18" charset="0"/>
              </a:rPr>
              <a:t>how, when, where, why, or to what extent</a:t>
            </a:r>
            <a:r>
              <a:rPr lang="en-US" dirty="0">
                <a:latin typeface="Georgia" panose="02040502050405020303" pitchFamily="18" charset="0"/>
              </a:rPr>
              <a:t> something happens.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3614" y="3073226"/>
          <a:ext cx="11086707" cy="3383280"/>
        </p:xfrm>
        <a:graphic>
          <a:graphicData uri="http://schemas.openxmlformats.org/drawingml/2006/table">
            <a:tbl>
              <a:tblPr/>
              <a:tblGrid>
                <a:gridCol w="3695569">
                  <a:extLst>
                    <a:ext uri="{9D8B030D-6E8A-4147-A177-3AD203B41FA5}">
                      <a16:colId xmlns:a16="http://schemas.microsoft.com/office/drawing/2014/main" val="1698318468"/>
                    </a:ext>
                  </a:extLst>
                </a:gridCol>
                <a:gridCol w="3695569">
                  <a:extLst>
                    <a:ext uri="{9D8B030D-6E8A-4147-A177-3AD203B41FA5}">
                      <a16:colId xmlns:a16="http://schemas.microsoft.com/office/drawing/2014/main" val="1893770136"/>
                    </a:ext>
                  </a:extLst>
                </a:gridCol>
                <a:gridCol w="3695569">
                  <a:extLst>
                    <a:ext uri="{9D8B030D-6E8A-4147-A177-3AD203B41FA5}">
                      <a16:colId xmlns:a16="http://schemas.microsoft.com/office/drawing/2014/main" val="1541367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208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Manner (how?)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quickly, slowly, carefully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Describes how the action is performed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02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Time (when?)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yesterday, now, soon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Tells when the action occurs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177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Place (where?)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here, there, everywhere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Indicates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17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Frequency (how often?)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always, often, never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Shows how often something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31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Degree / Intensity (how much?)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very, extremely, quite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Modifies adjectives or other adverbs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9536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Reason / Purpose (why?)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therefore, consequently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Modifies the whole sentence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717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5241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Example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Modifying a verb (action):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The dog </a:t>
            </a:r>
            <a:r>
              <a:rPr lang="en-US" altLang="en-US" b="1" i="1" dirty="0">
                <a:latin typeface="Georgia" panose="02040502050405020303" pitchFamily="18" charset="0"/>
              </a:rPr>
              <a:t>quickly</a:t>
            </a:r>
            <a:r>
              <a:rPr lang="en-US" altLang="en-US" i="1" dirty="0">
                <a:latin typeface="Georgia" panose="02040502050405020303" pitchFamily="18" charset="0"/>
              </a:rPr>
              <a:t> ran to the park.</a:t>
            </a:r>
            <a:r>
              <a:rPr lang="en-US" altLang="en-US" dirty="0">
                <a:latin typeface="Georgia" panose="02040502050405020303" pitchFamily="18" charset="0"/>
              </a:rPr>
              <a:t> → “quickly” tells </a:t>
            </a:r>
            <a:r>
              <a:rPr lang="en-US" altLang="en-US" b="1" dirty="0">
                <a:latin typeface="Georgia" panose="02040502050405020303" pitchFamily="18" charset="0"/>
              </a:rPr>
              <a:t>how</a:t>
            </a:r>
            <a:r>
              <a:rPr lang="en-US" altLang="en-US" dirty="0">
                <a:latin typeface="Georgia" panose="02040502050405020303" pitchFamily="18" charset="0"/>
              </a:rPr>
              <a:t> the dog ran.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Modifying an adjective: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The movie was </a:t>
            </a:r>
            <a:r>
              <a:rPr lang="en-US" altLang="en-US" b="1" i="1" dirty="0">
                <a:latin typeface="Georgia" panose="02040502050405020303" pitchFamily="18" charset="0"/>
              </a:rPr>
              <a:t>very</a:t>
            </a:r>
            <a:r>
              <a:rPr lang="en-US" altLang="en-US" i="1" dirty="0">
                <a:latin typeface="Georgia" panose="02040502050405020303" pitchFamily="18" charset="0"/>
              </a:rPr>
              <a:t> exciting.</a:t>
            </a:r>
            <a:r>
              <a:rPr lang="en-US" altLang="en-US" dirty="0">
                <a:latin typeface="Georgia" panose="02040502050405020303" pitchFamily="18" charset="0"/>
              </a:rPr>
              <a:t> → “very” intensifies the adjective </a:t>
            </a:r>
            <a:r>
              <a:rPr lang="en-US" altLang="en-US" i="1" dirty="0">
                <a:latin typeface="Georgia" panose="02040502050405020303" pitchFamily="18" charset="0"/>
              </a:rPr>
              <a:t>exciting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Modifying another adverb: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She ran </a:t>
            </a:r>
            <a:r>
              <a:rPr lang="en-US" altLang="en-US" b="1" i="1" dirty="0">
                <a:latin typeface="Georgia" panose="02040502050405020303" pitchFamily="18" charset="0"/>
              </a:rPr>
              <a:t>quite fast</a:t>
            </a:r>
            <a:r>
              <a:rPr lang="en-US" altLang="en-US" i="1" dirty="0">
                <a:latin typeface="Georgia" panose="02040502050405020303" pitchFamily="18" charset="0"/>
              </a:rPr>
              <a:t>.</a:t>
            </a:r>
            <a:r>
              <a:rPr lang="en-US" altLang="en-US" dirty="0">
                <a:latin typeface="Georgia" panose="02040502050405020303" pitchFamily="18" charset="0"/>
              </a:rPr>
              <a:t> → “quite” modifies the adverb </a:t>
            </a:r>
            <a:r>
              <a:rPr lang="en-US" altLang="en-US" i="1" dirty="0">
                <a:latin typeface="Georgia" panose="02040502050405020303" pitchFamily="18" charset="0"/>
              </a:rPr>
              <a:t>fast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Modifying a whole sentence: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i="1" dirty="0">
                <a:latin typeface="Georgia" panose="02040502050405020303" pitchFamily="18" charset="0"/>
              </a:rPr>
              <a:t>Unfortunately</a:t>
            </a:r>
            <a:r>
              <a:rPr lang="en-US" altLang="en-US" i="1" dirty="0">
                <a:latin typeface="Georgia" panose="02040502050405020303" pitchFamily="18" charset="0"/>
              </a:rPr>
              <a:t>, we missed the bus.</a:t>
            </a:r>
            <a:r>
              <a:rPr lang="en-US" altLang="en-US" dirty="0">
                <a:latin typeface="Georgia" panose="02040502050405020303" pitchFamily="18" charset="0"/>
              </a:rPr>
              <a:t> → “Unfortunately” comments on the entire sentence.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924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Placement in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Adverbs can appear </a:t>
            </a:r>
            <a:r>
              <a:rPr lang="en-US" altLang="en-US" b="1" dirty="0">
                <a:latin typeface="Georgia" panose="02040502050405020303" pitchFamily="18" charset="0"/>
              </a:rPr>
              <a:t>before or after the verb</a:t>
            </a:r>
            <a:r>
              <a:rPr lang="en-US" altLang="en-US" dirty="0">
                <a:latin typeface="Georgia" panose="02040502050405020303" pitchFamily="18" charset="0"/>
              </a:rPr>
              <a:t>, at the </a:t>
            </a:r>
            <a:r>
              <a:rPr lang="en-US" altLang="en-US" b="1" dirty="0">
                <a:latin typeface="Georgia" panose="02040502050405020303" pitchFamily="18" charset="0"/>
              </a:rPr>
              <a:t>start or end of a sentence</a:t>
            </a:r>
            <a:r>
              <a:rPr lang="en-US" altLang="en-US" dirty="0">
                <a:latin typeface="Georgia" panose="02040502050405020303" pitchFamily="18" charset="0"/>
              </a:rPr>
              <a:t>, depending on emphasis.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Georgia" panose="02040502050405020303" pitchFamily="18" charset="0"/>
              </a:rPr>
              <a:t>Example: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Quickly, she finished her homework.</a:t>
            </a:r>
            <a:endParaRPr lang="en-US" altLang="en-US" dirty="0">
              <a:latin typeface="Georgia" panose="02040502050405020303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Georgia" panose="02040502050405020303" pitchFamily="18" charset="0"/>
              </a:rPr>
              <a:t>She finished her homework quickly.</a:t>
            </a:r>
            <a:endParaRPr lang="en-US" altLang="en-US" dirty="0">
              <a:latin typeface="Georgia" panose="02040502050405020303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Georgia" panose="02040502050405020303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8200" y="4468392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123855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180852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681266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86161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Part of Speech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Example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495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Adverb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Adv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quickly, very, yesterday, here, always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Modifies verb, adjective, adverb, or sentence; tells how, when, where, why, or to what extent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504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5848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874939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772162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62127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Word(s)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37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D (Determiner)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the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Specifies the 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97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Georgia" panose="02040502050405020303" pitchFamily="18" charset="0"/>
                        </a:rPr>
                        <a:t>Adj</a:t>
                      </a:r>
                      <a:r>
                        <a:rPr lang="en-IN" b="1" dirty="0">
                          <a:latin typeface="Georgia" panose="02040502050405020303" pitchFamily="18" charset="0"/>
                        </a:rPr>
                        <a:t> (Adjective)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small / cozy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Describes the 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9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N (Noun)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dog / couch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Head of noun phrase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9906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NP (Noun Phrase)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The small dog / the cozy couch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Groups determiner, adjective, and noun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52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V (Verb)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slept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Main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882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Adv (Adverb)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quickly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Modifies the verb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5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PP (Prepositional Phrase)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on the cozy couch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Shows location of the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57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latin typeface="Georgia" panose="02040502050405020303" pitchFamily="18" charset="0"/>
                        </a:rPr>
                        <a:t>VP (Verb Phrase)</a:t>
                      </a:r>
                      <a:endParaRPr lang="en-IN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quickly slept on the cozy couch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Includes verb, adverb, and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522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26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879475">
              <a:lnSpc>
                <a:spcPct val="100000"/>
              </a:lnSpc>
              <a:spcBef>
                <a:spcPts val="105"/>
              </a:spcBef>
            </a:pPr>
            <a:r>
              <a:rPr dirty="0"/>
              <a:t>Transformational</a:t>
            </a:r>
            <a:r>
              <a:rPr spc="-270" dirty="0"/>
              <a:t> </a:t>
            </a:r>
            <a:r>
              <a:rPr spc="-10" dirty="0"/>
              <a:t>grammar</a:t>
            </a:r>
          </a:p>
        </p:txBody>
      </p:sp>
      <p:sp>
        <p:nvSpPr>
          <p:cNvPr id="4" name="object 4"/>
          <p:cNvSpPr/>
          <p:nvPr/>
        </p:nvSpPr>
        <p:spPr>
          <a:xfrm>
            <a:off x="5965940" y="3429001"/>
            <a:ext cx="260350" cy="762635"/>
          </a:xfrm>
          <a:custGeom>
            <a:avLst/>
            <a:gdLst/>
            <a:ahLst/>
            <a:cxnLst/>
            <a:rect l="l" t="t" r="r" b="b"/>
            <a:pathLst>
              <a:path w="260350" h="762635">
                <a:moveTo>
                  <a:pt x="24997" y="502219"/>
                </a:moveTo>
                <a:lnTo>
                  <a:pt x="14108" y="505968"/>
                </a:lnTo>
                <a:lnTo>
                  <a:pt x="5516" y="513586"/>
                </a:lnTo>
                <a:lnTo>
                  <a:pt x="710" y="523573"/>
                </a:lnTo>
                <a:lnTo>
                  <a:pt x="0" y="534632"/>
                </a:lnTo>
                <a:lnTo>
                  <a:pt x="3694" y="545464"/>
                </a:lnTo>
                <a:lnTo>
                  <a:pt x="130059" y="762126"/>
                </a:lnTo>
                <a:lnTo>
                  <a:pt x="163539" y="704723"/>
                </a:lnTo>
                <a:lnTo>
                  <a:pt x="101103" y="704723"/>
                </a:lnTo>
                <a:lnTo>
                  <a:pt x="101103" y="597589"/>
                </a:lnTo>
                <a:lnTo>
                  <a:pt x="53732" y="516381"/>
                </a:lnTo>
                <a:lnTo>
                  <a:pt x="46059" y="507771"/>
                </a:lnTo>
                <a:lnTo>
                  <a:pt x="36064" y="502935"/>
                </a:lnTo>
                <a:lnTo>
                  <a:pt x="24997" y="502219"/>
                </a:lnTo>
                <a:close/>
              </a:path>
              <a:path w="260350" h="762635">
                <a:moveTo>
                  <a:pt x="101103" y="597589"/>
                </a:moveTo>
                <a:lnTo>
                  <a:pt x="101103" y="704723"/>
                </a:lnTo>
                <a:lnTo>
                  <a:pt x="159015" y="704723"/>
                </a:lnTo>
                <a:lnTo>
                  <a:pt x="159015" y="690118"/>
                </a:lnTo>
                <a:lnTo>
                  <a:pt x="105040" y="690118"/>
                </a:lnTo>
                <a:lnTo>
                  <a:pt x="130059" y="647228"/>
                </a:lnTo>
                <a:lnTo>
                  <a:pt x="101103" y="597589"/>
                </a:lnTo>
                <a:close/>
              </a:path>
              <a:path w="260350" h="762635">
                <a:moveTo>
                  <a:pt x="235122" y="502219"/>
                </a:moveTo>
                <a:lnTo>
                  <a:pt x="224055" y="502935"/>
                </a:lnTo>
                <a:lnTo>
                  <a:pt x="214060" y="507771"/>
                </a:lnTo>
                <a:lnTo>
                  <a:pt x="206386" y="516381"/>
                </a:lnTo>
                <a:lnTo>
                  <a:pt x="159015" y="597589"/>
                </a:lnTo>
                <a:lnTo>
                  <a:pt x="159015" y="704723"/>
                </a:lnTo>
                <a:lnTo>
                  <a:pt x="163539" y="704723"/>
                </a:lnTo>
                <a:lnTo>
                  <a:pt x="256424" y="545464"/>
                </a:lnTo>
                <a:lnTo>
                  <a:pt x="260119" y="534632"/>
                </a:lnTo>
                <a:lnTo>
                  <a:pt x="259409" y="523573"/>
                </a:lnTo>
                <a:lnTo>
                  <a:pt x="254603" y="513586"/>
                </a:lnTo>
                <a:lnTo>
                  <a:pt x="246010" y="505968"/>
                </a:lnTo>
                <a:lnTo>
                  <a:pt x="235122" y="502219"/>
                </a:lnTo>
                <a:close/>
              </a:path>
              <a:path w="260350" h="762635">
                <a:moveTo>
                  <a:pt x="130059" y="647228"/>
                </a:moveTo>
                <a:lnTo>
                  <a:pt x="105040" y="690118"/>
                </a:lnTo>
                <a:lnTo>
                  <a:pt x="155078" y="690118"/>
                </a:lnTo>
                <a:lnTo>
                  <a:pt x="130059" y="647228"/>
                </a:lnTo>
                <a:close/>
              </a:path>
              <a:path w="260350" h="762635">
                <a:moveTo>
                  <a:pt x="159015" y="597589"/>
                </a:moveTo>
                <a:lnTo>
                  <a:pt x="130059" y="647228"/>
                </a:lnTo>
                <a:lnTo>
                  <a:pt x="155078" y="690118"/>
                </a:lnTo>
                <a:lnTo>
                  <a:pt x="159015" y="690118"/>
                </a:lnTo>
                <a:lnTo>
                  <a:pt x="159015" y="597589"/>
                </a:lnTo>
                <a:close/>
              </a:path>
              <a:path w="260350" h="762635">
                <a:moveTo>
                  <a:pt x="159015" y="0"/>
                </a:moveTo>
                <a:lnTo>
                  <a:pt x="101103" y="0"/>
                </a:lnTo>
                <a:lnTo>
                  <a:pt x="101103" y="597589"/>
                </a:lnTo>
                <a:lnTo>
                  <a:pt x="130059" y="647228"/>
                </a:lnTo>
                <a:lnTo>
                  <a:pt x="159015" y="597589"/>
                </a:lnTo>
                <a:lnTo>
                  <a:pt x="159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43457" y="2036763"/>
            <a:ext cx="7734934" cy="18091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A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sentence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rearranged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express </a:t>
            </a:r>
            <a:r>
              <a:rPr sz="3200" dirty="0">
                <a:latin typeface="Arial MT"/>
                <a:cs typeface="Arial MT"/>
              </a:rPr>
              <a:t>new</a:t>
            </a:r>
            <a:r>
              <a:rPr sz="3200" spc="-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meanings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(Chomsky,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1957).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Example:</a:t>
            </a:r>
            <a:endParaRPr sz="3200" dirty="0">
              <a:latin typeface="Arial MT"/>
              <a:cs typeface="Arial MT"/>
            </a:endParaRPr>
          </a:p>
          <a:p>
            <a:pPr marL="186055" algn="ctr">
              <a:spcBef>
                <a:spcPts val="2515"/>
              </a:spcBef>
            </a:pPr>
            <a:r>
              <a:rPr sz="3200" dirty="0">
                <a:latin typeface="Arial MT"/>
                <a:cs typeface="Arial MT"/>
              </a:rPr>
              <a:t>“Jessie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drank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cup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coffee”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6783" y="4168898"/>
            <a:ext cx="7830820" cy="17620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algn="ctr"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“Did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Jessie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drink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cup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coffee?”</a:t>
            </a:r>
            <a:endParaRPr sz="3200" dirty="0">
              <a:latin typeface="Arial MT"/>
              <a:cs typeface="Arial MT"/>
            </a:endParaRPr>
          </a:p>
          <a:p>
            <a:pPr marL="12700" marR="5080">
              <a:lnSpc>
                <a:spcPts val="3460"/>
              </a:lnSpc>
              <a:spcBef>
                <a:spcPts val="282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rules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that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allow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known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i="1" dirty="0">
                <a:latin typeface="Arial"/>
                <a:cs typeface="Arial"/>
              </a:rPr>
              <a:t>transformational</a:t>
            </a:r>
            <a:r>
              <a:rPr sz="3200" i="1" spc="-50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grammar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Transformational</a:t>
            </a:r>
            <a:r>
              <a:rPr lang="en-IN" spc="-270" dirty="0">
                <a:latin typeface="Georgia" panose="02040502050405020303" pitchFamily="18" charset="0"/>
              </a:rPr>
              <a:t> </a:t>
            </a:r>
            <a:r>
              <a:rPr lang="en-IN" spc="-10" dirty="0">
                <a:latin typeface="Georgia" panose="02040502050405020303" pitchFamily="18" charset="0"/>
              </a:rPr>
              <a:t>grammar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Georgia" panose="02040502050405020303" pitchFamily="18" charset="0"/>
              </a:rPr>
              <a:t>Sentence Rearrangement and </a:t>
            </a:r>
            <a:r>
              <a:rPr lang="en-IN" dirty="0" smtClean="0">
                <a:latin typeface="Georgia" panose="02040502050405020303" pitchFamily="18" charset="0"/>
              </a:rPr>
              <a:t>Meaning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Chomsky (1957) pointed out that </a:t>
            </a:r>
            <a:r>
              <a:rPr lang="en-US" b="1" dirty="0">
                <a:latin typeface="Georgia" panose="02040502050405020303" pitchFamily="18" charset="0"/>
              </a:rPr>
              <a:t>sentences in a language can be transformed to express different meanings</a:t>
            </a:r>
            <a:r>
              <a:rPr lang="en-US" dirty="0">
                <a:latin typeface="Georgia" panose="02040502050405020303" pitchFamily="18" charset="0"/>
              </a:rPr>
              <a:t> without changing the underlying idea.</a:t>
            </a:r>
          </a:p>
          <a:p>
            <a:r>
              <a:rPr lang="en-US" b="1" dirty="0">
                <a:latin typeface="Georgia" panose="02040502050405020303" pitchFamily="18" charset="0"/>
              </a:rPr>
              <a:t>Example:</a:t>
            </a:r>
            <a:r>
              <a:rPr lang="en-US" dirty="0">
                <a:latin typeface="Georgia" panose="02040502050405020303" pitchFamily="18" charset="0"/>
              </a:rPr>
              <a:t/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Original: </a:t>
            </a:r>
            <a:r>
              <a:rPr lang="en-US" i="1" dirty="0">
                <a:latin typeface="Georgia" panose="02040502050405020303" pitchFamily="18" charset="0"/>
              </a:rPr>
              <a:t>Jessie drank a cup of coffee.</a:t>
            </a:r>
            <a:r>
              <a:rPr lang="en-US" dirty="0">
                <a:latin typeface="Georgia" panose="02040502050405020303" pitchFamily="18" charset="0"/>
              </a:rPr>
              <a:t/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Question form: </a:t>
            </a:r>
            <a:r>
              <a:rPr lang="en-US" i="1" dirty="0">
                <a:latin typeface="Georgia" panose="02040502050405020303" pitchFamily="18" charset="0"/>
              </a:rPr>
              <a:t>Did Jessie drink a cup of coffee?</a:t>
            </a:r>
            <a:endParaRPr lang="en-US" dirty="0">
              <a:latin typeface="Georgia" panose="02040502050405020303" pitchFamily="18" charset="0"/>
            </a:endParaRPr>
          </a:p>
          <a:p>
            <a:pPr algn="just"/>
            <a:r>
              <a:rPr lang="en-US" dirty="0">
                <a:latin typeface="Georgia" panose="02040502050405020303" pitchFamily="18" charset="0"/>
              </a:rPr>
              <a:t>Here, the </a:t>
            </a:r>
            <a:r>
              <a:rPr lang="en-US" b="1" dirty="0">
                <a:latin typeface="Georgia" panose="02040502050405020303" pitchFamily="18" charset="0"/>
              </a:rPr>
              <a:t>words are rearranged</a:t>
            </a:r>
            <a:r>
              <a:rPr lang="en-US" dirty="0">
                <a:latin typeface="Georgia" panose="02040502050405020303" pitchFamily="18" charset="0"/>
              </a:rPr>
              <a:t>, and auxiliary verbs are added, but the core meaning (Jessie consuming coffee) remains.</a:t>
            </a:r>
          </a:p>
          <a:p>
            <a:pPr algn="just"/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83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8157"/>
            <a:ext cx="10515600" cy="54888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latin typeface="Georgia" panose="02040502050405020303" pitchFamily="18" charset="0"/>
              </a:rPr>
              <a:t>Definition</a:t>
            </a:r>
            <a:endParaRPr lang="en-US" b="1" dirty="0">
              <a:latin typeface="Georgia" panose="02040502050405020303" pitchFamily="18" charset="0"/>
            </a:endParaRPr>
          </a:p>
          <a:p>
            <a:r>
              <a:rPr lang="en-US" b="1" dirty="0">
                <a:latin typeface="Georgia" panose="02040502050405020303" pitchFamily="18" charset="0"/>
              </a:rPr>
              <a:t>Transformational Grammar</a:t>
            </a:r>
            <a:r>
              <a:rPr lang="en-US" dirty="0">
                <a:latin typeface="Georgia" panose="02040502050405020303" pitchFamily="18" charset="0"/>
              </a:rPr>
              <a:t> is a set of </a:t>
            </a:r>
            <a:r>
              <a:rPr lang="en-US" b="1" dirty="0">
                <a:latin typeface="Georgia" panose="02040502050405020303" pitchFamily="18" charset="0"/>
              </a:rPr>
              <a:t>rules</a:t>
            </a:r>
            <a:r>
              <a:rPr lang="en-US" dirty="0">
                <a:latin typeface="Georgia" panose="02040502050405020303" pitchFamily="18" charset="0"/>
              </a:rPr>
              <a:t> that describe how </a:t>
            </a:r>
            <a:r>
              <a:rPr lang="en-US" b="1" dirty="0">
                <a:latin typeface="Georgia" panose="02040502050405020303" pitchFamily="18" charset="0"/>
              </a:rPr>
              <a:t>deep structures</a:t>
            </a:r>
            <a:r>
              <a:rPr lang="en-US" dirty="0">
                <a:latin typeface="Georgia" panose="02040502050405020303" pitchFamily="18" charset="0"/>
              </a:rPr>
              <a:t> of a sentence (its underlying meaning) can be </a:t>
            </a:r>
            <a:r>
              <a:rPr lang="en-US" b="1" dirty="0">
                <a:latin typeface="Georgia" panose="02040502050405020303" pitchFamily="18" charset="0"/>
              </a:rPr>
              <a:t>transformed</a:t>
            </a:r>
            <a:r>
              <a:rPr lang="en-US" dirty="0">
                <a:latin typeface="Georgia" panose="02040502050405020303" pitchFamily="18" charset="0"/>
              </a:rPr>
              <a:t> into </a:t>
            </a:r>
            <a:r>
              <a:rPr lang="en-US" b="1" dirty="0">
                <a:latin typeface="Georgia" panose="02040502050405020303" pitchFamily="18" charset="0"/>
              </a:rPr>
              <a:t>surface structures</a:t>
            </a:r>
            <a:r>
              <a:rPr lang="en-US" dirty="0">
                <a:latin typeface="Georgia" panose="02040502050405020303" pitchFamily="18" charset="0"/>
              </a:rPr>
              <a:t> (the way it is actually spoken or written).</a:t>
            </a:r>
          </a:p>
          <a:p>
            <a:r>
              <a:rPr lang="en-US" b="1" dirty="0">
                <a:latin typeface="Georgia" panose="02040502050405020303" pitchFamily="18" charset="0"/>
              </a:rPr>
              <a:t>Deep Structure:</a:t>
            </a:r>
            <a:r>
              <a:rPr lang="en-US" dirty="0">
                <a:latin typeface="Georgia" panose="02040502050405020303" pitchFamily="18" charset="0"/>
              </a:rPr>
              <a:t> The basic semantic content or meaning.</a:t>
            </a:r>
          </a:p>
          <a:p>
            <a:pPr lvl="1"/>
            <a:r>
              <a:rPr lang="en-US" sz="2800" dirty="0">
                <a:latin typeface="Georgia" panose="02040502050405020303" pitchFamily="18" charset="0"/>
              </a:rPr>
              <a:t>Example: </a:t>
            </a:r>
            <a:r>
              <a:rPr lang="en-US" sz="2800" i="1" dirty="0">
                <a:latin typeface="Georgia" panose="02040502050405020303" pitchFamily="18" charset="0"/>
              </a:rPr>
              <a:t>Jessie drank a cup of coffee.</a:t>
            </a:r>
            <a:r>
              <a:rPr lang="en-US" sz="2800" dirty="0">
                <a:latin typeface="Georgia" panose="02040502050405020303" pitchFamily="18" charset="0"/>
              </a:rPr>
              <a:t> → simple statement</a:t>
            </a:r>
          </a:p>
          <a:p>
            <a:r>
              <a:rPr lang="en-US" b="1" dirty="0">
                <a:latin typeface="Georgia" panose="02040502050405020303" pitchFamily="18" charset="0"/>
              </a:rPr>
              <a:t>Surface Structure:</a:t>
            </a:r>
            <a:r>
              <a:rPr lang="en-US" dirty="0">
                <a:latin typeface="Georgia" panose="02040502050405020303" pitchFamily="18" charset="0"/>
              </a:rPr>
              <a:t> The way the sentence is expressed.</a:t>
            </a:r>
          </a:p>
          <a:p>
            <a:pPr lvl="1"/>
            <a:r>
              <a:rPr lang="en-US" sz="2800" dirty="0">
                <a:latin typeface="Georgia" panose="02040502050405020303" pitchFamily="18" charset="0"/>
              </a:rPr>
              <a:t>Example: </a:t>
            </a:r>
            <a:r>
              <a:rPr lang="en-US" sz="2800" i="1" dirty="0">
                <a:latin typeface="Georgia" panose="02040502050405020303" pitchFamily="18" charset="0"/>
              </a:rPr>
              <a:t>Did Jessie drink a cup of coffee?</a:t>
            </a:r>
            <a:r>
              <a:rPr lang="en-US" sz="2800" dirty="0">
                <a:latin typeface="Georgia" panose="02040502050405020303" pitchFamily="18" charset="0"/>
              </a:rPr>
              <a:t> → question form</a:t>
            </a:r>
          </a:p>
          <a:p>
            <a:pPr lvl="1"/>
            <a:r>
              <a:rPr lang="en-US" sz="2800" dirty="0">
                <a:latin typeface="Georgia" panose="02040502050405020303" pitchFamily="18" charset="0"/>
              </a:rPr>
              <a:t>Example: </a:t>
            </a:r>
            <a:r>
              <a:rPr lang="en-US" sz="2800" i="1" dirty="0">
                <a:latin typeface="Georgia" panose="02040502050405020303" pitchFamily="18" charset="0"/>
              </a:rPr>
              <a:t>Jessie didn’t drink a cup of coffee.</a:t>
            </a:r>
            <a:r>
              <a:rPr lang="en-US" sz="2800" dirty="0">
                <a:latin typeface="Georgia" panose="02040502050405020303" pitchFamily="18" charset="0"/>
              </a:rPr>
              <a:t> → negation</a:t>
            </a:r>
          </a:p>
        </p:txBody>
      </p:sp>
    </p:spTree>
    <p:extLst>
      <p:ext uri="{BB962C8B-B14F-4D97-AF65-F5344CB8AC3E}">
        <p14:creationId xmlns:p14="http://schemas.microsoft.com/office/powerpoint/2010/main" val="3318529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latin typeface="Georgia" panose="02040502050405020303" pitchFamily="18" charset="0"/>
              </a:rPr>
              <a:t>Helps </a:t>
            </a:r>
            <a:r>
              <a:rPr lang="en-US" dirty="0">
                <a:latin typeface="Georgia" panose="02040502050405020303" pitchFamily="18" charset="0"/>
              </a:rPr>
              <a:t>explain how humans can </a:t>
            </a:r>
            <a:r>
              <a:rPr lang="en-US" b="1" dirty="0">
                <a:latin typeface="Georgia" panose="02040502050405020303" pitchFamily="18" charset="0"/>
              </a:rPr>
              <a:t>generate infinitely many sentences</a:t>
            </a:r>
            <a:r>
              <a:rPr lang="en-US" dirty="0">
                <a:latin typeface="Georgia" panose="02040502050405020303" pitchFamily="18" charset="0"/>
              </a:rPr>
              <a:t> from a limited set of rules.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Shows that </a:t>
            </a:r>
            <a:r>
              <a:rPr lang="en-US" b="1" dirty="0">
                <a:latin typeface="Georgia" panose="02040502050405020303" pitchFamily="18" charset="0"/>
              </a:rPr>
              <a:t>syntax is not just linear word order</a:t>
            </a:r>
            <a:r>
              <a:rPr lang="en-US" dirty="0">
                <a:latin typeface="Georgia" panose="02040502050405020303" pitchFamily="18" charset="0"/>
              </a:rPr>
              <a:t>—it’s hierarchical and rule-governed.</a:t>
            </a:r>
          </a:p>
          <a:p>
            <a:pPr algn="just"/>
            <a:r>
              <a:rPr lang="en-US" dirty="0">
                <a:latin typeface="Georgia" panose="02040502050405020303" pitchFamily="18" charset="0"/>
              </a:rPr>
              <a:t>Forms the basis of </a:t>
            </a:r>
            <a:r>
              <a:rPr lang="en-US" b="1" dirty="0">
                <a:latin typeface="Georgia" panose="02040502050405020303" pitchFamily="18" charset="0"/>
              </a:rPr>
              <a:t>modern syntax theory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computational linguistics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74750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685903"/>
              </p:ext>
            </p:extLst>
          </p:nvPr>
        </p:nvGraphicFramePr>
        <p:xfrm>
          <a:off x="753359" y="1058716"/>
          <a:ext cx="10515600" cy="1463040"/>
        </p:xfrm>
        <a:graphic>
          <a:graphicData uri="http://schemas.openxmlformats.org/drawingml/2006/table">
            <a:tbl>
              <a:tblPr/>
              <a:tblGrid>
                <a:gridCol w="3111631">
                  <a:extLst>
                    <a:ext uri="{9D8B030D-6E8A-4147-A177-3AD203B41FA5}">
                      <a16:colId xmlns:a16="http://schemas.microsoft.com/office/drawing/2014/main" val="3392972515"/>
                    </a:ext>
                  </a:extLst>
                </a:gridCol>
                <a:gridCol w="3054284">
                  <a:extLst>
                    <a:ext uri="{9D8B030D-6E8A-4147-A177-3AD203B41FA5}">
                      <a16:colId xmlns:a16="http://schemas.microsoft.com/office/drawing/2014/main" val="2686711420"/>
                    </a:ext>
                  </a:extLst>
                </a:gridCol>
                <a:gridCol w="4349685">
                  <a:extLst>
                    <a:ext uri="{9D8B030D-6E8A-4147-A177-3AD203B41FA5}">
                      <a16:colId xmlns:a16="http://schemas.microsoft.com/office/drawing/2014/main" val="1800480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Deep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Transformation 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Surface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55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Jessie drank a cup of coffee.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Make it a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Did Jessie drink a cup of coffee?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104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Jessie drank a cup of coffee.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Make it 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Jessie did not drink a cup of coffee.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851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Jessie drank a cup of coffee.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Emphasize 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It was a cup of coffee that Jessie drank.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02989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46527" y="3271349"/>
            <a:ext cx="105224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Transformational grammar explains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how sentences can change form but retain meaning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 distinguishes between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deep structure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(meaning)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surface structure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(form).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 allows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questions, negations, emphasis, and other variations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from the same core idea</a:t>
            </a:r>
          </a:p>
        </p:txBody>
      </p:sp>
    </p:spTree>
    <p:extLst>
      <p:ext uri="{BB962C8B-B14F-4D97-AF65-F5344CB8AC3E}">
        <p14:creationId xmlns:p14="http://schemas.microsoft.com/office/powerpoint/2010/main" val="6688765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828854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30124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Aphasias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869713" y="1767776"/>
            <a:ext cx="8009255" cy="42208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spcBef>
                <a:spcPts val="865"/>
              </a:spcBef>
              <a:buClr>
                <a:srgbClr val="A2C145"/>
              </a:buClr>
              <a:buSzPct val="79687"/>
              <a:buFont typeface="Times New Roman"/>
              <a:buChar char="•"/>
              <a:tabLst>
                <a:tab pos="354965" algn="l"/>
              </a:tabLst>
            </a:pPr>
            <a:r>
              <a:rPr sz="3200" dirty="0">
                <a:latin typeface="Georgia" panose="02040502050405020303" pitchFamily="18" charset="0"/>
                <a:cs typeface="Arial MT"/>
              </a:rPr>
              <a:t>Language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deficits</a:t>
            </a:r>
            <a:r>
              <a:rPr sz="32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are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known</a:t>
            </a:r>
            <a:r>
              <a:rPr sz="32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as</a:t>
            </a:r>
            <a:r>
              <a:rPr sz="32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i="1" spc="-10" dirty="0">
                <a:latin typeface="Georgia" panose="02040502050405020303" pitchFamily="18" charset="0"/>
                <a:cs typeface="Arial"/>
              </a:rPr>
              <a:t>aphasias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.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355600" marR="5080" indent="-342900">
              <a:spcBef>
                <a:spcPts val="770"/>
              </a:spcBef>
              <a:buClr>
                <a:srgbClr val="A2C145"/>
              </a:buClr>
              <a:buSzPct val="79687"/>
              <a:buFont typeface="Times New Roman"/>
              <a:buChar char="•"/>
              <a:tabLst>
                <a:tab pos="355600" algn="l"/>
              </a:tabLst>
            </a:pPr>
            <a:r>
              <a:rPr sz="3200" dirty="0">
                <a:latin typeface="Georgia" panose="02040502050405020303" pitchFamily="18" charset="0"/>
                <a:cs typeface="Arial MT"/>
              </a:rPr>
              <a:t>In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Broca’s</a:t>
            </a:r>
            <a:r>
              <a:rPr sz="3200" i="1" spc="-45" dirty="0">
                <a:latin typeface="Georgia" panose="02040502050405020303" pitchFamily="18" charset="0"/>
                <a:cs typeface="Arial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aphasia</a:t>
            </a:r>
            <a:r>
              <a:rPr sz="3200" i="1" spc="-65" dirty="0">
                <a:latin typeface="Georgia" panose="02040502050405020303" pitchFamily="18" charset="0"/>
                <a:cs typeface="Arial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patients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have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problems </a:t>
            </a:r>
            <a:r>
              <a:rPr sz="3200" dirty="0">
                <a:latin typeface="Georgia" panose="02040502050405020303" pitchFamily="18" charset="0"/>
                <a:cs typeface="Arial MT"/>
              </a:rPr>
              <a:t>producing</a:t>
            </a:r>
            <a:r>
              <a:rPr sz="32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speech.</a:t>
            </a:r>
            <a:r>
              <a:rPr sz="32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They</a:t>
            </a:r>
            <a:r>
              <a:rPr sz="3200" spc="-4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have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damage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5" dirty="0">
                <a:latin typeface="Georgia" panose="02040502050405020303" pitchFamily="18" charset="0"/>
                <a:cs typeface="Arial MT"/>
              </a:rPr>
              <a:t>to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Broca’s</a:t>
            </a:r>
            <a:r>
              <a:rPr sz="3200" i="1" spc="-45" dirty="0">
                <a:latin typeface="Georgia" panose="02040502050405020303" pitchFamily="18" charset="0"/>
                <a:cs typeface="Arial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area</a:t>
            </a:r>
            <a:r>
              <a:rPr sz="3200" i="1" spc="-60" dirty="0">
                <a:latin typeface="Georgia" panose="02040502050405020303" pitchFamily="18" charset="0"/>
                <a:cs typeface="Arial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on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the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lower</a:t>
            </a:r>
            <a:r>
              <a:rPr sz="32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left</a:t>
            </a:r>
            <a:r>
              <a:rPr sz="32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frontal</a:t>
            </a:r>
            <a:r>
              <a:rPr sz="3200" spc="-4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lobe.</a:t>
            </a:r>
            <a:endParaRPr sz="3200" dirty="0">
              <a:latin typeface="Georgia" panose="02040502050405020303" pitchFamily="18" charset="0"/>
              <a:cs typeface="Arial MT"/>
            </a:endParaRPr>
          </a:p>
          <a:p>
            <a:pPr marL="355600" marR="487045" indent="-342900">
              <a:spcBef>
                <a:spcPts val="770"/>
              </a:spcBef>
              <a:buClr>
                <a:srgbClr val="A2C145"/>
              </a:buClr>
              <a:buSzPct val="79687"/>
              <a:buFont typeface="Times New Roman"/>
              <a:buChar char="•"/>
              <a:tabLst>
                <a:tab pos="355600" algn="l"/>
              </a:tabLst>
            </a:pPr>
            <a:r>
              <a:rPr sz="3200" dirty="0">
                <a:latin typeface="Georgia" panose="02040502050405020303" pitchFamily="18" charset="0"/>
                <a:cs typeface="Arial MT"/>
              </a:rPr>
              <a:t>In</a:t>
            </a:r>
            <a:r>
              <a:rPr sz="3200" spc="-9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Wernicke’s</a:t>
            </a:r>
            <a:r>
              <a:rPr sz="3200" i="1" spc="-95" dirty="0">
                <a:latin typeface="Georgia" panose="02040502050405020303" pitchFamily="18" charset="0"/>
                <a:cs typeface="Arial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aphasia</a:t>
            </a:r>
            <a:r>
              <a:rPr sz="3200" i="1" spc="-75" dirty="0">
                <a:latin typeface="Georgia" panose="02040502050405020303" pitchFamily="18" charset="0"/>
                <a:cs typeface="Arial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patients</a:t>
            </a:r>
            <a:r>
              <a:rPr sz="3200" spc="-8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0" dirty="0">
                <a:latin typeface="Georgia" panose="02040502050405020303" pitchFamily="18" charset="0"/>
                <a:cs typeface="Arial MT"/>
              </a:rPr>
              <a:t>have </a:t>
            </a:r>
            <a:r>
              <a:rPr sz="3200" dirty="0">
                <a:latin typeface="Georgia" panose="02040502050405020303" pitchFamily="18" charset="0"/>
                <a:cs typeface="Arial MT"/>
              </a:rPr>
              <a:t>problems</a:t>
            </a:r>
            <a:r>
              <a:rPr sz="3200" spc="-9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comprehending</a:t>
            </a:r>
            <a:r>
              <a:rPr sz="3200" spc="-9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speech.</a:t>
            </a:r>
            <a:r>
              <a:rPr sz="3200" spc="-13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0" dirty="0">
                <a:latin typeface="Georgia" panose="02040502050405020303" pitchFamily="18" charset="0"/>
                <a:cs typeface="Arial MT"/>
              </a:rPr>
              <a:t>They </a:t>
            </a:r>
            <a:r>
              <a:rPr sz="3200" dirty="0">
                <a:latin typeface="Georgia" panose="02040502050405020303" pitchFamily="18" charset="0"/>
                <a:cs typeface="Arial MT"/>
              </a:rPr>
              <a:t>have</a:t>
            </a:r>
            <a:r>
              <a:rPr sz="32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damage</a:t>
            </a:r>
            <a:r>
              <a:rPr sz="3200" spc="-7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to</a:t>
            </a:r>
            <a:r>
              <a:rPr sz="32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Wernicke’s</a:t>
            </a:r>
            <a:r>
              <a:rPr sz="3200" i="1" spc="-60" dirty="0">
                <a:latin typeface="Georgia" panose="02040502050405020303" pitchFamily="18" charset="0"/>
                <a:cs typeface="Arial"/>
              </a:rPr>
              <a:t> </a:t>
            </a:r>
            <a:r>
              <a:rPr sz="3200" i="1" dirty="0">
                <a:latin typeface="Georgia" panose="02040502050405020303" pitchFamily="18" charset="0"/>
                <a:cs typeface="Arial"/>
              </a:rPr>
              <a:t>area</a:t>
            </a:r>
            <a:r>
              <a:rPr sz="3200" i="1" spc="-65" dirty="0">
                <a:latin typeface="Georgia" panose="02040502050405020303" pitchFamily="18" charset="0"/>
                <a:cs typeface="Arial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on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25" dirty="0">
                <a:latin typeface="Georgia" panose="02040502050405020303" pitchFamily="18" charset="0"/>
                <a:cs typeface="Arial MT"/>
              </a:rPr>
              <a:t>the </a:t>
            </a:r>
            <a:r>
              <a:rPr sz="3200" dirty="0">
                <a:latin typeface="Georgia" panose="02040502050405020303" pitchFamily="18" charset="0"/>
                <a:cs typeface="Arial MT"/>
              </a:rPr>
              <a:t>posterior</a:t>
            </a:r>
            <a:r>
              <a:rPr sz="3200" spc="-6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portion</a:t>
            </a:r>
            <a:r>
              <a:rPr sz="32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of</a:t>
            </a:r>
            <a:r>
              <a:rPr sz="3200" spc="-35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the</a:t>
            </a:r>
            <a:r>
              <a:rPr sz="32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dirty="0">
                <a:latin typeface="Georgia" panose="02040502050405020303" pitchFamily="18" charset="0"/>
                <a:cs typeface="Arial MT"/>
              </a:rPr>
              <a:t>left</a:t>
            </a:r>
            <a:r>
              <a:rPr sz="3200" spc="-30" dirty="0">
                <a:latin typeface="Georgia" panose="02040502050405020303" pitchFamily="18" charset="0"/>
                <a:cs typeface="Arial MT"/>
              </a:rPr>
              <a:t> </a:t>
            </a:r>
            <a:r>
              <a:rPr sz="3200" spc="-10" dirty="0">
                <a:latin typeface="Georgia" panose="02040502050405020303" pitchFamily="18" charset="0"/>
                <a:cs typeface="Arial MT"/>
              </a:rPr>
              <a:t>hemisphere.</a:t>
            </a:r>
            <a:endParaRPr sz="3200" dirty="0">
              <a:latin typeface="Georgia" panose="02040502050405020303" pitchFamily="18" charset="0"/>
              <a:cs typeface="Arial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Aphasia: Language Deficits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Definition:</a:t>
            </a:r>
            <a:r>
              <a:rPr lang="en-US" altLang="en-US" dirty="0">
                <a:latin typeface="Georgia" panose="02040502050405020303" pitchFamily="18" charset="0"/>
              </a:rPr>
              <a:t> Aphasia refers to </a:t>
            </a:r>
            <a:r>
              <a:rPr lang="en-US" altLang="en-US" b="1" dirty="0">
                <a:latin typeface="Georgia" panose="02040502050405020303" pitchFamily="18" charset="0"/>
              </a:rPr>
              <a:t>partial or complete loss of the ability to produce or comprehend language</a:t>
            </a:r>
            <a:r>
              <a:rPr lang="en-US" altLang="en-US" dirty="0">
                <a:latin typeface="Georgia" panose="02040502050405020303" pitchFamily="18" charset="0"/>
              </a:rPr>
              <a:t> due to brain damage.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It usually occurs </a:t>
            </a:r>
            <a:r>
              <a:rPr lang="en-US" altLang="en-US" b="1" dirty="0">
                <a:latin typeface="Georgia" panose="02040502050405020303" pitchFamily="18" charset="0"/>
              </a:rPr>
              <a:t>after stroke, traumatic brain injury, or neurological disease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algn="just"/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3527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latin typeface="Georgia" panose="02040502050405020303" pitchFamily="18" charset="0"/>
              </a:rPr>
              <a:t>Broca’s</a:t>
            </a:r>
            <a:r>
              <a:rPr lang="en-IN" dirty="0">
                <a:latin typeface="Georgia" panose="02040502050405020303" pitchFamily="18" charset="0"/>
              </a:rPr>
              <a:t> Aphasia (Non-fluent Aphasia)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008"/>
            <a:ext cx="11096134" cy="4696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Key Features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Speech Production Problems:</a:t>
            </a:r>
            <a:r>
              <a:rPr lang="en-US" sz="2200" dirty="0">
                <a:latin typeface="Georgia" panose="02040502050405020303" pitchFamily="18" charset="0"/>
              </a:rPr>
              <a:t> Patients </a:t>
            </a:r>
            <a:r>
              <a:rPr lang="en-US" sz="2200" b="1" dirty="0">
                <a:latin typeface="Georgia" panose="02040502050405020303" pitchFamily="18" charset="0"/>
              </a:rPr>
              <a:t>struggle to form complete sentences</a:t>
            </a:r>
            <a:r>
              <a:rPr lang="en-US" sz="2200" dirty="0">
                <a:latin typeface="Georgia" panose="02040502050405020303" pitchFamily="18" charset="0"/>
              </a:rPr>
              <a:t>; speech is slow, effortful, and often limited to key content words (nouns, verbs).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Comprehension:</a:t>
            </a:r>
            <a:r>
              <a:rPr lang="en-US" sz="2200" dirty="0">
                <a:latin typeface="Georgia" panose="02040502050405020303" pitchFamily="18" charset="0"/>
              </a:rPr>
              <a:t> Generally </a:t>
            </a:r>
            <a:r>
              <a:rPr lang="en-US" sz="2200" b="1" dirty="0">
                <a:latin typeface="Georgia" panose="02040502050405020303" pitchFamily="18" charset="0"/>
              </a:rPr>
              <a:t>relatively preserved</a:t>
            </a:r>
            <a:r>
              <a:rPr lang="en-US" sz="2200" dirty="0">
                <a:latin typeface="Georgia" panose="02040502050405020303" pitchFamily="18" charset="0"/>
              </a:rPr>
              <a:t>, especially for simple sentences.</a:t>
            </a:r>
          </a:p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Brain Area</a:t>
            </a:r>
          </a:p>
          <a:p>
            <a:r>
              <a:rPr lang="en-US" sz="2200" b="1" dirty="0" err="1">
                <a:latin typeface="Georgia" panose="02040502050405020303" pitchFamily="18" charset="0"/>
              </a:rPr>
              <a:t>Broca’s</a:t>
            </a:r>
            <a:r>
              <a:rPr lang="en-US" sz="2200" b="1" dirty="0">
                <a:latin typeface="Georgia" panose="02040502050405020303" pitchFamily="18" charset="0"/>
              </a:rPr>
              <a:t> Area:</a:t>
            </a:r>
            <a:r>
              <a:rPr lang="en-US" sz="2200" dirty="0">
                <a:latin typeface="Georgia" panose="02040502050405020303" pitchFamily="18" charset="0"/>
              </a:rPr>
              <a:t> Located in the </a:t>
            </a:r>
            <a:r>
              <a:rPr lang="en-US" sz="2200" b="1" dirty="0">
                <a:latin typeface="Georgia" panose="02040502050405020303" pitchFamily="18" charset="0"/>
              </a:rPr>
              <a:t>lower left frontal lobe</a:t>
            </a:r>
            <a:r>
              <a:rPr lang="en-US" sz="2200" dirty="0">
                <a:latin typeface="Georgia" panose="02040502050405020303" pitchFamily="18" charset="0"/>
              </a:rPr>
              <a:t> (specifically in the posterior part of the inferior frontal gyrus).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Function:</a:t>
            </a:r>
            <a:r>
              <a:rPr lang="en-US" sz="2200" dirty="0">
                <a:latin typeface="Georgia" panose="02040502050405020303" pitchFamily="18" charset="0"/>
              </a:rPr>
              <a:t> Involved in </a:t>
            </a:r>
            <a:r>
              <a:rPr lang="en-US" sz="2200" b="1" dirty="0">
                <a:latin typeface="Georgia" panose="02040502050405020303" pitchFamily="18" charset="0"/>
              </a:rPr>
              <a:t>speech production, grammar, and sentence construction</a:t>
            </a:r>
            <a:r>
              <a:rPr lang="en-US" sz="2200" dirty="0" smtClean="0">
                <a:latin typeface="Georgia" panose="020405020504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Example</a:t>
            </a:r>
          </a:p>
          <a:p>
            <a:r>
              <a:rPr lang="en-US" sz="2200" dirty="0">
                <a:latin typeface="Georgia" panose="02040502050405020303" pitchFamily="18" charset="0"/>
              </a:rPr>
              <a:t>Patient may say: </a:t>
            </a:r>
            <a:r>
              <a:rPr lang="en-US" sz="2200" i="1" dirty="0">
                <a:latin typeface="Georgia" panose="02040502050405020303" pitchFamily="18" charset="0"/>
              </a:rPr>
              <a:t>“...want… coffee…”</a:t>
            </a:r>
            <a:r>
              <a:rPr lang="en-US" sz="2200" dirty="0">
                <a:latin typeface="Georgia" panose="02040502050405020303" pitchFamily="18" charset="0"/>
              </a:rPr>
              <a:t> instead of </a:t>
            </a:r>
            <a:r>
              <a:rPr lang="en-US" sz="2200" i="1" dirty="0">
                <a:latin typeface="Georgia" panose="02040502050405020303" pitchFamily="18" charset="0"/>
              </a:rPr>
              <a:t>“I want a cup of coffee.”</a:t>
            </a:r>
            <a:endParaRPr lang="en-US" sz="2200" dirty="0">
              <a:latin typeface="Georgia" panose="02040502050405020303" pitchFamily="18" charset="0"/>
            </a:endParaRPr>
          </a:p>
          <a:p>
            <a:r>
              <a:rPr lang="en-US" sz="2200" dirty="0">
                <a:latin typeface="Georgia" panose="02040502050405020303" pitchFamily="18" charset="0"/>
              </a:rPr>
              <a:t>They understand questions like </a:t>
            </a:r>
            <a:r>
              <a:rPr lang="en-US" sz="2200" i="1" dirty="0">
                <a:latin typeface="Georgia" panose="02040502050405020303" pitchFamily="18" charset="0"/>
              </a:rPr>
              <a:t>“Do you want coffee?”</a:t>
            </a:r>
            <a:r>
              <a:rPr lang="en-US" sz="2200" dirty="0">
                <a:latin typeface="Georgia" panose="02040502050405020303" pitchFamily="18" charset="0"/>
              </a:rPr>
              <a:t> but have trouble producing </a:t>
            </a:r>
            <a:r>
              <a:rPr lang="en-US" sz="2200" dirty="0" smtClean="0">
                <a:latin typeface="Georgia" panose="02040502050405020303" pitchFamily="18" charset="0"/>
              </a:rPr>
              <a:t>them</a:t>
            </a:r>
            <a:endParaRPr lang="en-US" sz="2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7321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97" y="104136"/>
            <a:ext cx="10515600" cy="1325563"/>
          </a:xfrm>
        </p:spPr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Wernicke’s Aphasia (Fluent Aphasia)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28" y="1234911"/>
            <a:ext cx="11415859" cy="45461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Key Features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Speech Production:</a:t>
            </a:r>
            <a:r>
              <a:rPr lang="en-US" sz="2200" dirty="0">
                <a:latin typeface="Georgia" panose="02040502050405020303" pitchFamily="18" charset="0"/>
              </a:rPr>
              <a:t> Patients can speak fluently with normal grammar and rhythm, but the </a:t>
            </a:r>
            <a:r>
              <a:rPr lang="en-US" sz="2200" b="1" dirty="0">
                <a:latin typeface="Georgia" panose="02040502050405020303" pitchFamily="18" charset="0"/>
              </a:rPr>
              <a:t>content may be meaningless or filled with nonsensical words</a:t>
            </a:r>
            <a:r>
              <a:rPr lang="en-US" sz="2200" dirty="0">
                <a:latin typeface="Georgia" panose="02040502050405020303" pitchFamily="18" charset="0"/>
              </a:rPr>
              <a:t>.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Comprehension:</a:t>
            </a:r>
            <a:r>
              <a:rPr lang="en-US" sz="2200" dirty="0">
                <a:latin typeface="Georgia" panose="02040502050405020303" pitchFamily="18" charset="0"/>
              </a:rPr>
              <a:t> Patients </a:t>
            </a:r>
            <a:r>
              <a:rPr lang="en-US" sz="2200" b="1" dirty="0">
                <a:latin typeface="Georgia" panose="02040502050405020303" pitchFamily="18" charset="0"/>
              </a:rPr>
              <a:t>have difficulty understanding language</a:t>
            </a:r>
            <a:r>
              <a:rPr lang="en-US" sz="2200" dirty="0">
                <a:latin typeface="Georgia" panose="02040502050405020303" pitchFamily="18" charset="0"/>
              </a:rPr>
              <a:t>, both spoken and written.</a:t>
            </a:r>
          </a:p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Brain Area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Wernicke’s Area:</a:t>
            </a:r>
            <a:r>
              <a:rPr lang="en-US" sz="2200" dirty="0">
                <a:latin typeface="Georgia" panose="02040502050405020303" pitchFamily="18" charset="0"/>
              </a:rPr>
              <a:t> Located in the </a:t>
            </a:r>
            <a:r>
              <a:rPr lang="en-US" sz="2200" b="1" dirty="0">
                <a:latin typeface="Georgia" panose="02040502050405020303" pitchFamily="18" charset="0"/>
              </a:rPr>
              <a:t>posterior portion of the left superior temporal gyrus</a:t>
            </a:r>
            <a:r>
              <a:rPr lang="en-US" sz="2200" dirty="0">
                <a:latin typeface="Georgia" panose="02040502050405020303" pitchFamily="18" charset="0"/>
              </a:rPr>
              <a:t> (posterior left hemisphere).</a:t>
            </a:r>
          </a:p>
          <a:p>
            <a:r>
              <a:rPr lang="en-US" sz="2200" b="1" dirty="0">
                <a:latin typeface="Georgia" panose="02040502050405020303" pitchFamily="18" charset="0"/>
              </a:rPr>
              <a:t>Function:</a:t>
            </a:r>
            <a:r>
              <a:rPr lang="en-US" sz="2200" dirty="0">
                <a:latin typeface="Georgia" panose="02040502050405020303" pitchFamily="18" charset="0"/>
              </a:rPr>
              <a:t> Critical for </a:t>
            </a:r>
            <a:r>
              <a:rPr lang="en-US" sz="2200" b="1" dirty="0">
                <a:latin typeface="Georgia" panose="02040502050405020303" pitchFamily="18" charset="0"/>
              </a:rPr>
              <a:t>language comprehension and semantic </a:t>
            </a:r>
            <a:r>
              <a:rPr lang="en-US" sz="2200" b="1" dirty="0" smtClean="0">
                <a:latin typeface="Georgia" panose="02040502050405020303" pitchFamily="18" charset="0"/>
              </a:rPr>
              <a:t>processing.</a:t>
            </a:r>
          </a:p>
          <a:p>
            <a:pPr marL="0" indent="0">
              <a:buNone/>
            </a:pPr>
            <a:r>
              <a:rPr lang="en-US" sz="2200" b="1" dirty="0">
                <a:latin typeface="Georgia" panose="02040502050405020303" pitchFamily="18" charset="0"/>
              </a:rPr>
              <a:t>Example</a:t>
            </a:r>
          </a:p>
          <a:p>
            <a:r>
              <a:rPr lang="en-US" sz="2200" dirty="0">
                <a:latin typeface="Georgia" panose="02040502050405020303" pitchFamily="18" charset="0"/>
              </a:rPr>
              <a:t>Patient may say: </a:t>
            </a:r>
            <a:r>
              <a:rPr lang="en-US" sz="2200" i="1" dirty="0">
                <a:latin typeface="Georgia" panose="02040502050405020303" pitchFamily="18" charset="0"/>
              </a:rPr>
              <a:t>“I went to the… uh… table… no, the river… yesterday… thingy.”</a:t>
            </a:r>
            <a:endParaRPr lang="en-US" sz="2200" dirty="0">
              <a:latin typeface="Georgia" panose="02040502050405020303" pitchFamily="18" charset="0"/>
            </a:endParaRPr>
          </a:p>
          <a:p>
            <a:r>
              <a:rPr lang="en-US" sz="2200" dirty="0">
                <a:latin typeface="Georgia" panose="02040502050405020303" pitchFamily="18" charset="0"/>
              </a:rPr>
              <a:t>They cannot reliably answer comprehension questions like </a:t>
            </a:r>
            <a:r>
              <a:rPr lang="en-US" sz="2200" i="1" dirty="0">
                <a:latin typeface="Georgia" panose="02040502050405020303" pitchFamily="18" charset="0"/>
              </a:rPr>
              <a:t>“Did you drink coffee today?”</a:t>
            </a:r>
            <a:endParaRPr lang="en-US" sz="22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2146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latin typeface="Georgia" panose="02040502050405020303" pitchFamily="18" charset="0"/>
              </a:rPr>
              <a:t>Broca’s</a:t>
            </a:r>
            <a:r>
              <a:rPr lang="en-US" altLang="en-US" b="1" dirty="0">
                <a:latin typeface="Georgia" panose="02040502050405020303" pitchFamily="18" charset="0"/>
              </a:rPr>
              <a:t> aphasia:</a:t>
            </a:r>
            <a:r>
              <a:rPr lang="en-US" altLang="en-US" dirty="0">
                <a:latin typeface="Georgia" panose="02040502050405020303" pitchFamily="18" charset="0"/>
              </a:rPr>
              <a:t> “I know what I want to say but can’t say it properly.”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Wernicke’s aphasia:</a:t>
            </a:r>
            <a:r>
              <a:rPr lang="en-US" altLang="en-US" dirty="0">
                <a:latin typeface="Georgia" panose="02040502050405020303" pitchFamily="18" charset="0"/>
              </a:rPr>
              <a:t> “I can say words easily, but they may not make sense, and I don’t fully understand others.”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Both highlight how </a:t>
            </a:r>
            <a:r>
              <a:rPr lang="en-US" altLang="en-US" b="1" dirty="0">
                <a:latin typeface="Georgia" panose="02040502050405020303" pitchFamily="18" charset="0"/>
              </a:rPr>
              <a:t>specific brain regions are critical for different aspects of language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469593"/>
              </p:ext>
            </p:extLst>
          </p:nvPr>
        </p:nvGraphicFramePr>
        <p:xfrm>
          <a:off x="838200" y="4960943"/>
          <a:ext cx="10515600" cy="13716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623687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820433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891665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3413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Type of Aphasia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Speech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Comprehension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Brain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74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Georgia" panose="02040502050405020303" pitchFamily="18" charset="0"/>
                        </a:rPr>
                        <a:t>Broca’s</a:t>
                      </a:r>
                      <a:r>
                        <a:rPr lang="en-IN" dirty="0">
                          <a:latin typeface="Georgia" panose="02040502050405020303" pitchFamily="18" charset="0"/>
                        </a:rPr>
                        <a:t> (Non-fluent)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Difficult, slow, halting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Mostly preserved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Lower left frontal lobe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36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Wernicke’s (Fluent)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Fluent but meaningless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Impaired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Posterior left hemisphere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286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6945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682619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601980">
              <a:lnSpc>
                <a:spcPct val="100000"/>
              </a:lnSpc>
              <a:spcBef>
                <a:spcPts val="105"/>
              </a:spcBef>
            </a:pPr>
            <a:r>
              <a:rPr dirty="0"/>
              <a:t>Natural</a:t>
            </a:r>
            <a:r>
              <a:rPr spc="-35" dirty="0"/>
              <a:t> </a:t>
            </a:r>
            <a:r>
              <a:rPr dirty="0"/>
              <a:t>language</a:t>
            </a:r>
            <a:r>
              <a:rPr spc="-30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20015" y="1767776"/>
            <a:ext cx="8349615" cy="46608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 marR="5080" indent="-609600">
              <a:spcBef>
                <a:spcPts val="105"/>
              </a:spcBef>
              <a:tabLst>
                <a:tab pos="621665" algn="l"/>
              </a:tabLst>
            </a:pPr>
            <a:r>
              <a:rPr sz="2550" spc="1989" dirty="0">
                <a:latin typeface="Microsoft Sans Serif"/>
                <a:cs typeface="Microsoft Sans Serif"/>
              </a:rPr>
              <a:t>🞂</a:t>
            </a:r>
            <a:r>
              <a:rPr sz="2550" dirty="0">
                <a:latin typeface="Microsoft Sans Serif"/>
                <a:cs typeface="Microsoft Sans Serif"/>
              </a:rPr>
              <a:t>​	</a:t>
            </a:r>
            <a:r>
              <a:rPr sz="3200" i="1" dirty="0">
                <a:latin typeface="Arial"/>
                <a:cs typeface="Arial"/>
              </a:rPr>
              <a:t>Natural</a:t>
            </a:r>
            <a:r>
              <a:rPr sz="3200" i="1" spc="-5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languages</a:t>
            </a:r>
            <a:r>
              <a:rPr sz="3200" i="1" spc="-40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evolved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are </a:t>
            </a:r>
            <a:r>
              <a:rPr sz="3200" dirty="0">
                <a:latin typeface="Arial MT"/>
                <a:cs typeface="Arial MT"/>
              </a:rPr>
              <a:t>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humans.</a:t>
            </a:r>
            <a:endParaRPr sz="3200" dirty="0">
              <a:latin typeface="Arial MT"/>
              <a:cs typeface="Arial MT"/>
            </a:endParaRPr>
          </a:p>
          <a:p>
            <a:pPr marL="621665" marR="1990089" indent="-609600">
              <a:spcBef>
                <a:spcPts val="770"/>
              </a:spcBef>
              <a:tabLst>
                <a:tab pos="621665" algn="l"/>
              </a:tabLst>
            </a:pPr>
            <a:r>
              <a:rPr sz="2550" spc="1989" dirty="0">
                <a:latin typeface="Microsoft Sans Serif"/>
                <a:cs typeface="Microsoft Sans Serif"/>
              </a:rPr>
              <a:t>🞂</a:t>
            </a:r>
            <a:r>
              <a:rPr sz="2550" dirty="0">
                <a:latin typeface="Microsoft Sans Serif"/>
                <a:cs typeface="Microsoft Sans Serif"/>
              </a:rPr>
              <a:t>​	</a:t>
            </a:r>
            <a:r>
              <a:rPr sz="3200" dirty="0">
                <a:latin typeface="Arial MT"/>
                <a:cs typeface="Arial MT"/>
              </a:rPr>
              <a:t>Four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stages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natural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language </a:t>
            </a:r>
            <a:r>
              <a:rPr sz="3200" dirty="0">
                <a:latin typeface="Arial MT"/>
                <a:cs typeface="Arial MT"/>
              </a:rPr>
              <a:t>processing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(Cawsey,</a:t>
            </a:r>
            <a:r>
              <a:rPr sz="3200" spc="-1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1998):</a:t>
            </a:r>
            <a:endParaRPr sz="3200" dirty="0">
              <a:latin typeface="Arial MT"/>
              <a:cs typeface="Arial MT"/>
            </a:endParaRPr>
          </a:p>
          <a:p>
            <a:pPr marL="1002665" lvl="1" indent="-533400">
              <a:spcBef>
                <a:spcPts val="68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dirty="0">
                <a:latin typeface="Arial MT"/>
                <a:cs typeface="Arial MT"/>
              </a:rPr>
              <a:t>Speech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recognition.</a:t>
            </a:r>
            <a:endParaRPr sz="2800" dirty="0">
              <a:latin typeface="Arial MT"/>
              <a:cs typeface="Arial MT"/>
            </a:endParaRPr>
          </a:p>
          <a:p>
            <a:pPr marL="1002665" lvl="1" indent="-533400">
              <a:spcBef>
                <a:spcPts val="67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dirty="0">
                <a:latin typeface="Arial MT"/>
                <a:cs typeface="Arial MT"/>
              </a:rPr>
              <a:t>Syntactic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analysis.</a:t>
            </a:r>
            <a:endParaRPr sz="2800" dirty="0">
              <a:latin typeface="Arial MT"/>
              <a:cs typeface="Arial MT"/>
            </a:endParaRPr>
          </a:p>
          <a:p>
            <a:pPr marL="1002665" lvl="1" indent="-533400">
              <a:spcBef>
                <a:spcPts val="670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dirty="0">
                <a:latin typeface="Arial MT"/>
                <a:cs typeface="Arial MT"/>
              </a:rPr>
              <a:t>Semantic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analysis.</a:t>
            </a:r>
            <a:endParaRPr sz="2800" dirty="0">
              <a:latin typeface="Arial MT"/>
              <a:cs typeface="Arial MT"/>
            </a:endParaRPr>
          </a:p>
          <a:p>
            <a:pPr marL="1002665" lvl="1" indent="-533400">
              <a:spcBef>
                <a:spcPts val="67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dirty="0">
                <a:latin typeface="Arial MT"/>
                <a:cs typeface="Arial MT"/>
              </a:rPr>
              <a:t>Pragmatic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analysis.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Georgia" panose="02040502050405020303" pitchFamily="18" charset="0"/>
              </a:rPr>
              <a:t>Natural</a:t>
            </a:r>
            <a:r>
              <a:rPr lang="en-IN" spc="-35" dirty="0">
                <a:latin typeface="Georgia" panose="02040502050405020303" pitchFamily="18" charset="0"/>
              </a:rPr>
              <a:t> </a:t>
            </a:r>
            <a:r>
              <a:rPr lang="en-IN" dirty="0">
                <a:latin typeface="Georgia" panose="02040502050405020303" pitchFamily="18" charset="0"/>
              </a:rPr>
              <a:t>language</a:t>
            </a:r>
            <a:r>
              <a:rPr lang="en-IN" spc="-30" dirty="0">
                <a:latin typeface="Georgia" panose="02040502050405020303" pitchFamily="18" charset="0"/>
              </a:rPr>
              <a:t> </a:t>
            </a:r>
            <a:r>
              <a:rPr lang="en-IN" spc="-10" dirty="0">
                <a:latin typeface="Georgia" panose="02040502050405020303" pitchFamily="18" charset="0"/>
              </a:rPr>
              <a:t>processing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Definition:</a:t>
            </a:r>
            <a:r>
              <a:rPr lang="en-US" altLang="en-US" dirty="0">
                <a:latin typeface="Georgia" panose="02040502050405020303" pitchFamily="18" charset="0"/>
              </a:rPr>
              <a:t> Natural languages are languages that have </a:t>
            </a:r>
            <a:r>
              <a:rPr lang="en-US" altLang="en-US" b="1" dirty="0">
                <a:latin typeface="Georgia" panose="02040502050405020303" pitchFamily="18" charset="0"/>
              </a:rPr>
              <a:t>evolved naturally</a:t>
            </a:r>
            <a:r>
              <a:rPr lang="en-US" altLang="en-US" dirty="0">
                <a:latin typeface="Georgia" panose="02040502050405020303" pitchFamily="18" charset="0"/>
              </a:rPr>
              <a:t> among humans over time (e.g., English, Spanish, Chinese).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Key Point:</a:t>
            </a:r>
            <a:r>
              <a:rPr lang="en-US" altLang="en-US" dirty="0">
                <a:latin typeface="Georgia" panose="02040502050405020303" pitchFamily="18" charset="0"/>
              </a:rPr>
              <a:t> They are </a:t>
            </a:r>
            <a:r>
              <a:rPr lang="en-US" altLang="en-US" b="1" dirty="0">
                <a:latin typeface="Georgia" panose="02040502050405020303" pitchFamily="18" charset="0"/>
              </a:rPr>
              <a:t>used for communication</a:t>
            </a:r>
            <a:r>
              <a:rPr lang="en-US" altLang="en-US" dirty="0">
                <a:latin typeface="Georgia" panose="02040502050405020303" pitchFamily="18" charset="0"/>
              </a:rPr>
              <a:t>, not artificially created like programming languages.</a:t>
            </a:r>
          </a:p>
        </p:txBody>
      </p:sp>
    </p:spTree>
    <p:extLst>
      <p:ext uri="{BB962C8B-B14F-4D97-AF65-F5344CB8AC3E}">
        <p14:creationId xmlns:p14="http://schemas.microsoft.com/office/powerpoint/2010/main" val="24675959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Natural Language Processing (NLP)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Definition:</a:t>
            </a:r>
            <a:r>
              <a:rPr lang="en-US" altLang="en-US" dirty="0">
                <a:latin typeface="Georgia" panose="02040502050405020303" pitchFamily="18" charset="0"/>
              </a:rPr>
              <a:t> NLP is the field of study that focuses on </a:t>
            </a:r>
            <a:r>
              <a:rPr lang="en-US" altLang="en-US" b="1" dirty="0">
                <a:latin typeface="Georgia" panose="02040502050405020303" pitchFamily="18" charset="0"/>
              </a:rPr>
              <a:t>how computers can understand, interpret, and generate human language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According to </a:t>
            </a:r>
            <a:r>
              <a:rPr lang="en-US" altLang="en-US" b="1" dirty="0" err="1">
                <a:latin typeface="Georgia" panose="02040502050405020303" pitchFamily="18" charset="0"/>
              </a:rPr>
              <a:t>Cawsey</a:t>
            </a:r>
            <a:r>
              <a:rPr lang="en-US" altLang="en-US" b="1" dirty="0">
                <a:latin typeface="Georgia" panose="02040502050405020303" pitchFamily="18" charset="0"/>
              </a:rPr>
              <a:t> (1998)</a:t>
            </a:r>
            <a:r>
              <a:rPr lang="en-US" altLang="en-US" dirty="0">
                <a:latin typeface="Georgia" panose="02040502050405020303" pitchFamily="18" charset="0"/>
              </a:rPr>
              <a:t>, NLP involves </a:t>
            </a:r>
            <a:r>
              <a:rPr lang="en-US" altLang="en-US" b="1" dirty="0">
                <a:latin typeface="Georgia" panose="02040502050405020303" pitchFamily="18" charset="0"/>
              </a:rPr>
              <a:t>four main stages</a:t>
            </a:r>
            <a:r>
              <a:rPr lang="en-US" altLang="en-US" dirty="0">
                <a:latin typeface="Georgia" panose="02040502050405020303" pitchFamily="18" charset="0"/>
              </a:rPr>
              <a:t>, each progressively analyzing language at a deeper level.</a:t>
            </a:r>
          </a:p>
        </p:txBody>
      </p:sp>
    </p:spTree>
    <p:extLst>
      <p:ext uri="{BB962C8B-B14F-4D97-AF65-F5344CB8AC3E}">
        <p14:creationId xmlns:p14="http://schemas.microsoft.com/office/powerpoint/2010/main" val="30687420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Stage 1: Speech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Goal:</a:t>
            </a:r>
            <a:r>
              <a:rPr lang="en-US" altLang="en-US" dirty="0">
                <a:latin typeface="Georgia" panose="02040502050405020303" pitchFamily="18" charset="0"/>
              </a:rPr>
              <a:t> Convert </a:t>
            </a:r>
            <a:r>
              <a:rPr lang="en-US" altLang="en-US" b="1" dirty="0">
                <a:latin typeface="Georgia" panose="02040502050405020303" pitchFamily="18" charset="0"/>
              </a:rPr>
              <a:t>spoken language into text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Tasks:</a:t>
            </a:r>
            <a:endParaRPr lang="en-US" altLang="en-US" dirty="0"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Identify words from sounds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Georgia" panose="02040502050405020303" pitchFamily="18" charset="0"/>
              </a:rPr>
              <a:t>Handle </a:t>
            </a:r>
            <a:r>
              <a:rPr lang="en-US" altLang="en-US" dirty="0">
                <a:latin typeface="Georgia" panose="02040502050405020303" pitchFamily="18" charset="0"/>
              </a:rPr>
              <a:t>accents, pronunciation variations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eorgia" panose="02040502050405020303" pitchFamily="18" charset="0"/>
              </a:rPr>
              <a:t>Example:</a:t>
            </a:r>
            <a:r>
              <a:rPr lang="en-US" altLang="en-US" dirty="0">
                <a:latin typeface="Georgia" panose="02040502050405020303" pitchFamily="18" charset="0"/>
              </a:rPr>
              <a:t> </a:t>
            </a:r>
            <a:r>
              <a:rPr lang="en-US" altLang="en-US" i="1" dirty="0">
                <a:latin typeface="Georgia" panose="02040502050405020303" pitchFamily="18" charset="0"/>
              </a:rPr>
              <a:t>Siri or Alexa converting “Turn on the lights” into text commands</a:t>
            </a:r>
            <a:endParaRPr lang="en-US" alt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1246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Convert Speech to Spectrogram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Input</a:t>
            </a:r>
            <a:r>
              <a:rPr lang="en-US" b="1" dirty="0">
                <a:latin typeface="Georgia" panose="02040502050405020303" pitchFamily="18" charset="0"/>
              </a:rPr>
              <a:t>:</a:t>
            </a:r>
            <a:r>
              <a:rPr lang="en-US" dirty="0">
                <a:latin typeface="Georgia" panose="02040502050405020303" pitchFamily="18" charset="0"/>
              </a:rPr>
              <a:t> Recorded spoken language (audio signal).</a:t>
            </a:r>
          </a:p>
          <a:p>
            <a:r>
              <a:rPr lang="en-US" b="1" dirty="0">
                <a:latin typeface="Georgia" panose="02040502050405020303" pitchFamily="18" charset="0"/>
              </a:rPr>
              <a:t>Process: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The audio signal is analyzed to produce a </a:t>
            </a:r>
            <a:r>
              <a:rPr lang="en-US" b="1" dirty="0">
                <a:latin typeface="Georgia" panose="02040502050405020303" pitchFamily="18" charset="0"/>
              </a:rPr>
              <a:t>speech spectrogram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 spectrogram shows </a:t>
            </a:r>
            <a:r>
              <a:rPr lang="en-US" b="1" dirty="0">
                <a:latin typeface="Georgia" panose="02040502050405020303" pitchFamily="18" charset="0"/>
              </a:rPr>
              <a:t>how the frequency of the speech changes over time</a:t>
            </a:r>
            <a:r>
              <a:rPr lang="en-US" dirty="0">
                <a:latin typeface="Georgia" panose="02040502050405020303" pitchFamily="18" charset="0"/>
              </a:rPr>
              <a:t>, visualizing pitch and intensity.</a:t>
            </a:r>
          </a:p>
          <a:p>
            <a:r>
              <a:rPr lang="en-US" b="1" dirty="0">
                <a:latin typeface="Georgia" panose="02040502050405020303" pitchFamily="18" charset="0"/>
              </a:rPr>
              <a:t>Purpose:</a:t>
            </a:r>
            <a:r>
              <a:rPr lang="en-US" dirty="0">
                <a:latin typeface="Georgia" panose="02040502050405020303" pitchFamily="18" charset="0"/>
              </a:rPr>
              <a:t> Helps the system </a:t>
            </a:r>
            <a:r>
              <a:rPr lang="en-US" b="1" dirty="0">
                <a:latin typeface="Georgia" panose="02040502050405020303" pitchFamily="18" charset="0"/>
              </a:rPr>
              <a:t>identify acoustic patterns</a:t>
            </a:r>
            <a:r>
              <a:rPr lang="en-US" dirty="0">
                <a:latin typeface="Georgia" panose="02040502050405020303" pitchFamily="18" charset="0"/>
              </a:rPr>
              <a:t> in speech.</a:t>
            </a:r>
          </a:p>
          <a:p>
            <a:r>
              <a:rPr lang="en-US" b="1" dirty="0">
                <a:latin typeface="Georgia" panose="02040502050405020303" pitchFamily="18" charset="0"/>
              </a:rPr>
              <a:t>Example:</a:t>
            </a:r>
            <a:r>
              <a:rPr lang="en-US" dirty="0">
                <a:latin typeface="Georgia" panose="02040502050405020303" pitchFamily="18" charset="0"/>
              </a:rPr>
              <a:t> A spectrogram of </a:t>
            </a:r>
            <a:r>
              <a:rPr lang="en-US" i="1" dirty="0">
                <a:latin typeface="Georgia" panose="02040502050405020303" pitchFamily="18" charset="0"/>
              </a:rPr>
              <a:t>“Hello”</a:t>
            </a:r>
            <a:r>
              <a:rPr lang="en-US" dirty="0">
                <a:latin typeface="Georgia" panose="02040502050405020303" pitchFamily="18" charset="0"/>
              </a:rPr>
              <a:t> will show distinct frequency bands for /h/, /ɛ/, /l/, /</a:t>
            </a:r>
            <a:r>
              <a:rPr lang="en-US" dirty="0" err="1">
                <a:latin typeface="Georgia" panose="02040502050405020303" pitchFamily="18" charset="0"/>
              </a:rPr>
              <a:t>oʊ</a:t>
            </a:r>
            <a:r>
              <a:rPr lang="en-US" dirty="0">
                <a:latin typeface="Georgia" panose="02040502050405020303" pitchFamily="18" charset="0"/>
              </a:rPr>
              <a:t>/.</a:t>
            </a:r>
          </a:p>
        </p:txBody>
      </p:sp>
    </p:spTree>
    <p:extLst>
      <p:ext uri="{BB962C8B-B14F-4D97-AF65-F5344CB8AC3E}">
        <p14:creationId xmlns:p14="http://schemas.microsoft.com/office/powerpoint/2010/main" val="30620575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Extract Phonemes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Phonemes</a:t>
            </a:r>
            <a:r>
              <a:rPr lang="en-US" b="1" dirty="0">
                <a:latin typeface="Georgia" panose="02040502050405020303" pitchFamily="18" charset="0"/>
              </a:rPr>
              <a:t>:</a:t>
            </a:r>
            <a:r>
              <a:rPr lang="en-US" dirty="0">
                <a:latin typeface="Georgia" panose="02040502050405020303" pitchFamily="18" charset="0"/>
              </a:rPr>
              <a:t> The </a:t>
            </a:r>
            <a:r>
              <a:rPr lang="en-US" b="1" dirty="0">
                <a:latin typeface="Georgia" panose="02040502050405020303" pitchFamily="18" charset="0"/>
              </a:rPr>
              <a:t>smallest units of sound</a:t>
            </a:r>
            <a:r>
              <a:rPr lang="en-US" dirty="0">
                <a:latin typeface="Georgia" panose="02040502050405020303" pitchFamily="18" charset="0"/>
              </a:rPr>
              <a:t> that distinguish meaning in a language.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Example: /b/ and /p/ in </a:t>
            </a:r>
            <a:r>
              <a:rPr lang="en-US" i="1" dirty="0">
                <a:latin typeface="Georgia" panose="02040502050405020303" pitchFamily="18" charset="0"/>
              </a:rPr>
              <a:t>bat</a:t>
            </a:r>
            <a:r>
              <a:rPr lang="en-US" dirty="0">
                <a:latin typeface="Georgia" panose="02040502050405020303" pitchFamily="18" charset="0"/>
              </a:rPr>
              <a:t> vs </a:t>
            </a:r>
            <a:r>
              <a:rPr lang="en-US" i="1" dirty="0">
                <a:latin typeface="Georgia" panose="02040502050405020303" pitchFamily="18" charset="0"/>
              </a:rPr>
              <a:t>pat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r>
              <a:rPr lang="en-US" b="1" dirty="0">
                <a:latin typeface="Georgia" panose="02040502050405020303" pitchFamily="18" charset="0"/>
              </a:rPr>
              <a:t>Process: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The ASR system analyzes the spectrogram to detect </a:t>
            </a:r>
            <a:r>
              <a:rPr lang="en-US" b="1" dirty="0">
                <a:latin typeface="Georgia" panose="02040502050405020303" pitchFamily="18" charset="0"/>
              </a:rPr>
              <a:t>phonemes from the continuous speech stream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This step converts the raw audio into </a:t>
            </a:r>
            <a:r>
              <a:rPr lang="en-US" b="1" dirty="0">
                <a:latin typeface="Georgia" panose="02040502050405020303" pitchFamily="18" charset="0"/>
              </a:rPr>
              <a:t>recognizable speech sounds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44512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Assemble Phonemes into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3332"/>
            <a:ext cx="10515600" cy="4351338"/>
          </a:xfrm>
        </p:spPr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Process</a:t>
            </a:r>
            <a:r>
              <a:rPr lang="en-US" b="1" dirty="0">
                <a:latin typeface="Georgia" panose="02040502050405020303" pitchFamily="18" charset="0"/>
              </a:rPr>
              <a:t>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Detected phonemes are </a:t>
            </a:r>
            <a:r>
              <a:rPr lang="en-US" b="1" dirty="0">
                <a:latin typeface="Georgia" panose="02040502050405020303" pitchFamily="18" charset="0"/>
              </a:rPr>
              <a:t>grouped together</a:t>
            </a:r>
            <a:r>
              <a:rPr lang="en-US" dirty="0">
                <a:latin typeface="Georgia" panose="02040502050405020303" pitchFamily="18" charset="0"/>
              </a:rPr>
              <a:t> to form words using a </a:t>
            </a:r>
            <a:r>
              <a:rPr lang="en-US" b="1" dirty="0">
                <a:latin typeface="Georgia" panose="02040502050405020303" pitchFamily="18" charset="0"/>
              </a:rPr>
              <a:t>lexicon (dictionary of words)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The system also uses </a:t>
            </a:r>
            <a:r>
              <a:rPr lang="en-US" b="1" dirty="0">
                <a:latin typeface="Georgia" panose="02040502050405020303" pitchFamily="18" charset="0"/>
              </a:rPr>
              <a:t>language models</a:t>
            </a:r>
            <a:r>
              <a:rPr lang="en-US" dirty="0">
                <a:latin typeface="Georgia" panose="02040502050405020303" pitchFamily="18" charset="0"/>
              </a:rPr>
              <a:t> to choose the most likely word sequences based on context.</a:t>
            </a:r>
          </a:p>
          <a:p>
            <a:r>
              <a:rPr lang="en-US" b="1" dirty="0">
                <a:latin typeface="Georgia" panose="02040502050405020303" pitchFamily="18" charset="0"/>
              </a:rPr>
              <a:t>Output:</a:t>
            </a:r>
            <a:r>
              <a:rPr lang="en-US" dirty="0">
                <a:latin typeface="Georgia" panose="02040502050405020303" pitchFamily="18" charset="0"/>
              </a:rPr>
              <a:t> A coherent </a:t>
            </a:r>
            <a:r>
              <a:rPr lang="en-US" b="1" dirty="0">
                <a:latin typeface="Georgia" panose="02040502050405020303" pitchFamily="18" charset="0"/>
              </a:rPr>
              <a:t>text transcript</a:t>
            </a:r>
            <a:r>
              <a:rPr lang="en-US" dirty="0">
                <a:latin typeface="Georgia" panose="02040502050405020303" pitchFamily="18" charset="0"/>
              </a:rPr>
              <a:t> of the original speech.</a:t>
            </a:r>
          </a:p>
          <a:p>
            <a:r>
              <a:rPr lang="en-US" b="1" dirty="0">
                <a:latin typeface="Georgia" panose="02040502050405020303" pitchFamily="18" charset="0"/>
              </a:rPr>
              <a:t>Example: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Phonemes detected: /d/ /ɔ/ /g/ → Assembled word: </a:t>
            </a:r>
            <a:r>
              <a:rPr lang="en-US" i="1" dirty="0">
                <a:latin typeface="Georgia" panose="02040502050405020303" pitchFamily="18" charset="0"/>
              </a:rPr>
              <a:t>dog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259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043868"/>
              </p:ext>
            </p:extLst>
          </p:nvPr>
        </p:nvGraphicFramePr>
        <p:xfrm>
          <a:off x="800493" y="1180323"/>
          <a:ext cx="10515600" cy="22860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97433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37526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6323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47962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658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Speech → Spectrogram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Audio 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Convert frequencies over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Visual representation of sound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56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Phoneme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Spectrogram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Identify basic speech sounds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Sequence of phonemes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459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Phoneme →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Phonemes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Group into words using lexicon and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Text transcript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175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6875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Stage 2: Syntactic Analysis (Parsing)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Goal</a:t>
            </a:r>
            <a:r>
              <a:rPr lang="en-US" b="1" dirty="0">
                <a:latin typeface="Georgia" panose="02040502050405020303" pitchFamily="18" charset="0"/>
              </a:rPr>
              <a:t>:</a:t>
            </a:r>
            <a:r>
              <a:rPr lang="en-US" dirty="0">
                <a:latin typeface="Georgia" panose="02040502050405020303" pitchFamily="18" charset="0"/>
              </a:rPr>
              <a:t> Understand the </a:t>
            </a:r>
            <a:r>
              <a:rPr lang="en-US" b="1" dirty="0">
                <a:latin typeface="Georgia" panose="02040502050405020303" pitchFamily="18" charset="0"/>
              </a:rPr>
              <a:t>grammatical structure</a:t>
            </a:r>
            <a:r>
              <a:rPr lang="en-US" dirty="0">
                <a:latin typeface="Georgia" panose="02040502050405020303" pitchFamily="18" charset="0"/>
              </a:rPr>
              <a:t> of a sentence.</a:t>
            </a:r>
          </a:p>
          <a:p>
            <a:r>
              <a:rPr lang="en-US" b="1" dirty="0">
                <a:latin typeface="Georgia" panose="02040502050405020303" pitchFamily="18" charset="0"/>
              </a:rPr>
              <a:t>Tasks: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Identify parts of speech (noun, verb, adjective, etc.)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Build </a:t>
            </a:r>
            <a:r>
              <a:rPr lang="en-US" b="1" dirty="0">
                <a:latin typeface="Georgia" panose="02040502050405020303" pitchFamily="18" charset="0"/>
              </a:rPr>
              <a:t>phrase structure trees</a:t>
            </a:r>
            <a:r>
              <a:rPr lang="en-US" dirty="0">
                <a:latin typeface="Georgia" panose="02040502050405020303" pitchFamily="18" charset="0"/>
              </a:rPr>
              <a:t> (NP, VP, PP)</a:t>
            </a:r>
          </a:p>
          <a:p>
            <a:r>
              <a:rPr lang="en-US" b="1" dirty="0">
                <a:latin typeface="Georgia" panose="02040502050405020303" pitchFamily="18" charset="0"/>
              </a:rPr>
              <a:t>Example: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Sentence: </a:t>
            </a:r>
            <a:r>
              <a:rPr lang="en-US" i="1" dirty="0">
                <a:latin typeface="Georgia" panose="02040502050405020303" pitchFamily="18" charset="0"/>
              </a:rPr>
              <a:t>“The dog chased the cat.”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NP (subject) = </a:t>
            </a:r>
            <a:r>
              <a:rPr lang="en-US" i="1" dirty="0">
                <a:latin typeface="Georgia" panose="02040502050405020303" pitchFamily="18" charset="0"/>
              </a:rPr>
              <a:t>The dog</a:t>
            </a:r>
            <a:r>
              <a:rPr lang="en-US" dirty="0">
                <a:latin typeface="Georgia" panose="02040502050405020303" pitchFamily="18" charset="0"/>
              </a:rPr>
              <a:t>, VP (predicate) = </a:t>
            </a:r>
            <a:r>
              <a:rPr lang="en-US" i="1" dirty="0">
                <a:latin typeface="Georgia" panose="02040502050405020303" pitchFamily="18" charset="0"/>
              </a:rPr>
              <a:t>chased the cat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237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Stage 3: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Georgia" panose="02040502050405020303" pitchFamily="18" charset="0"/>
              </a:rPr>
              <a:t>Goal</a:t>
            </a:r>
          </a:p>
          <a:p>
            <a:r>
              <a:rPr lang="en-US" dirty="0">
                <a:latin typeface="Georgia" panose="02040502050405020303" pitchFamily="18" charset="0"/>
              </a:rPr>
              <a:t>To </a:t>
            </a:r>
            <a:r>
              <a:rPr lang="en-US" b="1" dirty="0">
                <a:latin typeface="Georgia" panose="02040502050405020303" pitchFamily="18" charset="0"/>
              </a:rPr>
              <a:t>extract the meaning of a sentence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r>
              <a:rPr lang="en-US" dirty="0">
                <a:latin typeface="Georgia" panose="02040502050405020303" pitchFamily="18" charset="0"/>
              </a:rPr>
              <a:t>Goes beyond structure (syntax) to understand </a:t>
            </a:r>
            <a:r>
              <a:rPr lang="en-US" b="1" dirty="0">
                <a:latin typeface="Georgia" panose="02040502050405020303" pitchFamily="18" charset="0"/>
              </a:rPr>
              <a:t>what the sentence actually conveys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59577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Main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614" y="1599382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Determine Relationships Between Entities</a:t>
            </a:r>
            <a:endParaRPr lang="en-US" sz="2000" dirty="0">
              <a:latin typeface="Georgia" panose="02040502050405020303" pitchFamily="18" charset="0"/>
            </a:endParaRP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Identify </a:t>
            </a:r>
            <a:r>
              <a:rPr lang="en-US" sz="2000" b="1" dirty="0">
                <a:latin typeface="Georgia" panose="02040502050405020303" pitchFamily="18" charset="0"/>
              </a:rPr>
              <a:t>who did what to whom</a:t>
            </a:r>
            <a:r>
              <a:rPr lang="en-US" sz="2000" dirty="0">
                <a:latin typeface="Georgia" panose="02040502050405020303" pitchFamily="18" charset="0"/>
              </a:rPr>
              <a:t>, and how objects relate to each other.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Example: </a:t>
            </a:r>
            <a:r>
              <a:rPr lang="en-US" sz="2000" i="1" dirty="0">
                <a:latin typeface="Georgia" panose="02040502050405020303" pitchFamily="18" charset="0"/>
              </a:rPr>
              <a:t>“The dog chased the cat.”</a:t>
            </a:r>
            <a:endParaRPr lang="en-US" sz="2000" dirty="0">
              <a:latin typeface="Georgia" panose="02040502050405020303" pitchFamily="18" charset="0"/>
            </a:endParaRPr>
          </a:p>
          <a:p>
            <a:pPr lvl="2"/>
            <a:r>
              <a:rPr lang="en-US" b="1" dirty="0">
                <a:latin typeface="Georgia" panose="02040502050405020303" pitchFamily="18" charset="0"/>
              </a:rPr>
              <a:t>Agent:</a:t>
            </a:r>
            <a:r>
              <a:rPr lang="en-US" dirty="0">
                <a:latin typeface="Georgia" panose="02040502050405020303" pitchFamily="18" charset="0"/>
              </a:rPr>
              <a:t> dog</a:t>
            </a:r>
          </a:p>
          <a:p>
            <a:pPr lvl="2"/>
            <a:r>
              <a:rPr lang="en-US" b="1" dirty="0">
                <a:latin typeface="Georgia" panose="02040502050405020303" pitchFamily="18" charset="0"/>
              </a:rPr>
              <a:t>Action:</a:t>
            </a:r>
            <a:r>
              <a:rPr lang="en-US" dirty="0">
                <a:latin typeface="Georgia" panose="02040502050405020303" pitchFamily="18" charset="0"/>
              </a:rPr>
              <a:t> chased</a:t>
            </a:r>
          </a:p>
          <a:p>
            <a:pPr lvl="2"/>
            <a:r>
              <a:rPr lang="en-US" b="1" dirty="0">
                <a:latin typeface="Georgia" panose="02040502050405020303" pitchFamily="18" charset="0"/>
              </a:rPr>
              <a:t>Object/Target:</a:t>
            </a:r>
            <a:r>
              <a:rPr lang="en-US" dirty="0">
                <a:latin typeface="Georgia" panose="02040502050405020303" pitchFamily="18" charset="0"/>
              </a:rPr>
              <a:t> cat</a:t>
            </a:r>
          </a:p>
          <a:p>
            <a:r>
              <a:rPr lang="en-US" sz="2000" b="1" dirty="0">
                <a:latin typeface="Georgia" panose="02040502050405020303" pitchFamily="18" charset="0"/>
              </a:rPr>
              <a:t>Understand Word Sense</a:t>
            </a:r>
            <a:endParaRPr lang="en-US" sz="2000" dirty="0">
              <a:latin typeface="Georgia" panose="02040502050405020303" pitchFamily="18" charset="0"/>
            </a:endParaRP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Words can have </a:t>
            </a:r>
            <a:r>
              <a:rPr lang="en-US" sz="2000" b="1" dirty="0">
                <a:latin typeface="Georgia" panose="02040502050405020303" pitchFamily="18" charset="0"/>
              </a:rPr>
              <a:t>multiple meanings (polysemy)</a:t>
            </a:r>
            <a:r>
              <a:rPr lang="en-US" sz="2000" dirty="0">
                <a:latin typeface="Georgia" panose="02040502050405020303" pitchFamily="18" charset="0"/>
              </a:rPr>
              <a:t> or </a:t>
            </a:r>
            <a:r>
              <a:rPr lang="en-US" sz="2000" b="1" dirty="0">
                <a:latin typeface="Georgia" panose="02040502050405020303" pitchFamily="18" charset="0"/>
              </a:rPr>
              <a:t>similar meanings (synonyms)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The system uses </a:t>
            </a:r>
            <a:r>
              <a:rPr lang="en-US" sz="2000" b="1" dirty="0">
                <a:latin typeface="Georgia" panose="02040502050405020303" pitchFamily="18" charset="0"/>
              </a:rPr>
              <a:t>context</a:t>
            </a:r>
            <a:r>
              <a:rPr lang="en-US" sz="2000" dirty="0">
                <a:latin typeface="Georgia" panose="02040502050405020303" pitchFamily="18" charset="0"/>
              </a:rPr>
              <a:t> to choose the correct meaning.</a:t>
            </a:r>
          </a:p>
          <a:p>
            <a:pPr lvl="1"/>
            <a:r>
              <a:rPr lang="en-US" sz="2000" dirty="0">
                <a:latin typeface="Georgia" panose="02040502050405020303" pitchFamily="18" charset="0"/>
              </a:rPr>
              <a:t>Example: </a:t>
            </a:r>
            <a:r>
              <a:rPr lang="en-US" sz="2000" i="1" dirty="0">
                <a:latin typeface="Georgia" panose="02040502050405020303" pitchFamily="18" charset="0"/>
              </a:rPr>
              <a:t>“Bank”</a:t>
            </a:r>
            <a:endParaRPr lang="en-US" sz="2000" dirty="0">
              <a:latin typeface="Georgia" panose="02040502050405020303" pitchFamily="18" charset="0"/>
            </a:endParaRPr>
          </a:p>
          <a:p>
            <a:pPr lvl="2"/>
            <a:r>
              <a:rPr lang="en-US" dirty="0">
                <a:latin typeface="Georgia" panose="02040502050405020303" pitchFamily="18" charset="0"/>
              </a:rPr>
              <a:t>Financial institution → </a:t>
            </a:r>
            <a:r>
              <a:rPr lang="en-US" i="1" dirty="0">
                <a:latin typeface="Georgia" panose="02040502050405020303" pitchFamily="18" charset="0"/>
              </a:rPr>
              <a:t>“I deposited money in the bank.”</a:t>
            </a:r>
            <a:endParaRPr lang="en-US" dirty="0">
              <a:latin typeface="Georgia" panose="02040502050405020303" pitchFamily="18" charset="0"/>
            </a:endParaRPr>
          </a:p>
          <a:p>
            <a:pPr lvl="2"/>
            <a:r>
              <a:rPr lang="en-US" dirty="0">
                <a:latin typeface="Georgia" panose="02040502050405020303" pitchFamily="18" charset="0"/>
              </a:rPr>
              <a:t>Side of a river → </a:t>
            </a:r>
            <a:r>
              <a:rPr lang="en-US" i="1" dirty="0">
                <a:latin typeface="Georgia" panose="02040502050405020303" pitchFamily="18" charset="0"/>
              </a:rPr>
              <a:t>“We sat on the river bank.”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072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Example in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Sentence: </a:t>
            </a:r>
            <a:r>
              <a:rPr lang="en-US" i="1" dirty="0">
                <a:latin typeface="Georgia" panose="02040502050405020303" pitchFamily="18" charset="0"/>
              </a:rPr>
              <a:t>“He went to the bank to withdraw cash.”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Semantic analysis determines:</a:t>
            </a: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Bank</a:t>
            </a:r>
            <a:r>
              <a:rPr lang="en-US" dirty="0">
                <a:latin typeface="Georgia" panose="02040502050405020303" pitchFamily="18" charset="0"/>
              </a:rPr>
              <a:t> = financial institution (not riverbank)</a:t>
            </a: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Action</a:t>
            </a:r>
            <a:r>
              <a:rPr lang="en-US" dirty="0">
                <a:latin typeface="Georgia" panose="02040502050405020303" pitchFamily="18" charset="0"/>
              </a:rPr>
              <a:t> = withdraw</a:t>
            </a:r>
          </a:p>
          <a:p>
            <a:pPr lvl="1"/>
            <a:r>
              <a:rPr lang="en-US" b="1" dirty="0">
                <a:latin typeface="Georgia" panose="02040502050405020303" pitchFamily="18" charset="0"/>
              </a:rPr>
              <a:t>Entity relationships</a:t>
            </a:r>
            <a:r>
              <a:rPr lang="en-US" dirty="0">
                <a:latin typeface="Georgia" panose="02040502050405020303" pitchFamily="18" charset="0"/>
              </a:rPr>
              <a:t> = he → withdraw → cash → bank</a:t>
            </a:r>
          </a:p>
        </p:txBody>
      </p:sp>
    </p:spTree>
    <p:extLst>
      <p:ext uri="{BB962C8B-B14F-4D97-AF65-F5344CB8AC3E}">
        <p14:creationId xmlns:p14="http://schemas.microsoft.com/office/powerpoint/2010/main" val="14449804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Semantic analysis </a:t>
            </a:r>
            <a:r>
              <a:rPr lang="en-US" altLang="en-US" b="1" dirty="0">
                <a:latin typeface="Georgia" panose="02040502050405020303" pitchFamily="18" charset="0"/>
              </a:rPr>
              <a:t>connects syntax to meaning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Georgia" panose="02040502050405020303" pitchFamily="18" charset="0"/>
              </a:rPr>
              <a:t>Essential for: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Machine translation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Question answering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Georgia" panose="02040502050405020303" pitchFamily="18" charset="0"/>
              </a:rPr>
              <a:t>Chatbots</a:t>
            </a:r>
            <a:r>
              <a:rPr lang="en-US" altLang="en-US" dirty="0">
                <a:latin typeface="Georgia" panose="02040502050405020303" pitchFamily="18" charset="0"/>
              </a:rPr>
              <a:t> and virtual assistants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Without semantic analysis, a system can </a:t>
            </a:r>
            <a:r>
              <a:rPr lang="en-US" altLang="en-US" b="1" dirty="0">
                <a:latin typeface="Georgia" panose="02040502050405020303" pitchFamily="18" charset="0"/>
              </a:rPr>
              <a:t>parse a sentence perfectly but still misunderstand its meaning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91137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Stage 4: Pragmatic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Georgia" panose="02040502050405020303" pitchFamily="18" charset="0"/>
              </a:rPr>
              <a:t>Goal</a:t>
            </a:r>
            <a:r>
              <a:rPr lang="en-US" b="1" dirty="0">
                <a:latin typeface="Georgia" panose="02040502050405020303" pitchFamily="18" charset="0"/>
              </a:rPr>
              <a:t>:</a:t>
            </a:r>
            <a:r>
              <a:rPr lang="en-US" dirty="0">
                <a:latin typeface="Georgia" panose="02040502050405020303" pitchFamily="18" charset="0"/>
              </a:rPr>
              <a:t> Understand </a:t>
            </a:r>
            <a:r>
              <a:rPr lang="en-US" b="1" dirty="0">
                <a:latin typeface="Georgia" panose="02040502050405020303" pitchFamily="18" charset="0"/>
              </a:rPr>
              <a:t>language in context</a:t>
            </a:r>
            <a:r>
              <a:rPr lang="en-US" dirty="0">
                <a:latin typeface="Georgia" panose="02040502050405020303" pitchFamily="18" charset="0"/>
              </a:rPr>
              <a:t>, including intent and implied meaning.</a:t>
            </a:r>
          </a:p>
          <a:p>
            <a:r>
              <a:rPr lang="en-US" b="1" dirty="0">
                <a:latin typeface="Georgia" panose="02040502050405020303" pitchFamily="18" charset="0"/>
              </a:rPr>
              <a:t>Tasks:</a:t>
            </a:r>
            <a:endParaRPr lang="en-US" dirty="0">
              <a:latin typeface="Georgia" panose="02040502050405020303" pitchFamily="18" charset="0"/>
            </a:endParaRPr>
          </a:p>
          <a:p>
            <a:pPr lvl="1"/>
            <a:r>
              <a:rPr lang="en-US" dirty="0">
                <a:latin typeface="Georgia" panose="02040502050405020303" pitchFamily="18" charset="0"/>
              </a:rPr>
              <a:t>Interpret idioms, sarcasm, indirect requests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Account for speaker’s goals and context</a:t>
            </a:r>
          </a:p>
          <a:p>
            <a:r>
              <a:rPr lang="en-US" b="1" dirty="0">
                <a:latin typeface="Georgia" panose="02040502050405020303" pitchFamily="18" charset="0"/>
              </a:rPr>
              <a:t>Example: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“Can you pass the salt?”</a:t>
            </a:r>
            <a:r>
              <a:rPr lang="en-US" dirty="0">
                <a:latin typeface="Georgia" panose="02040502050405020303" pitchFamily="18" charset="0"/>
              </a:rPr>
              <a:t> → Not a question about ability, but a polite request.</a:t>
            </a:r>
          </a:p>
        </p:txBody>
      </p:sp>
    </p:spTree>
    <p:extLst>
      <p:ext uri="{BB962C8B-B14F-4D97-AF65-F5344CB8AC3E}">
        <p14:creationId xmlns:p14="http://schemas.microsoft.com/office/powerpoint/2010/main" val="25389184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Georgia" panose="02040502050405020303" pitchFamily="18" charset="0"/>
              </a:rPr>
              <a:t>Interpret Idioms, Sarcasm, and Indirect Requests</a:t>
            </a:r>
            <a:endParaRPr lang="en-US" sz="36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Idioms</a:t>
            </a:r>
            <a:r>
              <a:rPr lang="en-US" dirty="0">
                <a:latin typeface="Georgia" panose="02040502050405020303" pitchFamily="18" charset="0"/>
              </a:rPr>
              <a:t>: Phrases where the </a:t>
            </a:r>
            <a:r>
              <a:rPr lang="en-US" b="1" dirty="0">
                <a:latin typeface="Georgia" panose="02040502050405020303" pitchFamily="18" charset="0"/>
              </a:rPr>
              <a:t>meaning is not literal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Example: </a:t>
            </a:r>
            <a:r>
              <a:rPr lang="en-US" i="1" dirty="0">
                <a:latin typeface="Georgia" panose="02040502050405020303" pitchFamily="18" charset="0"/>
              </a:rPr>
              <a:t>“It’s raining cats and dogs.”</a:t>
            </a:r>
            <a:r>
              <a:rPr lang="en-US" dirty="0">
                <a:latin typeface="Georgia" panose="02040502050405020303" pitchFamily="18" charset="0"/>
              </a:rPr>
              <a:t> → Heavy rain</a:t>
            </a:r>
          </a:p>
          <a:p>
            <a:r>
              <a:rPr lang="en-US" dirty="0">
                <a:latin typeface="Georgia" panose="02040502050405020303" pitchFamily="18" charset="0"/>
              </a:rPr>
              <a:t>Sarcasm: The literal meaning may </a:t>
            </a:r>
            <a:r>
              <a:rPr lang="en-US" b="1" dirty="0">
                <a:latin typeface="Georgia" panose="02040502050405020303" pitchFamily="18" charset="0"/>
              </a:rPr>
              <a:t>contradict the intended meaning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Example: </a:t>
            </a:r>
            <a:r>
              <a:rPr lang="en-US" i="1" dirty="0">
                <a:latin typeface="Georgia" panose="02040502050405020303" pitchFamily="18" charset="0"/>
              </a:rPr>
              <a:t>“Great job!”</a:t>
            </a:r>
            <a:r>
              <a:rPr lang="en-US" dirty="0">
                <a:latin typeface="Georgia" panose="02040502050405020303" pitchFamily="18" charset="0"/>
              </a:rPr>
              <a:t> said after a mistake → Criticism</a:t>
            </a:r>
          </a:p>
          <a:p>
            <a:r>
              <a:rPr lang="en-US" dirty="0">
                <a:latin typeface="Georgia" panose="02040502050405020303" pitchFamily="18" charset="0"/>
              </a:rPr>
              <a:t>Indirect requests: Polite or implied requests.</a:t>
            </a:r>
          </a:p>
          <a:p>
            <a:pPr lvl="1"/>
            <a:r>
              <a:rPr lang="en-US" dirty="0">
                <a:latin typeface="Georgia" panose="02040502050405020303" pitchFamily="18" charset="0"/>
              </a:rPr>
              <a:t>Example: </a:t>
            </a:r>
            <a:r>
              <a:rPr lang="en-US" i="1" dirty="0">
                <a:latin typeface="Georgia" panose="02040502050405020303" pitchFamily="18" charset="0"/>
              </a:rPr>
              <a:t>“Can you pass the salt?”</a:t>
            </a:r>
            <a:r>
              <a:rPr lang="en-US" dirty="0">
                <a:latin typeface="Georgia" panose="02040502050405020303" pitchFamily="18" charset="0"/>
              </a:rPr>
              <a:t> → A request, not a question about ability</a:t>
            </a:r>
          </a:p>
        </p:txBody>
      </p:sp>
    </p:spTree>
    <p:extLst>
      <p:ext uri="{BB962C8B-B14F-4D97-AF65-F5344CB8AC3E}">
        <p14:creationId xmlns:p14="http://schemas.microsoft.com/office/powerpoint/2010/main" val="28303519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931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eorgia" panose="02040502050405020303" pitchFamily="18" charset="0"/>
              </a:rPr>
              <a:t>Account for Speaker’s Goals and Context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Georgia" panose="02040502050405020303" pitchFamily="18" charset="0"/>
              </a:rPr>
              <a:t>Consider </a:t>
            </a:r>
            <a:r>
              <a:rPr lang="en-US" b="1" dirty="0">
                <a:latin typeface="Georgia" panose="02040502050405020303" pitchFamily="18" charset="0"/>
              </a:rPr>
              <a:t>who is speaking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b="1" dirty="0">
                <a:latin typeface="Georgia" panose="02040502050405020303" pitchFamily="18" charset="0"/>
              </a:rPr>
              <a:t>to whom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b="1" dirty="0">
                <a:latin typeface="Georgia" panose="02040502050405020303" pitchFamily="18" charset="0"/>
              </a:rPr>
              <a:t>where</a:t>
            </a:r>
            <a:r>
              <a:rPr lang="en-US" dirty="0">
                <a:latin typeface="Georgia" panose="02040502050405020303" pitchFamily="18" charset="0"/>
              </a:rPr>
              <a:t>, and </a:t>
            </a:r>
            <a:r>
              <a:rPr lang="en-US" b="1" dirty="0">
                <a:latin typeface="Georgia" panose="02040502050405020303" pitchFamily="18" charset="0"/>
              </a:rPr>
              <a:t>why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  <a:p>
            <a:r>
              <a:rPr lang="en-US" dirty="0">
                <a:latin typeface="Georgia" panose="02040502050405020303" pitchFamily="18" charset="0"/>
              </a:rPr>
              <a:t>Helps resolve ambiguities that semantics alone cannot.</a:t>
            </a:r>
          </a:p>
          <a:p>
            <a:r>
              <a:rPr lang="en-US" dirty="0">
                <a:latin typeface="Georgia" panose="02040502050405020303" pitchFamily="18" charset="0"/>
              </a:rPr>
              <a:t>Example:</a:t>
            </a:r>
          </a:p>
          <a:p>
            <a:pPr lvl="1"/>
            <a:r>
              <a:rPr lang="en-US" i="1" dirty="0">
                <a:latin typeface="Georgia" panose="02040502050405020303" pitchFamily="18" charset="0"/>
              </a:rPr>
              <a:t>“It’s cold in here.”</a:t>
            </a:r>
            <a:endParaRPr lang="en-US" dirty="0">
              <a:latin typeface="Georgia" panose="02040502050405020303" pitchFamily="18" charset="0"/>
            </a:endParaRPr>
          </a:p>
          <a:p>
            <a:pPr lvl="2"/>
            <a:r>
              <a:rPr lang="en-US" dirty="0">
                <a:latin typeface="Georgia" panose="02040502050405020303" pitchFamily="18" charset="0"/>
              </a:rPr>
              <a:t>Could be a </a:t>
            </a:r>
            <a:r>
              <a:rPr lang="en-US" b="1" dirty="0">
                <a:latin typeface="Georgia" panose="02040502050405020303" pitchFamily="18" charset="0"/>
              </a:rPr>
              <a:t>statement of fact</a:t>
            </a:r>
            <a:r>
              <a:rPr lang="en-US" dirty="0">
                <a:latin typeface="Georgia" panose="02040502050405020303" pitchFamily="18" charset="0"/>
              </a:rPr>
              <a:t> or an </a:t>
            </a:r>
            <a:r>
              <a:rPr lang="en-US" b="1" dirty="0">
                <a:latin typeface="Georgia" panose="02040502050405020303" pitchFamily="18" charset="0"/>
              </a:rPr>
              <a:t>indirect request to close the window</a:t>
            </a:r>
            <a:r>
              <a:rPr lang="en-US" dirty="0">
                <a:latin typeface="Georgia" panose="02040502050405020303" pitchFamily="18" charset="0"/>
              </a:rPr>
              <a:t>, depending on context.</a:t>
            </a:r>
          </a:p>
        </p:txBody>
      </p:sp>
    </p:spTree>
    <p:extLst>
      <p:ext uri="{BB962C8B-B14F-4D97-AF65-F5344CB8AC3E}">
        <p14:creationId xmlns:p14="http://schemas.microsoft.com/office/powerpoint/2010/main" val="31522081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Georgia" panose="02040502050405020303" pitchFamily="18" charset="0"/>
              </a:rPr>
              <a:t>Example</a:t>
            </a:r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748" y="1457979"/>
            <a:ext cx="10766195" cy="499938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Georgia" panose="02040502050405020303" pitchFamily="18" charset="0"/>
              </a:rPr>
              <a:t>Sentence: </a:t>
            </a:r>
            <a:r>
              <a:rPr lang="en-US" i="1" dirty="0">
                <a:latin typeface="Georgia" panose="02040502050405020303" pitchFamily="18" charset="0"/>
              </a:rPr>
              <a:t>“Can you open the window?”</a:t>
            </a:r>
            <a:endParaRPr lang="en-US" dirty="0">
              <a:latin typeface="Georgia" panose="02040502050405020303" pitchFamily="18" charset="0"/>
            </a:endParaRPr>
          </a:p>
          <a:p>
            <a:pPr>
              <a:lnSpc>
                <a:spcPct val="120000"/>
              </a:lnSpc>
            </a:pPr>
            <a:r>
              <a:rPr lang="en-US" b="1" dirty="0">
                <a:latin typeface="Georgia" panose="02040502050405020303" pitchFamily="18" charset="0"/>
              </a:rPr>
              <a:t>Literal meaning (semantics):</a:t>
            </a:r>
            <a:r>
              <a:rPr lang="en-US" dirty="0">
                <a:latin typeface="Georgia" panose="02040502050405020303" pitchFamily="18" charset="0"/>
              </a:rPr>
              <a:t> Question about ability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Georgia" panose="02040502050405020303" pitchFamily="18" charset="0"/>
              </a:rPr>
              <a:t>Pragmatic meaning:</a:t>
            </a:r>
            <a:r>
              <a:rPr lang="en-US" dirty="0">
                <a:latin typeface="Georgia" panose="02040502050405020303" pitchFamily="18" charset="0"/>
              </a:rPr>
              <a:t> Request for action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Georgia" panose="02040502050405020303" pitchFamily="18" charset="0"/>
              </a:rPr>
              <a:t>Context determines how the listener should </a:t>
            </a:r>
            <a:r>
              <a:rPr lang="en-US" dirty="0" smtClean="0">
                <a:latin typeface="Georgia" panose="02040502050405020303" pitchFamily="18" charset="0"/>
              </a:rPr>
              <a:t>respond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Pragmatic analysis is </a:t>
            </a:r>
            <a:r>
              <a:rPr lang="en-US" altLang="en-US" b="1" dirty="0">
                <a:latin typeface="Georgia" panose="02040502050405020303" pitchFamily="18" charset="0"/>
              </a:rPr>
              <a:t>crucial for real-world language understanding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It helps machines (and humans) </a:t>
            </a:r>
            <a:r>
              <a:rPr lang="en-US" altLang="en-US" b="1" dirty="0">
                <a:latin typeface="Georgia" panose="02040502050405020303" pitchFamily="18" charset="0"/>
              </a:rPr>
              <a:t>interpret intended meaning</a:t>
            </a:r>
            <a:r>
              <a:rPr lang="en-US" altLang="en-US" dirty="0">
                <a:latin typeface="Georgia" panose="02040502050405020303" pitchFamily="18" charset="0"/>
              </a:rPr>
              <a:t>, not just literal words.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Georgia" panose="02040502050405020303" pitchFamily="18" charset="0"/>
              </a:rPr>
              <a:t>Applications include: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Virtual assistants (understanding commands politely phrased)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Georgia" panose="02040502050405020303" pitchFamily="18" charset="0"/>
              </a:rPr>
              <a:t>Chatbots</a:t>
            </a:r>
            <a:r>
              <a:rPr lang="en-US" altLang="en-US" dirty="0">
                <a:latin typeface="Georgia" panose="02040502050405020303" pitchFamily="18" charset="0"/>
              </a:rPr>
              <a:t> (detecting sarcasm or idioms)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Georgia" panose="02040502050405020303" pitchFamily="18" charset="0"/>
              </a:rPr>
              <a:t>Language translation (preserving implied meanings</a:t>
            </a:r>
            <a:r>
              <a:rPr lang="en-US" altLang="en-US" dirty="0" smtClean="0">
                <a:latin typeface="Georgia" panose="02040502050405020303" pitchFamily="18" charset="0"/>
              </a:rPr>
              <a:t>)</a:t>
            </a:r>
            <a:endParaRPr lang="en-US" alt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2592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6280518"/>
              </p:ext>
            </p:extLst>
          </p:nvPr>
        </p:nvGraphicFramePr>
        <p:xfrm>
          <a:off x="715652" y="780627"/>
          <a:ext cx="10515600" cy="2651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909465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898654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51161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Georgia" panose="02040502050405020303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Speech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Sounds →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“Hello” spoken → “Hello”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65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Georgia" panose="02040502050405020303" pitchFamily="18" charset="0"/>
                        </a:rPr>
                        <a:t>Syntactic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Grammar/structure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NP = “The dog”, VP = “chased the cat”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609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Semantic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 panose="02040502050405020303" pitchFamily="18" charset="0"/>
                        </a:rPr>
                        <a:t>“Bank” → financial institution or river 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33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Pragmatic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Georgia" panose="02040502050405020303" pitchFamily="18" charset="0"/>
                        </a:rPr>
                        <a:t>Context / intent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Georgia" panose="02040502050405020303" pitchFamily="18" charset="0"/>
                        </a:rPr>
                        <a:t>“Can you pass the salt?” → request, not 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87612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1023" y="4317724"/>
            <a:ext cx="1010244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NLP mimics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human language processing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 machines.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Each stage adds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more understanding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sounds → words → grammar → meaning → context.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Human languages are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complex and context-dependent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making NLP challenging.</a:t>
            </a:r>
          </a:p>
        </p:txBody>
      </p:sp>
    </p:spTree>
    <p:extLst>
      <p:ext uri="{BB962C8B-B14F-4D97-AF65-F5344CB8AC3E}">
        <p14:creationId xmlns:p14="http://schemas.microsoft.com/office/powerpoint/2010/main" val="19943314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8185" y="828854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815464">
              <a:lnSpc>
                <a:spcPct val="100000"/>
              </a:lnSpc>
              <a:spcBef>
                <a:spcPts val="105"/>
              </a:spcBef>
            </a:pPr>
            <a:r>
              <a:rPr dirty="0"/>
              <a:t>Pragmatic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2362200" y="1825626"/>
            <a:ext cx="10515600" cy="40119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1665" marR="1328420" indent="-609600">
              <a:lnSpc>
                <a:spcPct val="100000"/>
              </a:lnSpc>
              <a:spcBef>
                <a:spcPts val="105"/>
              </a:spcBef>
              <a:tabLst>
                <a:tab pos="621665" algn="l"/>
              </a:tabLst>
            </a:pPr>
            <a:r>
              <a:rPr sz="2550" spc="1989" dirty="0">
                <a:latin typeface="Georgia" panose="02040502050405020303" pitchFamily="18" charset="0"/>
                <a:cs typeface="Microsoft Sans Serif"/>
              </a:rPr>
              <a:t>🞂</a:t>
            </a:r>
            <a:r>
              <a:rPr sz="2550" dirty="0">
                <a:latin typeface="Georgia" panose="02040502050405020303" pitchFamily="18" charset="0"/>
                <a:cs typeface="Microsoft Sans Serif"/>
              </a:rPr>
              <a:t>​	</a:t>
            </a:r>
            <a:r>
              <a:rPr i="1" dirty="0">
                <a:latin typeface="Georgia" panose="02040502050405020303" pitchFamily="18" charset="0"/>
                <a:cs typeface="Arial"/>
              </a:rPr>
              <a:t>Pragmatics</a:t>
            </a:r>
            <a:r>
              <a:rPr i="1" spc="-45" dirty="0">
                <a:latin typeface="Georgia" panose="02040502050405020303" pitchFamily="18" charset="0"/>
                <a:cs typeface="Arial"/>
              </a:rPr>
              <a:t> </a:t>
            </a:r>
            <a:r>
              <a:rPr dirty="0">
                <a:latin typeface="Georgia" panose="02040502050405020303" pitchFamily="18" charset="0"/>
              </a:rPr>
              <a:t>are</a:t>
            </a:r>
            <a:r>
              <a:rPr spc="-3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the</a:t>
            </a:r>
            <a:r>
              <a:rPr spc="-4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social</a:t>
            </a:r>
            <a:r>
              <a:rPr spc="-2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rules</a:t>
            </a:r>
            <a:r>
              <a:rPr spc="-30" dirty="0">
                <a:latin typeface="Georgia" panose="02040502050405020303" pitchFamily="18" charset="0"/>
              </a:rPr>
              <a:t> </a:t>
            </a:r>
            <a:r>
              <a:rPr spc="-25" dirty="0">
                <a:latin typeface="Georgia" panose="02040502050405020303" pitchFamily="18" charset="0"/>
              </a:rPr>
              <a:t>of </a:t>
            </a:r>
            <a:r>
              <a:rPr dirty="0">
                <a:latin typeface="Georgia" panose="02040502050405020303" pitchFamily="18" charset="0"/>
              </a:rPr>
              <a:t>language</a:t>
            </a:r>
            <a:r>
              <a:rPr spc="-65" dirty="0">
                <a:latin typeface="Georgia" panose="02040502050405020303" pitchFamily="18" charset="0"/>
              </a:rPr>
              <a:t> </a:t>
            </a:r>
            <a:r>
              <a:rPr spc="-20" dirty="0">
                <a:latin typeface="Georgia" panose="02040502050405020303" pitchFamily="18" charset="0"/>
              </a:rPr>
              <a:t>use.</a:t>
            </a:r>
            <a:endParaRPr sz="2550" dirty="0">
              <a:latin typeface="Georgia" panose="02040502050405020303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621665" algn="l"/>
              </a:tabLst>
            </a:pPr>
            <a:r>
              <a:rPr sz="2550" spc="1989" dirty="0">
                <a:latin typeface="Georgia" panose="02040502050405020303" pitchFamily="18" charset="0"/>
                <a:cs typeface="Microsoft Sans Serif"/>
              </a:rPr>
              <a:t>🞂</a:t>
            </a:r>
            <a:r>
              <a:rPr sz="2550" dirty="0">
                <a:latin typeface="Georgia" panose="02040502050405020303" pitchFamily="18" charset="0"/>
                <a:cs typeface="Microsoft Sans Serif"/>
              </a:rPr>
              <a:t>​	</a:t>
            </a:r>
            <a:r>
              <a:rPr dirty="0">
                <a:latin typeface="Georgia" panose="02040502050405020303" pitchFamily="18" charset="0"/>
              </a:rPr>
              <a:t>The</a:t>
            </a:r>
            <a:r>
              <a:rPr spc="-6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five</a:t>
            </a:r>
            <a:r>
              <a:rPr spc="-15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types</a:t>
            </a:r>
            <a:r>
              <a:rPr spc="-4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of</a:t>
            </a:r>
            <a:r>
              <a:rPr spc="-3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speech</a:t>
            </a:r>
            <a:r>
              <a:rPr spc="-40" dirty="0">
                <a:latin typeface="Georgia" panose="02040502050405020303" pitchFamily="18" charset="0"/>
              </a:rPr>
              <a:t> </a:t>
            </a:r>
            <a:r>
              <a:rPr dirty="0">
                <a:latin typeface="Georgia" panose="02040502050405020303" pitchFamily="18" charset="0"/>
              </a:rPr>
              <a:t>(Searle,</a:t>
            </a:r>
            <a:r>
              <a:rPr spc="-25" dirty="0">
                <a:latin typeface="Georgia" panose="02040502050405020303" pitchFamily="18" charset="0"/>
              </a:rPr>
              <a:t> </a:t>
            </a:r>
            <a:r>
              <a:rPr spc="-10" dirty="0">
                <a:latin typeface="Georgia" panose="02040502050405020303" pitchFamily="18" charset="0"/>
              </a:rPr>
              <a:t>1979):</a:t>
            </a:r>
            <a:endParaRPr sz="2550" dirty="0">
              <a:latin typeface="Georgia" panose="02040502050405020303" pitchFamily="18" charset="0"/>
              <a:cs typeface="Microsoft Sans Serif"/>
            </a:endParaRPr>
          </a:p>
          <a:p>
            <a:pPr marL="1002665" lvl="1" indent="-533400">
              <a:lnSpc>
                <a:spcPct val="100000"/>
              </a:lnSpc>
              <a:spcBef>
                <a:spcPts val="68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i="1" spc="-10" dirty="0">
                <a:latin typeface="Georgia" panose="02040502050405020303" pitchFamily="18" charset="0"/>
                <a:cs typeface="Arial"/>
              </a:rPr>
              <a:t>Assertives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.</a:t>
            </a:r>
            <a:r>
              <a:rPr sz="2800" spc="-18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Assertion</a:t>
            </a:r>
            <a:r>
              <a:rPr sz="28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of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a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belief.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670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i="1" dirty="0">
                <a:latin typeface="Georgia" panose="02040502050405020303" pitchFamily="18" charset="0"/>
                <a:cs typeface="Arial"/>
              </a:rPr>
              <a:t>Directives</a:t>
            </a:r>
            <a:r>
              <a:rPr sz="2800" dirty="0">
                <a:latin typeface="Georgia" panose="02040502050405020303" pitchFamily="18" charset="0"/>
                <a:cs typeface="Arial MT"/>
              </a:rPr>
              <a:t>.</a:t>
            </a:r>
            <a:r>
              <a:rPr sz="2800" spc="-10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Instructions.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67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i="1" dirty="0">
                <a:latin typeface="Georgia" panose="02040502050405020303" pitchFamily="18" charset="0"/>
                <a:cs typeface="Arial"/>
              </a:rPr>
              <a:t>Commissives</a:t>
            </a:r>
            <a:r>
              <a:rPr sz="2800" dirty="0">
                <a:latin typeface="Georgia" panose="02040502050405020303" pitchFamily="18" charset="0"/>
                <a:cs typeface="Arial MT"/>
              </a:rPr>
              <a:t>.</a:t>
            </a:r>
            <a:r>
              <a:rPr sz="2800" spc="-7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Commit</a:t>
            </a:r>
            <a:r>
              <a:rPr sz="2800" spc="-5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speaker</a:t>
            </a:r>
            <a:r>
              <a:rPr sz="2800" spc="-8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to</a:t>
            </a:r>
            <a:r>
              <a:rPr sz="2800" spc="-8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an</a:t>
            </a:r>
            <a:r>
              <a:rPr sz="2800" spc="-8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action.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67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i="1" dirty="0">
                <a:latin typeface="Georgia" panose="02040502050405020303" pitchFamily="18" charset="0"/>
                <a:cs typeface="Arial"/>
              </a:rPr>
              <a:t>Expressives</a:t>
            </a:r>
            <a:r>
              <a:rPr sz="2800" dirty="0">
                <a:latin typeface="Georgia" panose="02040502050405020303" pitchFamily="18" charset="0"/>
                <a:cs typeface="Arial MT"/>
              </a:rPr>
              <a:t>.</a:t>
            </a:r>
            <a:r>
              <a:rPr sz="2800" spc="-13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Describe</a:t>
            </a:r>
            <a:r>
              <a:rPr sz="2800" spc="-13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psychological</a:t>
            </a:r>
            <a:r>
              <a:rPr sz="2800" spc="-130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states.</a:t>
            </a:r>
            <a:endParaRPr sz="2800" dirty="0">
              <a:latin typeface="Georgia" panose="02040502050405020303" pitchFamily="18" charset="0"/>
              <a:cs typeface="Arial MT"/>
            </a:endParaRPr>
          </a:p>
          <a:p>
            <a:pPr marL="1002665" lvl="1" indent="-533400">
              <a:lnSpc>
                <a:spcPct val="100000"/>
              </a:lnSpc>
              <a:spcBef>
                <a:spcPts val="675"/>
              </a:spcBef>
              <a:buClr>
                <a:srgbClr val="6EA9B7"/>
              </a:buClr>
              <a:buAutoNum type="arabicPeriod"/>
              <a:tabLst>
                <a:tab pos="1002665" algn="l"/>
              </a:tabLst>
            </a:pPr>
            <a:r>
              <a:rPr sz="2800" i="1" dirty="0">
                <a:latin typeface="Georgia" panose="02040502050405020303" pitchFamily="18" charset="0"/>
                <a:cs typeface="Arial"/>
              </a:rPr>
              <a:t>Declaratives</a:t>
            </a:r>
            <a:r>
              <a:rPr sz="2800" dirty="0">
                <a:latin typeface="Georgia" panose="02040502050405020303" pitchFamily="18" charset="0"/>
                <a:cs typeface="Arial MT"/>
              </a:rPr>
              <a:t>.</a:t>
            </a:r>
            <a:r>
              <a:rPr sz="2800" spc="-12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The</a:t>
            </a:r>
            <a:r>
              <a:rPr sz="2800" spc="-5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utterance</a:t>
            </a:r>
            <a:r>
              <a:rPr sz="28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is</a:t>
            </a:r>
            <a:r>
              <a:rPr sz="2800" spc="-7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dirty="0">
                <a:latin typeface="Georgia" panose="02040502050405020303" pitchFamily="18" charset="0"/>
                <a:cs typeface="Arial MT"/>
              </a:rPr>
              <a:t>an</a:t>
            </a:r>
            <a:r>
              <a:rPr sz="2800" spc="-65" dirty="0">
                <a:latin typeface="Georgia" panose="02040502050405020303" pitchFamily="18" charset="0"/>
                <a:cs typeface="Arial MT"/>
              </a:rPr>
              <a:t> </a:t>
            </a:r>
            <a:r>
              <a:rPr sz="2800" spc="-10" dirty="0">
                <a:latin typeface="Georgia" panose="02040502050405020303" pitchFamily="18" charset="0"/>
                <a:cs typeface="Arial MT"/>
              </a:rPr>
              <a:t>action.</a:t>
            </a:r>
            <a:endParaRPr sz="2800" dirty="0">
              <a:latin typeface="Georgia" panose="02040502050405020303" pitchFamily="18" charset="0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91509" y="56134"/>
            <a:ext cx="4815205" cy="6965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logogen</a:t>
            </a:r>
            <a:r>
              <a:rPr spc="-20" dirty="0"/>
              <a:t> </a:t>
            </a:r>
            <a:r>
              <a:rPr spc="-10" dirty="0"/>
              <a:t>model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1219200"/>
            <a:ext cx="4614672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5587</Words>
  <Application>Microsoft Office PowerPoint</Application>
  <PresentationFormat>Widescreen</PresentationFormat>
  <Paragraphs>785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Arial MT</vt:lpstr>
      <vt:lpstr>Calibri</vt:lpstr>
      <vt:lpstr>Calibri Light</vt:lpstr>
      <vt:lpstr>Georgia</vt:lpstr>
      <vt:lpstr>Microsoft Sans Serif</vt:lpstr>
      <vt:lpstr>Times New Roman</vt:lpstr>
      <vt:lpstr>Office Theme</vt:lpstr>
      <vt:lpstr>The Linguistic Approach: Language and Cognitive Science</vt:lpstr>
      <vt:lpstr>The Linguistic Approach: Language and Cognitive Science</vt:lpstr>
      <vt:lpstr>1. Connection Between Language and Thought</vt:lpstr>
      <vt:lpstr>2. Language as a Cognitive System</vt:lpstr>
      <vt:lpstr>3. Linguistics and Cognitive Science Integration</vt:lpstr>
      <vt:lpstr>Linguistics</vt:lpstr>
      <vt:lpstr>4. Cognitive Models of Language</vt:lpstr>
      <vt:lpstr>Applications</vt:lpstr>
      <vt:lpstr>Nature of language /Language properties</vt:lpstr>
      <vt:lpstr>Nature of language /Language properties</vt:lpstr>
      <vt:lpstr>Language properties</vt:lpstr>
      <vt:lpstr>Phonemes</vt:lpstr>
      <vt:lpstr>PowerPoint Presentation</vt:lpstr>
      <vt:lpstr>Morphemes</vt:lpstr>
      <vt:lpstr>PowerPoint Presentation</vt:lpstr>
      <vt:lpstr>Grammatical rules</vt:lpstr>
      <vt:lpstr>1. Phonology – Rules Governing Sounds</vt:lpstr>
      <vt:lpstr>2. Morphology – Rules Governing Word Structure</vt:lpstr>
      <vt:lpstr>3. Syntax – Rules for Arranging Words in Sentences</vt:lpstr>
      <vt:lpstr>4. Semantics – Rules for Understanding Meaning</vt:lpstr>
      <vt:lpstr>PowerPoint Presentation</vt:lpstr>
      <vt:lpstr>Primate Language Use</vt:lpstr>
      <vt:lpstr>Primate language use</vt:lpstr>
      <vt:lpstr>Evaluating primate language use</vt:lpstr>
      <vt:lpstr>Language acquisition</vt:lpstr>
      <vt:lpstr>Language deprivation</vt:lpstr>
      <vt:lpstr>The linguistic relativity hypothesis</vt:lpstr>
      <vt:lpstr>The Two Versions of the Hypothesis</vt:lpstr>
      <vt:lpstr>PowerPoint Presentation</vt:lpstr>
      <vt:lpstr>PowerPoint Presentation</vt:lpstr>
      <vt:lpstr>Grammar</vt:lpstr>
      <vt:lpstr>Importance of Phrase Structure</vt:lpstr>
      <vt:lpstr>Phrase Structure Rules (Basic Example)</vt:lpstr>
      <vt:lpstr>PowerPoint Presentation</vt:lpstr>
      <vt:lpstr>Part of Speech (POS)</vt:lpstr>
      <vt:lpstr>PowerPoint Presentation</vt:lpstr>
      <vt:lpstr>The small dog quickly slept on the cozy couch.</vt:lpstr>
      <vt:lpstr>1. Hierarchical Relationships</vt:lpstr>
      <vt:lpstr>PowerPoint Presentation</vt:lpstr>
      <vt:lpstr>D = Determiner</vt:lpstr>
      <vt:lpstr>A = Adjective</vt:lpstr>
      <vt:lpstr>N = Noun</vt:lpstr>
      <vt:lpstr>NP = Noun Phrase</vt:lpstr>
      <vt:lpstr>PowerPoint Presentation</vt:lpstr>
      <vt:lpstr>VP = Verb Phrase</vt:lpstr>
      <vt:lpstr>Verb Phrase</vt:lpstr>
      <vt:lpstr>NP + VP = Sentence (S)</vt:lpstr>
      <vt:lpstr>PowerPoint Presentation</vt:lpstr>
      <vt:lpstr>PP = Prepositional Phrase</vt:lpstr>
      <vt:lpstr>PowerPoint Presentation</vt:lpstr>
      <vt:lpstr>Example in a Sentence</vt:lpstr>
      <vt:lpstr>Adverb</vt:lpstr>
      <vt:lpstr>Example</vt:lpstr>
      <vt:lpstr>Placement in a Sentence</vt:lpstr>
      <vt:lpstr>PowerPoint Presentation</vt:lpstr>
      <vt:lpstr>Transformational grammar</vt:lpstr>
      <vt:lpstr>Transformational grammar</vt:lpstr>
      <vt:lpstr>PowerPoint Presentation</vt:lpstr>
      <vt:lpstr>Why It Matters</vt:lpstr>
      <vt:lpstr>PowerPoint Presentation</vt:lpstr>
      <vt:lpstr>Aphasias</vt:lpstr>
      <vt:lpstr>Aphasia: Language Deficits</vt:lpstr>
      <vt:lpstr>Broca’s Aphasia (Non-fluent Aphasia)</vt:lpstr>
      <vt:lpstr>Wernicke’s Aphasia (Fluent Aphasia)</vt:lpstr>
      <vt:lpstr>PowerPoint Presentation</vt:lpstr>
      <vt:lpstr>Natural language processing</vt:lpstr>
      <vt:lpstr>Natural language processing</vt:lpstr>
      <vt:lpstr>Natural Language Processing (NLP)</vt:lpstr>
      <vt:lpstr>Stage 1: Speech Recognition</vt:lpstr>
      <vt:lpstr>Convert Speech to Spectrogram</vt:lpstr>
      <vt:lpstr>Extract Phonemes</vt:lpstr>
      <vt:lpstr>Assemble Phonemes into Words</vt:lpstr>
      <vt:lpstr>PowerPoint Presentation</vt:lpstr>
      <vt:lpstr>Stage 2: Syntactic Analysis (Parsing)</vt:lpstr>
      <vt:lpstr>Stage 3: Semantic Analysis</vt:lpstr>
      <vt:lpstr>Main Tasks</vt:lpstr>
      <vt:lpstr>Example in Context</vt:lpstr>
      <vt:lpstr>PowerPoint Presentation</vt:lpstr>
      <vt:lpstr>Stage 4: Pragmatic Analysis</vt:lpstr>
      <vt:lpstr>Interpret Idioms, Sarcasm, and Indirect Requests</vt:lpstr>
      <vt:lpstr>Account for Speaker’s Goals and Context</vt:lpstr>
      <vt:lpstr>Example</vt:lpstr>
      <vt:lpstr>PowerPoint Presentation</vt:lpstr>
      <vt:lpstr>Pragmatic analysis</vt:lpstr>
      <vt:lpstr>The logogen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Linguistic Approach: Language and Cognitive Science</dc:title>
  <dc:creator>IIIT KOTTAYAM</dc:creator>
  <cp:lastModifiedBy>iiitk</cp:lastModifiedBy>
  <cp:revision>22</cp:revision>
  <dcterms:created xsi:type="dcterms:W3CDTF">2025-10-30T05:39:43Z</dcterms:created>
  <dcterms:modified xsi:type="dcterms:W3CDTF">2025-11-06T09:51:40Z</dcterms:modified>
</cp:coreProperties>
</file>
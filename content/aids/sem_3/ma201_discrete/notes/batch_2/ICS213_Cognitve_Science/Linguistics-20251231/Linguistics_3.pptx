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E825-0129-481D-8811-02F3C36A1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7162B-F16B-426A-84C4-D0F60AA8F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CFCF0-9D2C-4127-999D-84734724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2FA06-C5DD-429C-BBAC-399D0905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A1CF0-5CCA-4CE4-B6C2-A7928C66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47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8D88-BBAF-4680-B1D4-7FE3C0AD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D69F6-01BF-4D62-AFDA-65A21E27D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909DA-59A0-4B3C-9326-45D047FCD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7E021-104B-416D-A395-DCE9DE03D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438A1-4B6E-4E2A-9230-C707A2FC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440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D9D69-FFCD-4B9A-9688-3CAAFC4BD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25F73-69F8-4052-90EA-799C7BAD1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D9EAE-3333-451A-902F-5CAC6ABD6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05579-646C-4698-A2C3-8B01A521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1DB29-99E1-4C31-8578-D5982BCC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72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1353-93B4-4E9B-85C5-BB6B85D8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AFF05-C84E-48B8-9BD5-B68FCDC63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7EEB4-64EC-4D8B-B3A8-2768ED7F8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7E778-EBEB-448A-A469-84A11C40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2AAEB-DE3D-4EB7-8632-86157EFF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BF3B5-EAF4-476F-97B1-A3B50C18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25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F80E-F991-4EB6-BDE8-8E1C1598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D356A-EB33-4963-8585-8390612E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14D8A-2AAE-4ED6-8FFD-B09AF7FCC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7E3956-7332-4E59-A9CA-F61514A1F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25AB7-BDA4-4ECF-8186-F414EE224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4309B-6F8E-4F9D-A3DD-54F58C57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43677A-A5B1-4333-A08E-9EA407D5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F04FED-A301-40EF-B707-28ED6677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91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8832-37AB-489E-BBB7-74ABFD18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9701B2-3A5A-4846-8433-A26331290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E01CD-B500-4BAF-B068-9655666B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16D71-266F-427C-8547-42E6BE78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27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20B18-C6DC-4682-83B5-E1F7465B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25CF4-42B4-467E-A0B4-EE8D635E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C39E6-BD04-4290-B6E7-3C7950AC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21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18C1-9121-4569-A971-2F64E819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5CBA9-CCF0-423D-801C-06E581140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C7662-4529-47AD-A433-967057F59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01139-5C10-458E-838B-2D602500C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79920-1EEF-4B18-9507-17A444A8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C3E82-FB9C-4D7F-BC20-F2A6E874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272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9ACD-8D5D-4896-84E3-442590F8A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DE156-1E32-47C3-A182-73852C0C0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83561-493B-42FF-AB79-F2FF88901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C045B-A1F4-4AD2-A491-D358D9548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9A443-7F3D-458B-AEA4-2254947E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416A9-C388-407E-8646-CB13E221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68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CDC5-55B8-423F-A63A-14D4A921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E9503-D5A2-4473-8E34-59C5BAFB3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DB791-F214-460A-BEA6-0DB28977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62523-3540-4B89-B458-7F8FBD44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D67F5-7BD8-44DD-94E1-675D267C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88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9DA84-A6ED-4687-B8E3-B648E720C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647C5-83EA-470D-8908-98C6A621A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B58F-4B4F-475E-AD4B-900BC892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3F955-AE54-4C2E-966B-6BA12A75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4F35E-C0C7-4198-83A8-A5C93B2D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2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AE4A0-0423-4623-9BE1-8B577D0E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2330F-8BA2-4282-9321-8633BDAC7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A5CE6-6A90-4002-9D07-A7E0768AB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BA3F1-98A0-42E6-B2CC-EB7CB211AC57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A3A5A-22AF-44EF-9B3B-469384570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CC3C-B65E-47A2-BA80-0904C9DB9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583E-759E-49AE-B34F-568C6E9D7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59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C018-0956-4250-9708-4E3363C31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Three Methods for POS Tagging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4DB04-50F9-4DB0-BB14-C216A9A245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405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C7B8-AC95-48D8-968B-F9FB2CCA7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1" y="40550"/>
            <a:ext cx="10515600" cy="1144589"/>
          </a:xfrm>
        </p:spPr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Rule-Based Tagging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A22D38-F3E0-4E98-BC55-0AFA32DE0E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9262" y="1266530"/>
            <a:ext cx="1092590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Basic Idea: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Each word is first assigned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all possible POS tags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by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morphological analyzer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 large set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hand-written or machine-learned rules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are then applied to remove incorrect tags.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Rules consider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(previous and next words/tags) to disambiguate.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Process: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Lexical lookup: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Assign possible tags (e.g., “flies” → Noun/Verb).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Constraint application: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Use contextual rules to remove unlikely tags (e.g., if preceded by “the”, “flies” → Noun).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Example Rule: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If the preceding word is a determiner (e.g., “the”), then the current word is unlikely to be a verb.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Advantages: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High linguistic interpretability.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Performs well for languages with rich morphology.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Limitations: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Requires extensive manual rule writing (often &gt;1000 rules).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Hard to adapt to new domains.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56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425D6-31EC-4674-9104-A6B5285B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E351E4-2D23-4866-97AA-9CDCBB3827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3177" y="1744191"/>
            <a:ext cx="562414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Example Sentence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“The flies are annoying.”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Step 1: Morphological Analysis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flies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→ {Noun, Verb}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Step 2: Apply Rules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Preceding word = “the” (determiner)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→ Remove Verb tag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✅ Final Tag: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flies → Noun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91E32C-BD46-4674-B984-65E6D3A3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531" y="4725797"/>
            <a:ext cx="54361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eorgia" panose="02040502050405020303" pitchFamily="18" charset="0"/>
              </a:rPr>
              <a:t>Tag the following sentence using your own rules: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eorgia" panose="02040502050405020303" pitchFamily="18" charset="0"/>
              </a:rPr>
              <a:t>“Time flies like an arrow.”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eorgia" panose="02040502050405020303" pitchFamily="18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eorgia" panose="02040502050405020303" pitchFamily="18" charset="0"/>
              </a:rPr>
              <a:t>(Hint: Think about the context of “flies” and “like.”)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822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2430-F770-4497-9756-AFE39534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Stochastic (Statistical) Tagging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454F2-80A0-4554-998E-C7F75DCA0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261" y="1354993"/>
            <a:ext cx="5834379" cy="5351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1" dirty="0">
                <a:latin typeface="Georgia" panose="02040502050405020303" pitchFamily="18" charset="0"/>
              </a:rPr>
              <a:t>Basic Idea:</a:t>
            </a:r>
            <a:endParaRPr lang="en-IN" sz="1200" dirty="0">
              <a:latin typeface="Georgia" panose="02040502050405020303" pitchFamily="18" charset="0"/>
            </a:endParaRPr>
          </a:p>
          <a:p>
            <a:r>
              <a:rPr lang="en-IN" sz="1200" dirty="0">
                <a:latin typeface="Georgia" panose="02040502050405020303" pitchFamily="18" charset="0"/>
              </a:rPr>
              <a:t>Uses </a:t>
            </a:r>
            <a:r>
              <a:rPr lang="en-IN" sz="1200" b="1" dirty="0">
                <a:latin typeface="Georgia" panose="02040502050405020303" pitchFamily="18" charset="0"/>
              </a:rPr>
              <a:t>probability models</a:t>
            </a:r>
            <a:r>
              <a:rPr lang="en-IN" sz="1200" dirty="0">
                <a:latin typeface="Georgia" panose="02040502050405020303" pitchFamily="18" charset="0"/>
              </a:rPr>
              <a:t> learned from annotated corpora.</a:t>
            </a:r>
          </a:p>
          <a:p>
            <a:r>
              <a:rPr lang="en-IN" sz="1200" dirty="0">
                <a:latin typeface="Georgia" panose="02040502050405020303" pitchFamily="18" charset="0"/>
              </a:rPr>
              <a:t>Assigns the most likely tag sequence based on statistical evidence.</a:t>
            </a:r>
          </a:p>
          <a:p>
            <a:pPr marL="0" indent="0">
              <a:buNone/>
            </a:pPr>
            <a:endParaRPr lang="en-IN" sz="1200" b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IN" sz="1200" b="1" dirty="0">
                <a:latin typeface="Georgia" panose="02040502050405020303" pitchFamily="18" charset="0"/>
              </a:rPr>
              <a:t>Common Models:</a:t>
            </a:r>
            <a:endParaRPr lang="en-IN" sz="1200" dirty="0">
              <a:latin typeface="Georgia" panose="02040502050405020303" pitchFamily="18" charset="0"/>
            </a:endParaRPr>
          </a:p>
          <a:p>
            <a:r>
              <a:rPr lang="en-IN" sz="1200" b="1" dirty="0">
                <a:latin typeface="Georgia" panose="02040502050405020303" pitchFamily="18" charset="0"/>
              </a:rPr>
              <a:t>Hidden Markov Model (HMM) Tagger</a:t>
            </a:r>
            <a:r>
              <a:rPr lang="en-IN" sz="1200" dirty="0">
                <a:latin typeface="Georgia" panose="02040502050405020303" pitchFamily="18" charset="0"/>
              </a:rPr>
              <a:t> (most widely used).</a:t>
            </a:r>
          </a:p>
          <a:p>
            <a:r>
              <a:rPr lang="en-IN" sz="1200" b="1" dirty="0">
                <a:latin typeface="Georgia" panose="02040502050405020303" pitchFamily="18" charset="0"/>
              </a:rPr>
              <a:t>Trigram Tagger</a:t>
            </a:r>
            <a:r>
              <a:rPr lang="en-IN" sz="1200" dirty="0">
                <a:latin typeface="Georgia" panose="02040502050405020303" pitchFamily="18" charset="0"/>
              </a:rPr>
              <a:t>, </a:t>
            </a:r>
            <a:r>
              <a:rPr lang="en-IN" sz="1200" b="1" dirty="0">
                <a:latin typeface="Georgia" panose="02040502050405020303" pitchFamily="18" charset="0"/>
              </a:rPr>
              <a:t>Bigram Tagger</a:t>
            </a:r>
            <a:r>
              <a:rPr lang="en-IN" sz="1200" dirty="0">
                <a:latin typeface="Georgia" panose="02040502050405020303" pitchFamily="18" charset="0"/>
              </a:rPr>
              <a:t> based on transition and emission probabilities.</a:t>
            </a:r>
          </a:p>
          <a:p>
            <a:pPr marL="0" indent="0">
              <a:buNone/>
            </a:pPr>
            <a:endParaRPr lang="en-IN" sz="1200" b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IN" sz="1200" b="1" dirty="0">
                <a:latin typeface="Georgia" panose="02040502050405020303" pitchFamily="18" charset="0"/>
              </a:rPr>
              <a:t>Example (HMM):</a:t>
            </a:r>
            <a:endParaRPr lang="en-IN" sz="1200" dirty="0">
              <a:latin typeface="Georgia" panose="02040502050405020303" pitchFamily="18" charset="0"/>
            </a:endParaRPr>
          </a:p>
          <a:p>
            <a:r>
              <a:rPr lang="en-IN" sz="1200" dirty="0">
                <a:latin typeface="Georgia" panose="02040502050405020303" pitchFamily="18" charset="0"/>
              </a:rPr>
              <a:t>P(T∣W)∝P(W∣T)P(T) </a:t>
            </a:r>
          </a:p>
          <a:p>
            <a:pPr marL="0" indent="0">
              <a:buNone/>
            </a:pPr>
            <a:r>
              <a:rPr lang="en-IN" sz="1200" dirty="0">
                <a:latin typeface="Georgia" panose="02040502050405020303" pitchFamily="18" charset="0"/>
              </a:rPr>
              <a:t>Where:</a:t>
            </a:r>
          </a:p>
          <a:p>
            <a:r>
              <a:rPr lang="en-IN" sz="1200" dirty="0">
                <a:latin typeface="Georgia" panose="02040502050405020303" pitchFamily="18" charset="0"/>
              </a:rPr>
              <a:t>T: tag sequence</a:t>
            </a:r>
          </a:p>
          <a:p>
            <a:r>
              <a:rPr lang="en-IN" sz="1200" dirty="0">
                <a:latin typeface="Georgia" panose="02040502050405020303" pitchFamily="18" charset="0"/>
              </a:rPr>
              <a:t>W: word sequence</a:t>
            </a:r>
            <a:br>
              <a:rPr lang="en-IN" sz="1200" dirty="0">
                <a:latin typeface="Georgia" panose="02040502050405020303" pitchFamily="18" charset="0"/>
              </a:rPr>
            </a:br>
            <a:endParaRPr lang="en-IN" sz="12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IN" sz="1200" dirty="0">
                <a:latin typeface="Georgia" panose="02040502050405020303" pitchFamily="18" charset="0"/>
              </a:rPr>
              <a:t>The most probable tag sequence is found using the </a:t>
            </a:r>
            <a:r>
              <a:rPr lang="en-IN" sz="1200" b="1" dirty="0">
                <a:latin typeface="Georgia" panose="02040502050405020303" pitchFamily="18" charset="0"/>
              </a:rPr>
              <a:t>Viterbi algorithm</a:t>
            </a:r>
            <a:r>
              <a:rPr lang="en-IN" sz="1200" dirty="0">
                <a:latin typeface="Georgia" panose="02040502050405020303" pitchFamily="18" charset="0"/>
              </a:rPr>
              <a:t>.</a:t>
            </a:r>
          </a:p>
          <a:p>
            <a:pPr marL="0" indent="0">
              <a:buNone/>
            </a:pPr>
            <a:endParaRPr lang="en-IN" sz="1200" dirty="0">
              <a:latin typeface="Georgia" panose="02040502050405020303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DACC7D-84C5-4528-A44B-C76C80174F40}"/>
              </a:ext>
            </a:extLst>
          </p:cNvPr>
          <p:cNvSpPr txBox="1">
            <a:spLocks/>
          </p:cNvSpPr>
          <p:nvPr/>
        </p:nvSpPr>
        <p:spPr>
          <a:xfrm>
            <a:off x="7508979" y="1534075"/>
            <a:ext cx="3844821" cy="4926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200" b="1" dirty="0">
                <a:latin typeface="Georgia" panose="02040502050405020303" pitchFamily="18" charset="0"/>
              </a:rPr>
              <a:t>Advantages:</a:t>
            </a:r>
            <a:endParaRPr lang="en-IN" sz="1200" dirty="0">
              <a:latin typeface="Georgia" panose="02040502050405020303" pitchFamily="18" charset="0"/>
            </a:endParaRPr>
          </a:p>
          <a:p>
            <a:r>
              <a:rPr lang="en-IN" sz="1200" dirty="0">
                <a:latin typeface="Georgia" panose="02040502050405020303" pitchFamily="18" charset="0"/>
              </a:rPr>
              <a:t>Automatically learned from data.</a:t>
            </a:r>
          </a:p>
          <a:p>
            <a:r>
              <a:rPr lang="en-IN" sz="1200" dirty="0">
                <a:latin typeface="Georgia" panose="02040502050405020303" pitchFamily="18" charset="0"/>
              </a:rPr>
              <a:t>Works well with large corpora.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200" b="1" dirty="0">
                <a:latin typeface="Georgia" panose="02040502050405020303" pitchFamily="18" charset="0"/>
              </a:rPr>
              <a:t>Limitations:</a:t>
            </a:r>
            <a:endParaRPr lang="en-IN" sz="1200" dirty="0">
              <a:latin typeface="Georgia" panose="02040502050405020303" pitchFamily="18" charset="0"/>
            </a:endParaRPr>
          </a:p>
          <a:p>
            <a:r>
              <a:rPr lang="en-IN" sz="1200" dirty="0">
                <a:latin typeface="Georgia" panose="02040502050405020303" pitchFamily="18" charset="0"/>
              </a:rPr>
              <a:t>Requires large annotated datasets.</a:t>
            </a:r>
          </a:p>
          <a:p>
            <a:r>
              <a:rPr lang="en-IN" sz="1200" dirty="0">
                <a:latin typeface="Georgia" panose="02040502050405020303" pitchFamily="18" charset="0"/>
              </a:rPr>
              <a:t>Purely statistical; may ignore linguistic rules.</a:t>
            </a:r>
          </a:p>
        </p:txBody>
      </p:sp>
    </p:spTree>
    <p:extLst>
      <p:ext uri="{BB962C8B-B14F-4D97-AF65-F5344CB8AC3E}">
        <p14:creationId xmlns:p14="http://schemas.microsoft.com/office/powerpoint/2010/main" val="2298612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78C5-8BDE-46DD-837C-2EBBCE6B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03" y="365125"/>
            <a:ext cx="11878573" cy="1325563"/>
          </a:xfrm>
        </p:spPr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Transformation-Based (Hybrid) Tagging (TBL)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DF0F39-61B7-47A6-83CE-EDDD6BF799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492916"/>
            <a:ext cx="1094941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Basic Idea: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Combines rule-based and statistical approaches.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Begins with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baseline tagger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(e.g., most frequent tag).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learns transformation rules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automatically from training data that correct errors iteratively.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Process: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Assign initial tags using a simple method (e.g., most frequent tag for each word).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Apply learned correction rules like: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“If a word is tagged as NN (noun) but follows ‘to’, change it to VB (verb).”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Advantages: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Fewer rules than pure rule-based systems.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Automatically learned from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Combines linguistic intuition with statistical learning.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Limitations: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Slower training due to rule learning phase.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May not perform as well on highly ambiguous text.</a:t>
            </a:r>
          </a:p>
        </p:txBody>
      </p:sp>
    </p:spTree>
    <p:extLst>
      <p:ext uri="{BB962C8B-B14F-4D97-AF65-F5344CB8AC3E}">
        <p14:creationId xmlns:p14="http://schemas.microsoft.com/office/powerpoint/2010/main" val="371967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AC145-C2C4-48C4-8838-A91A2657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544E47-D3F1-4EE5-AA70-94A0E5DB0A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289389"/>
              </p:ext>
            </p:extLst>
          </p:nvPr>
        </p:nvGraphicFramePr>
        <p:xfrm>
          <a:off x="838200" y="2309654"/>
          <a:ext cx="10515600" cy="36576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7935203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3544952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0109759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5857939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8383083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78798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Principle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Data Requirement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Interpretability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Adaptability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695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Rule-Based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Contextual rules remove invalid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EngCG, ENGTWOL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110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Statistical (HMM)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Probabilistic model of tag sequences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HMM Tagger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157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Transformation-Based (Hybrid)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Learns correction rules iteratively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Brill Tagger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45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650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8A3F-662D-4BEB-8061-2CD7AD29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Introduction to Probability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5022FC-51A1-458A-BCAC-DDC7607A6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480" y="1717065"/>
            <a:ext cx="7868748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18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85EEC8-3311-4199-BBA1-3E810D659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357" y="317516"/>
            <a:ext cx="7506748" cy="2391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9FAB25-5142-462B-B114-EB5CDC173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819" y="3269797"/>
            <a:ext cx="8049748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194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F13EDA-72A8-4E28-A4F0-163428688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022" y="585909"/>
            <a:ext cx="9954786" cy="582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9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009B0-E90D-4354-BD53-EE8E3694C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278994-41C4-440C-879D-47D8C5E76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599" y="2329423"/>
            <a:ext cx="8430802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62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B8C6DB-706D-44F2-9F9B-66FDEEC42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146" y="2503740"/>
            <a:ext cx="8030696" cy="42201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2CA3F5-5D7B-46F1-91C0-FE7B3B4800F8}"/>
              </a:ext>
            </a:extLst>
          </p:cNvPr>
          <p:cNvSpPr/>
          <p:nvPr/>
        </p:nvSpPr>
        <p:spPr>
          <a:xfrm>
            <a:off x="5805854" y="74941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Probability</a:t>
            </a:r>
            <a:r>
              <a:rPr lang="en-US" dirty="0">
                <a:latin typeface="Georgia" panose="02040502050405020303" pitchFamily="18" charset="0"/>
              </a:rPr>
              <a:t> is a measure of how likely an event is to happen.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dirty="0">
                <a:latin typeface="Georgia" panose="02040502050405020303" pitchFamily="18" charset="0"/>
              </a:rPr>
              <a:t>It always lies between </a:t>
            </a:r>
            <a:r>
              <a:rPr lang="en-US" b="1" dirty="0">
                <a:latin typeface="Georgia" panose="02040502050405020303" pitchFamily="18" charset="0"/>
              </a:rPr>
              <a:t>0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1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0≤P(E)≤10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P(E) = 0</a:t>
            </a:r>
            <a:r>
              <a:rPr lang="en-US" dirty="0">
                <a:latin typeface="Georgia" panose="02040502050405020303" pitchFamily="18" charset="0"/>
              </a:rPr>
              <a:t> → event </a:t>
            </a:r>
            <a:r>
              <a:rPr lang="en-US" i="1" dirty="0">
                <a:latin typeface="Georgia" panose="02040502050405020303" pitchFamily="18" charset="0"/>
              </a:rPr>
              <a:t>never</a:t>
            </a:r>
            <a:r>
              <a:rPr lang="en-US" dirty="0">
                <a:latin typeface="Georgia" panose="02040502050405020303" pitchFamily="18" charset="0"/>
              </a:rPr>
              <a:t> happens.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P(E) = 1</a:t>
            </a:r>
            <a:r>
              <a:rPr lang="en-US" dirty="0">
                <a:latin typeface="Georgia" panose="02040502050405020303" pitchFamily="18" charset="0"/>
              </a:rPr>
              <a:t> → event </a:t>
            </a:r>
            <a:r>
              <a:rPr lang="en-US" i="1" dirty="0">
                <a:latin typeface="Georgia" panose="02040502050405020303" pitchFamily="18" charset="0"/>
              </a:rPr>
              <a:t>always</a:t>
            </a:r>
            <a:r>
              <a:rPr lang="en-US" dirty="0">
                <a:latin typeface="Georgia" panose="02040502050405020303" pitchFamily="18" charset="0"/>
              </a:rPr>
              <a:t> happens.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P(E) = 0.5</a:t>
            </a:r>
            <a:r>
              <a:rPr lang="en-US" dirty="0">
                <a:latin typeface="Georgia" panose="02040502050405020303" pitchFamily="18" charset="0"/>
              </a:rPr>
              <a:t> → event has </a:t>
            </a:r>
            <a:r>
              <a:rPr lang="en-US" i="1" dirty="0">
                <a:latin typeface="Georgia" panose="02040502050405020303" pitchFamily="18" charset="0"/>
              </a:rPr>
              <a:t>equal</a:t>
            </a:r>
            <a:r>
              <a:rPr lang="en-US" dirty="0">
                <a:latin typeface="Georgia" panose="02040502050405020303" pitchFamily="18" charset="0"/>
              </a:rPr>
              <a:t> chance of happening or not.</a:t>
            </a:r>
          </a:p>
        </p:txBody>
      </p:sp>
    </p:spTree>
    <p:extLst>
      <p:ext uri="{BB962C8B-B14F-4D97-AF65-F5344CB8AC3E}">
        <p14:creationId xmlns:p14="http://schemas.microsoft.com/office/powerpoint/2010/main" val="1077118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73E07B-91CC-42B4-A0C5-CBBF0F9CA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475" y="726587"/>
            <a:ext cx="69272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9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6343C3-F9E2-4DAB-A580-52C322F7C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5508" y="528030"/>
            <a:ext cx="7925906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71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E36532-DAB7-4038-8649-542091D50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727" y="603494"/>
            <a:ext cx="75389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62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5B0BE7-AC0A-4352-A2AC-75F67CABA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5587" y="1025525"/>
            <a:ext cx="78288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82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627C7E-5D86-4E93-AFC9-EEBF4309F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534" y="1253331"/>
            <a:ext cx="67400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38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B815DA-7C52-4EA8-89A3-7799BA05F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550" y="884848"/>
            <a:ext cx="73534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44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AEA7-633B-486E-B157-68E4860E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9FDDCF-18CA-418C-8025-537DB2776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164" y="1825625"/>
            <a:ext cx="72936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76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ACD0-883A-45E5-8C4D-2125473B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57600A-6412-4F15-9CB4-A7F732F9E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204" y="2000765"/>
            <a:ext cx="8173591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67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C609-E190-4AC3-B28F-DB555FD2B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7B0E90-6CBA-4AC1-BCB9-FEB802AC9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526" y="1825625"/>
            <a:ext cx="84289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60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92D2C-F361-4246-8EDD-191B0CD0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45F588-FC8A-4F54-A903-EC3CD88F7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336" y="2767634"/>
            <a:ext cx="8259328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37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9C6B-F240-4017-9846-1CE8A568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51C723-1A7D-4432-87F2-9139D97B1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4624" y="1825625"/>
            <a:ext cx="63027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7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637EA1-D0F6-4129-8078-44FCF2440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1325" y="955186"/>
            <a:ext cx="61797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37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66C1-DD4C-4BD9-B7AF-27F6B5F2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F3B78C-D50F-4965-A53D-A6738D8BD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6993" y="1825625"/>
            <a:ext cx="79580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50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D805-FC0E-4AEB-B47D-809F664C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76EDC5-6297-482B-A743-2C6028882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2356" y="1818703"/>
            <a:ext cx="6878010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19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E626-09A0-4BBE-B6BA-CDE510EE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C7E229-D2D0-47D2-82F5-5BFBFEE8E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100" y="1891212"/>
            <a:ext cx="6801799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8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4FB7-BCBB-41A6-8D64-25788228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F0E5B0-C9F0-4C73-8347-CD8CC5E12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099" y="2110317"/>
            <a:ext cx="8973802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81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73B6-5542-496C-AF78-4381A3CF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DCEA47-44CF-4AFD-8CCC-1DB81E5282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9565" y="1825625"/>
            <a:ext cx="63328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93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B6DE-890A-4E5D-9173-06E9BA784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2C5A17-4FEF-4139-835B-A70AD8926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5060" y="1825625"/>
            <a:ext cx="78618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01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03BB-EA06-4F56-922E-D80420AA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E717A7-5468-46AD-94A9-D42268B48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046" y="2057923"/>
            <a:ext cx="828790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4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C2A0AA-985D-4585-BB9C-4AEB2C2EA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2199" y="128710"/>
            <a:ext cx="8423639" cy="646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71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2D43CD-A256-491D-B5B0-831159908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3745" y="410064"/>
            <a:ext cx="9035140" cy="588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83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E1614F-3D9C-4694-8913-867E239CB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7578" y="849678"/>
            <a:ext cx="9762468" cy="558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61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8A9B15-E3D6-4F37-845C-DF950FE03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3976" y="902433"/>
            <a:ext cx="78396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77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720D-AC4D-4368-8D26-6962999D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B428F0-8388-4EE4-903F-1D377E4D7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3468" y="1825625"/>
            <a:ext cx="63650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79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6FBD-A8FE-44D0-924D-05D24F84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0E91A3-0899-4EB7-94B8-C3E94C6F3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1130" y="1825625"/>
            <a:ext cx="55497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198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DDE5-7A74-44EC-AE95-6158DADC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72695B-4FEE-43D6-A118-35EF91A04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5680" y="2153186"/>
            <a:ext cx="6020640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315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794273-4FEE-46A4-8303-C35123321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6671" y="700209"/>
            <a:ext cx="8155205" cy="606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24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CB0541-210D-44F6-B0D9-A8AD5E1C8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0416" y="480401"/>
            <a:ext cx="8468853" cy="617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9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6158F9-80FD-414F-B94C-0F9BF8E3C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978" y="691417"/>
            <a:ext cx="8332560" cy="509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21C84F-A22C-42FB-A6B0-93A198FC9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577" y="599129"/>
            <a:ext cx="7907892" cy="565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1602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5FB6-88C5-4C8F-BBE1-C5FB95F7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DE561-B238-4770-BEE7-FB523D15A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730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526</Words>
  <Application>Microsoft Office PowerPoint</Application>
  <PresentationFormat>Widescreen</PresentationFormat>
  <Paragraphs>93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Georgia</vt:lpstr>
      <vt:lpstr>Office Theme</vt:lpstr>
      <vt:lpstr>Three Methods for POS Tagging </vt:lpstr>
      <vt:lpstr>Rule-Based Tagging</vt:lpstr>
      <vt:lpstr>PowerPoint Presentation</vt:lpstr>
      <vt:lpstr>Stochastic (Statistical) Tagging</vt:lpstr>
      <vt:lpstr>Transformation-Based (Hybrid) Tagging (TBL)</vt:lpstr>
      <vt:lpstr>PowerPoint Presentation</vt:lpstr>
      <vt:lpstr>Introduction to 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Methods for POS Tagging</dc:title>
  <dc:creator>IIIT KOTTAYAM</dc:creator>
  <cp:lastModifiedBy>IIIT KOTTAYAM</cp:lastModifiedBy>
  <cp:revision>3</cp:revision>
  <dcterms:created xsi:type="dcterms:W3CDTF">2025-11-06T06:20:08Z</dcterms:created>
  <dcterms:modified xsi:type="dcterms:W3CDTF">2025-11-06T06:36:30Z</dcterms:modified>
</cp:coreProperties>
</file>
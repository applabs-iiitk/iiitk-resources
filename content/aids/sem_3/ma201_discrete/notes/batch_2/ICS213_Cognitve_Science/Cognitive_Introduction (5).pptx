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jpg"/>
  <Override PartName="/ppt/media/image4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2.jpg" ContentType="image/jpg"/>
  <Override PartName="/ppt/media/image13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2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85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278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72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78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53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09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47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817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831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411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871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0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07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22960" y="619610"/>
            <a:ext cx="8168640" cy="37055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272665" algn="ctr">
              <a:lnSpc>
                <a:spcPct val="100000"/>
              </a:lnSpc>
              <a:spcBef>
                <a:spcPts val="95"/>
              </a:spcBef>
            </a:pPr>
            <a:r>
              <a:rPr lang="en-IN" dirty="0">
                <a:latin typeface="Arial"/>
                <a:cs typeface="Arial"/>
              </a:rPr>
              <a:t> </a:t>
            </a:r>
            <a:br>
              <a:rPr lang="en-IN" i="0" spc="-110" dirty="0">
                <a:latin typeface="Arial"/>
                <a:cs typeface="Arial"/>
              </a:rPr>
            </a:br>
            <a:r>
              <a:rPr lang="en-IN" dirty="0">
                <a:latin typeface="Arial"/>
                <a:cs typeface="Arial"/>
              </a:rPr>
              <a:t>Overview </a:t>
            </a:r>
            <a:r>
              <a:rPr i="0" dirty="0">
                <a:latin typeface="Arial"/>
                <a:cs typeface="Arial"/>
              </a:rPr>
              <a:t>of</a:t>
            </a:r>
            <a:r>
              <a:rPr i="0" spc="-130" dirty="0">
                <a:latin typeface="Arial"/>
                <a:cs typeface="Arial"/>
              </a:rPr>
              <a:t> </a:t>
            </a:r>
            <a:br>
              <a:rPr lang="en-IN" i="0" spc="-130" dirty="0">
                <a:latin typeface="Arial"/>
                <a:cs typeface="Arial"/>
              </a:rPr>
            </a:br>
            <a:r>
              <a:rPr i="0" dirty="0">
                <a:latin typeface="Arial"/>
                <a:cs typeface="Arial"/>
              </a:rPr>
              <a:t>Cognitive</a:t>
            </a:r>
            <a:r>
              <a:rPr lang="en-IN" i="0" dirty="0">
                <a:latin typeface="Arial"/>
                <a:cs typeface="Arial"/>
              </a:rPr>
              <a:t> </a:t>
            </a:r>
            <a:r>
              <a:rPr i="0" spc="-10" dirty="0">
                <a:latin typeface="Arial"/>
                <a:cs typeface="Arial"/>
              </a:rPr>
              <a:t>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F3853-EF37-4139-BD75-E77DF3DB2F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835852"/>
            <a:ext cx="8610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C00000"/>
                </a:solidFill>
                <a:latin typeface="Georgia" panose="02040502050405020303" pitchFamily="18" charset="0"/>
              </a:rPr>
              <a:t>What</a:t>
            </a:r>
            <a:r>
              <a:rPr sz="3200" spc="-30" dirty="0">
                <a:solidFill>
                  <a:srgbClr val="C00000"/>
                </a:solidFill>
                <a:latin typeface="Georgia" panose="02040502050405020303" pitchFamily="18" charset="0"/>
              </a:rPr>
              <a:t> </a:t>
            </a:r>
            <a:r>
              <a:rPr sz="3200" dirty="0">
                <a:solidFill>
                  <a:srgbClr val="C00000"/>
                </a:solidFill>
                <a:latin typeface="Georgia" panose="02040502050405020303" pitchFamily="18" charset="0"/>
              </a:rPr>
              <a:t>would</a:t>
            </a:r>
            <a:r>
              <a:rPr sz="3200" spc="-35" dirty="0">
                <a:solidFill>
                  <a:srgbClr val="C00000"/>
                </a:solidFill>
                <a:latin typeface="Georgia" panose="02040502050405020303" pitchFamily="18" charset="0"/>
              </a:rPr>
              <a:t> </a:t>
            </a:r>
            <a:r>
              <a:rPr sz="3200" dirty="0">
                <a:solidFill>
                  <a:srgbClr val="C00000"/>
                </a:solidFill>
                <a:latin typeface="Georgia" panose="02040502050405020303" pitchFamily="18" charset="0"/>
              </a:rPr>
              <a:t>an</a:t>
            </a:r>
            <a:r>
              <a:rPr sz="3200" spc="-30" dirty="0">
                <a:solidFill>
                  <a:srgbClr val="C00000"/>
                </a:solidFill>
                <a:latin typeface="Georgia" panose="02040502050405020303" pitchFamily="18" charset="0"/>
              </a:rPr>
              <a:t> </a:t>
            </a:r>
            <a:r>
              <a:rPr sz="3200" dirty="0">
                <a:solidFill>
                  <a:srgbClr val="C00000"/>
                </a:solidFill>
                <a:latin typeface="Georgia" panose="02040502050405020303" pitchFamily="18" charset="0"/>
              </a:rPr>
              <a:t>answer</a:t>
            </a:r>
            <a:r>
              <a:rPr sz="3200" spc="-15" dirty="0">
                <a:solidFill>
                  <a:srgbClr val="C00000"/>
                </a:solidFill>
                <a:latin typeface="Georgia" panose="02040502050405020303" pitchFamily="18" charset="0"/>
              </a:rPr>
              <a:t> </a:t>
            </a:r>
            <a:r>
              <a:rPr sz="3200" dirty="0">
                <a:solidFill>
                  <a:srgbClr val="C00000"/>
                </a:solidFill>
                <a:latin typeface="Georgia" panose="02040502050405020303" pitchFamily="18" charset="0"/>
              </a:rPr>
              <a:t>to</a:t>
            </a:r>
            <a:r>
              <a:rPr sz="3200" spc="-20" dirty="0">
                <a:solidFill>
                  <a:srgbClr val="C00000"/>
                </a:solidFill>
                <a:latin typeface="Georgia" panose="02040502050405020303" pitchFamily="18" charset="0"/>
              </a:rPr>
              <a:t> </a:t>
            </a:r>
            <a:r>
              <a:rPr sz="3200" dirty="0">
                <a:solidFill>
                  <a:srgbClr val="C00000"/>
                </a:solidFill>
                <a:latin typeface="Georgia" panose="02040502050405020303" pitchFamily="18" charset="0"/>
              </a:rPr>
              <a:t>this</a:t>
            </a:r>
            <a:r>
              <a:rPr sz="3200" spc="-25" dirty="0">
                <a:solidFill>
                  <a:srgbClr val="C00000"/>
                </a:solidFill>
                <a:latin typeface="Georgia" panose="02040502050405020303" pitchFamily="18" charset="0"/>
              </a:rPr>
              <a:t> </a:t>
            </a:r>
            <a:r>
              <a:rPr sz="3200" spc="-10" dirty="0">
                <a:solidFill>
                  <a:srgbClr val="C00000"/>
                </a:solidFill>
                <a:latin typeface="Georgia" panose="02040502050405020303" pitchFamily="18" charset="0"/>
              </a:rPr>
              <a:t>question </a:t>
            </a:r>
            <a:r>
              <a:rPr sz="3200" dirty="0">
                <a:solidFill>
                  <a:srgbClr val="C00000"/>
                </a:solidFill>
                <a:latin typeface="Georgia" panose="02040502050405020303" pitchFamily="18" charset="0"/>
              </a:rPr>
              <a:t>look</a:t>
            </a:r>
            <a:r>
              <a:rPr sz="3200" spc="-30" dirty="0">
                <a:solidFill>
                  <a:srgbClr val="C00000"/>
                </a:solidFill>
                <a:latin typeface="Georgia" panose="02040502050405020303" pitchFamily="18" charset="0"/>
              </a:rPr>
              <a:t> </a:t>
            </a:r>
            <a:r>
              <a:rPr sz="3200" spc="-10" dirty="0">
                <a:solidFill>
                  <a:srgbClr val="C00000"/>
                </a:solidFill>
                <a:latin typeface="Georgia" panose="02040502050405020303" pitchFamily="18" charset="0"/>
              </a:rPr>
              <a:t>like?</a:t>
            </a:r>
            <a:endParaRPr sz="3200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1642" y="3595878"/>
            <a:ext cx="240792" cy="2484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1642" y="4098797"/>
            <a:ext cx="240792" cy="2484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1920" y="1848764"/>
            <a:ext cx="7094220" cy="352234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805"/>
              </a:spcBef>
              <a:buClr>
                <a:srgbClr val="CCCCFF"/>
              </a:buClr>
              <a:buSzPct val="50000"/>
              <a:buFont typeface="Wingdings"/>
              <a:buChar char=""/>
              <a:tabLst>
                <a:tab pos="294005" algn="l"/>
              </a:tabLst>
            </a:pPr>
            <a:r>
              <a:rPr sz="2800" dirty="0">
                <a:latin typeface="Times New Roman"/>
                <a:cs typeface="Times New Roman"/>
              </a:rPr>
              <a:t>What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mind?</a:t>
            </a:r>
            <a:endParaRPr sz="2800" dirty="0">
              <a:latin typeface="Times New Roman"/>
              <a:cs typeface="Times New Roman"/>
            </a:endParaRPr>
          </a:p>
          <a:p>
            <a:pPr marL="294005" indent="-281305">
              <a:lnSpc>
                <a:spcPct val="100000"/>
              </a:lnSpc>
              <a:spcBef>
                <a:spcPts val="710"/>
              </a:spcBef>
              <a:buClr>
                <a:srgbClr val="CCCCFF"/>
              </a:buClr>
              <a:buSzPct val="50000"/>
              <a:buFont typeface="Wingdings"/>
              <a:buChar char=""/>
              <a:tabLst>
                <a:tab pos="294005" algn="l"/>
              </a:tabLst>
            </a:pPr>
            <a:r>
              <a:rPr sz="2800" dirty="0">
                <a:latin typeface="Times New Roman"/>
                <a:cs typeface="Times New Roman"/>
              </a:rPr>
              <a:t>What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intelligence?</a:t>
            </a:r>
            <a:endParaRPr sz="2800" dirty="0">
              <a:latin typeface="Times New Roman"/>
              <a:cs typeface="Times New Roman"/>
            </a:endParaRPr>
          </a:p>
          <a:p>
            <a:pPr marL="294005" marR="3721735" indent="-281940">
              <a:lnSpc>
                <a:spcPct val="117900"/>
              </a:lnSpc>
              <a:spcBef>
                <a:spcPts val="95"/>
              </a:spcBef>
              <a:buClr>
                <a:srgbClr val="CCCCFF"/>
              </a:buClr>
              <a:buSzPct val="50000"/>
              <a:buFont typeface="Wingdings"/>
              <a:buChar char=""/>
              <a:tabLst>
                <a:tab pos="718185" algn="l"/>
              </a:tabLst>
            </a:pP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brains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work? 	Neurons</a:t>
            </a:r>
            <a:endParaRPr sz="2800" dirty="0">
              <a:latin typeface="Times New Roman"/>
              <a:cs typeface="Times New Roman"/>
            </a:endParaRPr>
          </a:p>
          <a:p>
            <a:pPr marL="718185">
              <a:lnSpc>
                <a:spcPct val="100000"/>
              </a:lnSpc>
              <a:spcBef>
                <a:spcPts val="600"/>
              </a:spcBef>
            </a:pPr>
            <a:r>
              <a:rPr sz="2800" dirty="0">
                <a:latin typeface="Times New Roman"/>
                <a:cs typeface="Times New Roman"/>
              </a:rPr>
              <a:t>Brain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structure</a:t>
            </a:r>
            <a:endParaRPr sz="2800" dirty="0">
              <a:latin typeface="Times New Roman"/>
              <a:cs typeface="Times New Roman"/>
            </a:endParaRPr>
          </a:p>
          <a:p>
            <a:pPr marL="294005" marR="5080" indent="-281940">
              <a:lnSpc>
                <a:spcPct val="100000"/>
              </a:lnSpc>
              <a:spcBef>
                <a:spcPts val="700"/>
              </a:spcBef>
              <a:buClr>
                <a:srgbClr val="CCCCFF"/>
              </a:buClr>
              <a:buSzPct val="50000"/>
              <a:buFont typeface="Wingdings"/>
              <a:buChar char=""/>
              <a:tabLst>
                <a:tab pos="294005" algn="l"/>
              </a:tabLst>
            </a:pPr>
            <a:r>
              <a:rPr sz="2800" dirty="0">
                <a:latin typeface="Times New Roman"/>
                <a:cs typeface="Times New Roman"/>
              </a:rPr>
              <a:t>What’s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difference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between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brain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mind?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199" y="838200"/>
            <a:ext cx="642782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C00000"/>
                </a:solidFill>
                <a:latin typeface="Georgia" panose="02040502050405020303" pitchFamily="18" charset="0"/>
              </a:rPr>
              <a:t>What is a mind?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097" y="1905000"/>
            <a:ext cx="8345805" cy="3295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0" indent="-323850" algn="just">
              <a:lnSpc>
                <a:spcPts val="3745"/>
              </a:lnSpc>
              <a:spcBef>
                <a:spcPts val="105"/>
              </a:spcBef>
              <a:buSzPct val="45312"/>
              <a:buFont typeface="Microsoft Sans Serif"/>
              <a:buChar char="●"/>
              <a:tabLst>
                <a:tab pos="336550" algn="l"/>
              </a:tabLst>
            </a:pPr>
            <a:r>
              <a:rPr sz="3200" dirty="0">
                <a:latin typeface="Times New Roman"/>
                <a:cs typeface="Times New Roman"/>
              </a:rPr>
              <a:t>What do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minds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do?</a:t>
            </a:r>
            <a:endParaRPr sz="3200" dirty="0">
              <a:latin typeface="Times New Roman"/>
              <a:cs typeface="Times New Roman"/>
            </a:endParaRPr>
          </a:p>
          <a:p>
            <a:pPr marL="537210" marR="5080" algn="just">
              <a:lnSpc>
                <a:spcPct val="95000"/>
              </a:lnSpc>
              <a:spcBef>
                <a:spcPts val="95"/>
              </a:spcBef>
            </a:pPr>
            <a:r>
              <a:rPr sz="3200" dirty="0">
                <a:latin typeface="Times New Roman"/>
                <a:cs typeface="Times New Roman"/>
              </a:rPr>
              <a:t>Minds</a:t>
            </a:r>
            <a:r>
              <a:rPr sz="3200" spc="3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encompass</a:t>
            </a:r>
            <a:r>
              <a:rPr sz="3200" spc="3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our</a:t>
            </a:r>
            <a:r>
              <a:rPr sz="3200" spc="3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thoughts,</a:t>
            </a:r>
            <a:r>
              <a:rPr sz="3200" spc="3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which</a:t>
            </a:r>
            <a:r>
              <a:rPr sz="3200" spc="310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Times New Roman"/>
                <a:cs typeface="Times New Roman"/>
              </a:rPr>
              <a:t>are </a:t>
            </a:r>
            <a:r>
              <a:rPr sz="3200" dirty="0">
                <a:latin typeface="Times New Roman"/>
                <a:cs typeface="Times New Roman"/>
              </a:rPr>
              <a:t>mental</a:t>
            </a:r>
            <a:r>
              <a:rPr sz="3200" spc="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processes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allow</a:t>
            </a:r>
            <a:r>
              <a:rPr sz="3200" spc="1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</a:t>
            </a:r>
            <a:r>
              <a:rPr sz="3200" spc="1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deal</a:t>
            </a:r>
            <a:r>
              <a:rPr sz="3200" spc="1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19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world.</a:t>
            </a:r>
            <a:r>
              <a:rPr sz="3200" spc="3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These</a:t>
            </a:r>
            <a:r>
              <a:rPr sz="3200" spc="3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include</a:t>
            </a:r>
            <a:r>
              <a:rPr sz="3200" spc="3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3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only</a:t>
            </a:r>
            <a:r>
              <a:rPr sz="3200" spc="3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explicit</a:t>
            </a:r>
            <a:r>
              <a:rPr sz="3200" spc="3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wishes, </a:t>
            </a:r>
            <a:r>
              <a:rPr sz="3200" dirty="0">
                <a:latin typeface="Times New Roman"/>
                <a:cs typeface="Times New Roman"/>
              </a:rPr>
              <a:t>desires,</a:t>
            </a:r>
            <a:r>
              <a:rPr sz="3200" spc="3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4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intentions,</a:t>
            </a:r>
            <a:r>
              <a:rPr sz="3200" spc="3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but</a:t>
            </a:r>
            <a:r>
              <a:rPr sz="3200" spc="3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also</a:t>
            </a:r>
            <a:r>
              <a:rPr sz="3200" spc="35" dirty="0">
                <a:latin typeface="Times New Roman"/>
                <a:cs typeface="Times New Roman"/>
              </a:rPr>
              <a:t>  </a:t>
            </a:r>
            <a:r>
              <a:rPr sz="3200" spc="-10" dirty="0">
                <a:latin typeface="Times New Roman"/>
                <a:cs typeface="Times New Roman"/>
              </a:rPr>
              <a:t>unconscious processes.</a:t>
            </a:r>
            <a:endParaRPr sz="3200" dirty="0">
              <a:latin typeface="Times New Roman"/>
              <a:cs typeface="Times New Roman"/>
            </a:endParaRPr>
          </a:p>
          <a:p>
            <a:pPr marL="336550" indent="-323850" algn="just">
              <a:lnSpc>
                <a:spcPts val="3650"/>
              </a:lnSpc>
              <a:buSzPct val="45312"/>
              <a:buFont typeface="Microsoft Sans Serif"/>
              <a:buChar char="●"/>
              <a:tabLst>
                <a:tab pos="336550" algn="l"/>
              </a:tabLst>
            </a:pPr>
            <a:r>
              <a:rPr sz="3200" i="1" dirty="0">
                <a:latin typeface="Times New Roman"/>
                <a:cs typeface="Times New Roman"/>
              </a:rPr>
              <a:t>Does</a:t>
            </a:r>
            <a:r>
              <a:rPr sz="3200" i="1" spc="-10" dirty="0">
                <a:latin typeface="Times New Roman"/>
                <a:cs typeface="Times New Roman"/>
              </a:rPr>
              <a:t> MIND=BRAIN?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2133600"/>
            <a:ext cx="7355205" cy="236728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ct val="95000"/>
              </a:lnSpc>
              <a:spcBef>
                <a:spcPts val="295"/>
              </a:spcBef>
            </a:pP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A</a:t>
            </a:r>
            <a:r>
              <a:rPr sz="3200" b="0" i="0" spc="-2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“slippery</a:t>
            </a:r>
            <a:r>
              <a:rPr sz="3200" b="0" i="0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slope”</a:t>
            </a:r>
            <a:r>
              <a:rPr sz="3200" b="0" i="0" spc="-5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argument</a:t>
            </a:r>
            <a:r>
              <a:rPr sz="3200" b="0" i="0" spc="-6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can</a:t>
            </a:r>
            <a:r>
              <a:rPr sz="3200" b="0" i="0" spc="-4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convince</a:t>
            </a:r>
            <a:r>
              <a:rPr sz="3200" b="0" i="0" spc="-6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spc="-25" dirty="0">
                <a:solidFill>
                  <a:schemeClr val="tx1"/>
                </a:solidFill>
                <a:latin typeface="Times New Roman"/>
                <a:cs typeface="Times New Roman"/>
              </a:rPr>
              <a:t>us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that</a:t>
            </a:r>
            <a:r>
              <a:rPr sz="3200" b="0" i="0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minds</a:t>
            </a:r>
            <a:r>
              <a:rPr sz="3200" b="0" i="0" spc="-4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are</a:t>
            </a:r>
            <a:r>
              <a:rPr sz="3200" b="0" i="0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not</a:t>
            </a:r>
            <a:r>
              <a:rPr sz="3200" b="0" i="0" spc="-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literally</a:t>
            </a:r>
            <a:r>
              <a:rPr sz="3200" b="0" i="0" spc="-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brains,</a:t>
            </a:r>
            <a:r>
              <a:rPr sz="3200" b="0" i="0" spc="-25" dirty="0">
                <a:solidFill>
                  <a:schemeClr val="tx1"/>
                </a:solidFill>
                <a:latin typeface="Times New Roman"/>
                <a:cs typeface="Times New Roman"/>
              </a:rPr>
              <a:t> but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encompass</a:t>
            </a:r>
            <a:r>
              <a:rPr sz="3200" b="0" i="0" spc="-8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anything</a:t>
            </a:r>
            <a:r>
              <a:rPr sz="3200" b="0" i="0" spc="-8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that</a:t>
            </a:r>
            <a:r>
              <a:rPr sz="3200" b="0" i="0" spc="-6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is</a:t>
            </a:r>
            <a:r>
              <a:rPr sz="3200" b="0" i="0" spc="-4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organized</a:t>
            </a:r>
            <a:r>
              <a:rPr sz="3200" b="0" i="0" spc="-9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spc="-35" dirty="0">
                <a:solidFill>
                  <a:schemeClr val="tx1"/>
                </a:solidFill>
                <a:latin typeface="Times New Roman"/>
                <a:cs typeface="Times New Roman"/>
              </a:rPr>
              <a:t>as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representational</a:t>
            </a:r>
            <a:r>
              <a:rPr sz="3200" b="0" i="0" spc="-8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states</a:t>
            </a:r>
            <a:r>
              <a:rPr sz="3200" b="0" i="0" spc="-3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that</a:t>
            </a:r>
            <a:r>
              <a:rPr sz="3200" b="0" i="0" spc="-4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accurately</a:t>
            </a:r>
            <a:r>
              <a:rPr sz="3200" b="0" i="0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spc="-10" dirty="0">
                <a:solidFill>
                  <a:schemeClr val="tx1"/>
                </a:solidFill>
                <a:latin typeface="Times New Roman"/>
                <a:cs typeface="Times New Roman"/>
              </a:rPr>
              <a:t>reflect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aspects</a:t>
            </a:r>
            <a:r>
              <a:rPr sz="3200" b="0" i="0" spc="-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of</a:t>
            </a:r>
            <a:r>
              <a:rPr sz="3200" b="0" i="0" spc="-5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chemeClr val="tx1"/>
                </a:solidFill>
                <a:latin typeface="Times New Roman"/>
                <a:cs typeface="Times New Roman"/>
              </a:rPr>
              <a:t>the</a:t>
            </a:r>
            <a:r>
              <a:rPr sz="3200" b="0" i="0" spc="-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0" i="0" spc="-10" dirty="0">
                <a:solidFill>
                  <a:schemeClr val="tx1"/>
                </a:solidFill>
                <a:latin typeface="Times New Roman"/>
                <a:cs typeface="Times New Roman"/>
              </a:rPr>
              <a:t>world.</a:t>
            </a:r>
            <a:endParaRPr sz="32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115" y="634480"/>
            <a:ext cx="7839608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20" dirty="0"/>
              <a:t> </a:t>
            </a:r>
            <a:r>
              <a:rPr dirty="0"/>
              <a:t>Brain/Mind</a:t>
            </a:r>
            <a:r>
              <a:rPr spc="-85" dirty="0"/>
              <a:t> </a:t>
            </a:r>
            <a:r>
              <a:rPr spc="-10" dirty="0"/>
              <a:t>Riddle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734" y="1885061"/>
            <a:ext cx="5247132" cy="34152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28130" y="1284478"/>
            <a:ext cx="2022475" cy="230822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6350">
              <a:lnSpc>
                <a:spcPts val="2930"/>
              </a:lnSpc>
              <a:spcBef>
                <a:spcPts val="550"/>
              </a:spcBef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What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do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you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see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this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picture?</a:t>
            </a:r>
            <a:endParaRPr sz="2800">
              <a:latin typeface="Microsoft Sans Serif"/>
              <a:cs typeface="Microsoft Sans Serif"/>
            </a:endParaRPr>
          </a:p>
          <a:p>
            <a:pPr marL="12700" marR="5080">
              <a:lnSpc>
                <a:spcPts val="2920"/>
              </a:lnSpc>
              <a:spcBef>
                <a:spcPts val="2920"/>
              </a:spcBef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What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do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you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observe?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8130" y="3884803"/>
            <a:ext cx="2025014" cy="119443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 algn="just">
              <a:lnSpc>
                <a:spcPct val="87000"/>
              </a:lnSpc>
              <a:spcBef>
                <a:spcPts val="530"/>
              </a:spcBef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We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all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agree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upon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what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is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viewed?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E2F718-17B2-4370-8B75-03CF36AFE420}"/>
              </a:ext>
            </a:extLst>
          </p:cNvPr>
          <p:cNvSpPr/>
          <p:nvPr/>
        </p:nvSpPr>
        <p:spPr>
          <a:xfrm>
            <a:off x="6138163" y="2478066"/>
            <a:ext cx="25785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do you see in this picture? </a:t>
            </a:r>
          </a:p>
          <a:p>
            <a:endParaRPr lang="en-US" dirty="0"/>
          </a:p>
          <a:p>
            <a:r>
              <a:rPr lang="en-US" dirty="0"/>
              <a:t>What do you observe? </a:t>
            </a:r>
          </a:p>
          <a:p>
            <a:endParaRPr lang="en-US" dirty="0"/>
          </a:p>
          <a:p>
            <a:r>
              <a:rPr lang="en-US" dirty="0"/>
              <a:t>We all agree upon what is viewed? 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571500"/>
            <a:ext cx="7056120" cy="52928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0091" y="6107684"/>
            <a:ext cx="5353685" cy="2546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840"/>
              </a:lnSpc>
              <a:spcBef>
                <a:spcPts val="229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https://timesofindia.indiatimes.com/life-style/health-fitness/de-stress/puzzle-can-you-tell-which-guy-is-lying-among-</a:t>
            </a:r>
            <a:r>
              <a:rPr sz="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the-</a:t>
            </a: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two/articleshow/99033446.cms?from=mdr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3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95"/>
              </a:spcBef>
            </a:pPr>
            <a:r>
              <a:rPr dirty="0"/>
              <a:t>Minds</a:t>
            </a:r>
            <a:r>
              <a:rPr spc="-65" dirty="0"/>
              <a:t> </a:t>
            </a:r>
            <a:r>
              <a:rPr dirty="0"/>
              <a:t>as</a:t>
            </a:r>
            <a:r>
              <a:rPr spc="-65" dirty="0"/>
              <a:t> </a:t>
            </a:r>
            <a:r>
              <a:rPr spc="-10" dirty="0"/>
              <a:t>Computers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095" y="1905000"/>
            <a:ext cx="7877809" cy="4265976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35280" marR="6350" indent="-323215" algn="just">
              <a:lnSpc>
                <a:spcPts val="3420"/>
              </a:lnSpc>
              <a:spcBef>
                <a:spcPts val="360"/>
              </a:spcBef>
              <a:buSzPct val="45000"/>
              <a:buFont typeface="Microsoft Sans Serif"/>
              <a:buChar char="●"/>
              <a:tabLst>
                <a:tab pos="335280" algn="l"/>
                <a:tab pos="337185" algn="l"/>
              </a:tabLst>
            </a:pPr>
            <a:r>
              <a:rPr sz="2400" dirty="0">
                <a:latin typeface="+mj-lt"/>
                <a:cs typeface="Times New Roman"/>
              </a:rPr>
              <a:t>	The</a:t>
            </a:r>
            <a:r>
              <a:rPr sz="2400" spc="18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key</a:t>
            </a:r>
            <a:r>
              <a:rPr sz="2400" spc="18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to</a:t>
            </a:r>
            <a:r>
              <a:rPr sz="2400" spc="18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minds</a:t>
            </a:r>
            <a:r>
              <a:rPr sz="2400" spc="17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is</a:t>
            </a:r>
            <a:r>
              <a:rPr sz="2400" spc="17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not</a:t>
            </a:r>
            <a:r>
              <a:rPr sz="2400" spc="17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their</a:t>
            </a:r>
            <a:r>
              <a:rPr sz="2400" spc="18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physical</a:t>
            </a:r>
            <a:r>
              <a:rPr sz="2400" spc="185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substrate, </a:t>
            </a:r>
            <a:r>
              <a:rPr sz="2400" dirty="0">
                <a:latin typeface="+mj-lt"/>
                <a:cs typeface="Times New Roman"/>
              </a:rPr>
              <a:t>but</a:t>
            </a:r>
            <a:r>
              <a:rPr sz="2400" spc="5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the</a:t>
            </a:r>
            <a:r>
              <a:rPr sz="2400" spc="5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relations</a:t>
            </a:r>
            <a:r>
              <a:rPr sz="2400" spc="7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that</a:t>
            </a:r>
            <a:r>
              <a:rPr sz="2400" spc="6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states</a:t>
            </a:r>
            <a:r>
              <a:rPr sz="2400" spc="7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of</a:t>
            </a:r>
            <a:r>
              <a:rPr sz="2400" spc="6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the</a:t>
            </a:r>
            <a:r>
              <a:rPr sz="2400" spc="6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system</a:t>
            </a:r>
            <a:r>
              <a:rPr sz="2400" spc="6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have</a:t>
            </a:r>
            <a:r>
              <a:rPr sz="2400" spc="60" dirty="0">
                <a:latin typeface="+mj-lt"/>
                <a:cs typeface="Times New Roman"/>
              </a:rPr>
              <a:t> </a:t>
            </a:r>
            <a:r>
              <a:rPr sz="2400" spc="-25" dirty="0">
                <a:latin typeface="+mj-lt"/>
                <a:cs typeface="Times New Roman"/>
              </a:rPr>
              <a:t>to </a:t>
            </a:r>
            <a:r>
              <a:rPr sz="2400" dirty="0">
                <a:latin typeface="+mj-lt"/>
                <a:cs typeface="Times New Roman"/>
              </a:rPr>
              <a:t>one</a:t>
            </a:r>
            <a:r>
              <a:rPr sz="2400" spc="-70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another,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and</a:t>
            </a:r>
            <a:r>
              <a:rPr sz="2400" spc="-6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to</a:t>
            </a:r>
            <a:r>
              <a:rPr sz="2400" spc="-6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the</a:t>
            </a:r>
            <a:r>
              <a:rPr sz="2400" spc="-5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external</a:t>
            </a:r>
            <a:r>
              <a:rPr sz="2400" spc="-30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environment.</a:t>
            </a:r>
            <a:endParaRPr sz="2400" dirty="0">
              <a:latin typeface="+mj-lt"/>
              <a:cs typeface="Times New Roman"/>
            </a:endParaRPr>
          </a:p>
          <a:p>
            <a:pPr marL="335280" indent="-323215" algn="just">
              <a:lnSpc>
                <a:spcPts val="3245"/>
              </a:lnSpc>
              <a:buSzPct val="45000"/>
              <a:buFont typeface="Microsoft Sans Serif"/>
              <a:buChar char="●"/>
              <a:tabLst>
                <a:tab pos="335280" algn="l"/>
                <a:tab pos="337185" algn="l"/>
              </a:tabLst>
            </a:pPr>
            <a:r>
              <a:rPr sz="2400" dirty="0">
                <a:latin typeface="+mj-lt"/>
                <a:cs typeface="Times New Roman"/>
              </a:rPr>
              <a:t>	Minds</a:t>
            </a:r>
            <a:r>
              <a:rPr sz="2400" spc="484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aren’t</a:t>
            </a:r>
            <a:r>
              <a:rPr sz="2400" spc="49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human</a:t>
            </a:r>
            <a:r>
              <a:rPr sz="2400" spc="49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neurons</a:t>
            </a:r>
            <a:r>
              <a:rPr sz="2400" spc="49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or</a:t>
            </a:r>
            <a:r>
              <a:rPr sz="2400" spc="49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cat</a:t>
            </a:r>
            <a:r>
              <a:rPr sz="2400" spc="50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neurons</a:t>
            </a:r>
            <a:r>
              <a:rPr sz="2400" spc="490" dirty="0">
                <a:latin typeface="+mj-lt"/>
                <a:cs typeface="Times New Roman"/>
              </a:rPr>
              <a:t> </a:t>
            </a:r>
            <a:r>
              <a:rPr sz="2400" spc="-25" dirty="0">
                <a:latin typeface="+mj-lt"/>
                <a:cs typeface="Times New Roman"/>
              </a:rPr>
              <a:t>or</a:t>
            </a:r>
            <a:r>
              <a:rPr lang="en-IN" sz="2400" spc="-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robot</a:t>
            </a:r>
            <a:r>
              <a:rPr sz="2400" spc="405" dirty="0">
                <a:latin typeface="+mj-lt"/>
                <a:cs typeface="Times New Roman"/>
              </a:rPr>
              <a:t>  </a:t>
            </a:r>
            <a:r>
              <a:rPr sz="2400" dirty="0">
                <a:latin typeface="+mj-lt"/>
                <a:cs typeface="Times New Roman"/>
              </a:rPr>
              <a:t>parts.</a:t>
            </a:r>
            <a:r>
              <a:rPr sz="2400" spc="409" dirty="0">
                <a:latin typeface="+mj-lt"/>
                <a:cs typeface="Times New Roman"/>
              </a:rPr>
              <a:t>  </a:t>
            </a:r>
            <a:r>
              <a:rPr sz="2400" dirty="0">
                <a:latin typeface="+mj-lt"/>
                <a:cs typeface="Times New Roman"/>
              </a:rPr>
              <a:t>They</a:t>
            </a:r>
            <a:r>
              <a:rPr sz="2400" spc="405" dirty="0">
                <a:latin typeface="+mj-lt"/>
                <a:cs typeface="Times New Roman"/>
              </a:rPr>
              <a:t>  </a:t>
            </a:r>
            <a:r>
              <a:rPr sz="2400" dirty="0">
                <a:latin typeface="+mj-lt"/>
                <a:cs typeface="Times New Roman"/>
              </a:rPr>
              <a:t>are</a:t>
            </a:r>
            <a:r>
              <a:rPr sz="2400" spc="405" dirty="0">
                <a:latin typeface="+mj-lt"/>
                <a:cs typeface="Times New Roman"/>
              </a:rPr>
              <a:t>  </a:t>
            </a:r>
            <a:r>
              <a:rPr sz="2400" dirty="0">
                <a:latin typeface="+mj-lt"/>
                <a:cs typeface="Times New Roman"/>
              </a:rPr>
              <a:t>dynamic,</a:t>
            </a:r>
            <a:r>
              <a:rPr sz="2400" spc="409" dirty="0">
                <a:latin typeface="+mj-lt"/>
                <a:cs typeface="Times New Roman"/>
              </a:rPr>
              <a:t>  </a:t>
            </a:r>
            <a:r>
              <a:rPr sz="2400" spc="-10" dirty="0">
                <a:latin typeface="+mj-lt"/>
                <a:cs typeface="Times New Roman"/>
              </a:rPr>
              <a:t>continually </a:t>
            </a:r>
            <a:r>
              <a:rPr sz="2400" dirty="0">
                <a:latin typeface="+mj-lt"/>
                <a:cs typeface="Times New Roman"/>
              </a:rPr>
              <a:t>evolving</a:t>
            </a:r>
            <a:r>
              <a:rPr sz="2400" spc="120" dirty="0">
                <a:latin typeface="+mj-lt"/>
                <a:cs typeface="Times New Roman"/>
              </a:rPr>
              <a:t>  </a:t>
            </a:r>
            <a:r>
              <a:rPr sz="2400" dirty="0">
                <a:latin typeface="+mj-lt"/>
                <a:cs typeface="Times New Roman"/>
              </a:rPr>
              <a:t>systems</a:t>
            </a:r>
            <a:r>
              <a:rPr sz="2400" spc="120" dirty="0">
                <a:latin typeface="+mj-lt"/>
                <a:cs typeface="Times New Roman"/>
              </a:rPr>
              <a:t>  </a:t>
            </a:r>
            <a:r>
              <a:rPr sz="2400" dirty="0">
                <a:latin typeface="+mj-lt"/>
                <a:cs typeface="Times New Roman"/>
              </a:rPr>
              <a:t>that</a:t>
            </a:r>
            <a:r>
              <a:rPr sz="2400" spc="114" dirty="0">
                <a:latin typeface="+mj-lt"/>
                <a:cs typeface="Times New Roman"/>
              </a:rPr>
              <a:t>  </a:t>
            </a:r>
            <a:r>
              <a:rPr sz="2400" dirty="0">
                <a:latin typeface="+mj-lt"/>
                <a:cs typeface="Times New Roman"/>
              </a:rPr>
              <a:t>relate</a:t>
            </a:r>
            <a:r>
              <a:rPr sz="2400" spc="125" dirty="0">
                <a:latin typeface="+mj-lt"/>
                <a:cs typeface="Times New Roman"/>
              </a:rPr>
              <a:t>  </a:t>
            </a:r>
            <a:r>
              <a:rPr sz="2400" dirty="0">
                <a:latin typeface="+mj-lt"/>
                <a:cs typeface="Times New Roman"/>
              </a:rPr>
              <a:t>ongoing</a:t>
            </a:r>
            <a:r>
              <a:rPr sz="2400" spc="125" dirty="0">
                <a:latin typeface="+mj-lt"/>
                <a:cs typeface="Times New Roman"/>
              </a:rPr>
              <a:t>  </a:t>
            </a:r>
            <a:r>
              <a:rPr sz="2400" spc="-10" dirty="0">
                <a:latin typeface="+mj-lt"/>
                <a:cs typeface="Times New Roman"/>
              </a:rPr>
              <a:t>internal </a:t>
            </a:r>
            <a:r>
              <a:rPr sz="2400" dirty="0">
                <a:latin typeface="+mj-lt"/>
                <a:cs typeface="Times New Roman"/>
              </a:rPr>
              <a:t>(i.e.,</a:t>
            </a:r>
            <a:r>
              <a:rPr sz="2400" spc="-5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mind)</a:t>
            </a:r>
            <a:r>
              <a:rPr sz="2400" spc="-5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states</a:t>
            </a:r>
            <a:r>
              <a:rPr sz="2400" spc="-4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and</a:t>
            </a:r>
            <a:r>
              <a:rPr sz="2400" spc="-5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external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(i.e.,</a:t>
            </a:r>
            <a:r>
              <a:rPr sz="2400" spc="-6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world)</a:t>
            </a:r>
            <a:r>
              <a:rPr sz="2400" spc="-60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states</a:t>
            </a:r>
            <a:endParaRPr sz="2400" dirty="0">
              <a:latin typeface="+mj-lt"/>
              <a:cs typeface="Times New Roman"/>
            </a:endParaRPr>
          </a:p>
          <a:p>
            <a:pPr marL="335280" marR="5080" indent="-323215" algn="just">
              <a:lnSpc>
                <a:spcPts val="3420"/>
              </a:lnSpc>
              <a:buSzPct val="45000"/>
              <a:buFont typeface="Microsoft Sans Serif"/>
              <a:buChar char="●"/>
              <a:tabLst>
                <a:tab pos="335280" algn="l"/>
                <a:tab pos="337185" algn="l"/>
              </a:tabLst>
            </a:pPr>
            <a:r>
              <a:rPr sz="2400" dirty="0">
                <a:latin typeface="+mj-lt"/>
                <a:cs typeface="Times New Roman"/>
              </a:rPr>
              <a:t>	Correspondences</a:t>
            </a:r>
            <a:r>
              <a:rPr sz="2400" spc="260" dirty="0">
                <a:latin typeface="+mj-lt"/>
                <a:cs typeface="Times New Roman"/>
              </a:rPr>
              <a:t>  </a:t>
            </a:r>
            <a:r>
              <a:rPr sz="2400" dirty="0">
                <a:latin typeface="+mj-lt"/>
                <a:cs typeface="Times New Roman"/>
              </a:rPr>
              <a:t>can</a:t>
            </a:r>
            <a:r>
              <a:rPr sz="2400" spc="260" dirty="0">
                <a:latin typeface="+mj-lt"/>
                <a:cs typeface="Times New Roman"/>
              </a:rPr>
              <a:t>  </a:t>
            </a:r>
            <a:r>
              <a:rPr sz="2400" dirty="0">
                <a:latin typeface="+mj-lt"/>
                <a:cs typeface="Times New Roman"/>
              </a:rPr>
              <a:t>be</a:t>
            </a:r>
            <a:r>
              <a:rPr sz="2400" spc="270" dirty="0">
                <a:latin typeface="+mj-lt"/>
                <a:cs typeface="Times New Roman"/>
              </a:rPr>
              <a:t>  </a:t>
            </a:r>
            <a:r>
              <a:rPr sz="2400" dirty="0">
                <a:latin typeface="+mj-lt"/>
                <a:cs typeface="Times New Roman"/>
              </a:rPr>
              <a:t>made</a:t>
            </a:r>
            <a:r>
              <a:rPr sz="2400" spc="270" dirty="0">
                <a:latin typeface="+mj-lt"/>
                <a:cs typeface="Times New Roman"/>
              </a:rPr>
              <a:t>  </a:t>
            </a:r>
            <a:r>
              <a:rPr sz="2400" dirty="0">
                <a:latin typeface="+mj-lt"/>
                <a:cs typeface="Times New Roman"/>
              </a:rPr>
              <a:t>between</a:t>
            </a:r>
            <a:r>
              <a:rPr sz="2400" spc="265" dirty="0">
                <a:latin typeface="+mj-lt"/>
                <a:cs typeface="Times New Roman"/>
              </a:rPr>
              <a:t>  </a:t>
            </a:r>
            <a:r>
              <a:rPr sz="2400" spc="-25" dirty="0">
                <a:latin typeface="+mj-lt"/>
                <a:cs typeface="Times New Roman"/>
              </a:rPr>
              <a:t>two </a:t>
            </a:r>
            <a:r>
              <a:rPr sz="2400" dirty="0">
                <a:latin typeface="+mj-lt"/>
                <a:cs typeface="Times New Roman"/>
              </a:rPr>
              <a:t>systems by</a:t>
            </a:r>
            <a:r>
              <a:rPr sz="2400" spc="1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describing</a:t>
            </a:r>
            <a:r>
              <a:rPr sz="2400" spc="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what</a:t>
            </a:r>
            <a:r>
              <a:rPr sz="2400" spc="1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they</a:t>
            </a:r>
            <a:r>
              <a:rPr sz="2400" spc="1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do,</a:t>
            </a:r>
            <a:r>
              <a:rPr sz="2400" spc="20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independent </a:t>
            </a:r>
            <a:r>
              <a:rPr sz="2400" dirty="0">
                <a:latin typeface="+mj-lt"/>
                <a:cs typeface="Times New Roman"/>
              </a:rPr>
              <a:t>of</a:t>
            </a:r>
            <a:r>
              <a:rPr sz="2400" spc="-6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their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exact</a:t>
            </a:r>
            <a:r>
              <a:rPr sz="2400" spc="-5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physical</a:t>
            </a:r>
            <a:r>
              <a:rPr sz="2400" spc="-50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substrate.</a:t>
            </a:r>
            <a:endParaRPr sz="2400" dirty="0">
              <a:latin typeface="+mj-lt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9254" y="355472"/>
            <a:ext cx="7874634" cy="5752857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35280" marR="5080" indent="-323215" algn="just">
              <a:lnSpc>
                <a:spcPct val="95000"/>
              </a:lnSpc>
              <a:spcBef>
                <a:spcPts val="280"/>
              </a:spcBef>
              <a:buSzPct val="45000"/>
              <a:buFont typeface="Microsoft Sans Serif"/>
              <a:buChar char="●"/>
              <a:tabLst>
                <a:tab pos="335280" algn="l"/>
                <a:tab pos="337185" algn="l"/>
              </a:tabLst>
            </a:pPr>
            <a:r>
              <a:rPr sz="3000" dirty="0">
                <a:latin typeface="Times New Roman"/>
                <a:cs typeface="Times New Roman"/>
              </a:rPr>
              <a:t>	It</a:t>
            </a:r>
            <a:r>
              <a:rPr sz="3000" spc="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defined</a:t>
            </a:r>
            <a:r>
              <a:rPr sz="3000" spc="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complex</a:t>
            </a:r>
            <a:r>
              <a:rPr sz="3000" spc="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network</a:t>
            </a:r>
            <a:r>
              <a:rPr sz="3000" spc="10" dirty="0">
                <a:latin typeface="Times New Roman"/>
                <a:cs typeface="Times New Roman"/>
              </a:rPr>
              <a:t>  </a:t>
            </a:r>
            <a:r>
              <a:rPr sz="3000" spc="-25" dirty="0">
                <a:latin typeface="Times New Roman"/>
                <a:cs typeface="Times New Roman"/>
              </a:rPr>
              <a:t>of </a:t>
            </a:r>
            <a:r>
              <a:rPr sz="3000" dirty="0">
                <a:latin typeface="Times New Roman"/>
                <a:cs typeface="Times New Roman"/>
              </a:rPr>
              <a:t>thought</a:t>
            </a:r>
            <a:r>
              <a:rPr sz="3000" spc="3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processes</a:t>
            </a:r>
            <a:r>
              <a:rPr sz="3000" spc="3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3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consciousness</a:t>
            </a:r>
            <a:r>
              <a:rPr sz="3000" spc="3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3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arises </a:t>
            </a:r>
            <a:r>
              <a:rPr sz="3000" dirty="0">
                <a:latin typeface="Times New Roman"/>
                <a:cs typeface="Times New Roman"/>
              </a:rPr>
              <a:t>from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neurological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activity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brain.</a:t>
            </a:r>
            <a:endParaRPr sz="30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E6E6E6"/>
              </a:buClr>
              <a:buFont typeface="Microsoft Sans Serif"/>
              <a:buChar char="●"/>
            </a:pPr>
            <a:endParaRPr sz="3000" dirty="0">
              <a:latin typeface="Times New Roman"/>
              <a:cs typeface="Times New Roman"/>
            </a:endParaRPr>
          </a:p>
          <a:p>
            <a:pPr marL="335280" marR="5080" indent="-323215" algn="just">
              <a:lnSpc>
                <a:spcPts val="3420"/>
              </a:lnSpc>
              <a:spcBef>
                <a:spcPts val="5"/>
              </a:spcBef>
              <a:buSzPct val="45000"/>
              <a:buFont typeface="Microsoft Sans Serif"/>
              <a:buChar char="●"/>
              <a:tabLst>
                <a:tab pos="335280" algn="l"/>
                <a:tab pos="337185" algn="l"/>
              </a:tabLst>
            </a:pPr>
            <a:r>
              <a:rPr sz="3000" dirty="0">
                <a:latin typeface="Times New Roman"/>
                <a:cs typeface="Times New Roman"/>
              </a:rPr>
              <a:t>	We</a:t>
            </a:r>
            <a:r>
              <a:rPr sz="3000" spc="26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27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divide</a:t>
            </a:r>
            <a:r>
              <a:rPr sz="3000" spc="26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our</a:t>
            </a:r>
            <a:r>
              <a:rPr sz="3000" spc="26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mind</a:t>
            </a:r>
            <a:r>
              <a:rPr sz="3000" spc="27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into</a:t>
            </a:r>
            <a:r>
              <a:rPr sz="3000" spc="27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three</a:t>
            </a:r>
            <a:r>
              <a:rPr sz="3000" spc="270" dirty="0">
                <a:latin typeface="Times New Roman"/>
                <a:cs typeface="Times New Roman"/>
              </a:rPr>
              <a:t>  </a:t>
            </a:r>
            <a:r>
              <a:rPr sz="3000" spc="-10" dirty="0">
                <a:latin typeface="Times New Roman"/>
                <a:cs typeface="Times New Roman"/>
              </a:rPr>
              <a:t>layers: </a:t>
            </a:r>
            <a:r>
              <a:rPr sz="3000" dirty="0">
                <a:latin typeface="Times New Roman"/>
                <a:cs typeface="Times New Roman"/>
              </a:rPr>
              <a:t>conscious,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unconscious,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subconscious.</a:t>
            </a:r>
            <a:endParaRPr sz="3000" dirty="0">
              <a:latin typeface="Times New Roman"/>
              <a:cs typeface="Times New Roman"/>
            </a:endParaRPr>
          </a:p>
          <a:p>
            <a:pPr marL="335280" marR="5080" indent="-323215" algn="just">
              <a:lnSpc>
                <a:spcPct val="95000"/>
              </a:lnSpc>
              <a:spcBef>
                <a:spcPts val="3335"/>
              </a:spcBef>
              <a:buSzPct val="45000"/>
              <a:buFont typeface="Microsoft Sans Serif"/>
              <a:buChar char="●"/>
              <a:tabLst>
                <a:tab pos="335280" algn="l"/>
                <a:tab pos="337185" algn="l"/>
              </a:tabLst>
            </a:pPr>
            <a:r>
              <a:rPr sz="3000" dirty="0">
                <a:latin typeface="Times New Roman"/>
                <a:cs typeface="Times New Roman"/>
              </a:rPr>
              <a:t>	The</a:t>
            </a:r>
            <a:r>
              <a:rPr sz="3000" spc="5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conscious</a:t>
            </a:r>
            <a:r>
              <a:rPr sz="3000" spc="5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layer</a:t>
            </a:r>
            <a:r>
              <a:rPr sz="3000" spc="5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consists</a:t>
            </a:r>
            <a:r>
              <a:rPr sz="3000" spc="5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5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our</a:t>
            </a:r>
            <a:r>
              <a:rPr sz="3000" spc="5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immediate </a:t>
            </a:r>
            <a:r>
              <a:rPr sz="3000" dirty="0">
                <a:latin typeface="Times New Roman"/>
                <a:cs typeface="Times New Roman"/>
              </a:rPr>
              <a:t>thoughts,</a:t>
            </a:r>
            <a:r>
              <a:rPr sz="3000" spc="27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feelings,</a:t>
            </a:r>
            <a:r>
              <a:rPr sz="3000" spc="29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28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memories,</a:t>
            </a:r>
            <a:r>
              <a:rPr sz="3000" spc="28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while</a:t>
            </a:r>
            <a:r>
              <a:rPr sz="3000" spc="285" dirty="0">
                <a:latin typeface="Times New Roman"/>
                <a:cs typeface="Times New Roman"/>
              </a:rPr>
              <a:t>  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unconscious</a:t>
            </a:r>
            <a:r>
              <a:rPr sz="3000" spc="14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layer</a:t>
            </a:r>
            <a:r>
              <a:rPr sz="3000" spc="15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15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composed</a:t>
            </a:r>
            <a:r>
              <a:rPr sz="3000" spc="15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15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basic</a:t>
            </a:r>
            <a:r>
              <a:rPr sz="3000" spc="150" dirty="0">
                <a:latin typeface="Times New Roman"/>
                <a:cs typeface="Times New Roman"/>
              </a:rPr>
              <a:t> 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primordial</a:t>
            </a:r>
            <a:r>
              <a:rPr sz="3000" spc="1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impulses,</a:t>
            </a:r>
            <a:r>
              <a:rPr sz="3000" spc="20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subconscious</a:t>
            </a:r>
            <a:r>
              <a:rPr sz="3000" spc="1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layer </a:t>
            </a:r>
            <a:r>
              <a:rPr sz="3000" dirty="0">
                <a:latin typeface="Times New Roman"/>
                <a:cs typeface="Times New Roman"/>
              </a:rPr>
              <a:t>contains</a:t>
            </a:r>
            <a:r>
              <a:rPr sz="3000" spc="2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3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memories</a:t>
            </a:r>
            <a:r>
              <a:rPr sz="3000" spc="2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2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behaviors</a:t>
            </a:r>
            <a:r>
              <a:rPr sz="3000" spc="2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20" dirty="0">
                <a:latin typeface="Times New Roman"/>
                <a:cs typeface="Times New Roman"/>
              </a:rPr>
              <a:t>  </a:t>
            </a:r>
            <a:r>
              <a:rPr sz="3000" spc="-25" dirty="0">
                <a:latin typeface="Times New Roman"/>
                <a:cs typeface="Times New Roman"/>
              </a:rPr>
              <a:t>we </a:t>
            </a:r>
            <a:r>
              <a:rPr sz="3000" dirty="0">
                <a:latin typeface="Times New Roman"/>
                <a:cs typeface="Times New Roman"/>
              </a:rPr>
              <a:t>have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acquired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over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time.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9254" y="466724"/>
            <a:ext cx="7877175" cy="578876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35280" marR="5080" indent="-323215" algn="just">
              <a:lnSpc>
                <a:spcPts val="3190"/>
              </a:lnSpc>
              <a:spcBef>
                <a:spcPts val="340"/>
              </a:spcBef>
              <a:buSzPct val="44642"/>
              <a:buFont typeface="Microsoft Sans Serif"/>
              <a:buChar char="●"/>
              <a:tabLst>
                <a:tab pos="335280" algn="l"/>
                <a:tab pos="337820" algn="l"/>
              </a:tabLst>
            </a:pPr>
            <a:r>
              <a:rPr sz="2800" dirty="0">
                <a:latin typeface="Times New Roman"/>
                <a:cs typeface="Times New Roman"/>
              </a:rPr>
              <a:t>	At</a:t>
            </a:r>
            <a:r>
              <a:rPr sz="2800" spc="3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3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simplest,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mind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refers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our</a:t>
            </a:r>
            <a:r>
              <a:rPr sz="2800" spc="3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ability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think, </a:t>
            </a:r>
            <a:r>
              <a:rPr sz="2800" dirty="0">
                <a:latin typeface="Times New Roman"/>
                <a:cs typeface="Times New Roman"/>
              </a:rPr>
              <a:t>feel,</a:t>
            </a:r>
            <a:r>
              <a:rPr sz="2800" spc="2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engage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physical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activity.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brain,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on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4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hand,</a:t>
            </a:r>
            <a:r>
              <a:rPr sz="2800" spc="4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refers</a:t>
            </a:r>
            <a:r>
              <a:rPr sz="2800" spc="4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4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physical</a:t>
            </a:r>
            <a:r>
              <a:rPr sz="2800" spc="4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organ</a:t>
            </a:r>
            <a:r>
              <a:rPr sz="2800" spc="4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4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our </a:t>
            </a:r>
            <a:r>
              <a:rPr sz="2800" dirty="0">
                <a:latin typeface="Times New Roman"/>
                <a:cs typeface="Times New Roman"/>
              </a:rPr>
              <a:t>head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supports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functions.</a:t>
            </a:r>
            <a:endParaRPr sz="2800" dirty="0">
              <a:latin typeface="Times New Roman"/>
              <a:cs typeface="Times New Roman"/>
            </a:endParaRPr>
          </a:p>
          <a:p>
            <a:pPr marL="335280" marR="5080" indent="-323215" algn="just">
              <a:lnSpc>
                <a:spcPts val="3190"/>
              </a:lnSpc>
              <a:spcBef>
                <a:spcPts val="15"/>
              </a:spcBef>
              <a:buSzPct val="44642"/>
              <a:buFont typeface="Microsoft Sans Serif"/>
              <a:buChar char="●"/>
              <a:tabLst>
                <a:tab pos="335280" algn="l"/>
                <a:tab pos="337820" algn="l"/>
              </a:tabLst>
            </a:pPr>
            <a:r>
              <a:rPr sz="2800" dirty="0">
                <a:latin typeface="Times New Roman"/>
                <a:cs typeface="Times New Roman"/>
              </a:rPr>
              <a:t>	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brain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composed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neurons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blood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vessels;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4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hand,</a:t>
            </a:r>
            <a:r>
              <a:rPr sz="2800" spc="4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mind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4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abstract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4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4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not </a:t>
            </a:r>
            <a:r>
              <a:rPr sz="2800" dirty="0">
                <a:latin typeface="Times New Roman"/>
                <a:cs typeface="Times New Roman"/>
              </a:rPr>
              <a:t>made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neurons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blood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vessels.</a:t>
            </a:r>
            <a:endParaRPr sz="2800" dirty="0">
              <a:latin typeface="Times New Roman"/>
              <a:cs typeface="Times New Roman"/>
            </a:endParaRPr>
          </a:p>
          <a:p>
            <a:pPr marL="335280" indent="-323215" algn="just">
              <a:lnSpc>
                <a:spcPts val="3035"/>
              </a:lnSpc>
              <a:buSzPct val="44642"/>
              <a:buFont typeface="Microsoft Sans Serif"/>
              <a:buChar char="●"/>
              <a:tabLst>
                <a:tab pos="335280" algn="l"/>
                <a:tab pos="337820" algn="l"/>
              </a:tabLst>
            </a:pPr>
            <a:r>
              <a:rPr sz="2800" dirty="0">
                <a:latin typeface="Times New Roman"/>
                <a:cs typeface="Times New Roman"/>
              </a:rPr>
              <a:t>	While</a:t>
            </a:r>
            <a:r>
              <a:rPr sz="2800" spc="14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4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brain</a:t>
            </a:r>
            <a:r>
              <a:rPr sz="2800" spc="16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controls</a:t>
            </a:r>
            <a:r>
              <a:rPr sz="2800" spc="15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5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person's</a:t>
            </a:r>
            <a:r>
              <a:rPr sz="2800" spc="145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movements,</a:t>
            </a:r>
            <a:endParaRPr sz="2800" dirty="0">
              <a:latin typeface="Times New Roman"/>
              <a:cs typeface="Times New Roman"/>
            </a:endParaRPr>
          </a:p>
          <a:p>
            <a:pPr marL="335280" marR="7620" algn="just">
              <a:lnSpc>
                <a:spcPts val="3190"/>
              </a:lnSpc>
              <a:spcBef>
                <a:spcPts val="165"/>
              </a:spcBef>
            </a:pPr>
            <a:r>
              <a:rPr sz="2800" dirty="0">
                <a:latin typeface="Times New Roman"/>
                <a:cs typeface="Times New Roman"/>
              </a:rPr>
              <a:t>emotions,</a:t>
            </a:r>
            <a:r>
              <a:rPr sz="2800" spc="6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6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various</a:t>
            </a:r>
            <a:r>
              <a:rPr sz="2800" spc="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bodily</a:t>
            </a:r>
            <a:r>
              <a:rPr sz="2800" spc="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functions;</a:t>
            </a:r>
            <a:r>
              <a:rPr sz="2800" spc="6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6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mind </a:t>
            </a:r>
            <a:r>
              <a:rPr sz="2800" dirty="0">
                <a:latin typeface="Times New Roman"/>
                <a:cs typeface="Times New Roman"/>
              </a:rPr>
              <a:t>alludes</a:t>
            </a:r>
            <a:r>
              <a:rPr sz="2800" spc="3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person's</a:t>
            </a:r>
            <a:r>
              <a:rPr sz="2800" spc="3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morality,</a:t>
            </a:r>
            <a:r>
              <a:rPr sz="2800" spc="3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reasoning,</a:t>
            </a:r>
            <a:r>
              <a:rPr sz="2800" spc="365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spc="-10" dirty="0">
                <a:latin typeface="Times New Roman"/>
                <a:cs typeface="Times New Roman"/>
              </a:rPr>
              <a:t>understanding.</a:t>
            </a:r>
            <a:endParaRPr sz="2800" dirty="0">
              <a:latin typeface="Times New Roman"/>
              <a:cs typeface="Times New Roman"/>
            </a:endParaRPr>
          </a:p>
          <a:p>
            <a:pPr marL="335280" indent="-323215" algn="just">
              <a:lnSpc>
                <a:spcPts val="3035"/>
              </a:lnSpc>
              <a:buSzPct val="44642"/>
              <a:buFont typeface="Microsoft Sans Serif"/>
              <a:buChar char="●"/>
              <a:tabLst>
                <a:tab pos="335280" algn="l"/>
                <a:tab pos="33845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brain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physical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organ;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touched</a:t>
            </a:r>
            <a:r>
              <a:rPr sz="2800" spc="32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or</a:t>
            </a:r>
            <a:endParaRPr sz="2800" dirty="0">
              <a:latin typeface="Times New Roman"/>
              <a:cs typeface="Times New Roman"/>
            </a:endParaRPr>
          </a:p>
          <a:p>
            <a:pPr marL="335280" marR="8255" algn="just">
              <a:lnSpc>
                <a:spcPts val="3190"/>
              </a:lnSpc>
              <a:spcBef>
                <a:spcPts val="165"/>
              </a:spcBef>
            </a:pPr>
            <a:r>
              <a:rPr sz="2800" dirty="0">
                <a:latin typeface="Times New Roman"/>
                <a:cs typeface="Times New Roman"/>
              </a:rPr>
              <a:t>seen;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however,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mind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intangible;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1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neither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touched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seen.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720" y="667615"/>
            <a:ext cx="380868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Cognition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7695" y="2041779"/>
            <a:ext cx="7928609" cy="2701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374650" indent="-457200" algn="just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Times New Roman"/>
                <a:cs typeface="Times New Roman"/>
              </a:rPr>
              <a:t>Cognition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Latin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cognitio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10" dirty="0">
                <a:latin typeface="Times New Roman"/>
                <a:cs typeface="Times New Roman"/>
              </a:rPr>
              <a:t> “know together”</a:t>
            </a:r>
            <a:endParaRPr sz="2800" dirty="0">
              <a:latin typeface="Times New Roman"/>
              <a:cs typeface="Times New Roman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790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collection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mental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activities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perceiving,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remembering, </a:t>
            </a:r>
            <a:r>
              <a:rPr sz="2800" dirty="0">
                <a:latin typeface="Times New Roman"/>
                <a:cs typeface="Times New Roman"/>
              </a:rPr>
              <a:t>thinking,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understanding</a:t>
            </a:r>
            <a:r>
              <a:rPr lang="en-IN"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those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processes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693" y="479528"/>
            <a:ext cx="5931307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Cognitive</a:t>
            </a:r>
            <a:r>
              <a:rPr spc="-11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49422" y="1985199"/>
            <a:ext cx="7708265" cy="33124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70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Memory</a:t>
            </a:r>
            <a:endParaRPr sz="28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ts val="302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Times New Roman"/>
                <a:cs typeface="Times New Roman"/>
              </a:rPr>
              <a:t>Thinking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Reasoning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(Planning,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Decision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Making, </a:t>
            </a: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Solving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...)</a:t>
            </a:r>
            <a:endParaRPr lang="en-IN" sz="28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ts val="302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800" spc="-10" dirty="0">
                <a:latin typeface="Times New Roman"/>
                <a:cs typeface="Times New Roman"/>
              </a:rPr>
              <a:t>Language</a:t>
            </a:r>
            <a:endParaRPr lang="en-IN" sz="28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ts val="302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800" spc="-40" dirty="0">
                <a:latin typeface="Times New Roman"/>
                <a:cs typeface="Times New Roman"/>
              </a:rPr>
              <a:t>Vision</a:t>
            </a:r>
            <a:r>
              <a:rPr lang="en-IN"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Perception </a:t>
            </a:r>
            <a:endParaRPr lang="en-IN" sz="2800" spc="-1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ts val="302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Times New Roman"/>
                <a:cs typeface="Times New Roman"/>
              </a:rPr>
              <a:t>Social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Cognition</a:t>
            </a:r>
            <a:endParaRPr lang="en-IN" sz="28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ts val="302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800" spc="-10" dirty="0">
                <a:latin typeface="Times New Roman"/>
                <a:cs typeface="Times New Roman"/>
              </a:rPr>
              <a:t>Dreaming</a:t>
            </a:r>
            <a:r>
              <a:rPr sz="2800" dirty="0">
                <a:latin typeface="Times New Roman"/>
                <a:cs typeface="Times New Roman"/>
              </a:rPr>
              <a:t>	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Consciousness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900" y="1905000"/>
            <a:ext cx="8333105" cy="438645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5915" indent="-323215" algn="just">
              <a:lnSpc>
                <a:spcPts val="3745"/>
              </a:lnSpc>
              <a:spcBef>
                <a:spcPts val="105"/>
              </a:spcBef>
              <a:buSzPct val="45312"/>
              <a:buFont typeface="Microsoft Sans Serif"/>
              <a:buChar char="●"/>
              <a:tabLst>
                <a:tab pos="335915" algn="l"/>
              </a:tabLst>
            </a:pPr>
            <a:r>
              <a:rPr sz="3200" dirty="0">
                <a:latin typeface="Times New Roman"/>
                <a:cs typeface="Times New Roman"/>
              </a:rPr>
              <a:t>Similarities: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what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ways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similar?</a:t>
            </a:r>
            <a:endParaRPr sz="3200" dirty="0">
              <a:latin typeface="Times New Roman"/>
              <a:cs typeface="Times New Roman"/>
            </a:endParaRPr>
          </a:p>
          <a:p>
            <a:pPr marL="335915" marR="5080" indent="-323850" algn="just">
              <a:lnSpc>
                <a:spcPts val="3650"/>
              </a:lnSpc>
              <a:spcBef>
                <a:spcPts val="180"/>
              </a:spcBef>
              <a:buSzPct val="45312"/>
              <a:buFont typeface="Microsoft Sans Serif"/>
              <a:buChar char="●"/>
              <a:tabLst>
                <a:tab pos="335915" algn="l"/>
              </a:tabLst>
            </a:pPr>
            <a:r>
              <a:rPr sz="3200" dirty="0">
                <a:latin typeface="Times New Roman"/>
                <a:cs typeface="Times New Roman"/>
              </a:rPr>
              <a:t>Most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similarities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address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processing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information.</a:t>
            </a:r>
            <a:endParaRPr sz="3200" dirty="0">
              <a:latin typeface="Times New Roman"/>
              <a:cs typeface="Times New Roman"/>
            </a:endParaRPr>
          </a:p>
          <a:p>
            <a:pPr marL="335915" indent="-323215" algn="just">
              <a:lnSpc>
                <a:spcPts val="3475"/>
              </a:lnSpc>
              <a:buSzPct val="45312"/>
              <a:buFont typeface="Microsoft Sans Serif"/>
              <a:buChar char="●"/>
              <a:tabLst>
                <a:tab pos="335915" algn="l"/>
              </a:tabLst>
            </a:pPr>
            <a:r>
              <a:rPr sz="3200" dirty="0">
                <a:latin typeface="Times New Roman"/>
                <a:cs typeface="Times New Roman"/>
              </a:rPr>
              <a:t>Both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Minds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computers…</a:t>
            </a:r>
            <a:endParaRPr sz="32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3195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i="1" dirty="0">
                <a:latin typeface="Times New Roman"/>
                <a:cs typeface="Times New Roman"/>
              </a:rPr>
              <a:t>Input</a:t>
            </a:r>
            <a:r>
              <a:rPr sz="2800" i="1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information</a:t>
            </a:r>
            <a:endParaRPr sz="28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3195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i="1" dirty="0">
                <a:latin typeface="Times New Roman"/>
                <a:cs typeface="Times New Roman"/>
              </a:rPr>
              <a:t>Output</a:t>
            </a:r>
            <a:r>
              <a:rPr sz="2800" i="1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information</a:t>
            </a:r>
            <a:endParaRPr sz="28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3190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i="1" dirty="0">
                <a:latin typeface="Times New Roman"/>
                <a:cs typeface="Times New Roman"/>
              </a:rPr>
              <a:t>Access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information</a:t>
            </a:r>
            <a:endParaRPr sz="28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3190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i="1" dirty="0">
                <a:latin typeface="Times New Roman"/>
                <a:cs typeface="Times New Roman"/>
              </a:rPr>
              <a:t>Store</a:t>
            </a:r>
            <a:r>
              <a:rPr sz="2800" i="1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information</a:t>
            </a:r>
            <a:endParaRPr sz="28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3195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i="1" dirty="0">
                <a:latin typeface="Times New Roman"/>
                <a:cs typeface="Times New Roman"/>
              </a:rPr>
              <a:t>Retrieve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information</a:t>
            </a:r>
            <a:endParaRPr sz="28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3275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i="1" dirty="0">
                <a:latin typeface="Times New Roman"/>
                <a:cs typeface="Times New Roman"/>
              </a:rPr>
              <a:t>Analyze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information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733998"/>
            <a:ext cx="891540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80" dirty="0"/>
              <a:t> </a:t>
            </a:r>
            <a:r>
              <a:rPr dirty="0"/>
              <a:t>mind</a:t>
            </a:r>
            <a:r>
              <a:rPr spc="-65" dirty="0"/>
              <a:t> </a:t>
            </a:r>
            <a:r>
              <a:rPr dirty="0"/>
              <a:t>as</a:t>
            </a:r>
            <a:r>
              <a:rPr spc="-6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computer</a:t>
            </a:r>
            <a:r>
              <a:rPr spc="-35" dirty="0"/>
              <a:t> </a:t>
            </a:r>
            <a:r>
              <a:rPr spc="-10" dirty="0"/>
              <a:t>analogy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03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95"/>
              </a:spcBef>
            </a:pPr>
            <a:r>
              <a:rPr i="0" spc="-10" dirty="0">
                <a:latin typeface="Arial"/>
                <a:cs typeface="Arial"/>
              </a:rPr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2960" y="1905000"/>
            <a:ext cx="8092440" cy="4299766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35280" marR="584200" indent="-323215" algn="just">
              <a:lnSpc>
                <a:spcPts val="3650"/>
              </a:lnSpc>
              <a:spcBef>
                <a:spcPts val="384"/>
              </a:spcBef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Symbolic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Representation: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information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coded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discrete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way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values.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3460"/>
              </a:lnSpc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Propositions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statements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world</a:t>
            </a:r>
            <a:endParaRPr sz="3200" dirty="0">
              <a:latin typeface="Times New Roman"/>
              <a:cs typeface="Times New Roman"/>
            </a:endParaRPr>
          </a:p>
          <a:p>
            <a:pPr marL="335280" algn="just">
              <a:lnSpc>
                <a:spcPts val="3650"/>
              </a:lnSpc>
            </a:pP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illustrated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sentences.</a:t>
            </a:r>
            <a:endParaRPr sz="3200" dirty="0">
              <a:latin typeface="Times New Roman"/>
              <a:cs typeface="Times New Roman"/>
            </a:endParaRPr>
          </a:p>
          <a:p>
            <a:pPr marL="335280" marR="5080" indent="-323215" algn="just">
              <a:lnSpc>
                <a:spcPct val="95000"/>
              </a:lnSpc>
              <a:spcBef>
                <a:spcPts val="95"/>
              </a:spcBef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Rules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yet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another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form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representation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specify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relationships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between propositions.</a:t>
            </a:r>
            <a:endParaRPr sz="3200" dirty="0">
              <a:latin typeface="Times New Roman"/>
              <a:cs typeface="Times New Roman"/>
            </a:endParaRPr>
          </a:p>
          <a:p>
            <a:pPr marL="335280" marR="1638935" indent="-323215" algn="just">
              <a:lnSpc>
                <a:spcPts val="3650"/>
              </a:lnSpc>
              <a:spcBef>
                <a:spcPts val="85"/>
              </a:spcBef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Analog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Representation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: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represent </a:t>
            </a:r>
            <a:r>
              <a:rPr sz="3200" dirty="0">
                <a:latin typeface="Times New Roman"/>
                <a:cs typeface="Times New Roman"/>
              </a:rPr>
              <a:t>information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continuous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way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9254" y="214629"/>
            <a:ext cx="8226146" cy="6199774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35280" marR="236220" indent="-323215" algn="just">
              <a:lnSpc>
                <a:spcPts val="3190"/>
              </a:lnSpc>
              <a:spcBef>
                <a:spcPts val="345"/>
              </a:spcBef>
              <a:buSzPct val="44642"/>
              <a:buFont typeface="Microsoft Sans Serif"/>
              <a:buChar char="●"/>
              <a:tabLst>
                <a:tab pos="335280" algn="l"/>
              </a:tabLst>
            </a:pPr>
            <a:r>
              <a:rPr sz="2800" dirty="0">
                <a:latin typeface="Times New Roman"/>
                <a:cs typeface="Times New Roman"/>
              </a:rPr>
              <a:t>Language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example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digital </a:t>
            </a:r>
            <a:r>
              <a:rPr sz="2800" dirty="0">
                <a:latin typeface="Times New Roman"/>
                <a:cs typeface="Times New Roman"/>
              </a:rPr>
              <a:t>mental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representation,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fact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verbal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concepts </a:t>
            </a:r>
            <a:r>
              <a:rPr sz="2800" dirty="0">
                <a:latin typeface="Times New Roman"/>
                <a:cs typeface="Times New Roman"/>
              </a:rPr>
              <a:t>seem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human </a:t>
            </a:r>
            <a:r>
              <a:rPr sz="2800" spc="-10" dirty="0">
                <a:latin typeface="Times New Roman"/>
                <a:cs typeface="Times New Roman"/>
              </a:rPr>
              <a:t>symbolic </a:t>
            </a:r>
            <a:r>
              <a:rPr sz="2800" dirty="0">
                <a:latin typeface="Times New Roman"/>
                <a:cs typeface="Times New Roman"/>
              </a:rPr>
              <a:t>representation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most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commonly </a:t>
            </a:r>
            <a:r>
              <a:rPr sz="2800" spc="-10" dirty="0">
                <a:latin typeface="Times New Roman"/>
                <a:cs typeface="Times New Roman"/>
              </a:rPr>
              <a:t>used.</a:t>
            </a:r>
            <a:endParaRPr sz="28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3040"/>
              </a:lnSpc>
              <a:buSzPct val="44642"/>
              <a:buFont typeface="Microsoft Sans Serif"/>
              <a:buChar char="●"/>
              <a:tabLst>
                <a:tab pos="33528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basic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written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language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letters.</a:t>
            </a:r>
            <a:endParaRPr sz="2800" dirty="0">
              <a:latin typeface="Times New Roman"/>
              <a:cs typeface="Times New Roman"/>
            </a:endParaRPr>
          </a:p>
          <a:p>
            <a:pPr marL="335280" marR="817880" indent="-323215" algn="just">
              <a:lnSpc>
                <a:spcPts val="3190"/>
              </a:lnSpc>
              <a:spcBef>
                <a:spcPts val="160"/>
              </a:spcBef>
              <a:buSzPct val="44642"/>
              <a:buFont typeface="Microsoft Sans Serif"/>
              <a:buChar char="●"/>
              <a:tabLst>
                <a:tab pos="335280" algn="l"/>
              </a:tabLst>
            </a:pPr>
            <a:r>
              <a:rPr sz="2800" dirty="0">
                <a:latin typeface="Times New Roman"/>
                <a:cs typeface="Times New Roman"/>
              </a:rPr>
              <a:t>These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discrete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symbols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combined </a:t>
            </a:r>
            <a:r>
              <a:rPr sz="2800" dirty="0">
                <a:latin typeface="Times New Roman"/>
                <a:cs typeface="Times New Roman"/>
              </a:rPr>
              <a:t>according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rules.</a:t>
            </a:r>
            <a:endParaRPr sz="2800" dirty="0">
              <a:latin typeface="Times New Roman"/>
              <a:cs typeface="Times New Roman"/>
            </a:endParaRPr>
          </a:p>
          <a:p>
            <a:pPr marL="335280" indent="-323215" algn="just">
              <a:lnSpc>
                <a:spcPts val="3035"/>
              </a:lnSpc>
              <a:buSzPct val="44642"/>
              <a:buFont typeface="Microsoft Sans Serif"/>
              <a:buChar char="●"/>
              <a:tabLst>
                <a:tab pos="33528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combinations,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words,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meaning 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are</a:t>
            </a:r>
            <a:endParaRPr sz="2800" dirty="0">
              <a:latin typeface="Times New Roman"/>
              <a:cs typeface="Times New Roman"/>
            </a:endParaRPr>
          </a:p>
          <a:p>
            <a:pPr marL="335280" marR="33655" algn="just">
              <a:lnSpc>
                <a:spcPts val="3190"/>
              </a:lnSpc>
              <a:spcBef>
                <a:spcPts val="165"/>
              </a:spcBef>
            </a:pPr>
            <a:r>
              <a:rPr sz="2800" dirty="0">
                <a:latin typeface="Times New Roman"/>
                <a:cs typeface="Times New Roman"/>
              </a:rPr>
              <a:t>themselves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combined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higher-</a:t>
            </a:r>
            <a:r>
              <a:rPr sz="2800" dirty="0">
                <a:latin typeface="Times New Roman"/>
                <a:cs typeface="Times New Roman"/>
              </a:rPr>
              <a:t>order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units, </a:t>
            </a:r>
            <a:r>
              <a:rPr sz="2800" dirty="0">
                <a:latin typeface="Times New Roman"/>
                <a:cs typeface="Times New Roman"/>
              </a:rPr>
              <a:t>sentences,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semantic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content.</a:t>
            </a:r>
            <a:endParaRPr sz="2800" dirty="0">
              <a:latin typeface="Times New Roman"/>
              <a:cs typeface="Times New Roman"/>
            </a:endParaRPr>
          </a:p>
          <a:p>
            <a:pPr marL="335280" marR="281940" indent="-323215" algn="just">
              <a:lnSpc>
                <a:spcPts val="3190"/>
              </a:lnSpc>
              <a:spcBef>
                <a:spcPts val="5"/>
              </a:spcBef>
              <a:buSzPct val="44642"/>
              <a:buFont typeface="Microsoft Sans Serif"/>
              <a:buChar char="●"/>
              <a:tabLst>
                <a:tab pos="33528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rules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these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are </a:t>
            </a:r>
            <a:r>
              <a:rPr sz="2800" dirty="0">
                <a:latin typeface="Times New Roman"/>
                <a:cs typeface="Times New Roman"/>
              </a:rPr>
              <a:t>combined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transformed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language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called</a:t>
            </a:r>
            <a:endParaRPr sz="2800" dirty="0">
              <a:latin typeface="Times New Roman"/>
              <a:cs typeface="Times New Roman"/>
            </a:endParaRPr>
          </a:p>
          <a:p>
            <a:pPr marL="335280" algn="just">
              <a:lnSpc>
                <a:spcPts val="3035"/>
              </a:lnSpc>
            </a:pPr>
            <a:r>
              <a:rPr sz="2800" spc="-10" dirty="0">
                <a:latin typeface="Times New Roman"/>
                <a:cs typeface="Times New Roman"/>
              </a:rPr>
              <a:t>syntax.</a:t>
            </a:r>
            <a:endParaRPr sz="2800" dirty="0">
              <a:latin typeface="Times New Roman"/>
              <a:cs typeface="Times New Roman"/>
            </a:endParaRPr>
          </a:p>
          <a:p>
            <a:pPr marL="335280" marR="5080" indent="-323215" algn="just">
              <a:lnSpc>
                <a:spcPts val="3190"/>
              </a:lnSpc>
              <a:spcBef>
                <a:spcPts val="165"/>
              </a:spcBef>
              <a:buSzPct val="44642"/>
              <a:buFont typeface="Microsoft Sans Serif"/>
              <a:buChar char="●"/>
              <a:tabLst>
                <a:tab pos="335280" algn="l"/>
              </a:tabLst>
            </a:pPr>
            <a:r>
              <a:rPr sz="2800" dirty="0">
                <a:latin typeface="Times New Roman"/>
                <a:cs typeface="Times New Roman"/>
              </a:rPr>
              <a:t>Syntax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constitutes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permissible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operations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elements.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1068" y="163830"/>
            <a:ext cx="7577532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indent="-322580">
              <a:lnSpc>
                <a:spcPts val="3770"/>
              </a:lnSpc>
              <a:spcBef>
                <a:spcPts val="100"/>
              </a:spcBef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Georgia" panose="02040502050405020303" pitchFamily="18" charset="0"/>
                <a:cs typeface="Times New Roman"/>
              </a:rPr>
              <a:t>Example:</a:t>
            </a:r>
            <a:r>
              <a:rPr sz="3200" spc="-3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3200" dirty="0">
                <a:latin typeface="Georgia" panose="02040502050405020303" pitchFamily="18" charset="0"/>
                <a:cs typeface="Times New Roman"/>
              </a:rPr>
              <a:t>Syntactic</a:t>
            </a:r>
            <a:r>
              <a:rPr lang="en-IN" sz="3200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3200" spc="-10" dirty="0">
                <a:latin typeface="Georgia" panose="02040502050405020303" pitchFamily="18" charset="0"/>
                <a:cs typeface="Times New Roman"/>
              </a:rPr>
              <a:t>Disambiguation</a:t>
            </a:r>
            <a:endParaRPr sz="3200" dirty="0">
              <a:latin typeface="Georgia" panose="02040502050405020303" pitchFamily="18" charset="0"/>
              <a:cs typeface="Times New Roman"/>
            </a:endParaRPr>
          </a:p>
          <a:p>
            <a:pPr marL="768350" lvl="1" indent="-288290">
              <a:lnSpc>
                <a:spcPts val="3195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spc="-40" dirty="0">
                <a:latin typeface="Georgia" panose="02040502050405020303" pitchFamily="18" charset="0"/>
                <a:cs typeface="Tahoma"/>
              </a:rPr>
              <a:t>“</a:t>
            </a:r>
            <a:r>
              <a:rPr sz="2800" spc="-40" dirty="0">
                <a:latin typeface="Georgia" panose="02040502050405020303" pitchFamily="18" charset="0"/>
                <a:cs typeface="Times New Roman"/>
              </a:rPr>
              <a:t>We </a:t>
            </a:r>
            <a:r>
              <a:rPr sz="2800" dirty="0">
                <a:latin typeface="Georgia" panose="02040502050405020303" pitchFamily="18" charset="0"/>
                <a:cs typeface="Times New Roman"/>
              </a:rPr>
              <a:t>shall</a:t>
            </a:r>
            <a:r>
              <a:rPr sz="2800" spc="-4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800" dirty="0">
                <a:latin typeface="Georgia" panose="02040502050405020303" pitchFamily="18" charset="0"/>
                <a:cs typeface="Times New Roman"/>
              </a:rPr>
              <a:t>discuss</a:t>
            </a:r>
            <a:r>
              <a:rPr sz="2800" spc="-4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800" dirty="0">
                <a:latin typeface="Georgia" panose="02040502050405020303" pitchFamily="18" charset="0"/>
                <a:cs typeface="Times New Roman"/>
              </a:rPr>
              <a:t>violence</a:t>
            </a:r>
            <a:r>
              <a:rPr sz="2800" spc="-7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800" dirty="0">
                <a:latin typeface="Georgia" panose="02040502050405020303" pitchFamily="18" charset="0"/>
                <a:cs typeface="Times New Roman"/>
              </a:rPr>
              <a:t>on</a:t>
            </a:r>
            <a:r>
              <a:rPr sz="2800" spc="-70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800" spc="-20" dirty="0">
                <a:latin typeface="Georgia" panose="02040502050405020303" pitchFamily="18" charset="0"/>
                <a:cs typeface="Times New Roman"/>
              </a:rPr>
              <a:t>TV.</a:t>
            </a:r>
            <a:r>
              <a:rPr sz="2800" spc="-20" dirty="0">
                <a:latin typeface="Georgia" panose="02040502050405020303" pitchFamily="18" charset="0"/>
                <a:cs typeface="Tahoma"/>
              </a:rPr>
              <a:t>”</a:t>
            </a:r>
            <a:endParaRPr sz="2800" dirty="0">
              <a:latin typeface="Georgia" panose="02040502050405020303" pitchFamily="18" charset="0"/>
              <a:cs typeface="Tahoma"/>
            </a:endParaRPr>
          </a:p>
          <a:p>
            <a:pPr marL="768350" lvl="1" indent="-288290">
              <a:lnSpc>
                <a:spcPts val="3265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spc="-40" dirty="0">
                <a:latin typeface="Georgia" panose="02040502050405020303" pitchFamily="18" charset="0"/>
                <a:cs typeface="Times New Roman"/>
              </a:rPr>
              <a:t>Two</a:t>
            </a:r>
            <a:r>
              <a:rPr sz="2800" spc="-70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800" dirty="0">
                <a:latin typeface="Georgia" panose="02040502050405020303" pitchFamily="18" charset="0"/>
                <a:cs typeface="Times New Roman"/>
              </a:rPr>
              <a:t>interpretations</a:t>
            </a:r>
            <a:r>
              <a:rPr sz="2800" spc="-110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800" spc="-50" dirty="0">
                <a:latin typeface="Georgia" panose="02040502050405020303" pitchFamily="18" charset="0"/>
                <a:cs typeface="Times New Roman"/>
              </a:rPr>
              <a:t>:</a:t>
            </a:r>
            <a:endParaRPr sz="2800" dirty="0">
              <a:latin typeface="Georgia" panose="02040502050405020303" pitchFamily="18" charset="0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4870" y="3045967"/>
            <a:ext cx="431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VP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016" y="3655567"/>
            <a:ext cx="2640965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  <a:tabLst>
                <a:tab pos="1384300" algn="l"/>
                <a:tab pos="2222500" algn="l"/>
              </a:tabLst>
            </a:pPr>
            <a:r>
              <a:rPr sz="3600" b="1" spc="-75" baseline="-13888" dirty="0">
                <a:solidFill>
                  <a:srgbClr val="FFCC00"/>
                </a:solidFill>
                <a:latin typeface="Arial"/>
                <a:cs typeface="Arial"/>
              </a:rPr>
              <a:t>V</a:t>
            </a:r>
            <a:r>
              <a:rPr sz="3600" b="1" baseline="-13888" dirty="0">
                <a:solidFill>
                  <a:srgbClr val="FFCC00"/>
                </a:solidFill>
                <a:latin typeface="Arial"/>
                <a:cs typeface="Arial"/>
              </a:rPr>
              <a:t>	</a:t>
            </a: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NP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	</a:t>
            </a: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PP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20"/>
              </a:spcBef>
              <a:tabLst>
                <a:tab pos="1460500" algn="l"/>
              </a:tabLst>
            </a:pPr>
            <a:r>
              <a:rPr sz="2400" b="1" spc="-10" dirty="0">
                <a:solidFill>
                  <a:srgbClr val="C0C0C0"/>
                </a:solidFill>
                <a:latin typeface="Arial"/>
                <a:cs typeface="Arial"/>
              </a:rPr>
              <a:t>discuss</a:t>
            </a:r>
            <a:r>
              <a:rPr sz="2400" b="1" dirty="0">
                <a:solidFill>
                  <a:srgbClr val="C0C0C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CC00"/>
                </a:solidFill>
                <a:latin typeface="Arial"/>
                <a:cs typeface="Arial"/>
              </a:rPr>
              <a:t>N</a:t>
            </a:r>
            <a:endParaRPr sz="24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520"/>
              </a:spcBef>
            </a:pPr>
            <a:r>
              <a:rPr sz="2400" b="1" spc="-10" dirty="0">
                <a:solidFill>
                  <a:srgbClr val="C0C0C0"/>
                </a:solidFill>
                <a:latin typeface="Arial"/>
                <a:cs typeface="Arial"/>
              </a:rPr>
              <a:t>violence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3070" y="5561177"/>
            <a:ext cx="397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C0C0C0"/>
                </a:solidFill>
                <a:latin typeface="Arial"/>
                <a:cs typeface="Arial"/>
              </a:rPr>
              <a:t>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5451" y="5637377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C0C0C0"/>
                </a:solidFill>
                <a:latin typeface="Arial"/>
                <a:cs typeface="Arial"/>
              </a:rPr>
              <a:t>TV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70838" y="3451097"/>
            <a:ext cx="1828800" cy="304800"/>
          </a:xfrm>
          <a:custGeom>
            <a:avLst/>
            <a:gdLst/>
            <a:ahLst/>
            <a:cxnLst/>
            <a:rect l="l" t="t" r="r" b="b"/>
            <a:pathLst>
              <a:path w="1828800" h="304800">
                <a:moveTo>
                  <a:pt x="990600" y="0"/>
                </a:moveTo>
                <a:lnTo>
                  <a:pt x="990600" y="304800"/>
                </a:lnTo>
              </a:path>
              <a:path w="1828800" h="304800">
                <a:moveTo>
                  <a:pt x="990600" y="0"/>
                </a:moveTo>
                <a:lnTo>
                  <a:pt x="0" y="304800"/>
                </a:lnTo>
              </a:path>
              <a:path w="1828800" h="304800">
                <a:moveTo>
                  <a:pt x="990600" y="0"/>
                </a:moveTo>
                <a:lnTo>
                  <a:pt x="1828800" y="304800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61438" y="4136897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94638" y="4213097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61638" y="4822697"/>
            <a:ext cx="0" cy="838200"/>
          </a:xfrm>
          <a:custGeom>
            <a:avLst/>
            <a:gdLst/>
            <a:ahLst/>
            <a:cxnLst/>
            <a:rect l="l" t="t" r="r" b="b"/>
            <a:pathLst>
              <a:path h="838200">
                <a:moveTo>
                  <a:pt x="0" y="0"/>
                </a:moveTo>
                <a:lnTo>
                  <a:pt x="0" y="838199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61438" y="4822697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23438" y="4060697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76200" y="0"/>
                </a:moveTo>
                <a:lnTo>
                  <a:pt x="0" y="304800"/>
                </a:lnTo>
              </a:path>
              <a:path w="838200" h="381000">
                <a:moveTo>
                  <a:pt x="76200" y="0"/>
                </a:moveTo>
                <a:lnTo>
                  <a:pt x="838200" y="381000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49270" y="4341621"/>
            <a:ext cx="1134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8500" algn="l"/>
              </a:tabLst>
            </a:pPr>
            <a:r>
              <a:rPr sz="2400" b="1" spc="-50" dirty="0">
                <a:solidFill>
                  <a:srgbClr val="FFCC00"/>
                </a:solidFill>
                <a:latin typeface="Arial"/>
                <a:cs typeface="Arial"/>
              </a:rPr>
              <a:t>P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	</a:t>
            </a: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NP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23438" y="4822697"/>
            <a:ext cx="0" cy="838200"/>
          </a:xfrm>
          <a:custGeom>
            <a:avLst/>
            <a:gdLst/>
            <a:ahLst/>
            <a:cxnLst/>
            <a:rect l="l" t="t" r="r" b="b"/>
            <a:pathLst>
              <a:path h="838200">
                <a:moveTo>
                  <a:pt x="0" y="0"/>
                </a:moveTo>
                <a:lnTo>
                  <a:pt x="0" y="838199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91554" y="3045967"/>
            <a:ext cx="431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VP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29755" y="3655567"/>
            <a:ext cx="447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NP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95773" y="3731463"/>
            <a:ext cx="169418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CC00"/>
                </a:solidFill>
                <a:latin typeface="Arial"/>
                <a:cs typeface="Arial"/>
              </a:rPr>
              <a:t>V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  <a:tabLst>
                <a:tab pos="1460500" algn="l"/>
              </a:tabLst>
            </a:pPr>
            <a:r>
              <a:rPr sz="2400" b="1" spc="-10" dirty="0">
                <a:solidFill>
                  <a:srgbClr val="C0C0C0"/>
                </a:solidFill>
                <a:latin typeface="Arial"/>
                <a:cs typeface="Arial"/>
              </a:rPr>
              <a:t>discuss</a:t>
            </a:r>
            <a:r>
              <a:rPr sz="2400" b="1" dirty="0">
                <a:solidFill>
                  <a:srgbClr val="C0C0C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CC00"/>
                </a:solidFill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250941" y="3451097"/>
            <a:ext cx="1828800" cy="304800"/>
          </a:xfrm>
          <a:custGeom>
            <a:avLst/>
            <a:gdLst/>
            <a:ahLst/>
            <a:cxnLst/>
            <a:rect l="l" t="t" r="r" b="b"/>
            <a:pathLst>
              <a:path w="1828800" h="304800">
                <a:moveTo>
                  <a:pt x="990600" y="0"/>
                </a:moveTo>
                <a:lnTo>
                  <a:pt x="0" y="304800"/>
                </a:lnTo>
              </a:path>
              <a:path w="1828800" h="304800">
                <a:moveTo>
                  <a:pt x="990600" y="0"/>
                </a:moveTo>
                <a:lnTo>
                  <a:pt x="1828800" y="304800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50941" y="4213097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93941" y="4822697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93941" y="4060697"/>
            <a:ext cx="1295400" cy="381000"/>
          </a:xfrm>
          <a:custGeom>
            <a:avLst/>
            <a:gdLst/>
            <a:ahLst/>
            <a:cxnLst/>
            <a:rect l="l" t="t" r="r" b="b"/>
            <a:pathLst>
              <a:path w="1295400" h="381000">
                <a:moveTo>
                  <a:pt x="685800" y="0"/>
                </a:moveTo>
                <a:lnTo>
                  <a:pt x="0" y="381000"/>
                </a:lnTo>
              </a:path>
              <a:path w="1295400" h="381000">
                <a:moveTo>
                  <a:pt x="685800" y="0"/>
                </a:moveTo>
                <a:lnTo>
                  <a:pt x="1295400" y="381000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158355" y="5408167"/>
            <a:ext cx="398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C0C0C0"/>
                </a:solidFill>
                <a:latin typeface="Arial"/>
                <a:cs typeface="Arial"/>
              </a:rPr>
              <a:t>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384542" y="4746497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304800" y="0"/>
                </a:moveTo>
                <a:lnTo>
                  <a:pt x="0" y="304800"/>
                </a:lnTo>
              </a:path>
              <a:path w="609600" h="304800">
                <a:moveTo>
                  <a:pt x="304800" y="0"/>
                </a:moveTo>
                <a:lnTo>
                  <a:pt x="609600" y="304800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786754" y="4341621"/>
            <a:ext cx="2505710" cy="153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26390" algn="r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PP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  <a:tabLst>
                <a:tab pos="1460500" algn="l"/>
                <a:tab pos="2070100" algn="l"/>
              </a:tabLst>
            </a:pPr>
            <a:r>
              <a:rPr sz="2400" b="1" spc="-10" dirty="0">
                <a:solidFill>
                  <a:srgbClr val="C0C0C0"/>
                </a:solidFill>
                <a:latin typeface="Arial"/>
                <a:cs typeface="Arial"/>
              </a:rPr>
              <a:t>violence</a:t>
            </a:r>
            <a:r>
              <a:rPr sz="2400" b="1" dirty="0">
                <a:solidFill>
                  <a:srgbClr val="C0C0C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CC00"/>
                </a:solidFill>
                <a:latin typeface="Arial"/>
                <a:cs typeface="Arial"/>
              </a:rPr>
              <a:t>P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	</a:t>
            </a: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NP</a:t>
            </a:r>
            <a:endParaRPr sz="2400">
              <a:latin typeface="Arial"/>
              <a:cs typeface="Arial"/>
            </a:endParaRPr>
          </a:p>
          <a:p>
            <a:pPr marR="38100" algn="r">
              <a:lnSpc>
                <a:spcPct val="100000"/>
              </a:lnSpc>
              <a:spcBef>
                <a:spcPts val="1320"/>
              </a:spcBef>
            </a:pPr>
            <a:r>
              <a:rPr sz="2400" b="1" spc="-25" dirty="0">
                <a:solidFill>
                  <a:srgbClr val="C0C0C0"/>
                </a:solidFill>
                <a:latin typeface="Arial"/>
                <a:cs typeface="Arial"/>
              </a:rPr>
              <a:t>TV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384542" y="5356097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70342" y="5356097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063867" y="925195"/>
            <a:ext cx="1828164" cy="197231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533400" algn="r">
              <a:lnSpc>
                <a:spcPct val="87000"/>
              </a:lnSpc>
              <a:spcBef>
                <a:spcPts val="380"/>
              </a:spcBef>
            </a:pP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Sentence(S)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Noun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Phrase(NP) Determiner(Det)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Verb</a:t>
            </a:r>
            <a:r>
              <a:rPr sz="18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Phrase(VP) Prepositional </a:t>
            </a:r>
            <a:r>
              <a:rPr sz="1800" spc="-1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Phras</a:t>
            </a:r>
            <a:r>
              <a:rPr lang="en-IN"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e(PP)</a:t>
            </a:r>
            <a:endParaRPr sz="1800" dirty="0">
              <a:latin typeface="Microsoft Sans Serif"/>
              <a:cs typeface="Microsoft Sans Serif"/>
            </a:endParaRPr>
          </a:p>
          <a:p>
            <a:pPr marL="953135" marR="5715" indent="86360" algn="r">
              <a:lnSpc>
                <a:spcPts val="1880"/>
              </a:lnSpc>
              <a:spcBef>
                <a:spcPts val="2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Verb(V)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Noun(N)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E654CA-4ECA-465B-93C5-2A6E9DC45FF1}"/>
              </a:ext>
            </a:extLst>
          </p:cNvPr>
          <p:cNvSpPr/>
          <p:nvPr/>
        </p:nvSpPr>
        <p:spPr>
          <a:xfrm>
            <a:off x="6829679" y="1120676"/>
            <a:ext cx="203784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Sentence(S) </a:t>
            </a:r>
          </a:p>
          <a:p>
            <a:r>
              <a:rPr lang="en-IN" dirty="0"/>
              <a:t>Noun Phrase(NP) </a:t>
            </a:r>
          </a:p>
          <a:p>
            <a:r>
              <a:rPr lang="en-IN" dirty="0"/>
              <a:t>Determiner(Det) </a:t>
            </a:r>
          </a:p>
          <a:p>
            <a:r>
              <a:rPr lang="en-IN" dirty="0"/>
              <a:t>Verb Phrase(VP) </a:t>
            </a:r>
          </a:p>
          <a:p>
            <a:r>
              <a:rPr lang="en-IN" dirty="0"/>
              <a:t>Prepositional Phrase(PP) </a:t>
            </a:r>
          </a:p>
          <a:p>
            <a:r>
              <a:rPr lang="en-IN" dirty="0"/>
              <a:t>Verb(V) </a:t>
            </a:r>
          </a:p>
          <a:p>
            <a:r>
              <a:rPr lang="en-IN" dirty="0"/>
              <a:t>Noun(N)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9254" y="579246"/>
            <a:ext cx="7674609" cy="45618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35280" marR="920115" indent="-323215" algn="just">
              <a:lnSpc>
                <a:spcPts val="2740"/>
              </a:lnSpc>
              <a:spcBef>
                <a:spcPts val="305"/>
              </a:spcBef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spc="-10" dirty="0">
                <a:latin typeface="Times New Roman"/>
                <a:cs typeface="Times New Roman"/>
              </a:rPr>
              <a:t>Visual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images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mental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analog representations.</a:t>
            </a:r>
            <a:endParaRPr sz="24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2595"/>
              </a:lnSpc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Stop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reading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moment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eyes.</a:t>
            </a:r>
            <a:endParaRPr sz="24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2735"/>
              </a:lnSpc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Imagine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picture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palm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sunny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beach.</a:t>
            </a:r>
            <a:endParaRPr sz="24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2735"/>
              </a:lnSpc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 see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the </a:t>
            </a:r>
            <a:r>
              <a:rPr sz="2400" spc="-10" dirty="0">
                <a:latin typeface="Times New Roman"/>
                <a:cs typeface="Times New Roman"/>
              </a:rPr>
              <a:t>bark?</a:t>
            </a:r>
            <a:endParaRPr sz="24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2735"/>
              </a:lnSpc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coconuts?</a:t>
            </a:r>
            <a:endParaRPr sz="2400" dirty="0">
              <a:latin typeface="Times New Roman"/>
              <a:cs typeface="Times New Roman"/>
            </a:endParaRPr>
          </a:p>
          <a:p>
            <a:pPr marL="335280" marR="254000" indent="-323215" algn="just">
              <a:lnSpc>
                <a:spcPct val="95100"/>
              </a:lnSpc>
              <a:spcBef>
                <a:spcPts val="70"/>
              </a:spcBef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Images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capture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properties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their </a:t>
            </a:r>
            <a:r>
              <a:rPr sz="2400" dirty="0">
                <a:latin typeface="Times New Roman"/>
                <a:cs typeface="Times New Roman"/>
              </a:rPr>
              <a:t>referents,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distances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corresponding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points.</a:t>
            </a:r>
            <a:endParaRPr sz="2400" dirty="0">
              <a:latin typeface="Times New Roman"/>
              <a:cs typeface="Times New Roman"/>
            </a:endParaRPr>
          </a:p>
          <a:p>
            <a:pPr marL="335280" marR="5080" indent="-323215" algn="just">
              <a:lnSpc>
                <a:spcPts val="2740"/>
              </a:lnSpc>
              <a:spcBef>
                <a:spcPts val="65"/>
              </a:spcBef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transformations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 </a:t>
            </a:r>
            <a:r>
              <a:rPr sz="2400" dirty="0">
                <a:latin typeface="Times New Roman"/>
                <a:cs typeface="Times New Roman"/>
              </a:rPr>
              <a:t>images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kinds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objects</a:t>
            </a:r>
            <a:r>
              <a:rPr sz="2400" spc="-25" dirty="0">
                <a:latin typeface="Times New Roman"/>
                <a:cs typeface="Times New Roman"/>
              </a:rPr>
              <a:t> in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external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observable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world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undergo.</a:t>
            </a:r>
            <a:endParaRPr sz="24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2660"/>
              </a:lnSpc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rotations,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translations,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reflections.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60" y="643011"/>
            <a:ext cx="7543800" cy="1094350"/>
          </a:xfrm>
          <a:prstGeom prst="rect">
            <a:avLst/>
          </a:prstGeom>
        </p:spPr>
        <p:txBody>
          <a:bodyPr vert="horz" wrap="square" lIns="0" tIns="352246" rIns="0" bIns="0" rtlCol="0">
            <a:spAutoFit/>
          </a:bodyPr>
          <a:lstStyle/>
          <a:p>
            <a:pPr marL="1524635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computation?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0291" y="2133600"/>
            <a:ext cx="8093709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280" indent="-322580" algn="just">
              <a:lnSpc>
                <a:spcPct val="100000"/>
              </a:lnSpc>
              <a:spcBef>
                <a:spcPts val="95"/>
              </a:spcBef>
              <a:buSzPct val="44642"/>
              <a:buFont typeface="Microsoft Sans Serif"/>
              <a:buChar char="●"/>
              <a:tabLst>
                <a:tab pos="335280" algn="l"/>
              </a:tabLst>
            </a:pPr>
            <a:r>
              <a:rPr sz="2800" spc="-10" dirty="0">
                <a:latin typeface="Times New Roman"/>
                <a:cs typeface="Times New Roman"/>
              </a:rPr>
              <a:t>Rule-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manipulation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10" dirty="0">
                <a:latin typeface="Times New Roman"/>
                <a:cs typeface="Times New Roman"/>
              </a:rPr>
              <a:t>symbols.</a:t>
            </a:r>
            <a:endParaRPr sz="2800" dirty="0">
              <a:latin typeface="Times New Roman"/>
              <a:cs typeface="Times New Roman"/>
            </a:endParaRPr>
          </a:p>
          <a:p>
            <a:pPr marL="2515235" algn="just">
              <a:lnSpc>
                <a:spcPct val="100000"/>
              </a:lnSpc>
            </a:pPr>
            <a:r>
              <a:rPr sz="2800" b="1" dirty="0">
                <a:latin typeface="Arial"/>
                <a:cs typeface="Arial"/>
              </a:rPr>
              <a:t>S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=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str_replace(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“cat”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,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”c”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,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”h”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303" y="3453384"/>
            <a:ext cx="6277356" cy="26182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57878" y="5490464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83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43171" y="5524500"/>
            <a:ext cx="312420" cy="332740"/>
          </a:xfrm>
          <a:custGeom>
            <a:avLst/>
            <a:gdLst/>
            <a:ahLst/>
            <a:cxnLst/>
            <a:rect l="l" t="t" r="r" b="b"/>
            <a:pathLst>
              <a:path w="312420" h="332739">
                <a:moveTo>
                  <a:pt x="312420" y="0"/>
                </a:moveTo>
                <a:lnTo>
                  <a:pt x="0" y="0"/>
                </a:lnTo>
                <a:lnTo>
                  <a:pt x="0" y="332231"/>
                </a:lnTo>
                <a:lnTo>
                  <a:pt x="312420" y="332231"/>
                </a:lnTo>
                <a:lnTo>
                  <a:pt x="3124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74" y="172082"/>
            <a:ext cx="7723226" cy="1221488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080">
              <a:lnSpc>
                <a:spcPts val="4460"/>
              </a:lnSpc>
              <a:spcBef>
                <a:spcPts val="525"/>
              </a:spcBef>
            </a:pPr>
            <a:r>
              <a:rPr dirty="0"/>
              <a:t>Three</a:t>
            </a:r>
            <a:r>
              <a:rPr spc="-80" dirty="0"/>
              <a:t> </a:t>
            </a:r>
            <a:r>
              <a:rPr dirty="0"/>
              <a:t>Levels</a:t>
            </a:r>
            <a:r>
              <a:rPr spc="-7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10" dirty="0"/>
              <a:t>Description </a:t>
            </a:r>
            <a:r>
              <a:rPr dirty="0"/>
              <a:t>(David</a:t>
            </a:r>
            <a:r>
              <a:rPr spc="-105" dirty="0"/>
              <a:t> </a:t>
            </a:r>
            <a:r>
              <a:rPr spc="-10" dirty="0"/>
              <a:t>Marr)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8904" y="1718513"/>
            <a:ext cx="7901940" cy="35274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35915" marR="5080" indent="-323850" algn="just">
              <a:lnSpc>
                <a:spcPts val="2690"/>
              </a:lnSpc>
              <a:spcBef>
                <a:spcPts val="745"/>
              </a:spcBef>
              <a:buSzPct val="44642"/>
              <a:buFont typeface="Microsoft Sans Serif"/>
              <a:buChar char="●"/>
              <a:tabLst>
                <a:tab pos="335915" algn="l"/>
              </a:tabLst>
            </a:pPr>
            <a:r>
              <a:rPr sz="2400" spc="-30" dirty="0">
                <a:latin typeface="Times New Roman"/>
                <a:cs typeface="Times New Roman"/>
              </a:rPr>
              <a:t>A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understanding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computational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(kinds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335915" indent="-323215" algn="just">
              <a:lnSpc>
                <a:spcPts val="2460"/>
              </a:lnSpc>
              <a:buClr>
                <a:srgbClr val="E6E6E6"/>
              </a:buClr>
              <a:buSzPct val="44642"/>
              <a:buFont typeface="Microsoft Sans Serif"/>
              <a:buChar char="●"/>
              <a:tabLst>
                <a:tab pos="335915" algn="l"/>
              </a:tabLst>
            </a:pPr>
            <a:r>
              <a:rPr sz="2400" b="1" dirty="0">
                <a:latin typeface="Times New Roman"/>
                <a:cs typeface="Times New Roman"/>
              </a:rPr>
              <a:t>Computational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theory</a:t>
            </a:r>
            <a:endParaRPr sz="24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2125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why.</a:t>
            </a:r>
            <a:endParaRPr sz="24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2030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capable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doing.</a:t>
            </a:r>
            <a:endParaRPr sz="2400" dirty="0">
              <a:latin typeface="Times New Roman"/>
              <a:cs typeface="Times New Roman"/>
            </a:endParaRPr>
          </a:p>
          <a:p>
            <a:pPr marL="335915" indent="-323215" algn="just">
              <a:lnSpc>
                <a:spcPts val="2735"/>
              </a:lnSpc>
              <a:buClr>
                <a:srgbClr val="E6E6E6"/>
              </a:buClr>
              <a:buSzPct val="44642"/>
              <a:buFont typeface="Microsoft Sans Serif"/>
              <a:buChar char="●"/>
              <a:tabLst>
                <a:tab pos="335915" algn="l"/>
              </a:tabLst>
            </a:pPr>
            <a:r>
              <a:rPr sz="2400" b="1" dirty="0">
                <a:latin typeface="Times New Roman"/>
                <a:cs typeface="Times New Roman"/>
              </a:rPr>
              <a:t>Representation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algorithm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(software)</a:t>
            </a:r>
            <a:endParaRPr sz="24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2315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used.</a:t>
            </a:r>
            <a:endParaRPr sz="24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2250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symbols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processed.</a:t>
            </a:r>
            <a:endParaRPr sz="2400" dirty="0">
              <a:latin typeface="Times New Roman"/>
              <a:cs typeface="Times New Roman"/>
            </a:endParaRPr>
          </a:p>
          <a:p>
            <a:pPr marL="335915" indent="-323215" algn="just">
              <a:lnSpc>
                <a:spcPts val="2735"/>
              </a:lnSpc>
              <a:buClr>
                <a:srgbClr val="E6E6E6"/>
              </a:buClr>
              <a:buSzPct val="44642"/>
              <a:buFont typeface="Microsoft Sans Serif"/>
              <a:buChar char="●"/>
              <a:tabLst>
                <a:tab pos="33591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Hardware</a:t>
            </a:r>
            <a:endParaRPr sz="24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2310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brain?</a:t>
            </a:r>
            <a:endParaRPr sz="24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2590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kind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neurons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 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connected?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168" y="1130808"/>
            <a:ext cx="7979664" cy="45963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0019" y="286638"/>
            <a:ext cx="8063865" cy="4911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280" indent="-322580" algn="just">
              <a:lnSpc>
                <a:spcPts val="3275"/>
              </a:lnSpc>
              <a:spcBef>
                <a:spcPts val="95"/>
              </a:spcBef>
              <a:buSzPct val="44642"/>
              <a:buFont typeface="Microsoft Sans Serif"/>
              <a:buChar char="●"/>
              <a:tabLst>
                <a:tab pos="335280" algn="l"/>
              </a:tabLst>
            </a:pPr>
            <a:r>
              <a:rPr sz="2800" dirty="0">
                <a:latin typeface="Times New Roman"/>
                <a:cs typeface="Times New Roman"/>
              </a:rPr>
              <a:t>Computational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level</a:t>
            </a:r>
            <a:endParaRPr sz="2800" dirty="0">
              <a:latin typeface="Times New Roman"/>
              <a:cs typeface="Times New Roman"/>
            </a:endParaRPr>
          </a:p>
          <a:p>
            <a:pPr marL="812800" algn="just">
              <a:lnSpc>
                <a:spcPts val="3190"/>
              </a:lnSpc>
            </a:pPr>
            <a:r>
              <a:rPr sz="2800" spc="-10" dirty="0">
                <a:latin typeface="Times New Roman"/>
                <a:cs typeface="Times New Roman"/>
              </a:rPr>
              <a:t>--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What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exactly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problem?</a:t>
            </a:r>
            <a:endParaRPr sz="2800" dirty="0">
              <a:latin typeface="Times New Roman"/>
              <a:cs typeface="Times New Roman"/>
            </a:endParaRPr>
          </a:p>
          <a:p>
            <a:pPr marL="812800" algn="just">
              <a:lnSpc>
                <a:spcPts val="3195"/>
              </a:lnSpc>
            </a:pPr>
            <a:r>
              <a:rPr sz="2800" spc="-10" dirty="0">
                <a:latin typeface="Times New Roman"/>
                <a:cs typeface="Times New Roman"/>
              </a:rPr>
              <a:t>--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entail?</a:t>
            </a:r>
            <a:endParaRPr sz="2800" dirty="0">
              <a:latin typeface="Times New Roman"/>
              <a:cs typeface="Times New Roman"/>
            </a:endParaRPr>
          </a:p>
          <a:p>
            <a:pPr marL="812800" algn="just">
              <a:lnSpc>
                <a:spcPts val="3195"/>
              </a:lnSpc>
            </a:pPr>
            <a:r>
              <a:rPr sz="2800" spc="-10" dirty="0">
                <a:latin typeface="Times New Roman"/>
                <a:cs typeface="Times New Roman"/>
              </a:rPr>
              <a:t>--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first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place?</a:t>
            </a:r>
            <a:endParaRPr sz="28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3190"/>
              </a:lnSpc>
              <a:buSzPct val="44642"/>
              <a:buFont typeface="Microsoft Sans Serif"/>
              <a:buChar char="●"/>
              <a:tabLst>
                <a:tab pos="335280" algn="l"/>
              </a:tabLst>
            </a:pPr>
            <a:r>
              <a:rPr sz="2800" dirty="0">
                <a:latin typeface="Times New Roman"/>
                <a:cs typeface="Times New Roman"/>
              </a:rPr>
              <a:t>Algorithm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  <a:p>
            <a:pPr marL="1257935" marR="278765" indent="-445134" algn="just">
              <a:lnSpc>
                <a:spcPts val="3190"/>
              </a:lnSpc>
              <a:spcBef>
                <a:spcPts val="165"/>
              </a:spcBef>
            </a:pPr>
            <a:r>
              <a:rPr sz="2800" spc="-10" dirty="0">
                <a:latin typeface="Times New Roman"/>
                <a:cs typeface="Times New Roman"/>
              </a:rPr>
              <a:t>--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actual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carried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out.</a:t>
            </a:r>
            <a:endParaRPr sz="28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3035"/>
              </a:lnSpc>
              <a:buSzPct val="44642"/>
              <a:buFont typeface="Microsoft Sans Serif"/>
              <a:buChar char="●"/>
              <a:tabLst>
                <a:tab pos="335280" algn="l"/>
              </a:tabLst>
            </a:pPr>
            <a:r>
              <a:rPr sz="2800" dirty="0">
                <a:latin typeface="Times New Roman"/>
                <a:cs typeface="Times New Roman"/>
              </a:rPr>
              <a:t>implementational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level:</a:t>
            </a:r>
            <a:endParaRPr sz="2800" dirty="0">
              <a:latin typeface="Times New Roman"/>
              <a:cs typeface="Times New Roman"/>
            </a:endParaRPr>
          </a:p>
          <a:p>
            <a:pPr marL="991235" algn="just">
              <a:lnSpc>
                <a:spcPts val="3190"/>
              </a:lnSpc>
            </a:pPr>
            <a:r>
              <a:rPr sz="2800" spc="-10" dirty="0">
                <a:latin typeface="Times New Roman"/>
                <a:cs typeface="Times New Roman"/>
              </a:rPr>
              <a:t>---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made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of? </a:t>
            </a:r>
            <a:r>
              <a:rPr sz="2800" spc="-50" dirty="0">
                <a:latin typeface="Times New Roman"/>
                <a:cs typeface="Times New Roman"/>
              </a:rPr>
              <a:t>–</a:t>
            </a:r>
            <a:endParaRPr sz="2800" dirty="0">
              <a:latin typeface="Times New Roman"/>
              <a:cs typeface="Times New Roman"/>
            </a:endParaRPr>
          </a:p>
          <a:p>
            <a:pPr marL="1524635" marR="488315" indent="-445134" algn="just">
              <a:lnSpc>
                <a:spcPct val="95000"/>
              </a:lnSpc>
              <a:spcBef>
                <a:spcPts val="80"/>
              </a:spcBef>
            </a:pPr>
            <a:r>
              <a:rPr sz="2800" spc="-10" dirty="0">
                <a:latin typeface="Times New Roman"/>
                <a:cs typeface="Times New Roman"/>
              </a:rPr>
              <a:t>---</a:t>
            </a:r>
            <a:r>
              <a:rPr sz="2800" dirty="0">
                <a:latin typeface="Times New Roman"/>
                <a:cs typeface="Times New Roman"/>
              </a:rPr>
              <a:t>What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physical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material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changes </a:t>
            </a:r>
            <a:r>
              <a:rPr sz="2800" dirty="0">
                <a:latin typeface="Times New Roman"/>
                <a:cs typeface="Times New Roman"/>
              </a:rPr>
              <a:t>underlie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changes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of </a:t>
            </a:r>
            <a:r>
              <a:rPr sz="2800" spc="-10" dirty="0">
                <a:latin typeface="Times New Roman"/>
                <a:cs typeface="Times New Roman"/>
              </a:rPr>
              <a:t>information?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360" rIns="0" bIns="0" rtlCol="0">
            <a:spAutoFit/>
          </a:bodyPr>
          <a:lstStyle/>
          <a:p>
            <a:pPr marL="84074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A</a:t>
            </a:r>
            <a:r>
              <a:rPr sz="3200" spc="-130" dirty="0"/>
              <a:t> </a:t>
            </a:r>
            <a:r>
              <a:rPr sz="3200" dirty="0"/>
              <a:t>program</a:t>
            </a:r>
            <a:r>
              <a:rPr sz="3200" spc="-35" dirty="0"/>
              <a:t> </a:t>
            </a:r>
            <a:r>
              <a:rPr sz="3200" dirty="0"/>
              <a:t>is</a:t>
            </a:r>
            <a:r>
              <a:rPr sz="3200" spc="-20" dirty="0"/>
              <a:t> </a:t>
            </a:r>
            <a:r>
              <a:rPr sz="3200" dirty="0"/>
              <a:t>like</a:t>
            </a:r>
            <a:r>
              <a:rPr sz="3200" spc="-10" dirty="0"/>
              <a:t> </a:t>
            </a:r>
            <a:r>
              <a:rPr sz="3200" dirty="0"/>
              <a:t>a</a:t>
            </a:r>
            <a:r>
              <a:rPr sz="3200" spc="-40" dirty="0"/>
              <a:t> </a:t>
            </a:r>
            <a:r>
              <a:rPr sz="3200" dirty="0"/>
              <a:t>cooking</a:t>
            </a:r>
            <a:r>
              <a:rPr sz="3200" spc="-45" dirty="0"/>
              <a:t> </a:t>
            </a:r>
            <a:r>
              <a:rPr sz="3200" spc="-10" dirty="0"/>
              <a:t>recipe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899160" y="943355"/>
            <a:ext cx="7579359" cy="5621020"/>
            <a:chOff x="899160" y="943355"/>
            <a:chExt cx="7579359" cy="5621020"/>
          </a:xfrm>
        </p:grpSpPr>
        <p:sp>
          <p:nvSpPr>
            <p:cNvPr id="4" name="object 4"/>
            <p:cNvSpPr/>
            <p:nvPr/>
          </p:nvSpPr>
          <p:spPr>
            <a:xfrm>
              <a:off x="6387083" y="1421129"/>
              <a:ext cx="743585" cy="605790"/>
            </a:xfrm>
            <a:custGeom>
              <a:avLst/>
              <a:gdLst/>
              <a:ahLst/>
              <a:cxnLst/>
              <a:rect l="l" t="t" r="r" b="b"/>
              <a:pathLst>
                <a:path w="743584" h="605789">
                  <a:moveTo>
                    <a:pt x="106933" y="373634"/>
                  </a:moveTo>
                  <a:lnTo>
                    <a:pt x="0" y="605790"/>
                  </a:lnTo>
                  <a:lnTo>
                    <a:pt x="249936" y="552069"/>
                  </a:lnTo>
                  <a:lnTo>
                    <a:pt x="221437" y="516509"/>
                  </a:lnTo>
                  <a:lnTo>
                    <a:pt x="172465" y="516509"/>
                  </a:lnTo>
                  <a:lnTo>
                    <a:pt x="124840" y="456946"/>
                  </a:lnTo>
                  <a:lnTo>
                    <a:pt x="154602" y="433113"/>
                  </a:lnTo>
                  <a:lnTo>
                    <a:pt x="106933" y="373634"/>
                  </a:lnTo>
                  <a:close/>
                </a:path>
                <a:path w="743584" h="605789">
                  <a:moveTo>
                    <a:pt x="154602" y="433113"/>
                  </a:moveTo>
                  <a:lnTo>
                    <a:pt x="124840" y="456946"/>
                  </a:lnTo>
                  <a:lnTo>
                    <a:pt x="172465" y="516509"/>
                  </a:lnTo>
                  <a:lnTo>
                    <a:pt x="202293" y="492621"/>
                  </a:lnTo>
                  <a:lnTo>
                    <a:pt x="154602" y="433113"/>
                  </a:lnTo>
                  <a:close/>
                </a:path>
                <a:path w="743584" h="605789">
                  <a:moveTo>
                    <a:pt x="202293" y="492621"/>
                  </a:moveTo>
                  <a:lnTo>
                    <a:pt x="172465" y="516509"/>
                  </a:lnTo>
                  <a:lnTo>
                    <a:pt x="221437" y="516509"/>
                  </a:lnTo>
                  <a:lnTo>
                    <a:pt x="202293" y="492621"/>
                  </a:lnTo>
                  <a:close/>
                </a:path>
                <a:path w="743584" h="605789">
                  <a:moveTo>
                    <a:pt x="695451" y="0"/>
                  </a:moveTo>
                  <a:lnTo>
                    <a:pt x="154602" y="433113"/>
                  </a:lnTo>
                  <a:lnTo>
                    <a:pt x="202293" y="492621"/>
                  </a:lnTo>
                  <a:lnTo>
                    <a:pt x="743204" y="59436"/>
                  </a:lnTo>
                  <a:lnTo>
                    <a:pt x="69545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160" y="943355"/>
              <a:ext cx="7578852" cy="56205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4601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905000"/>
            <a:ext cx="3624579" cy="40018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35280" marR="133350" indent="-323215" algn="just">
              <a:lnSpc>
                <a:spcPct val="95000"/>
              </a:lnSpc>
              <a:spcBef>
                <a:spcPts val="260"/>
              </a:spcBef>
              <a:buSzPct val="44444"/>
              <a:buFont typeface="Microsoft Sans Serif"/>
              <a:buChar char="●"/>
              <a:tabLst>
                <a:tab pos="335280" algn="l"/>
              </a:tabLst>
            </a:pPr>
            <a:r>
              <a:rPr sz="2700" b="1" spc="-25" dirty="0">
                <a:latin typeface="Times New Roman"/>
                <a:cs typeface="Times New Roman"/>
              </a:rPr>
              <a:t>Task</a:t>
            </a:r>
            <a:r>
              <a:rPr sz="2700" spc="-25" dirty="0">
                <a:latin typeface="Times New Roman"/>
                <a:cs typeface="Times New Roman"/>
              </a:rPr>
              <a:t>: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Multiplication. </a:t>
            </a:r>
            <a:r>
              <a:rPr sz="2700" dirty="0">
                <a:latin typeface="Times New Roman"/>
                <a:cs typeface="Times New Roman"/>
              </a:rPr>
              <a:t>Input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numbers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x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imes New Roman"/>
                <a:cs typeface="Times New Roman"/>
              </a:rPr>
              <a:t>y. </a:t>
            </a:r>
            <a:r>
              <a:rPr sz="2700" dirty="0">
                <a:latin typeface="Times New Roman"/>
                <a:cs typeface="Times New Roman"/>
              </a:rPr>
              <a:t>Output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x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times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y.</a:t>
            </a:r>
            <a:endParaRPr sz="27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2995"/>
              </a:lnSpc>
              <a:buSzPct val="44444"/>
              <a:buFont typeface="Microsoft Sans Serif"/>
              <a:buChar char="●"/>
              <a:tabLst>
                <a:tab pos="335280" algn="l"/>
              </a:tabLst>
            </a:pPr>
            <a:r>
              <a:rPr sz="2700" b="1" spc="-10" dirty="0">
                <a:latin typeface="Times New Roman"/>
                <a:cs typeface="Times New Roman"/>
              </a:rPr>
              <a:t>Algorithm</a:t>
            </a:r>
            <a:r>
              <a:rPr sz="2700" spc="-10" dirty="0">
                <a:latin typeface="Times New Roman"/>
                <a:cs typeface="Times New Roman"/>
              </a:rPr>
              <a:t>:</a:t>
            </a:r>
            <a:endParaRPr sz="2700" dirty="0">
              <a:latin typeface="Times New Roman"/>
              <a:cs typeface="Times New Roman"/>
            </a:endParaRPr>
          </a:p>
          <a:p>
            <a:pPr marL="335280" marR="361315" algn="just">
              <a:lnSpc>
                <a:spcPct val="94900"/>
              </a:lnSpc>
              <a:spcBef>
                <a:spcPts val="90"/>
              </a:spcBef>
            </a:pPr>
            <a:r>
              <a:rPr sz="2700" dirty="0">
                <a:latin typeface="Times New Roman"/>
                <a:cs typeface="Times New Roman"/>
              </a:rPr>
              <a:t>Given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inputs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x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imes New Roman"/>
                <a:cs typeface="Times New Roman"/>
              </a:rPr>
              <a:t>y, </a:t>
            </a:r>
            <a:r>
              <a:rPr sz="2700" dirty="0">
                <a:latin typeface="Times New Roman"/>
                <a:cs typeface="Times New Roman"/>
              </a:rPr>
              <a:t>look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up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number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z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on </a:t>
            </a:r>
            <a:r>
              <a:rPr sz="2700" dirty="0">
                <a:latin typeface="Times New Roman"/>
                <a:cs typeface="Times New Roman"/>
              </a:rPr>
              <a:t>row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x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column</a:t>
            </a:r>
            <a:r>
              <a:rPr sz="2700" spc="-25" dirty="0">
                <a:latin typeface="Times New Roman"/>
                <a:cs typeface="Times New Roman"/>
              </a:rPr>
              <a:t> y. </a:t>
            </a:r>
            <a:r>
              <a:rPr sz="2700" dirty="0">
                <a:latin typeface="Times New Roman"/>
                <a:cs typeface="Times New Roman"/>
              </a:rPr>
              <a:t>Output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z.</a:t>
            </a:r>
            <a:endParaRPr sz="2700" dirty="0">
              <a:latin typeface="Times New Roman"/>
              <a:cs typeface="Times New Roman"/>
            </a:endParaRPr>
          </a:p>
          <a:p>
            <a:pPr marL="335280" marR="5080" indent="-323215" algn="just">
              <a:lnSpc>
                <a:spcPts val="3070"/>
              </a:lnSpc>
              <a:spcBef>
                <a:spcPts val="90"/>
              </a:spcBef>
              <a:buSzPct val="44444"/>
              <a:buFont typeface="Microsoft Sans Serif"/>
              <a:buChar char="●"/>
              <a:tabLst>
                <a:tab pos="335280" algn="l"/>
              </a:tabLst>
            </a:pPr>
            <a:r>
              <a:rPr sz="2700" b="1" spc="-10" dirty="0">
                <a:latin typeface="Times New Roman"/>
                <a:cs typeface="Times New Roman"/>
              </a:rPr>
              <a:t>Implementation</a:t>
            </a:r>
            <a:r>
              <a:rPr sz="2700" spc="-10" dirty="0">
                <a:latin typeface="Times New Roman"/>
                <a:cs typeface="Times New Roman"/>
              </a:rPr>
              <a:t>: </a:t>
            </a:r>
            <a:r>
              <a:rPr sz="2700" dirty="0">
                <a:latin typeface="Times New Roman"/>
                <a:cs typeface="Times New Roman"/>
              </a:rPr>
              <a:t>human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being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paper.</a:t>
            </a:r>
            <a:endParaRPr sz="27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3291" y="1484375"/>
            <a:ext cx="3916679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082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Alternative</a:t>
            </a:r>
            <a:r>
              <a:rPr spc="-19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2129155"/>
            <a:ext cx="6792595" cy="2599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5280" indent="-322580" algn="just">
              <a:lnSpc>
                <a:spcPts val="3760"/>
              </a:lnSpc>
              <a:spcBef>
                <a:spcPts val="105"/>
              </a:spcBef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How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calculate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x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y:</a:t>
            </a:r>
            <a:endParaRPr sz="3200" dirty="0">
              <a:latin typeface="Times New Roman"/>
              <a:cs typeface="Times New Roman"/>
            </a:endParaRPr>
          </a:p>
          <a:p>
            <a:pPr marL="768350" lvl="1" indent="-288290" algn="just">
              <a:lnSpc>
                <a:spcPts val="3195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=1,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answer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y.</a:t>
            </a:r>
            <a:endParaRPr sz="2800" dirty="0">
              <a:latin typeface="Times New Roman"/>
              <a:cs typeface="Times New Roman"/>
            </a:endParaRPr>
          </a:p>
          <a:p>
            <a:pPr marL="768350" marR="5080" lvl="1" indent="-288925" algn="just">
              <a:lnSpc>
                <a:spcPts val="3190"/>
              </a:lnSpc>
              <a:spcBef>
                <a:spcPts val="165"/>
              </a:spcBef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x&gt;1,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itself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(x)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times.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result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answer.</a:t>
            </a:r>
            <a:endParaRPr sz="2800" dirty="0">
              <a:latin typeface="Times New Roman"/>
              <a:cs typeface="Times New Roman"/>
            </a:endParaRPr>
          </a:p>
          <a:p>
            <a:pPr marL="768350" lvl="1" indent="-288290" algn="just">
              <a:lnSpc>
                <a:spcPts val="3020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dirty="0">
                <a:latin typeface="Times New Roman"/>
                <a:cs typeface="Times New Roman"/>
              </a:rPr>
              <a:t>Example: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3x5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5+5+5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15</a:t>
            </a:r>
            <a:endParaRPr sz="28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3745"/>
              </a:lnSpc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spc="-10" dirty="0">
                <a:latin typeface="Times New Roman"/>
                <a:cs typeface="Times New Roman"/>
              </a:rPr>
              <a:t>Implementation: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1327" y="3962400"/>
            <a:ext cx="1894331" cy="19613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71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Two</a:t>
            </a:r>
            <a:r>
              <a:rPr spc="-190" dirty="0"/>
              <a:t> </a:t>
            </a:r>
            <a:r>
              <a:rPr spc="-10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1" y="1919389"/>
            <a:ext cx="8413200" cy="177260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35280" marR="100330" indent="-323215" algn="just">
              <a:lnSpc>
                <a:spcPts val="3650"/>
              </a:lnSpc>
              <a:spcBef>
                <a:spcPts val="384"/>
              </a:spcBef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task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different algorithms.</a:t>
            </a:r>
            <a:endParaRPr sz="2400" dirty="0">
              <a:latin typeface="Times New Roman"/>
              <a:cs typeface="Times New Roman"/>
            </a:endParaRPr>
          </a:p>
          <a:p>
            <a:pPr marL="768350" lvl="1" indent="-288290" algn="just">
              <a:lnSpc>
                <a:spcPts val="3020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400" spc="-40" dirty="0">
                <a:latin typeface="Times New Roman"/>
                <a:cs typeface="Times New Roman"/>
              </a:rPr>
              <a:t>Two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task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very</a:t>
            </a:r>
            <a:endParaRPr sz="2400" dirty="0">
              <a:latin typeface="Times New Roman"/>
              <a:cs typeface="Times New Roman"/>
            </a:endParaRPr>
          </a:p>
          <a:p>
            <a:pPr marL="768350" algn="just">
              <a:lnSpc>
                <a:spcPts val="3180"/>
              </a:lnSpc>
            </a:pP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ways.</a:t>
            </a:r>
            <a:endParaRPr sz="2400" dirty="0">
              <a:latin typeface="Times New Roman"/>
              <a:cs typeface="Times New Roman"/>
            </a:endParaRPr>
          </a:p>
          <a:p>
            <a:pPr marL="335280" marR="140970" indent="-323215" algn="just">
              <a:lnSpc>
                <a:spcPts val="3650"/>
              </a:lnSpc>
              <a:spcBef>
                <a:spcPts val="180"/>
              </a:spcBef>
              <a:buSzPct val="45312"/>
              <a:buFont typeface="Microsoft Sans Serif"/>
              <a:buChar char="●"/>
              <a:tabLst>
                <a:tab pos="335280" algn="l"/>
                <a:tab pos="71628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implemented</a:t>
            </a:r>
            <a:r>
              <a:rPr lang="en-IN"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hardware.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9145" y="4193816"/>
            <a:ext cx="2153920" cy="1635760"/>
            <a:chOff x="3779520" y="4553134"/>
            <a:chExt cx="2153920" cy="1635760"/>
          </a:xfrm>
        </p:grpSpPr>
        <p:sp>
          <p:nvSpPr>
            <p:cNvPr id="5" name="object 5"/>
            <p:cNvSpPr/>
            <p:nvPr/>
          </p:nvSpPr>
          <p:spPr>
            <a:xfrm>
              <a:off x="4109986" y="4621784"/>
              <a:ext cx="1823720" cy="1530985"/>
            </a:xfrm>
            <a:custGeom>
              <a:avLst/>
              <a:gdLst/>
              <a:ahLst/>
              <a:cxnLst/>
              <a:rect l="l" t="t" r="r" b="b"/>
              <a:pathLst>
                <a:path w="1823720" h="1530985">
                  <a:moveTo>
                    <a:pt x="292925" y="590626"/>
                  </a:moveTo>
                  <a:lnTo>
                    <a:pt x="262648" y="503948"/>
                  </a:lnTo>
                  <a:lnTo>
                    <a:pt x="215023" y="498221"/>
                  </a:lnTo>
                  <a:lnTo>
                    <a:pt x="145034" y="526364"/>
                  </a:lnTo>
                  <a:lnTo>
                    <a:pt x="95237" y="506869"/>
                  </a:lnTo>
                  <a:lnTo>
                    <a:pt x="53390" y="532142"/>
                  </a:lnTo>
                  <a:lnTo>
                    <a:pt x="22364" y="581977"/>
                  </a:lnTo>
                  <a:lnTo>
                    <a:pt x="77927" y="646912"/>
                  </a:lnTo>
                  <a:lnTo>
                    <a:pt x="201307" y="654888"/>
                  </a:lnTo>
                  <a:lnTo>
                    <a:pt x="292925" y="590626"/>
                  </a:lnTo>
                  <a:close/>
                </a:path>
                <a:path w="1823720" h="1530985">
                  <a:moveTo>
                    <a:pt x="577977" y="299643"/>
                  </a:moveTo>
                  <a:lnTo>
                    <a:pt x="547662" y="232448"/>
                  </a:lnTo>
                  <a:lnTo>
                    <a:pt x="519531" y="212966"/>
                  </a:lnTo>
                  <a:lnTo>
                    <a:pt x="449516" y="224536"/>
                  </a:lnTo>
                  <a:lnTo>
                    <a:pt x="421386" y="254863"/>
                  </a:lnTo>
                  <a:lnTo>
                    <a:pt x="382422" y="212966"/>
                  </a:lnTo>
                  <a:lnTo>
                    <a:pt x="321106" y="212966"/>
                  </a:lnTo>
                  <a:lnTo>
                    <a:pt x="273469" y="254863"/>
                  </a:lnTo>
                  <a:lnTo>
                    <a:pt x="201307" y="218744"/>
                  </a:lnTo>
                  <a:lnTo>
                    <a:pt x="147916" y="244030"/>
                  </a:lnTo>
                  <a:lnTo>
                    <a:pt x="114719" y="196392"/>
                  </a:lnTo>
                  <a:lnTo>
                    <a:pt x="77927" y="193471"/>
                  </a:lnTo>
                  <a:lnTo>
                    <a:pt x="33185" y="212966"/>
                  </a:lnTo>
                  <a:lnTo>
                    <a:pt x="0" y="277228"/>
                  </a:lnTo>
                  <a:lnTo>
                    <a:pt x="33185" y="353060"/>
                  </a:lnTo>
                  <a:lnTo>
                    <a:pt x="186880" y="358851"/>
                  </a:lnTo>
                  <a:lnTo>
                    <a:pt x="310273" y="324916"/>
                  </a:lnTo>
                  <a:lnTo>
                    <a:pt x="461086" y="378345"/>
                  </a:lnTo>
                  <a:lnTo>
                    <a:pt x="577977" y="299643"/>
                  </a:lnTo>
                  <a:close/>
                </a:path>
                <a:path w="1823720" h="1530985">
                  <a:moveTo>
                    <a:pt x="689825" y="1007960"/>
                  </a:moveTo>
                  <a:lnTo>
                    <a:pt x="656577" y="935037"/>
                  </a:lnTo>
                  <a:lnTo>
                    <a:pt x="597458" y="932167"/>
                  </a:lnTo>
                  <a:lnTo>
                    <a:pt x="555574" y="954519"/>
                  </a:lnTo>
                  <a:lnTo>
                    <a:pt x="507961" y="920597"/>
                  </a:lnTo>
                  <a:lnTo>
                    <a:pt x="449516" y="923455"/>
                  </a:lnTo>
                  <a:lnTo>
                    <a:pt x="421386" y="948740"/>
                  </a:lnTo>
                  <a:lnTo>
                    <a:pt x="374510" y="912672"/>
                  </a:lnTo>
                  <a:lnTo>
                    <a:pt x="326834" y="896048"/>
                  </a:lnTo>
                  <a:lnTo>
                    <a:pt x="287870" y="940816"/>
                  </a:lnTo>
                  <a:lnTo>
                    <a:pt x="265531" y="906894"/>
                  </a:lnTo>
                  <a:lnTo>
                    <a:pt x="217906" y="890257"/>
                  </a:lnTo>
                  <a:lnTo>
                    <a:pt x="164515" y="918400"/>
                  </a:lnTo>
                  <a:lnTo>
                    <a:pt x="117614" y="884478"/>
                  </a:lnTo>
                  <a:lnTo>
                    <a:pt x="83693" y="898182"/>
                  </a:lnTo>
                  <a:lnTo>
                    <a:pt x="41846" y="951661"/>
                  </a:lnTo>
                  <a:lnTo>
                    <a:pt x="50507" y="1013015"/>
                  </a:lnTo>
                  <a:lnTo>
                    <a:pt x="100291" y="1038288"/>
                  </a:lnTo>
                  <a:lnTo>
                    <a:pt x="161620" y="1010132"/>
                  </a:lnTo>
                  <a:lnTo>
                    <a:pt x="215023" y="1041171"/>
                  </a:lnTo>
                  <a:lnTo>
                    <a:pt x="295846" y="1015898"/>
                  </a:lnTo>
                  <a:lnTo>
                    <a:pt x="343458" y="1052728"/>
                  </a:lnTo>
                  <a:lnTo>
                    <a:pt x="419188" y="1032510"/>
                  </a:lnTo>
                  <a:lnTo>
                    <a:pt x="463219" y="1063561"/>
                  </a:lnTo>
                  <a:lnTo>
                    <a:pt x="510882" y="1038288"/>
                  </a:lnTo>
                  <a:lnTo>
                    <a:pt x="614019" y="1069340"/>
                  </a:lnTo>
                  <a:lnTo>
                    <a:pt x="689825" y="1007960"/>
                  </a:lnTo>
                  <a:close/>
                </a:path>
                <a:path w="1823720" h="1530985">
                  <a:moveTo>
                    <a:pt x="1365885" y="688822"/>
                  </a:moveTo>
                  <a:lnTo>
                    <a:pt x="1326184" y="629615"/>
                  </a:lnTo>
                  <a:lnTo>
                    <a:pt x="1298790" y="604329"/>
                  </a:lnTo>
                  <a:lnTo>
                    <a:pt x="1270660" y="602132"/>
                  </a:lnTo>
                  <a:lnTo>
                    <a:pt x="1223048" y="624560"/>
                  </a:lnTo>
                  <a:lnTo>
                    <a:pt x="1197787" y="576922"/>
                  </a:lnTo>
                  <a:lnTo>
                    <a:pt x="1170381" y="571131"/>
                  </a:lnTo>
                  <a:lnTo>
                    <a:pt x="1119847" y="579780"/>
                  </a:lnTo>
                  <a:lnTo>
                    <a:pt x="1072235" y="607923"/>
                  </a:lnTo>
                  <a:lnTo>
                    <a:pt x="1046975" y="576922"/>
                  </a:lnTo>
                  <a:lnTo>
                    <a:pt x="1016647" y="574001"/>
                  </a:lnTo>
                  <a:lnTo>
                    <a:pt x="979881" y="593483"/>
                  </a:lnTo>
                  <a:lnTo>
                    <a:pt x="940917" y="548716"/>
                  </a:lnTo>
                  <a:lnTo>
                    <a:pt x="913447" y="542925"/>
                  </a:lnTo>
                  <a:lnTo>
                    <a:pt x="854329" y="559562"/>
                  </a:lnTo>
                  <a:lnTo>
                    <a:pt x="812444" y="537933"/>
                  </a:lnTo>
                  <a:lnTo>
                    <a:pt x="756920" y="559562"/>
                  </a:lnTo>
                  <a:lnTo>
                    <a:pt x="731647" y="624560"/>
                  </a:lnTo>
                  <a:lnTo>
                    <a:pt x="731647" y="683031"/>
                  </a:lnTo>
                  <a:lnTo>
                    <a:pt x="762698" y="724941"/>
                  </a:lnTo>
                  <a:lnTo>
                    <a:pt x="840638" y="699655"/>
                  </a:lnTo>
                  <a:lnTo>
                    <a:pt x="891108" y="727798"/>
                  </a:lnTo>
                  <a:lnTo>
                    <a:pt x="957478" y="691680"/>
                  </a:lnTo>
                  <a:lnTo>
                    <a:pt x="1013790" y="716965"/>
                  </a:lnTo>
                  <a:lnTo>
                    <a:pt x="1078026" y="696734"/>
                  </a:lnTo>
                  <a:lnTo>
                    <a:pt x="1130693" y="727798"/>
                  </a:lnTo>
                  <a:lnTo>
                    <a:pt x="1206423" y="714095"/>
                  </a:lnTo>
                  <a:lnTo>
                    <a:pt x="1273517" y="758875"/>
                  </a:lnTo>
                  <a:lnTo>
                    <a:pt x="1365885" y="688822"/>
                  </a:lnTo>
                  <a:close/>
                </a:path>
                <a:path w="1823720" h="1530985">
                  <a:moveTo>
                    <a:pt x="1376718" y="1088834"/>
                  </a:moveTo>
                  <a:lnTo>
                    <a:pt x="1303845" y="1046949"/>
                  </a:lnTo>
                  <a:lnTo>
                    <a:pt x="1264881" y="1007960"/>
                  </a:lnTo>
                  <a:lnTo>
                    <a:pt x="1192733" y="1018794"/>
                  </a:lnTo>
                  <a:lnTo>
                    <a:pt x="1142199" y="996403"/>
                  </a:lnTo>
                  <a:lnTo>
                    <a:pt x="1078026" y="1007960"/>
                  </a:lnTo>
                  <a:lnTo>
                    <a:pt x="1052753" y="1060678"/>
                  </a:lnTo>
                  <a:lnTo>
                    <a:pt x="1111199" y="1144435"/>
                  </a:lnTo>
                  <a:lnTo>
                    <a:pt x="1212215" y="1172591"/>
                  </a:lnTo>
                  <a:lnTo>
                    <a:pt x="1273517" y="1147318"/>
                  </a:lnTo>
                  <a:lnTo>
                    <a:pt x="1360093" y="1136484"/>
                  </a:lnTo>
                  <a:lnTo>
                    <a:pt x="1376718" y="1088834"/>
                  </a:lnTo>
                  <a:close/>
                </a:path>
                <a:path w="1823720" h="1530985">
                  <a:moveTo>
                    <a:pt x="1376718" y="372554"/>
                  </a:moveTo>
                  <a:lnTo>
                    <a:pt x="1354378" y="311150"/>
                  </a:lnTo>
                  <a:lnTo>
                    <a:pt x="1329105" y="299643"/>
                  </a:lnTo>
                  <a:lnTo>
                    <a:pt x="1284363" y="302501"/>
                  </a:lnTo>
                  <a:lnTo>
                    <a:pt x="1239608" y="327787"/>
                  </a:lnTo>
                  <a:lnTo>
                    <a:pt x="1220127" y="293852"/>
                  </a:lnTo>
                  <a:lnTo>
                    <a:pt x="1181163" y="266446"/>
                  </a:lnTo>
                  <a:lnTo>
                    <a:pt x="1133551" y="274358"/>
                  </a:lnTo>
                  <a:lnTo>
                    <a:pt x="1106157" y="319138"/>
                  </a:lnTo>
                  <a:lnTo>
                    <a:pt x="1061402" y="271437"/>
                  </a:lnTo>
                  <a:lnTo>
                    <a:pt x="1010869" y="246888"/>
                  </a:lnTo>
                  <a:lnTo>
                    <a:pt x="977684" y="291655"/>
                  </a:lnTo>
                  <a:lnTo>
                    <a:pt x="930071" y="347281"/>
                  </a:lnTo>
                  <a:lnTo>
                    <a:pt x="952423" y="389178"/>
                  </a:lnTo>
                  <a:lnTo>
                    <a:pt x="1016647" y="420192"/>
                  </a:lnTo>
                  <a:lnTo>
                    <a:pt x="1088796" y="383400"/>
                  </a:lnTo>
                  <a:lnTo>
                    <a:pt x="1170381" y="448386"/>
                  </a:lnTo>
                  <a:lnTo>
                    <a:pt x="1254036" y="423113"/>
                  </a:lnTo>
                  <a:lnTo>
                    <a:pt x="1306703" y="470750"/>
                  </a:lnTo>
                  <a:lnTo>
                    <a:pt x="1368082" y="442607"/>
                  </a:lnTo>
                  <a:lnTo>
                    <a:pt x="1376718" y="372554"/>
                  </a:lnTo>
                  <a:close/>
                </a:path>
                <a:path w="1823720" h="1530985">
                  <a:moveTo>
                    <a:pt x="1823364" y="159537"/>
                  </a:moveTo>
                  <a:lnTo>
                    <a:pt x="1678343" y="0"/>
                  </a:lnTo>
                  <a:lnTo>
                    <a:pt x="1580921" y="90220"/>
                  </a:lnTo>
                  <a:lnTo>
                    <a:pt x="1427251" y="1530731"/>
                  </a:lnTo>
                  <a:lnTo>
                    <a:pt x="1614106" y="1469351"/>
                  </a:lnTo>
                  <a:lnTo>
                    <a:pt x="1658861" y="1306893"/>
                  </a:lnTo>
                  <a:lnTo>
                    <a:pt x="1578000" y="1315554"/>
                  </a:lnTo>
                  <a:lnTo>
                    <a:pt x="1723097" y="218744"/>
                  </a:lnTo>
                  <a:lnTo>
                    <a:pt x="1767776" y="238239"/>
                  </a:lnTo>
                  <a:lnTo>
                    <a:pt x="1823364" y="1595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80241" y="4574819"/>
              <a:ext cx="1991995" cy="156845"/>
            </a:xfrm>
            <a:custGeom>
              <a:avLst/>
              <a:gdLst/>
              <a:ahLst/>
              <a:cxnLst/>
              <a:rect l="l" t="t" r="r" b="b"/>
              <a:pathLst>
                <a:path w="1991995" h="156845">
                  <a:moveTo>
                    <a:pt x="919239" y="0"/>
                  </a:moveTo>
                  <a:lnTo>
                    <a:pt x="50508" y="52690"/>
                  </a:lnTo>
                  <a:lnTo>
                    <a:pt x="0" y="69319"/>
                  </a:lnTo>
                  <a:lnTo>
                    <a:pt x="25254" y="139370"/>
                  </a:lnTo>
                  <a:lnTo>
                    <a:pt x="274189" y="116954"/>
                  </a:lnTo>
                  <a:lnTo>
                    <a:pt x="1938076" y="156670"/>
                  </a:lnTo>
                  <a:lnTo>
                    <a:pt x="1991472" y="55614"/>
                  </a:lnTo>
                  <a:lnTo>
                    <a:pt x="1762060" y="33198"/>
                  </a:lnTo>
                  <a:lnTo>
                    <a:pt x="919239" y="0"/>
                  </a:lnTo>
                  <a:close/>
                </a:path>
              </a:pathLst>
            </a:custGeom>
            <a:solidFill>
              <a:srgbClr val="FFCC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9520" y="4553134"/>
              <a:ext cx="2137950" cy="163547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73107" y="3908229"/>
            <a:ext cx="1744551" cy="220917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400" y="4230970"/>
            <a:ext cx="1735836" cy="171145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2978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10" dirty="0"/>
              <a:t> </a:t>
            </a:r>
            <a:r>
              <a:rPr dirty="0"/>
              <a:t>to</a:t>
            </a:r>
            <a:r>
              <a:rPr spc="-105" dirty="0"/>
              <a:t> </a:t>
            </a:r>
            <a:r>
              <a:rPr dirty="0"/>
              <a:t>study</a:t>
            </a:r>
            <a:r>
              <a:rPr spc="-105" dirty="0"/>
              <a:t> </a:t>
            </a:r>
            <a:r>
              <a:rPr dirty="0"/>
              <a:t>cognitive</a:t>
            </a:r>
            <a:r>
              <a:rPr spc="-8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22959" y="1845734"/>
            <a:ext cx="7543801" cy="2954078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49885" marR="5080" indent="-323215">
              <a:lnSpc>
                <a:spcPts val="4000"/>
              </a:lnSpc>
              <a:spcBef>
                <a:spcPts val="405"/>
              </a:spcBef>
              <a:buSzPct val="44285"/>
              <a:buFont typeface="Microsoft Sans Serif"/>
              <a:buChar char="●"/>
              <a:tabLst>
                <a:tab pos="350520" algn="l"/>
              </a:tabLst>
            </a:pP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</a:rPr>
              <a:t>A</a:t>
            </a:r>
            <a:r>
              <a:rPr sz="2400" spc="-20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</a:rPr>
              <a:t>computational</a:t>
            </a:r>
            <a:r>
              <a:rPr sz="2400" spc="-2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</a:rPr>
              <a:t>theory</a:t>
            </a:r>
            <a:r>
              <a:rPr sz="2400" spc="-1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</a:rPr>
              <a:t>of</a:t>
            </a:r>
            <a:r>
              <a:rPr sz="2400" spc="-1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</a:rPr>
              <a:t>X should </a:t>
            </a:r>
            <a:r>
              <a:rPr sz="2400" spc="-10" dirty="0">
                <a:solidFill>
                  <a:schemeClr val="tx1"/>
                </a:solidFill>
                <a:latin typeface="Georgia" panose="02040502050405020303" pitchFamily="18" charset="0"/>
              </a:rPr>
              <a:t>explain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</a:rPr>
              <a:t>X</a:t>
            </a:r>
            <a:r>
              <a:rPr sz="2400" spc="-1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</a:rPr>
              <a:t>at three</a:t>
            </a:r>
            <a:r>
              <a:rPr sz="2400" spc="-2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Georgia" panose="02040502050405020303" pitchFamily="18" charset="0"/>
              </a:rPr>
              <a:t>levels.</a:t>
            </a:r>
          </a:p>
          <a:p>
            <a:pPr marL="782955" lvl="1" indent="-288290">
              <a:lnSpc>
                <a:spcPts val="3235"/>
              </a:lnSpc>
              <a:buSzPct val="75000"/>
              <a:buFont typeface="Symbol"/>
              <a:buChar char=""/>
              <a:tabLst>
                <a:tab pos="783590" algn="l"/>
              </a:tabLst>
            </a:pP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What</a:t>
            </a:r>
            <a:r>
              <a:rPr sz="2400" spc="-9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is</a:t>
            </a:r>
            <a:r>
              <a:rPr sz="2400" spc="-10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computed?</a:t>
            </a:r>
            <a:r>
              <a:rPr sz="2400" spc="-114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Visual</a:t>
            </a:r>
            <a:r>
              <a:rPr sz="2400" spc="-9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motion</a:t>
            </a:r>
            <a:endParaRPr sz="2400" dirty="0">
              <a:solidFill>
                <a:schemeClr val="tx1"/>
              </a:solidFill>
              <a:latin typeface="Georgia" panose="02040502050405020303" pitchFamily="18" charset="0"/>
              <a:cs typeface="Times New Roman"/>
            </a:endParaRPr>
          </a:p>
          <a:p>
            <a:pPr marL="782955" marR="1205230" lvl="1" indent="-288925">
              <a:lnSpc>
                <a:spcPts val="3420"/>
              </a:lnSpc>
              <a:spcBef>
                <a:spcPts val="170"/>
              </a:spcBef>
              <a:buSzPct val="75000"/>
              <a:buFont typeface="Symbol"/>
              <a:buChar char=""/>
              <a:tabLst>
                <a:tab pos="783590" algn="l"/>
              </a:tabLst>
            </a:pP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How?</a:t>
            </a:r>
            <a:r>
              <a:rPr sz="2400" spc="-10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Correlate</a:t>
            </a:r>
            <a:r>
              <a:rPr sz="2400" spc="-45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changes</a:t>
            </a:r>
            <a:r>
              <a:rPr sz="2400" spc="-7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in</a:t>
            </a:r>
            <a:r>
              <a:rPr sz="2400" spc="-75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luminance</a:t>
            </a:r>
            <a:r>
              <a:rPr sz="2400" spc="-55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 </a:t>
            </a:r>
            <a:r>
              <a:rPr sz="2400" spc="-25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at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different</a:t>
            </a:r>
            <a:r>
              <a:rPr sz="2400" spc="-15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places.</a:t>
            </a:r>
            <a:endParaRPr sz="2400" dirty="0">
              <a:solidFill>
                <a:schemeClr val="tx1"/>
              </a:solidFill>
              <a:latin typeface="Georgia" panose="02040502050405020303" pitchFamily="18" charset="0"/>
              <a:cs typeface="Times New Roman"/>
            </a:endParaRPr>
          </a:p>
          <a:p>
            <a:pPr marL="782955" lvl="1" indent="-288290">
              <a:lnSpc>
                <a:spcPts val="3335"/>
              </a:lnSpc>
              <a:buSzPct val="75000"/>
              <a:buFont typeface="Symbol"/>
              <a:buChar char=""/>
              <a:tabLst>
                <a:tab pos="783590" algn="l"/>
              </a:tabLst>
            </a:pP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Hardware?</a:t>
            </a:r>
            <a:r>
              <a:rPr sz="2400" spc="-135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Comparator</a:t>
            </a:r>
            <a:r>
              <a:rPr sz="2400" spc="-114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Georgia" panose="02040502050405020303" pitchFamily="18" charset="0"/>
                <a:cs typeface="Times New Roman"/>
              </a:rPr>
              <a:t>circuits</a:t>
            </a:r>
            <a:endParaRPr sz="2400" dirty="0">
              <a:solidFill>
                <a:schemeClr val="tx1"/>
              </a:solidFill>
              <a:latin typeface="Georgia" panose="02040502050405020303" pitchFamily="18" charset="0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580" y="858698"/>
            <a:ext cx="71964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Application:</a:t>
            </a:r>
            <a:r>
              <a:rPr sz="3200" spc="-85" dirty="0"/>
              <a:t> </a:t>
            </a:r>
            <a:r>
              <a:rPr sz="3200" dirty="0"/>
              <a:t>linguistic</a:t>
            </a:r>
            <a:r>
              <a:rPr sz="3200" spc="-55" dirty="0"/>
              <a:t> </a:t>
            </a:r>
            <a:r>
              <a:rPr sz="3200" spc="-10" dirty="0"/>
              <a:t>understanding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216248" y="1935887"/>
            <a:ext cx="5040099" cy="36147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indent="-322580" algn="just">
              <a:lnSpc>
                <a:spcPts val="3185"/>
              </a:lnSpc>
              <a:spcBef>
                <a:spcPts val="100"/>
              </a:spcBef>
              <a:buSzPct val="44444"/>
              <a:buFont typeface="Microsoft Sans Serif"/>
              <a:buChar char="●"/>
              <a:tabLst>
                <a:tab pos="335280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Task</a:t>
            </a:r>
            <a:endParaRPr lang="en-IN" sz="2400" b="1" spc="-20" dirty="0">
              <a:latin typeface="Times New Roman"/>
              <a:cs typeface="Times New Roman"/>
            </a:endParaRPr>
          </a:p>
          <a:p>
            <a:pPr marL="792480" lvl="1" indent="-322580" algn="just">
              <a:lnSpc>
                <a:spcPts val="3185"/>
              </a:lnSpc>
              <a:spcBef>
                <a:spcPts val="100"/>
              </a:spcBef>
              <a:buSzPct val="44444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Identify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syntax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corresponding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speech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sounds.</a:t>
            </a:r>
            <a:endParaRPr sz="24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3145"/>
              </a:lnSpc>
              <a:buSzPct val="44444"/>
              <a:buFont typeface="Microsoft Sans Serif"/>
              <a:buChar char="●"/>
              <a:tabLst>
                <a:tab pos="33528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Algorithm</a:t>
            </a:r>
            <a:endParaRPr lang="en-IN" sz="2400" b="1" spc="-10" dirty="0">
              <a:latin typeface="Times New Roman"/>
              <a:cs typeface="Times New Roman"/>
            </a:endParaRPr>
          </a:p>
          <a:p>
            <a:pPr marL="792480" lvl="1" indent="-322580" algn="just">
              <a:lnSpc>
                <a:spcPts val="3145"/>
              </a:lnSpc>
              <a:buSzPct val="44444"/>
              <a:buFont typeface="Microsoft Sans Serif"/>
              <a:buChar char="●"/>
              <a:tabLst>
                <a:tab pos="33528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What</a:t>
            </a:r>
            <a:r>
              <a:rPr lang="en-US" sz="2400" spc="-6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kind</a:t>
            </a:r>
            <a:r>
              <a:rPr lang="en-US" sz="2400" spc="-6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5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computation</a:t>
            </a:r>
            <a:r>
              <a:rPr lang="en-US" sz="2400" spc="-5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and </a:t>
            </a:r>
            <a:r>
              <a:rPr lang="en-IN" sz="2400" dirty="0">
                <a:latin typeface="Times New Roman"/>
                <a:cs typeface="Times New Roman"/>
              </a:rPr>
              <a:t>mental</a:t>
            </a:r>
            <a:r>
              <a:rPr lang="en-IN" sz="2400" spc="-55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Times New Roman"/>
                <a:cs typeface="Times New Roman"/>
              </a:rPr>
              <a:t>representations?</a:t>
            </a:r>
          </a:p>
          <a:p>
            <a:pPr marL="335280" indent="-322580">
              <a:lnSpc>
                <a:spcPts val="3095"/>
              </a:lnSpc>
              <a:buSzPct val="44444"/>
              <a:buFont typeface="Microsoft Sans Serif"/>
              <a:buChar char="●"/>
              <a:tabLst>
                <a:tab pos="335280" algn="l"/>
              </a:tabLst>
            </a:pPr>
            <a:r>
              <a:rPr lang="en-US" sz="2400" b="1" spc="-10" dirty="0">
                <a:latin typeface="Times New Roman"/>
                <a:cs typeface="Times New Roman"/>
              </a:rPr>
              <a:t>Implementation</a:t>
            </a:r>
          </a:p>
          <a:p>
            <a:pPr marL="792480" lvl="1" indent="-322580">
              <a:lnSpc>
                <a:spcPts val="3095"/>
              </a:lnSpc>
              <a:buSzPct val="44444"/>
              <a:buFont typeface="Microsoft Sans Serif"/>
              <a:buChar char="●"/>
              <a:tabLst>
                <a:tab pos="33528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Which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part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brain?</a:t>
            </a:r>
            <a:endParaRPr lang="en-US" sz="2400" dirty="0">
              <a:latin typeface="Times New Roman"/>
              <a:cs typeface="Times New Roman"/>
            </a:endParaRPr>
          </a:p>
          <a:p>
            <a:pPr marL="12700" algn="just">
              <a:lnSpc>
                <a:spcPts val="3145"/>
              </a:lnSpc>
              <a:buSzPct val="44444"/>
              <a:tabLst>
                <a:tab pos="335280" algn="l"/>
              </a:tabLst>
            </a:pPr>
            <a:endParaRPr lang="en-IN"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374" y="2114804"/>
            <a:ext cx="3724910" cy="266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0355" algn="l"/>
              </a:tabLst>
            </a:pPr>
            <a:r>
              <a:rPr sz="1650" dirty="0">
                <a:latin typeface="Times New Roman"/>
                <a:cs typeface="Times New Roman"/>
              </a:rPr>
              <a:t>	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2523" y="2204974"/>
            <a:ext cx="2635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CC00"/>
                </a:solidFill>
                <a:latin typeface="Arial"/>
                <a:cs typeface="Arial"/>
              </a:rPr>
              <a:t>VP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65901" y="2694813"/>
            <a:ext cx="144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CC00"/>
                </a:solidFill>
                <a:latin typeface="Arial"/>
                <a:cs typeface="Arial"/>
              </a:rPr>
              <a:t>V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99654" y="3132582"/>
            <a:ext cx="271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CC00"/>
                </a:solidFill>
                <a:latin typeface="Arial"/>
                <a:cs typeface="Arial"/>
              </a:rPr>
              <a:t>NP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2523" y="2641473"/>
            <a:ext cx="271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CC00"/>
                </a:solidFill>
                <a:latin typeface="Arial"/>
                <a:cs typeface="Arial"/>
              </a:rPr>
              <a:t>NP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44536" y="2641473"/>
            <a:ext cx="2635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CC00"/>
                </a:solidFill>
                <a:latin typeface="Arial"/>
                <a:cs typeface="Arial"/>
              </a:rPr>
              <a:t>PP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88277" y="3132582"/>
            <a:ext cx="1543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CC00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31002" y="3132582"/>
            <a:ext cx="6889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33CCFF"/>
                </a:solidFill>
                <a:latin typeface="Arial"/>
                <a:cs typeface="Arial"/>
              </a:rPr>
              <a:t>discuss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8767" y="3623259"/>
            <a:ext cx="7378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33CCFF"/>
                </a:solidFill>
                <a:latin typeface="Arial"/>
                <a:cs typeface="Arial"/>
              </a:rPr>
              <a:t>violence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44536" y="4005834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33CCFF"/>
                </a:solidFill>
                <a:latin typeface="Arial"/>
                <a:cs typeface="Arial"/>
              </a:rPr>
              <a:t>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99654" y="4061205"/>
            <a:ext cx="252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33CCFF"/>
                </a:solidFill>
                <a:latin typeface="Arial"/>
                <a:cs typeface="Arial"/>
              </a:rPr>
              <a:t>TV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53150" y="2478785"/>
            <a:ext cx="1335405" cy="218440"/>
          </a:xfrm>
          <a:custGeom>
            <a:avLst/>
            <a:gdLst/>
            <a:ahLst/>
            <a:cxnLst/>
            <a:rect l="l" t="t" r="r" b="b"/>
            <a:pathLst>
              <a:path w="1335404" h="218439">
                <a:moveTo>
                  <a:pt x="722376" y="0"/>
                </a:moveTo>
                <a:lnTo>
                  <a:pt x="722376" y="217931"/>
                </a:lnTo>
              </a:path>
              <a:path w="1335404" h="218439">
                <a:moveTo>
                  <a:pt x="722376" y="0"/>
                </a:moveTo>
                <a:lnTo>
                  <a:pt x="0" y="217931"/>
                </a:lnTo>
              </a:path>
              <a:path w="1335404" h="218439">
                <a:moveTo>
                  <a:pt x="722376" y="0"/>
                </a:moveTo>
                <a:lnTo>
                  <a:pt x="1335024" y="217931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75526" y="2969514"/>
            <a:ext cx="0" cy="163195"/>
          </a:xfrm>
          <a:custGeom>
            <a:avLst/>
            <a:gdLst/>
            <a:ahLst/>
            <a:cxnLst/>
            <a:rect l="l" t="t" r="r" b="b"/>
            <a:pathLst>
              <a:path h="163194">
                <a:moveTo>
                  <a:pt x="0" y="0"/>
                </a:moveTo>
                <a:lnTo>
                  <a:pt x="0" y="163068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96761" y="3024377"/>
            <a:ext cx="0" cy="163195"/>
          </a:xfrm>
          <a:custGeom>
            <a:avLst/>
            <a:gdLst/>
            <a:ahLst/>
            <a:cxnLst/>
            <a:rect l="l" t="t" r="r" b="b"/>
            <a:pathLst>
              <a:path h="163194">
                <a:moveTo>
                  <a:pt x="0" y="0"/>
                </a:moveTo>
                <a:lnTo>
                  <a:pt x="0" y="163068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044433" y="3460241"/>
            <a:ext cx="0" cy="600710"/>
          </a:xfrm>
          <a:custGeom>
            <a:avLst/>
            <a:gdLst/>
            <a:ahLst/>
            <a:cxnLst/>
            <a:rect l="l" t="t" r="r" b="b"/>
            <a:pathLst>
              <a:path h="600710">
                <a:moveTo>
                  <a:pt x="0" y="0"/>
                </a:moveTo>
                <a:lnTo>
                  <a:pt x="0" y="600456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875526" y="3460241"/>
            <a:ext cx="0" cy="218440"/>
          </a:xfrm>
          <a:custGeom>
            <a:avLst/>
            <a:gdLst/>
            <a:ahLst/>
            <a:cxnLst/>
            <a:rect l="l" t="t" r="r" b="b"/>
            <a:pathLst>
              <a:path h="218439">
                <a:moveTo>
                  <a:pt x="0" y="0"/>
                </a:moveTo>
                <a:lnTo>
                  <a:pt x="0" y="217932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31785" y="2914650"/>
            <a:ext cx="612775" cy="273050"/>
          </a:xfrm>
          <a:custGeom>
            <a:avLst/>
            <a:gdLst/>
            <a:ahLst/>
            <a:cxnLst/>
            <a:rect l="l" t="t" r="r" b="b"/>
            <a:pathLst>
              <a:path w="612775" h="273050">
                <a:moveTo>
                  <a:pt x="56388" y="0"/>
                </a:moveTo>
                <a:lnTo>
                  <a:pt x="0" y="217932"/>
                </a:lnTo>
              </a:path>
              <a:path w="612775" h="273050">
                <a:moveTo>
                  <a:pt x="56388" y="0"/>
                </a:moveTo>
                <a:lnTo>
                  <a:pt x="612648" y="272796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400035" y="3132582"/>
            <a:ext cx="144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CC00"/>
                </a:solidFill>
                <a:latin typeface="Arial"/>
                <a:cs typeface="Arial"/>
              </a:rPr>
              <a:t>P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31785" y="3460241"/>
            <a:ext cx="0" cy="600710"/>
          </a:xfrm>
          <a:custGeom>
            <a:avLst/>
            <a:gdLst/>
            <a:ahLst/>
            <a:cxnLst/>
            <a:rect l="l" t="t" r="r" b="b"/>
            <a:pathLst>
              <a:path h="600710">
                <a:moveTo>
                  <a:pt x="0" y="0"/>
                </a:moveTo>
                <a:lnTo>
                  <a:pt x="0" y="600456"/>
                </a:lnTo>
              </a:path>
            </a:pathLst>
          </a:custGeom>
          <a:ln w="3810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8479" y="4344582"/>
            <a:ext cx="2534468" cy="20875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720" y="729171"/>
            <a:ext cx="750062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So</a:t>
            </a:r>
            <a:r>
              <a:rPr sz="4400" spc="-70" dirty="0"/>
              <a:t> </a:t>
            </a:r>
            <a:r>
              <a:rPr sz="4400" dirty="0"/>
              <a:t>What</a:t>
            </a:r>
            <a:r>
              <a:rPr sz="4400" spc="-50" dirty="0"/>
              <a:t> </a:t>
            </a:r>
            <a:r>
              <a:rPr sz="4400" dirty="0"/>
              <a:t>IS</a:t>
            </a:r>
            <a:r>
              <a:rPr sz="4400" spc="-70" dirty="0"/>
              <a:t> </a:t>
            </a:r>
            <a:r>
              <a:rPr sz="4400" dirty="0"/>
              <a:t>Cognitive</a:t>
            </a:r>
            <a:r>
              <a:rPr sz="4400" spc="-45" dirty="0"/>
              <a:t> </a:t>
            </a:r>
            <a:r>
              <a:rPr sz="4400" spc="-10" dirty="0"/>
              <a:t>Science?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2746" y="1765935"/>
            <a:ext cx="7446645" cy="3338195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425"/>
              </a:spcBef>
            </a:pPr>
            <a:r>
              <a:rPr sz="3200" dirty="0">
                <a:latin typeface="Times New Roman"/>
                <a:cs typeface="Times New Roman"/>
              </a:rPr>
              <a:t>Some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possible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definitions:</a:t>
            </a:r>
            <a:endParaRPr sz="3200" dirty="0">
              <a:latin typeface="Times New Roman"/>
              <a:cs typeface="Times New Roman"/>
            </a:endParaRPr>
          </a:p>
          <a:p>
            <a:pPr marL="411480" indent="-281940" algn="just">
              <a:lnSpc>
                <a:spcPct val="100000"/>
              </a:lnSpc>
              <a:spcBef>
                <a:spcPts val="995"/>
              </a:spcBef>
              <a:buClr>
                <a:srgbClr val="CCCCFF"/>
              </a:buClr>
              <a:buSzPct val="50000"/>
              <a:buFont typeface="Wingdings"/>
              <a:buChar char=""/>
              <a:tabLst>
                <a:tab pos="411480" algn="l"/>
              </a:tabLst>
            </a:pPr>
            <a:r>
              <a:rPr sz="2400" dirty="0">
                <a:latin typeface="Times New Roman"/>
                <a:cs typeface="Times New Roman"/>
              </a:rPr>
              <a:t>“The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interdisciplinary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mind 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intelligence”</a:t>
            </a:r>
            <a:endParaRPr sz="2400" dirty="0">
              <a:latin typeface="Times New Roman"/>
              <a:cs typeface="Times New Roman"/>
            </a:endParaRPr>
          </a:p>
          <a:p>
            <a:pPr marL="411480" marR="5080" indent="-281940" algn="just">
              <a:lnSpc>
                <a:spcPct val="110000"/>
              </a:lnSpc>
              <a:spcBef>
                <a:spcPts val="600"/>
              </a:spcBef>
              <a:buClr>
                <a:srgbClr val="CCCCFF"/>
              </a:buClr>
              <a:buSzPct val="50000"/>
              <a:buFont typeface="Wingdings"/>
              <a:buChar char=""/>
              <a:tabLst>
                <a:tab pos="411480" algn="l"/>
              </a:tabLst>
            </a:pPr>
            <a:r>
              <a:rPr sz="2400" dirty="0">
                <a:latin typeface="Times New Roman"/>
                <a:cs typeface="Times New Roman"/>
              </a:rPr>
              <a:t>“Study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cognitive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acquisition, </a:t>
            </a:r>
            <a:r>
              <a:rPr sz="2400" dirty="0">
                <a:latin typeface="Times New Roman"/>
                <a:cs typeface="Times New Roman"/>
              </a:rPr>
              <a:t>representation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human</a:t>
            </a:r>
            <a:r>
              <a:rPr sz="2400" spc="-10" dirty="0">
                <a:latin typeface="Times New Roman"/>
                <a:cs typeface="Times New Roman"/>
              </a:rPr>
              <a:t> knowledge”</a:t>
            </a:r>
            <a:endParaRPr sz="2400" dirty="0">
              <a:latin typeface="Times New Roman"/>
              <a:cs typeface="Times New Roman"/>
            </a:endParaRPr>
          </a:p>
          <a:p>
            <a:pPr marL="411480" marR="173355" indent="-281940" algn="just">
              <a:lnSpc>
                <a:spcPct val="110100"/>
              </a:lnSpc>
              <a:spcBef>
                <a:spcPts val="595"/>
              </a:spcBef>
              <a:buClr>
                <a:srgbClr val="CCCCFF"/>
              </a:buClr>
              <a:buSzPct val="50000"/>
              <a:buFont typeface="Wingdings"/>
              <a:buChar char=""/>
              <a:tabLst>
                <a:tab pos="411480" algn="l"/>
              </a:tabLst>
            </a:pPr>
            <a:r>
              <a:rPr sz="2400" dirty="0">
                <a:latin typeface="Times New Roman"/>
                <a:cs typeface="Times New Roman"/>
              </a:rPr>
              <a:t>“Scientific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mind, 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brain,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intelligent </a:t>
            </a:r>
            <a:r>
              <a:rPr sz="2400" dirty="0">
                <a:latin typeface="Times New Roman"/>
                <a:cs typeface="Times New Roman"/>
              </a:rPr>
              <a:t>behaviour,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whether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humans,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animals,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abstract”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20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</TotalTime>
  <Words>1093</Words>
  <Application>Microsoft Office PowerPoint</Application>
  <PresentationFormat>On-screen Show (4:3)</PresentationFormat>
  <Paragraphs>175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Georgia</vt:lpstr>
      <vt:lpstr>Microsoft Sans Serif</vt:lpstr>
      <vt:lpstr>Symbol</vt:lpstr>
      <vt:lpstr>Tahoma</vt:lpstr>
      <vt:lpstr>Times New Roman</vt:lpstr>
      <vt:lpstr>Wingdings</vt:lpstr>
      <vt:lpstr>Retrospect</vt:lpstr>
      <vt:lpstr>  Overview of  Cognitive Science</vt:lpstr>
      <vt:lpstr>What would an answer to this question look like?</vt:lpstr>
      <vt:lpstr>What is a mind?</vt:lpstr>
      <vt:lpstr>A “slippery slope” argument can convince us that minds are not literally brains, but encompass anything that is organized as representational states that accurately reflect aspects of the world.</vt:lpstr>
      <vt:lpstr>The Brain/Mind Riddle</vt:lpstr>
      <vt:lpstr>PowerPoint Presentation</vt:lpstr>
      <vt:lpstr>Minds as Computers</vt:lpstr>
      <vt:lpstr>PowerPoint Presentation</vt:lpstr>
      <vt:lpstr>PowerPoint Presentation</vt:lpstr>
      <vt:lpstr>Cognition</vt:lpstr>
      <vt:lpstr>Cognitive Processes</vt:lpstr>
      <vt:lpstr>The mind as a computer analogy</vt:lpstr>
      <vt:lpstr>Representation</vt:lpstr>
      <vt:lpstr>PowerPoint Presentation</vt:lpstr>
      <vt:lpstr>PowerPoint Presentation</vt:lpstr>
      <vt:lpstr>PowerPoint Presentation</vt:lpstr>
      <vt:lpstr>What is computation?</vt:lpstr>
      <vt:lpstr>Three Levels of Description (David Marr)</vt:lpstr>
      <vt:lpstr>PowerPoint Presentation</vt:lpstr>
      <vt:lpstr>PowerPoint Presentation</vt:lpstr>
      <vt:lpstr>A program is like a cooking recipe</vt:lpstr>
      <vt:lpstr>Example</vt:lpstr>
      <vt:lpstr>Alternative algorithm</vt:lpstr>
      <vt:lpstr>Two points</vt:lpstr>
      <vt:lpstr>How to study cognitive science</vt:lpstr>
      <vt:lpstr>Application: linguistic understanding</vt:lpstr>
      <vt:lpstr>So What IS Cognitive Science?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and History of Cognitive Science</dc:title>
  <dc:creator>IIIT KOTTAYAM</dc:creator>
  <cp:lastModifiedBy>IIIT KOTTAYAM</cp:lastModifiedBy>
  <cp:revision>2</cp:revision>
  <dcterms:created xsi:type="dcterms:W3CDTF">2025-08-21T04:38:46Z</dcterms:created>
  <dcterms:modified xsi:type="dcterms:W3CDTF">2025-08-21T04:55:52Z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2024-08-13T00:00:00Z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2025-08-21T00:00:00Z</vt:filetime>
  </property>
  <property fmtid="{D5CDD505-2E9C-101B-9397-08002B2CF9AE}" pid="5" name="Producer">
    <vt:lpwstr>Microsoft® PowerPoint® 2013</vt:lpwstr>
  </property>
</Properties>
</file>